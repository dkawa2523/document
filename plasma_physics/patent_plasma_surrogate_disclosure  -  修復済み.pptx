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 snapToObjects="1">
      <p:cViewPr varScale="1">
        <p:scale>
          <a:sx n="134" d="100"/>
          <a:sy n="134" d="100"/>
        </p:scale>
        <p:origin x="2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低圧プラズマ物理整合サロゲートの特許開示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475488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87878"/>
                </a:solidFill>
                <a:latin typeface="Meiryo"/>
              </a:rPr>
              <a:t>半導体製造×AI / 背景・目的・提案手法・効果 / 法的判断ではなく説明素材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</a:t>
            </a:r>
          </a:p>
        </p:txBody>
      </p:sp>
      <p:pic>
        <p:nvPicPr>
          <p:cNvPr id="6" name="Picture 5" descr="crop_glow_wide.png_705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914400"/>
            <a:ext cx="53949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078992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44068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低圧プラズマ空間分布のサロゲートを、MLP/U-Net共通で物理整合に寄せる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PINNの全面拘束ではなく、限定物理を離散演算で選択的に課す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特許の観点で、入力データ設計・ラベル作成・信頼度まで発明の芯として整理する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本件のコアメッセージ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1600200" cy="13716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657600"/>
            <a:ext cx="160020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入力設計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50876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工程条件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壁材・壁条件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幾何/前時刻場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657600"/>
            <a:ext cx="1691640" cy="13716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94560" y="3657600"/>
            <a:ext cx="16916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物理制約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3931920"/>
            <a:ext cx="160020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Poisson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連続・壁面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EEDF・SG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657600"/>
            <a:ext cx="1828800" cy="13716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23360" y="3657600"/>
            <a:ext cx="182880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運用性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931920"/>
            <a:ext cx="1737360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信頼度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OOD検知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03520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87878"/>
                </a:solidFill>
                <a:latin typeface="Meiryo"/>
              </a:rPr>
              <a:t>審査官・弁理士・製造技術者が同じ絵を見られるよう、背景→課題→提案→効果の順で構成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本件の要旨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3794760" cy="53035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3794760" cy="27432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</a:rPr>
              <a:t>発明の要点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3547872" cy="46634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従来: MSE中心の直接回帰では、電位・電荷・壁フラックスがずれやすい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提案: ベースモデル出力をソルバ格子へ写像し、限定物理のみ離散残差として損失化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特徴: bulk / sheath / wall / high-Pe の領域ごとに有効な式だけを適用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対象: MLP/U-Net のいずれでも共通の物理整合層として実装可能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価値: 速いだけのサロゲートから、使えるサロゲートへ進化させる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96012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背景→目的→手法→効果 を一枚で整理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1828800"/>
            <a:ext cx="1188720" cy="0"/>
          </a:xfrm>
          <a:prstGeom prst="line">
            <a:avLst/>
          </a:prstGeom>
          <a:ln w="381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18120" y="1828800"/>
            <a:ext cx="1188720" cy="0"/>
          </a:xfrm>
          <a:prstGeom prst="line">
            <a:avLst/>
          </a:prstGeom>
          <a:ln w="381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49840" y="1828800"/>
            <a:ext cx="1143000" cy="0"/>
          </a:xfrm>
          <a:prstGeom prst="line">
            <a:avLst/>
          </a:prstGeom>
          <a:ln w="38100">
            <a:solidFill>
              <a:srgbClr val="009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26280" y="1417320"/>
            <a:ext cx="1645920" cy="7772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9047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3C3C"/>
                </a:solidFill>
                <a:latin typeface="Meiryo"/>
              </a:rPr>
              <a:t>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764792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低圧 / 高計算負荷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417320"/>
            <a:ext cx="1645920" cy="7772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149047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9933"/>
                </a:solidFill>
                <a:latin typeface="Meiryo"/>
              </a:rPr>
              <a:t>目的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764792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速く / 整合的に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1645920" cy="7772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149047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C8"/>
                </a:solidFill>
                <a:latin typeface="Meiryo"/>
              </a:rPr>
              <a:t>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1764792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限定物理 / 離散損失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743200"/>
            <a:ext cx="69494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88036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技術構成の最短表現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0" y="4069080"/>
            <a:ext cx="118872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26679" y="4069080"/>
            <a:ext cx="1234441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12680" y="4069080"/>
            <a:ext cx="114300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9160" y="3337560"/>
            <a:ext cx="1691640" cy="12344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09160" y="3337560"/>
            <a:ext cx="16916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入力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11879"/>
            <a:ext cx="1600200" cy="9235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工程条件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幾何・壁条件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3337560"/>
            <a:ext cx="1691640" cy="12344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0" y="3337560"/>
            <a:ext cx="16916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ベースモデル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3611879"/>
            <a:ext cx="1600200" cy="9235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MLP or U-Net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場を推定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337560"/>
            <a:ext cx="1737360" cy="123444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89720" y="3337560"/>
            <a:ext cx="173736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物理整合層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611879"/>
            <a:ext cx="1645919" cy="9235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離散残差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領域選択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0" y="3337560"/>
            <a:ext cx="1600200" cy="12344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38360" y="3337560"/>
            <a:ext cx="160020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出力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611879"/>
            <a:ext cx="1508760" cy="9235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場 + 信頼度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必要時fallback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なぜ今、物理整合サロゲートか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7878"/>
                </a:solidFill>
                <a:latin typeface="Meiryo"/>
              </a:rPr>
              <a:t>出典: Wilson &amp; Shotorban 2018; Ramamurthi et al. 2002; Trieschmann et al. 2023</a:t>
            </a:r>
          </a:p>
        </p:txBody>
      </p:sp>
      <p:pic>
        <p:nvPicPr>
          <p:cNvPr id="6" name="Picture 5" descr="crop_cleanroom_wide.png_45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846320" cy="5394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349240"/>
            <a:ext cx="43434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4681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半導体製造では、プラズマ条件探索を速く回したい一方、
外した予測を使うリスクは大きい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91440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製造現場で求められること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325880"/>
            <a:ext cx="1828800" cy="10515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32120" y="1325880"/>
            <a:ext cx="182880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要件1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600200"/>
            <a:ext cx="1737360" cy="7406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高速探索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DoE反復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1828800" cy="105156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325880"/>
            <a:ext cx="182880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要件2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600200"/>
            <a:ext cx="1737360" cy="7406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物理整合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壁近傍も安定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1325880"/>
            <a:ext cx="2011680" cy="105156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55480" y="1325880"/>
            <a:ext cx="20116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要件3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600200"/>
            <a:ext cx="1920240" cy="7406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使える/危険の判定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運用しやすさ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65176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公開文献が示す「見逃せない誤差源」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13639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電極BC: ゼロ密度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154680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0" y="3154680"/>
            <a:ext cx="175202" cy="219456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44200" y="3136392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-8.7%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52958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電極BC: 拡散欠落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547872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0" y="3547872"/>
            <a:ext cx="394708" cy="21945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44200" y="3529584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+19.6%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92277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電極BC: SEE追加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941063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0" y="3941063"/>
            <a:ext cx="473247" cy="21945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44200" y="3922776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+23.5%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43159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電極BC: 純drift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334256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0" y="4334256"/>
            <a:ext cx="2926080" cy="219456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4200" y="4315968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+145.3%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70916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Maxwellian EEDF仮定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4727448"/>
            <a:ext cx="2926080" cy="21945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0" y="4727448"/>
            <a:ext cx="1872852" cy="219456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44200" y="4709160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最大 +93%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5257800"/>
            <a:ext cx="5852160" cy="6400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15000" y="5394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示唆: 壁境界・EEDF・輸送離散は「後から少し直す」領域ではなく、
学習の中で直接扱うべき主要誤差源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４象限で見る本件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577840" cy="25146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577840" cy="256032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従来技術（背景）と先行技術カテゴリ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35024"/>
            <a:ext cx="5431536" cy="2130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通常ML: MLP/U-Netで場を直接回帰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PINN: PDE残差を全領域で拘束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PINO: 粗データ + 高解像度物理制約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後処理補正: Poisson後解き・平滑化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25146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5532120" cy="256032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従来の課題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5385816" cy="2130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Poissonと密度が噛み合わず、シース位置がぶれる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連続式・壁面フラックスが壊れ、局所source/sinkが残る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低圧ではEEDF仮定差が大きい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high-Pe面で数値振動が出やすい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577840" cy="25146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577840" cy="256032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提案手法とその内容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986784"/>
            <a:ext cx="5431536" cy="2130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限定物理のみを離散残差として損失化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bulk / sheath / wall / high-Pe の領域別制御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粗ラベル格子 + 細物理格子の二重構成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MLP/U-Net共通の物理整合層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57600"/>
            <a:ext cx="5532120" cy="25146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657600"/>
            <a:ext cx="5532120" cy="2560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提案技術による効果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986784"/>
            <a:ext cx="5385816" cy="213055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場の見た目一致から、保存則・壁条件整合へ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壁材変更や装置差に強い学習へ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低圧/OOD時も信頼度付きで運用可能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特許上はデータ設計と損失設計が芯になる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背景：対象とする低圧プラズマ場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5</a:t>
            </a:r>
          </a:p>
        </p:txBody>
      </p:sp>
      <p:pic>
        <p:nvPicPr>
          <p:cNvPr id="5" name="Picture 4" descr="chamber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9384"/>
            <a:ext cx="4480560" cy="4076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69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87878"/>
                </a:solidFill>
                <a:latin typeface="Meiryo"/>
              </a:rPr>
              <a:t>例: エッチ/成膜装置の反応室断面イメージ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9875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サロゲートが扱う入出力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2286000"/>
            <a:ext cx="123444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2286000"/>
            <a:ext cx="123444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94960" y="1691640"/>
            <a:ext cx="1691640" cy="11887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94960" y="1691640"/>
            <a:ext cx="16916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入力条件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965960"/>
            <a:ext cx="160020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圧力・RF電力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ガス・バイアス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91640"/>
            <a:ext cx="1645920" cy="11887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26679" y="1691640"/>
            <a:ext cx="164592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幾何・壁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65960"/>
            <a:ext cx="15544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電極・壁材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誘電体/金属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691640"/>
            <a:ext cx="1645920" cy="11887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12680" y="1691640"/>
            <a:ext cx="16459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出力場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965960"/>
            <a:ext cx="1554480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φ, ne, 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Te/εe, flux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24612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半導体製造で典型的に欲しい問い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657600"/>
            <a:ext cx="6217920" cy="1600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レシピ変更でシース・密度・壁フラックスがどう変わるか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装置差や壁材差を含め、工程窓をどこまで広げられるか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時短のためにサロゲートを使ってよい条件か、危険か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逆設計や感度解析を何桁速く回せるか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5440680"/>
            <a:ext cx="6217920" cy="502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555955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本件は「場の回帰」だけでなく、「壁・保存則・低圧電子物理まで崩さない」ことを目的化する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先行技術カテゴリの整理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7878"/>
                </a:solidFill>
                <a:latin typeface="Meiryo"/>
              </a:rPr>
              <a:t>出典: Trieschmann et al. 2023; Li et al.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一般的なカテゴリ</a:t>
            </a:r>
          </a:p>
        </p:txBody>
      </p:sp>
      <p:sp>
        <p:nvSpPr>
          <p:cNvPr id="7" name="Straight Connector 6"/>
          <p:cNvSpPr/>
          <p:nvPr/>
        </p:nvSpPr>
        <p:spPr>
          <a:xfrm>
            <a:off x="868680" y="5715000"/>
            <a:ext cx="9144" cy="0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097280" y="1554480"/>
            <a:ext cx="0" cy="4114800"/>
          </a:xfrm>
          <a:prstGeom prst="line">
            <a:avLst/>
          </a:prstGeom>
          <a:ln w="254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5840" y="5577840"/>
            <a:ext cx="4572000" cy="0"/>
          </a:xfrm>
          <a:prstGeom prst="line">
            <a:avLst/>
          </a:prstGeom>
          <a:ln w="254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34840" y="571500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D5D7D"/>
                </a:solidFill>
                <a:latin typeface="Meiryo"/>
              </a:rPr>
              <a:t>推論速度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55448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D5D7D"/>
                </a:solidFill>
                <a:latin typeface="Meiryo"/>
              </a:rPr>
              <a:t>物理整合
の強さ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434840"/>
            <a:ext cx="1828800" cy="6400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4507992"/>
            <a:ext cx="1682496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96C8"/>
                </a:solidFill>
                <a:latin typeface="Meiryo"/>
              </a:rPr>
              <a:t>通常ML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764024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速いが物理は暗黙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2057400"/>
            <a:ext cx="1965960" cy="6400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6272" y="2130552"/>
            <a:ext cx="1819656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9933"/>
                </a:solidFill>
                <a:latin typeface="Meiryo"/>
              </a:rPr>
              <a:t>PINN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386584"/>
            <a:ext cx="181965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全PDE拘束で重い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874519"/>
            <a:ext cx="2057400" cy="6400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22191" y="1947672"/>
            <a:ext cx="1911095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08C58"/>
                </a:solidFill>
                <a:latin typeface="Meiryo"/>
              </a:rPr>
              <a:t>PINO/NO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2203703"/>
            <a:ext cx="1911095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粗データ+高解像度物理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840480"/>
            <a:ext cx="1828800" cy="6400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13632" y="3913632"/>
            <a:ext cx="1682496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3C3C"/>
                </a:solidFill>
                <a:latin typeface="Meiryo"/>
              </a:rPr>
              <a:t>後処理補正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4169664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Meiryo"/>
              </a:rPr>
              <a:t>速いが根治しにくい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914400"/>
            <a:ext cx="544068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914400"/>
            <a:ext cx="5440680" cy="292608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</a:rPr>
              <a:t>本件の立ち位置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1325880"/>
            <a:ext cx="5074920" cy="2103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比較対象の主眼は、MSE中心の通常MLサロゲート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PINOの「粗データ + 高解像度物理制約」は参考になる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ただし本件は、低圧プラズマ特有の壁・シース・輸送離散に特化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全面拘束ではなく、限定物理を領域別に選択適用する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したがって『AIモデル』より『データ設計と離散物理層』が発明の主軸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0" y="3657600"/>
          <a:ext cx="4983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観点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通常ML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本件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物理の扱い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暗黙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限定物理を明示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格子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単一格子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粗ラベル + 細物理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境界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軽いpenalty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壁条件を主損失化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適用領域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全域一律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領域マスクで切替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従来技術の典型構成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通常MLでは、入力条件から場を直接回帰し、物理は学習器に暗黙に期待される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283464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92040" y="283464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43800" y="283464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920240"/>
            <a:ext cx="1554480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5544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圧力・電力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流量・周波数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幾何条件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20240"/>
            <a:ext cx="1554480" cy="1645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920240"/>
            <a:ext cx="15544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前処理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9456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正規化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テンソル化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単一格子化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920240"/>
            <a:ext cx="1554480" cy="16459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94960" y="1920240"/>
            <a:ext cx="15544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MLP/U-Net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19456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MSE最小化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場を直接出力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1645920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920240"/>
            <a:ext cx="16459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194560"/>
            <a:ext cx="155448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φ, ne, 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Te など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920240"/>
            <a:ext cx="1554480" cy="1645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49840" y="1920240"/>
            <a:ext cx="15544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評価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19456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RMSE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L1/L2誤差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4069080"/>
            <a:ext cx="1920240" cy="5486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5232" y="4178808"/>
            <a:ext cx="177393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83C3C"/>
                </a:solidFill>
                <a:latin typeface="Meiryo"/>
              </a:rPr>
              <a:t>物理式は損失に未接続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069080"/>
            <a:ext cx="2103120" cy="5486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91272" y="4178808"/>
            <a:ext cx="1956815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83C3C"/>
                </a:solidFill>
                <a:latin typeface="Meiryo"/>
              </a:rPr>
              <a:t>壁面条件が明示されない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4069080"/>
            <a:ext cx="1737360" cy="5486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85832" y="4178808"/>
            <a:ext cx="159105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83C3C"/>
                </a:solidFill>
                <a:latin typeface="Meiryo"/>
              </a:rPr>
              <a:t>信頼度が出ない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0060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800600"/>
            <a:ext cx="5394960" cy="237744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暗黙に期待されること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02352"/>
            <a:ext cx="507492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Poisson・連続・壁フラックス・電子エネルギーまで、正解場に近ければ自然に学べるはず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実際には、誤差が局在する壁近傍や低圧条件で破綻しやすい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800600"/>
            <a:ext cx="5440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4800600"/>
            <a:ext cx="54406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本件が問題視する点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5102352"/>
            <a:ext cx="516636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『合って見える』ことと『物理的に使える』ことは別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特に壁境界・EEDF・数値輸送は、学習器任せにすると危険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従来課題① Poisson不整合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電位 φ と荷電粒子密度 ne, ni を別々に近似すると、空間電荷と電位が整合しない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57600" cy="4343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657600" cy="256032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</a:rPr>
              <a:t>Poissonが要求する関係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D5D7D"/>
                </a:solidFill>
                <a:latin typeface="Meiryo"/>
              </a:rPr>
              <a:t>∇·(ε∇φ) = -e(ΣZi ni - 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51760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φ は ρc = e(ΣZi ni - ne) と結び付いている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電位だけ合っても、電荷がずれていればシース位置がずれる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ne/ni の小さなずれが E 場の大きなずれに変わる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26280"/>
            <a:ext cx="32004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7091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MSEで平均化された場は、
Poisson残差では大きく外れることがある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従来の破綻イメージ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2788920"/>
            <a:ext cx="1280160" cy="0"/>
          </a:xfrm>
          <a:prstGeom prst="line">
            <a:avLst/>
          </a:prstGeom>
          <a:ln w="381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01000" y="2788920"/>
            <a:ext cx="1280160" cy="0"/>
          </a:xfrm>
          <a:prstGeom prst="line">
            <a:avLst/>
          </a:prstGeom>
          <a:ln w="381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63440" y="1874519"/>
            <a:ext cx="1737360" cy="150876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874519"/>
            <a:ext cx="173736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予測密度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148839"/>
            <a:ext cx="1645919" cy="11978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見た目は平滑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局所電荷が残る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874519"/>
            <a:ext cx="1737360" cy="150876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95160" y="1874519"/>
            <a:ext cx="173736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予測電位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48839"/>
            <a:ext cx="1645919" cy="11978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別headで学習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勾配方向ずれ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874519"/>
            <a:ext cx="1783080" cy="150876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874519"/>
            <a:ext cx="17830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148839"/>
            <a:ext cx="1691639" cy="119786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シース位置ずれ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壁電場の誤差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663440" y="3840480"/>
          <a:ext cx="6309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</a:rPr>
                        <a:t>破綻点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</a:rPr>
                        <a:t>現象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Meiryo"/>
                        </a:rPr>
                        <a:t>空間電荷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Meiryo"/>
                        </a:rPr>
                        <a:t>bulkに不要なチャージが残る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Meiryo"/>
                        </a:rPr>
                        <a:t>電位勾配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Meiryo"/>
                        </a:rPr>
                        <a:t>E場方向が局所的に反転/弱体化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Meiryo"/>
                        </a:rPr>
                        <a:t>シース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Meiryo"/>
                        </a:rPr>
                        <a:t>幅・位置・自己バイアスが不安定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Meiryo"/>
                        </a:rPr>
                        <a:t>運用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000000"/>
                          </a:solidFill>
                          <a:latin typeface="Meiryo"/>
                        </a:rPr>
                        <a:t>高いRMSE改善でも使える保証がない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従来課題② 連続式・壁面フラックス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局所保存と壁面境界が崩れると、見た目が近くても粒子収支が合わない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920240" y="1920240"/>
            <a:ext cx="914400" cy="1005840"/>
          </a:xfrm>
          <a:prstGeom prst="line">
            <a:avLst/>
          </a:prstGeom>
          <a:ln w="254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834640" y="1920240"/>
            <a:ext cx="914399" cy="1005840"/>
          </a:xfrm>
          <a:prstGeom prst="line">
            <a:avLst/>
          </a:prstGeom>
          <a:ln w="254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828800" y="2926080"/>
            <a:ext cx="1005840" cy="1143000"/>
          </a:xfrm>
          <a:prstGeom prst="line">
            <a:avLst/>
          </a:prstGeom>
          <a:ln w="254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34640" y="2926080"/>
            <a:ext cx="1005840" cy="1143000"/>
          </a:xfrm>
          <a:prstGeom prst="line">
            <a:avLst/>
          </a:prstGeom>
          <a:ln w="2540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1645920"/>
            <a:ext cx="393192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1560" y="1828800"/>
            <a:ext cx="3566160" cy="301752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17320" y="2240280"/>
            <a:ext cx="2834640" cy="2057400"/>
          </a:xfrm>
          <a:prstGeom prst="roundRect">
            <a:avLst/>
          </a:prstGeom>
          <a:solidFill>
            <a:srgbClr val="E7F5FF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6C8"/>
                </a:solidFill>
                <a:latin typeface="Meiryo"/>
              </a:rPr>
              <a:t>Plasma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1783080"/>
            <a:ext cx="777240" cy="201168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</a:rPr>
              <a:t>wall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783080"/>
            <a:ext cx="822960" cy="201168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</a:rPr>
              <a:t>wall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4709160"/>
            <a:ext cx="1188720" cy="201168"/>
          </a:xfrm>
          <a:prstGeom prst="round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</a:rPr>
              <a:t>Γ to wall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166360"/>
            <a:ext cx="3657600" cy="6858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35838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壁への電子・イオン流束が閉じないと、
見かけの密度場が正しくても物理的には不整合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137160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何が起こるか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212080" y="1783080"/>
          <a:ext cx="5943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従来の限界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生じる結果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連続式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局所 source/sink を抑えにくい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粒子保存がずれる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壁面フラックス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境界セルだけの軽いpenalty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壁損失が外れる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誘電体壁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壁電荷を直接持たない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法線電場とシースが崩れる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評価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RMSE中心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危険な推論を見分けにくい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230368" y="42976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この課題は『壁面条件の扱いを主損失にするか』で構造的に差がつく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645152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バルク内では準中性が効いても、壁/シース近傍では別の式が支配する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したがって全領域一様な損失より、領域別に制約を切り替える設計が必要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本件では wall charge, Bohm, 完全壁フラックスを独立に扱う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従来課題③ 境界条件の影響は大きい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7878"/>
                </a:solidFill>
                <a:latin typeface="Meiryo"/>
              </a:rPr>
              <a:t>出典: Wilson &amp; Shotorban 2018（RFプラズマ流体モデルのBC比較）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公開文献では、境界条件の違いだけで bulk 密度やシース形成が大きく変化する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4864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486400" cy="274320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</a:rPr>
              <a:t>文献 reported 値（対 baseline）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ゼロ密度BC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965960"/>
            <a:ext cx="2651760" cy="27432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965960"/>
            <a:ext cx="158777" cy="27432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80" y="1947672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-8.7%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拡散流束なし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532888"/>
            <a:ext cx="2651760" cy="27432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532888"/>
            <a:ext cx="357704" cy="2743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80" y="251460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+19.6%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815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SEEあり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099816"/>
            <a:ext cx="2651760" cy="27432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3099816"/>
            <a:ext cx="428880" cy="2743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0680" y="3081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+23.5%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484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純drift電極BC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666744"/>
            <a:ext cx="2651760" cy="27432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666744"/>
            <a:ext cx="2651760" cy="27432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40680" y="364845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+145.3%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526280"/>
            <a:ext cx="4846320" cy="10058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70916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誘電体壁に純 drift BC を使うと、壁電荷が発達せず、
文献ではシースが形成されないケースも報告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08760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特許上の含意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90195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境界条件は後処理で軽く補う対象ではなく、学習の主損失に入れる価値が高い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特に electron wall flux / wall charge / Bohm は、低圧プラズマの差異を作る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したがって『壁条件メタデータ』と『壁近傍用ラベル/マスク』が発明の一部になる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審査上は、通常MLとの差分を「壁面の扱い」で説明しやすい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400800" y="3886200"/>
          <a:ext cx="45720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本件の設計意図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従来との差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壁面フラックスを主損失化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境界セルの軽penaltyではない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誘電体壁はσwを持つ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ゼロ/純drift前提にしない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sheath/wallマスクで重み付け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全領域一律 loss ではない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壁メタデータを入力化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レシピ入力のみではない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従来課題④ 低圧ではEEDF仮定が支配誤差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7878"/>
                </a:solidFill>
                <a:latin typeface="Meiryo"/>
              </a:rPr>
              <a:t>出典: Ramamurthi et al. 2002（very low pressure ICP, ≤10 mTorr）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非常に低圧では、Maxwellian仮定と非Maxwellian EEDF で power deposition と密度が大きく変わる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840480" cy="50292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856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3840480" cy="274320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</a:rPr>
              <a:t>文献の主張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560C1"/>
                </a:solidFill>
                <a:latin typeface="Meiryo"/>
              </a:rPr>
              <a:t>Maxwellian EEDF
→ 密度が最大 93% 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80360"/>
            <a:ext cx="338328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1 mTorr / 10 mTorr の planar argon ICP を比較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電場・電流・power deposition プロファイルも変化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壁近傍の有効電子温度差が、壁損失にも波及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89204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56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102352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示唆: 低圧条件では
Poisson + continuity だけでは不十分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41732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10 mTorr 条件での peak density deviation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94767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50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965960"/>
            <a:ext cx="4389120" cy="31089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32120" y="1965960"/>
            <a:ext cx="3094329" cy="310896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12680" y="194767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+70.5%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51460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100 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532888"/>
            <a:ext cx="4389120" cy="31089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32120" y="2532888"/>
            <a:ext cx="3871203" cy="310896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251460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+88.2%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08152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200 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3099816"/>
            <a:ext cx="4389120" cy="310896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32120" y="3099816"/>
            <a:ext cx="4073103" cy="310896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30815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+92.8%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754880" y="3886200"/>
          <a:ext cx="6126479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何がずれるか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なぜ重要か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EEDF tail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ionization source が変わる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effective Te at wall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壁損失が変わる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power deposition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吸収電力分布が変わる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density profile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工程窓評価がずれる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754880" y="5806440"/>
            <a:ext cx="6126480" cy="502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5925312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本件では εe/Te head と EEDF/Boltzmann 由来 transport係数を接続し、低圧の主要誤差源を直接扱う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従来課題⑤ 数値輸送と high-Péclet 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7878"/>
                </a:solidFill>
                <a:latin typeface="Meiryo"/>
              </a:rPr>
              <a:t>出典: Bessemoulin-Chatard et al. 2013（Scharfetter–Gummel）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急峻シースや高電場面では、面フラックスの離散化が誤ると数値振動や負密度が出やすい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5303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303520" cy="274320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</a:rPr>
              <a:t>面フラックスの考え方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2011680" cy="219456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3C3C"/>
                </a:solidFill>
                <a:latin typeface="Meiryo"/>
              </a:rPr>
              <a:t>従来: 場のMSE中心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cell-center が合えば良い
→ face flux は未保証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35607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19655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03704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675887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3C3C"/>
                </a:solidFill>
                <a:latin typeface="Meiryo"/>
              </a:rPr>
              <a:t>振動 / ringing / 負密度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1874519"/>
            <a:ext cx="2331720" cy="219456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1965960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08C58"/>
                </a:solidFill>
                <a:latin typeface="Meiryo"/>
              </a:rPr>
              <a:t>提案: SG面フラックス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423160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faceごとに指数適合
→ drift / diffusion を整合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13048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97096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81144" y="3154680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0" y="3675887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08C58"/>
                </a:solidFill>
                <a:latin typeface="Meiryo"/>
              </a:rPr>
              <a:t>単調性 / 安定性 / 準中性極限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89120"/>
            <a:ext cx="4389120" cy="15087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4572000"/>
            <a:ext cx="40690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D5D7D"/>
                </a:solidFill>
                <a:latin typeface="Meiryo"/>
              </a:rPr>
              <a:t>代表式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956048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D5D7D"/>
                </a:solidFill>
                <a:latin typeface="Meiryo"/>
              </a:rPr>
              <a:t>F = τ [ B(-Δψ) nL - B(Δψ) nR ]
B は Bernoulli 関数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本件への落とし込み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172200" y="1828800"/>
          <a:ext cx="49377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観点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通常ML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本件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適用単位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cell値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face flux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急勾配対応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弱い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high-Pe面を選択強化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ソルバ整合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低い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有限体積/差分と整合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結果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振動しやすい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シース近傍が安定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199632" y="4206240"/>
            <a:ext cx="489204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SG は単なる数値テクニックではなく、『学習器出力をどの離散物理に合わせるか』という設計思想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本件では、high-Péclet 面だけに強くかけられるため、必要なところだけ物理を足せる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これが全面PINNとの大きな違いの一つ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評価指標と開発制約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『精度』だけでは不十分であり、物理残差・壁近傍・OOD まで評価対象にする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6492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指標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意味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見るべき理由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電位/密度 RMSE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通常の場誤差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ベース近似力の確認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Poisson残差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φ と ρc の整合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見た目一致の罠を避ける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連続残差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局所保存則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偽source/sink抑制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壁面フラックス誤差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壁損失の整合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境界条件の有効性を見る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負密度率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数値破綻指標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輸送離散の失敗を検出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信頼度/OOD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学習外条件検知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量産運用に必要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4173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開発上の制約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783080"/>
            <a:ext cx="3977639" cy="10058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20" y="1783080"/>
            <a:ext cx="3977639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データ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057400"/>
            <a:ext cx="3886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フルソルバは高コスト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条件空間を全部は埋めにくい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926080"/>
            <a:ext cx="3977639" cy="10058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2926080"/>
            <a:ext cx="3977639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モデル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200400"/>
            <a:ext cx="3886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MLP/U-Net を両方試している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共通の制約層が望ましい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069080"/>
            <a:ext cx="3977639" cy="100584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4069080"/>
            <a:ext cx="3977639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運用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343400"/>
            <a:ext cx="3886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外れ推論を見分けたい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装置差・壁差に追従したい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5440680"/>
            <a:ext cx="3977639" cy="502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5559552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よって、単なる精度改善ではなく『評価軸の拡張』も本件の有用性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提案手法の全体像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ベースモデルと独立した共通物理整合層を置くことで、MLP/U-Net の両方に同じ物理制約を通す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2971800"/>
            <a:ext cx="118872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74920" y="2971800"/>
            <a:ext cx="118872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83879" y="2971800"/>
            <a:ext cx="1188721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27080" y="2971800"/>
            <a:ext cx="54864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" y="1965960"/>
            <a:ext cx="1417320" cy="2011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14173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79"/>
            <a:ext cx="1325880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工程条件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幾何情報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965960"/>
            <a:ext cx="2148840" cy="20116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965960"/>
            <a:ext cx="21488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ベースモデル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240279"/>
            <a:ext cx="2057400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MLP: 座標条件付き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U-Net: 格子テンソル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共通headを出力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965960"/>
            <a:ext cx="2331720" cy="2011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0" y="1965960"/>
            <a:ext cx="23317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離散物理整合層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240279"/>
            <a:ext cx="2240279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Poisson / 連続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 / Bohm / SG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εe / EEDF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965960"/>
            <a:ext cx="1965960" cy="2011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965960"/>
            <a:ext cx="196596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出力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240279"/>
            <a:ext cx="1874519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φ, ne, 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Te/εe, flux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残差ログ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018520" y="2148840"/>
            <a:ext cx="868680" cy="1645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018520" y="2148840"/>
            <a:ext cx="8686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信頼度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2423160"/>
            <a:ext cx="77724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任意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8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754880"/>
            <a:ext cx="10972800" cy="237744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</a:rPr>
              <a:t>発明の芯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10698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AIの種類より、出力をどう物理格子へ落とし、どの限定物理をどの領域に課すかが重要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物理制約は『連続Autodiff』ではなく『ソルバ整合の離散演算』で計算する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• 教師データは場ラベルだけでなく、領域マスク・派生ラベル・信頼度指標まで設計対象に含める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発明の芯① 入力データの作り方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『AIだから強い』ではなく、何を入力として持たせるかが低圧プラズマでは決定的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入力レイヤの考え方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4160520" cy="5943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74519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96C8"/>
                </a:solidFill>
                <a:latin typeface="Meiryo"/>
              </a:rPr>
              <a:t>レシピ条件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74519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圧力 / RF power / gas flow / bias / duty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4160520" cy="59436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6060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9933"/>
                </a:solidFill>
                <a:latin typeface="Meiryo"/>
              </a:rPr>
              <a:t>幾何・装置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06040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電極形状 / chamber shape / grid/SDF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4160520" cy="59436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33756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08C58"/>
                </a:solidFill>
                <a:latin typeface="Meiryo"/>
              </a:rPr>
              <a:t>壁メタデータ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337560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金属/誘電体 / SEE / 反射率 / 壁材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77639"/>
            <a:ext cx="4160520" cy="59436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4069079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96C8"/>
                </a:solidFill>
                <a:latin typeface="Meiryo"/>
              </a:rPr>
              <a:t>前時刻場 任意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069079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φ / ne / ni / εe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09160"/>
            <a:ext cx="4160520" cy="59436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48006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9933"/>
                </a:solidFill>
                <a:latin typeface="Meiryo"/>
              </a:rPr>
              <a:t>派生特徴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800600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E/N / Debye比 / Pe / regime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37160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特許的に押さえやすい点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783080"/>
            <a:ext cx="566928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通常MLはレシピ条件だけに寄りやすいが、本件は壁条件メタデータを明示入力化する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工程条件を無次元化・log変換し、物理 regime をまたぐ条件でも学習安定化を図る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幾何を grid / SDF / mask として与え、MLP/U-Net の両方へ接続できるようにする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前時刻場や初期場を与えれば、RF/pulse の時系列サロゲートへも拡張しやすい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0" y="4069080"/>
          <a:ext cx="54864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入力の発明ポイント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狙い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壁材・SEE を明示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境界条件差を吸収する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幾何をテンソル/SDF化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モデル非依存にする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派生特徴で regime を示す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低圧特有の失敗を減らす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前時刻場を任意入力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過渡へ拡張する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486400" y="5989320"/>
            <a:ext cx="5623560" cy="4114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60" y="6071616"/>
            <a:ext cx="53949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審査上は『入力の作り方』を請求項で抜くと、AI一般論から一段具体化できる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発明の芯② 教師ラベルと派生ラベル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本件では、正解場だけでなく『制約をかけるためのラベル』を同時に用意する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ラベルの階層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2240280"/>
            <a:ext cx="86868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83080" y="3063240"/>
            <a:ext cx="86868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83080" y="3886200"/>
            <a:ext cx="86868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83080" y="4709160"/>
            <a:ext cx="86868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1965960"/>
            <a:ext cx="1097280" cy="3200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10972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元データ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1005839" cy="28895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フルソルバ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保存時系列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783080"/>
            <a:ext cx="2011680" cy="868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97480" y="1783080"/>
            <a:ext cx="20116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必須ラベル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05740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φ, log ne, log 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606040"/>
            <a:ext cx="2011680" cy="8686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97480" y="2606040"/>
            <a:ext cx="20116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推奨ラベル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8036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εe/Te, Γe, Γi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3429000"/>
            <a:ext cx="2011680" cy="868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97480" y="3429000"/>
            <a:ext cx="20116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領域マスク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0332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bulk / sheath / wall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4251960"/>
            <a:ext cx="2011680" cy="8686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97480" y="4251960"/>
            <a:ext cx="20116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面マスク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52628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high-Pe 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5074920"/>
            <a:ext cx="2011680" cy="868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97480" y="5074920"/>
            <a:ext cx="20116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任意ラベル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349240"/>
            <a:ext cx="1920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σw, trust, residual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13716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ラベル設計の意味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257800" y="1783080"/>
          <a:ext cx="55778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種別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例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役割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場ラベル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φ / ne / ni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ベース近似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補助ラベル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εe / flux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低圧・輸送整合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領域マスク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bulk / sheath / wall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適用式の切替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面マスク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Pe閾値以上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SG適用先の限定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信頼度ラベル 任意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残差/OOD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運用判断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303520" y="461772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重要なのは、ラベル格子と物理制約格子を分けられる設計にすること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また、壁面/シース用のマスクを持つことで、同じ式を全域へ無理に掛けない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この『派生ラベルの定義』自体が、単なるAI実装との差別化点になる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5897880"/>
            <a:ext cx="5394960" cy="4114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40680" y="5980176"/>
            <a:ext cx="512064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請求項では『領域マスクを生成する工程』を方法クレームに入れやすい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発明の芯③ 粗ラベル + 細物理格子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7878"/>
                </a:solidFill>
                <a:latin typeface="Meiryo"/>
              </a:rPr>
              <a:t>出典: Li et al. 2021（PINO: coarse-resolution training data + higher-resolution PDE constraints）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教師ラベルは粗く、物理損失はより細かい格子で課す ― これをプラズマ固有に具体化する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2つの格子を分ける理由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828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96C8"/>
                </a:solidFill>
                <a:latin typeface="Meiryo"/>
              </a:rPr>
              <a:t>粗ラベル格子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2240280"/>
            <a:ext cx="9144" cy="109728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91640" y="2240280"/>
            <a:ext cx="9144" cy="109728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57400" y="2240280"/>
            <a:ext cx="9144" cy="1097280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0120" y="2606040"/>
            <a:ext cx="146304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0120" y="2971800"/>
            <a:ext cx="1463040" cy="9144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保存済みシミュレーション場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2788920"/>
            <a:ext cx="9144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03320" y="1874519"/>
            <a:ext cx="1828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19385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08C58"/>
                </a:solidFill>
                <a:latin typeface="Meiryo"/>
              </a:rPr>
              <a:t>細物理格子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96512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06824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17136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27448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37760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48072" y="2176272"/>
            <a:ext cx="5486" cy="12618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86200" y="2386584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86200" y="2596896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86200" y="2807208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86200" y="3017520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86200" y="3227832"/>
            <a:ext cx="1261872" cy="5486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94760" y="315468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Meiryo"/>
              </a:rPr>
              <a:t>Poisson / SG / 壁残差を評価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069080"/>
            <a:ext cx="4800600" cy="12344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23367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D5D7D"/>
                </a:solidFill>
                <a:latin typeface="Meiryo"/>
              </a:rPr>
              <a:t>L_total = λdata Ldata(hc) + Σ λj Lphys,j(hf)
hc: coarse label grid, hf: finer physics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14173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特許観点での意味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178308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高価なフルソルバ保存頻度を増やさず、物理制約だけ高解像度側へ寄せられる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未ラベル条件でも、物理損失のみを使った補助学習や追加学習へ展開しやすい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通常MLの単一格子学習との差分を、データ作成プロセスとして明確に説明できる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016752" y="3703320"/>
          <a:ext cx="48463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従来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本件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単一格子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粗ラベル + 細物理格子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MSE中心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データ損失 + 離散物理損失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高解像度教師が必要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高解像度は物理制約で補う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OODに弱い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物理監視を併用可能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発明の芯④ 離散物理整合層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連続Autodiff に依存せず、ソルバと同じ有限差分/有限体積/SG 演算子で residual を計算する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274320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00600" y="2743200"/>
            <a:ext cx="118872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35240" y="2743200"/>
            <a:ext cx="114300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74519"/>
            <a:ext cx="1417320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14173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出力tensor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39"/>
            <a:ext cx="132588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log ne/ni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εe, flux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74519"/>
            <a:ext cx="2011680" cy="1645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874519"/>
            <a:ext cx="20116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solver-native写像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48839"/>
            <a:ext cx="192024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node / cell / face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格子へ整列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874519"/>
            <a:ext cx="2148840" cy="16459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0" y="1874519"/>
            <a:ext cx="21488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離散演算子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148839"/>
            <a:ext cx="205740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∇·(ε∇φ)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∇·Γ, SG face flux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wall operator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74519"/>
            <a:ext cx="1874519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874519"/>
            <a:ext cx="1874519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residual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48839"/>
            <a:ext cx="178307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Poisson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continuity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wall / SG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61320" y="1874519"/>
            <a:ext cx="1051560" cy="1645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561320" y="1874519"/>
            <a:ext cx="105156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148839"/>
            <a:ext cx="96011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重み付け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学習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690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この層を置く利点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10744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MLPでも U-Netでも、最終的に同じ格子上の同じ演算子を通せる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境界・面フラックス・壁電荷のように、Autodiff だけでは扱いにくい量を直接扱える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『ソルバと同じ数値論理』を学習器に共有できるため、再現性と説明性が高い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特許では『物理整合演算部』として装置クレーム・システムクレームへ展開しやすい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85800" y="5669280"/>
          <a:ext cx="10424158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0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8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比較軸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連続PDE残差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本件の離散残差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対象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座標微分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node/cell/face operator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壁近傍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扱いにくい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wall BC を直結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モデル共通化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やや弱い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強い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発明の芯⑤ 領域別の選択制約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全方程式を全領域へ一律に掛けず、有効な場所にだけ有効な式を掛ける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45720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783080"/>
            <a:ext cx="4206240" cy="402336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25880" y="2057400"/>
            <a:ext cx="3657600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25880" y="4754880"/>
            <a:ext cx="3657600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25880" y="2057400"/>
            <a:ext cx="502920" cy="32004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2057400"/>
            <a:ext cx="502920" cy="32004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0" y="2560320"/>
            <a:ext cx="2651760" cy="2194560"/>
          </a:xfrm>
          <a:prstGeom prst="rect">
            <a:avLst/>
          </a:prstGeom>
          <a:solidFill>
            <a:srgbClr val="E7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329184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6C8"/>
                </a:solidFill>
                <a:latin typeface="Meiryo"/>
              </a:rPr>
              <a:t>bulk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24028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3C3C"/>
                </a:solidFill>
                <a:latin typeface="Meiryo"/>
              </a:rPr>
              <a:t>sheath / wall-near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4872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43784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2696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21608" y="5074920"/>
            <a:ext cx="347472" cy="164592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</a:rPr>
              <a:t>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28523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9933"/>
                </a:solidFill>
                <a:latin typeface="Meiryo"/>
              </a:rPr>
              <a:t>high-Pe 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4173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どの式をどこに掛けるか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89320" y="1783080"/>
          <a:ext cx="47548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領域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優先する制約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bulk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準中性 / 連続 / 大域バランス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sheath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Poisson / Bohm / 壁フラックス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wall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σw進化 / 法線電場 / 吸収条件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high-Pe face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SG面フラックス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989320" y="429768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準中性を全領域に掛けると sheath を潰しやすい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Bohm や wall charge は bulk に掛けても意味がない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SG は必要な面だけに掛けると、過度な拘束を避けられる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この領域切替そのものが、通常MLとも全面PINNとも異なる差分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5870448"/>
            <a:ext cx="4709160" cy="384048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5943600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→ 『選択制約』は、性能だけでなく進歩性の説明にも使いやすい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限定物理① コア制約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まず入れる価値が高いコア式: Poisson・連続・壁面フラックス・壁面電荷・Bohm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797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8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8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理論式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代表式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主に効く物理値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狙う効果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Poisson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∇·(ε∇φ) = -e(ΣZi ni - ne)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φ, E, ne, ni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空間電荷と電位の整合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連続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∂ns/∂t + ∇·Γs = Ss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ne, ni, radical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局所保存・大域収支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壁面フラックス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Γe·n, Γi·n の境界式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wall loss, sheath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壁損失の整合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壁面電荷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∂σw/∂t = e(Γi - Γe)·n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σw, En, φ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誘電体壁の法線電場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Bohm条件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ui ≥ cs = √(kBTe/mi)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ui, Te, sheath edge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シース入口の物理性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32120"/>
            <a:ext cx="2057400" cy="868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532120"/>
            <a:ext cx="205740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Poisson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96596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φ と ρc を結ぶ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532120"/>
            <a:ext cx="2057400" cy="868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26080" y="5532120"/>
            <a:ext cx="205740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連続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5806440"/>
            <a:ext cx="196596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保存則を強制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532120"/>
            <a:ext cx="2148840" cy="8686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5532120"/>
            <a:ext cx="21488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壁面フラックス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5806440"/>
            <a:ext cx="205740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壁損失を直接拘束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532120"/>
            <a:ext cx="1920240" cy="8686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6640" y="5532120"/>
            <a:ext cx="192024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σw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5806440"/>
            <a:ext cx="182880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誘電体壁を表現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5532120"/>
            <a:ext cx="1828800" cy="8686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856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5532120"/>
            <a:ext cx="1828800" cy="237744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Bohm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5806440"/>
            <a:ext cx="173736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sheath用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限定物理② 低圧・数値制約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低圧側の主要誤差源と、数値輸送の安定化に効く追加制約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798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0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8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理論式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代表式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効く物理値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狙う効果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電子エネルギー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∂(neεe)/∂t + ∇·ξε = E·Je - loss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εe, Te, source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電力吸収と反応率の整合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EEDF/Boltzmann閉包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μe, De, kr = G(E/N or εe)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transport, reaction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非Maxwell性を反映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SG面フラックス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F = τ[B(-Δψ)nL - B(Δψ)nR]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face flux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high-Pe面の安定化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大域粒子/電力バランス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∮Γ·n = ∫S,  ∫E·J = Ploss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総量, power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OOD時のドリフト抑制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半陰的Poisson 任意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∇·(εEⁿ⁺¹)=ρⁿ-Δt∇·Jⁿ⁺¹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過渡 E, ρc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RF/pulse時の位相ずれ低減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596128"/>
            <a:ext cx="10881360" cy="658368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Meiryo"/>
              </a:rPr>
              <a:t>特に低圧 ICP/CCP では、Poisson + 連続だけでは source と power deposition が合わない。よって εe/EEDF を補助 head として持つ価値が大きい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学習への組込み仕様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式ごとに、どの loss で入れ、どんな工夫をすると学習が安定し、精度へ効くかを整理する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1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5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制約群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学習の入れ方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組込みの工夫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期待効果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Poisson + 連続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L_P, L_C を fine grid で算出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φ gauge固定 / log密度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場の基礎整合を形成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壁 + Bohm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L_wall, L_σ, L_B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wall/sheath mask だけへ適用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シース・壁束を安定化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εe + EEDF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L_E と transport整合 loss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初期は軽く、後半に重み増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低圧 source/power を改善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SG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L_SG を face ごとに算出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high-Pe 面のみ強く適用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振動・負密度を低減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大域バランス + 信頼度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batch積分 loss / residual score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弱めの重みで補助的に使用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OOD安全性を上げる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98348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実装上のコツ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2148840" cy="914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21488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正値化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205740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ne, ni は log か softplus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303520"/>
            <a:ext cx="2148840" cy="9144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7520" y="5303520"/>
            <a:ext cx="21488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順序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5577840"/>
            <a:ext cx="205740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まず data loss, 次に physics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5303520"/>
            <a:ext cx="2148840" cy="9144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0" y="5303520"/>
            <a:ext cx="21488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局所化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5577840"/>
            <a:ext cx="205740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領域別に重みを変える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5303520"/>
            <a:ext cx="2148840" cy="9144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5303520"/>
            <a:ext cx="214884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共通化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577840"/>
            <a:ext cx="205740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MLP/U-Net で同じ operator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5303520"/>
            <a:ext cx="1645920" cy="914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856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75520" y="5303520"/>
            <a:ext cx="1645920" cy="237744"/>
          </a:xfrm>
          <a:prstGeom prst="rect">
            <a:avLst/>
          </a:prstGeom>
          <a:solidFill>
            <a:srgbClr val="856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運用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5577840"/>
            <a:ext cx="1554480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残差ログを保存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MLP / U-Net をどう共通化するか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モデルは違っても、最終的に出す変数・写像先格子・物理損失を揃えれば共通基盤にできる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MLP 実施態様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417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U-Net 実施態様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880360"/>
            <a:ext cx="132588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0" y="2880360"/>
            <a:ext cx="132588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1828800"/>
            <a:ext cx="1920240" cy="19202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19202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1828800" cy="16093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座標条件付き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非構造格子向き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少点 sampling 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828800"/>
            <a:ext cx="1920240" cy="192024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0" y="1828800"/>
            <a:ext cx="19202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U-Net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03120"/>
            <a:ext cx="1828800" cy="16093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格子テンソル向き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局所空間構造が得意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高速推論しやすい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2286000" cy="19202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1828800"/>
            <a:ext cx="228600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共通物理層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03120"/>
            <a:ext cx="2194560" cy="16093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共通head: φ, log n, εe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solver-native写像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同じ離散 residual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4160520"/>
          <a:ext cx="1088135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2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MLP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U-Net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共通化ポイント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入力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条件+座標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条件+格子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壁メタデータを付加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出力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点ごとの場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格子場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共通変数名に揃える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物理損失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写像後に計算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出力上で計算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同じ operator を使う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適用先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自由形状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固定形状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共通装置クレームへ展開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信頼度・フォールバック・運用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任意実施態様として、物理残差ベースの信頼度を出し、危険条件のみフルソルバへ戻す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931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3931920" cy="274320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Meiryo"/>
              </a:rPr>
              <a:t>信頼度スコアの構成例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65960"/>
            <a:ext cx="1051560" cy="914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965960"/>
            <a:ext cx="105156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残差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79"/>
            <a:ext cx="960119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Poisson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連続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965960"/>
            <a:ext cx="1051560" cy="9144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03120" y="1965960"/>
            <a:ext cx="105156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分布距離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2240279"/>
            <a:ext cx="960119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OOD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壁条件差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965960"/>
            <a:ext cx="1051560" cy="9144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965960"/>
            <a:ext cx="105156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分散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40279"/>
            <a:ext cx="960119" cy="6035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ensemble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MC dropout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3063240"/>
            <a:ext cx="1005840" cy="59436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423160" y="3063240"/>
            <a:ext cx="182880" cy="59436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423160" y="3063240"/>
            <a:ext cx="1371600" cy="59436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737360" y="3291840"/>
            <a:ext cx="1371600" cy="1371600"/>
          </a:xfrm>
          <a:prstGeom prst="ellipse">
            <a:avLst/>
          </a:prstGeom>
          <a:solidFill>
            <a:srgbClr val="FFEEEE"/>
          </a:solidFill>
          <a:ln w="254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01952" y="3675887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3C3C"/>
                </a:solidFill>
                <a:latin typeface="Meiryo"/>
              </a:rPr>
              <a:t>Trust
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983480"/>
            <a:ext cx="3383280" cy="6858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13892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高信頼 → サロゲート採用
低信頼 →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150876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運用フローの例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97880" y="2743200"/>
            <a:ext cx="105156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92440" y="2743200"/>
            <a:ext cx="1097280" cy="0"/>
          </a:xfrm>
          <a:prstGeom prst="line">
            <a:avLst/>
          </a:prstGeom>
          <a:ln w="3810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332720" y="2194560"/>
            <a:ext cx="822960" cy="548640"/>
          </a:xfrm>
          <a:prstGeom prst="line">
            <a:avLst/>
          </a:prstGeom>
          <a:ln w="31750">
            <a:solidFill>
              <a:srgbClr val="308C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2743200"/>
            <a:ext cx="822960" cy="640080"/>
          </a:xfrm>
          <a:prstGeom prst="line">
            <a:avLst/>
          </a:prstGeom>
          <a:ln w="3175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74920" y="1965960"/>
            <a:ext cx="1508760" cy="13716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74920" y="1965960"/>
            <a:ext cx="150876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推論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240279"/>
            <a:ext cx="141731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条件入力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場を出力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1965960"/>
            <a:ext cx="1508760" cy="13716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69480" y="1965960"/>
            <a:ext cx="150876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残差評価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240279"/>
            <a:ext cx="141731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Poisson他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score化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1965960"/>
            <a:ext cx="1508760" cy="13716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64040" y="1965960"/>
            <a:ext cx="150876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分岐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240279"/>
            <a:ext cx="141731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閾値比較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採否判断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064240" y="1508760"/>
            <a:ext cx="868680" cy="8686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064240" y="1508760"/>
            <a:ext cx="8686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採用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1783080"/>
            <a:ext cx="777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高速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64240" y="3063240"/>
            <a:ext cx="868680" cy="86868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064240" y="3063240"/>
            <a:ext cx="8686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fallback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3337560"/>
            <a:ext cx="777240" cy="5577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安全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0" y="4892040"/>
            <a:ext cx="6309360" cy="9144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12080" y="5056632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製造現場では、精度が高いことより『危険な外れを止められること』が価値になる。
そのため trust score は実務上の有用性を説明しやすい。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従来技術との対比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従来課題に対し、本件の手段と効果を1枚で対応付ける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09958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7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7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従来課題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従来対策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本件の提案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期待効果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Poisson不整合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MSE強化 / 後解き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Poisson離散残差を直接loss化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φ-ρc整合、シース安定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局所保存破れ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平滑化 / 質量正則化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連続残差 + 大域バランス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偽source/sink抑制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壁条件差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境界セル penalty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wall flux / σw / Bohm を主損失化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壁束・自己バイアス改善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低圧EEDF差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Maxwellian仮定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εe head + EEDF閉包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source/power の整合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high-Pe 振動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中央差分相当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SG面フラックス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負密度・ringing低減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OOD破綻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再学習のみ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trust score + fallback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安全運用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760720"/>
            <a:ext cx="3383280" cy="7315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33832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差分の本質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AIモデルそのものより、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入力・ラベル・物理層の設計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760720"/>
            <a:ext cx="3383280" cy="7315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5760720"/>
            <a:ext cx="33832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進歩性の軸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603504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限定物理 × 領域選択 × 離散演算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5760720"/>
            <a:ext cx="3291840" cy="7315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5760720"/>
            <a:ext cx="329184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有用性の軸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6035040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高速化 + 使える判定 + 製造運用性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活用事例① CCP 誘電体エッチング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壁電荷とシースが効く代表例。従来MLでは、壁近傍の場が『それらしく見えても危険』になりやすい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2976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3840480" cy="3931920"/>
          </a:xfrm>
          <a:prstGeom prst="roundRect">
            <a:avLst/>
          </a:prstGeom>
          <a:solidFill>
            <a:srgbClr val="F0F3F6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17320" y="2011680"/>
            <a:ext cx="2926080" cy="411480"/>
          </a:xfrm>
          <a:prstGeom prst="rect">
            <a:avLst/>
          </a:prstGeom>
          <a:solidFill>
            <a:srgbClr val="2D5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2084831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eiryo"/>
              </a:rPr>
              <a:t>powered electrode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4983480"/>
            <a:ext cx="2926080" cy="5029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5111496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eiryo"/>
              </a:rPr>
              <a:t>wafer / chuck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606040"/>
            <a:ext cx="2926080" cy="2194560"/>
          </a:xfrm>
          <a:prstGeom prst="rect">
            <a:avLst/>
          </a:prstGeom>
          <a:solidFill>
            <a:srgbClr val="E7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17320" y="2423160"/>
            <a:ext cx="2926080" cy="1828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17320" y="4800600"/>
            <a:ext cx="2926080" cy="1828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8992" y="2011680"/>
            <a:ext cx="228600" cy="3474720"/>
          </a:xfrm>
          <a:prstGeom prst="rect">
            <a:avLst/>
          </a:prstGeom>
          <a:solidFill>
            <a:srgbClr val="DC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53128" y="2011680"/>
            <a:ext cx="228600" cy="3474720"/>
          </a:xfrm>
          <a:prstGeom prst="rect">
            <a:avLst/>
          </a:prstGeom>
          <a:solidFill>
            <a:srgbClr val="DC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34290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6C8"/>
                </a:solidFill>
                <a:latin typeface="Meiryo"/>
              </a:rPr>
              <a:t>bulk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4144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3C3C"/>
                </a:solidFill>
                <a:latin typeface="Meiryo"/>
              </a:rPr>
              <a:t>sheath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24612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D5D7D"/>
                </a:solidFill>
                <a:latin typeface="Meiryo"/>
              </a:rPr>
              <a:t>誘電体
wall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617720" y="2377440"/>
            <a:ext cx="457200" cy="365760"/>
          </a:xfrm>
          <a:prstGeom prst="line">
            <a:avLst/>
          </a:prstGeom>
          <a:ln w="3175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7720" y="4572000"/>
            <a:ext cx="457200" cy="365760"/>
          </a:xfrm>
          <a:prstGeom prst="line">
            <a:avLst/>
          </a:prstGeom>
          <a:ln w="31750">
            <a:solidFill>
              <a:srgbClr val="C8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74920" y="2249424"/>
            <a:ext cx="548640" cy="201168"/>
          </a:xfrm>
          <a:prstGeom prst="round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</a:rPr>
              <a:t>σw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864608"/>
            <a:ext cx="548640" cy="20116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</a:rPr>
              <a:t>Γwall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600200"/>
            <a:ext cx="1920240" cy="43891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0" y="1600200"/>
            <a:ext cx="192024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従来の課題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74519"/>
            <a:ext cx="1828800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壁電荷を持たず、法線電場が崩れる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壁近傍の ne と φ が噛み合わない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自己バイアスや壁フラックスが外れる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1600200"/>
            <a:ext cx="1920240" cy="43891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26679" y="1600200"/>
            <a:ext cx="19202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提案手法の利用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1874519"/>
            <a:ext cx="1828800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Poisson + 連続 + wall flux を主損失化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誘電体壁には σw 進化式を追加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sheath/wall mask にだけ Bohm を適用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600200"/>
            <a:ext cx="1828800" cy="43891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66960" y="1600200"/>
            <a:ext cx="182880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期待効果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1874519"/>
            <a:ext cx="1737360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壁近傍電場の再現性向上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シース幅・壁束の安定化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装置差/壁材差へ説明可能な形で対応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活用事例② 低圧 ICP / HAR エッチング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低圧 ICP では、EEDF と power deposition のずれが密度・反応率へ直結する</a:t>
            </a:r>
          </a:p>
        </p:txBody>
      </p:sp>
      <p:pic>
        <p:nvPicPr>
          <p:cNvPr id="6" name="Picture 5" descr="hori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59" y="1417320"/>
            <a:ext cx="407816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437083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87878"/>
                </a:solidFill>
                <a:latin typeface="Meiryo"/>
              </a:rPr>
              <a:t>半導体エッチング装置のイメージ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920240" cy="114300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192024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828800" cy="8321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Maxwellian仮定で source 誤差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power deposition の位置ずれ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63040"/>
            <a:ext cx="1965960" cy="11430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8920" y="1463040"/>
            <a:ext cx="196596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提案手法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1737360"/>
            <a:ext cx="1874519" cy="8321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εe/Te head を追加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Boltzmann由来 transport を接続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463040"/>
            <a:ext cx="1234440" cy="11430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3480" y="1463040"/>
            <a:ext cx="123444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737360"/>
            <a:ext cx="1143000" cy="83210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密度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反応率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power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2926080"/>
          <a:ext cx="55778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従来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eiryo"/>
                        </a:rPr>
                        <a:t>提案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電子物理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Maxwellian仮定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EEDF/Boltzmann閉包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学習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場を直接回帰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εe loss と source 整合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評価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場誤差中心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power / density / source を併記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実務価値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条件外で外れやすい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Meiryo"/>
                        </a:rPr>
                        <a:t>低圧レシピ探索に使いやすい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537960" y="4754880"/>
            <a:ext cx="4937760" cy="123444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4919472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HAR エッチングでは、プラズマ密度・壁損失・ラジカル生成のずれが
最終形状に波及しやすい。そこで低圧側の電子エネルギー制約を補助的に追加する。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活用事例③ 成膜 uniformity / 装置差補正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uniformity と装置差を同時に見たい場合、SG と trust score が効く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想定ユース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2743200"/>
            <a:ext cx="105156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97680" y="2743200"/>
            <a:ext cx="105156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1828800"/>
            <a:ext cx="1554480" cy="16459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55448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装置A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wall材 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既学習条件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1554480" cy="16459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828800"/>
            <a:ext cx="155448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サロゲート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SG + wall flux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trust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828800"/>
            <a:ext cx="1554480" cy="16459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1828800"/>
            <a:ext cx="155448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装置B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103120"/>
            <a:ext cx="1463039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wall材 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一部 OOD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23360"/>
            <a:ext cx="484632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41605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D5D7D"/>
                </a:solidFill>
                <a:latin typeface="Meiryo"/>
              </a:rPr>
              <a:t>uniformity / chamber matching の出力イメージ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4526280"/>
            <a:ext cx="658368" cy="256032"/>
          </a:xfrm>
          <a:prstGeom prst="rect">
            <a:avLst/>
          </a:prstGeom>
          <a:solidFill>
            <a:srgbClr val="E7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85416" y="4526280"/>
            <a:ext cx="658368" cy="256032"/>
          </a:xfrm>
          <a:prstGeom prst="rect">
            <a:avLst/>
          </a:prstGeom>
          <a:solidFill>
            <a:srgbClr val="C8E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53512" y="4526280"/>
            <a:ext cx="658368" cy="256032"/>
          </a:xfrm>
          <a:prstGeom prst="rect">
            <a:avLst/>
          </a:prstGeom>
          <a:solidFill>
            <a:srgbClr val="AADC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721608" y="4526280"/>
            <a:ext cx="658368" cy="256032"/>
          </a:xfrm>
          <a:prstGeom prst="rect">
            <a:avLst/>
          </a:prstGeom>
          <a:solidFill>
            <a:srgbClr val="8CD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9704" y="4526280"/>
            <a:ext cx="658368" cy="256032"/>
          </a:xfrm>
          <a:prstGeom prst="rect">
            <a:avLst/>
          </a:prstGeom>
          <a:solidFill>
            <a:srgbClr val="6EC8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417320" y="4873752"/>
            <a:ext cx="658368" cy="256032"/>
          </a:xfrm>
          <a:prstGeom prst="rect">
            <a:avLst/>
          </a:prstGeom>
          <a:solidFill>
            <a:srgbClr val="C8E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85416" y="4873752"/>
            <a:ext cx="658368" cy="256032"/>
          </a:xfrm>
          <a:prstGeom prst="rect">
            <a:avLst/>
          </a:prstGeom>
          <a:solidFill>
            <a:srgbClr val="AADC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53512" y="4873752"/>
            <a:ext cx="658368" cy="256032"/>
          </a:xfrm>
          <a:prstGeom prst="rect">
            <a:avLst/>
          </a:prstGeom>
          <a:solidFill>
            <a:srgbClr val="8CD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721608" y="4873752"/>
            <a:ext cx="658368" cy="256032"/>
          </a:xfrm>
          <a:prstGeom prst="rect">
            <a:avLst/>
          </a:prstGeom>
          <a:solidFill>
            <a:srgbClr val="6EC8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9704" y="4873752"/>
            <a:ext cx="658368" cy="256032"/>
          </a:xfrm>
          <a:prstGeom prst="rect">
            <a:avLst/>
          </a:prstGeom>
          <a:solidFill>
            <a:srgbClr val="E7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417320" y="5221224"/>
            <a:ext cx="658368" cy="256032"/>
          </a:xfrm>
          <a:prstGeom prst="rect">
            <a:avLst/>
          </a:prstGeom>
          <a:solidFill>
            <a:srgbClr val="AADC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85416" y="5221224"/>
            <a:ext cx="658368" cy="256032"/>
          </a:xfrm>
          <a:prstGeom prst="rect">
            <a:avLst/>
          </a:prstGeom>
          <a:solidFill>
            <a:srgbClr val="8CD2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953512" y="5221224"/>
            <a:ext cx="658368" cy="256032"/>
          </a:xfrm>
          <a:prstGeom prst="rect">
            <a:avLst/>
          </a:prstGeom>
          <a:solidFill>
            <a:srgbClr val="6EC8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721608" y="5221224"/>
            <a:ext cx="658368" cy="256032"/>
          </a:xfrm>
          <a:prstGeom prst="rect">
            <a:avLst/>
          </a:prstGeom>
          <a:solidFill>
            <a:srgbClr val="E7F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9704" y="5221224"/>
            <a:ext cx="658368" cy="256032"/>
          </a:xfrm>
          <a:prstGeom prst="rect">
            <a:avLst/>
          </a:prstGeom>
          <a:solidFill>
            <a:srgbClr val="C8E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074920" y="4709160"/>
            <a:ext cx="713232" cy="201168"/>
          </a:xfrm>
          <a:prstGeom prst="round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eiryo"/>
              </a:rPr>
              <a:t>Trust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1508760"/>
            <a:ext cx="1554480" cy="443484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0" y="1508760"/>
            <a:ext cx="1554480" cy="237744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課題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1783080"/>
            <a:ext cx="1463039" cy="4123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high-Pe 面で振動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装置差で OOD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使える/危険が不明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1508760"/>
            <a:ext cx="1691640" cy="443484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75320" y="1508760"/>
            <a:ext cx="169164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提案手法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1783080"/>
            <a:ext cx="1600200" cy="4123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SG を面単位で適用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壁メタデータを入力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trust score で採否分岐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1508760"/>
            <a:ext cx="1600200" cy="443484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104120" y="1508760"/>
            <a:ext cx="160020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効果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1783080"/>
            <a:ext cx="1508760" cy="4123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uniformity 予測が安定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装置差補正の説明性向上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量産側で使いやすい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新規性・進歩性・有用性の整理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先行技術調査は別途要確認だが、本件は『限定物理×領域選択×離散演算』の組合せで説明しやすい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438912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4747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新規性の見せ方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383279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入力: 壁条件メタデータを含む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ラベル: 領域マスクや派生ラベルを作る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学習: 離散物理整合層を通す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出力: trust score まで返す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38912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4747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進歩性の見せ方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79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全面PINNではなく限定物理だけを選ぶ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全領域一律ではなく bulk/sheath/wall を分ける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連続残差ではなく solver-native 離散残差を使う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粗ラベル + 細物理格子を組み合わせる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438912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47472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有用性の見せ方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737360"/>
            <a:ext cx="3383279" cy="407822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高速探索に加え、使える/危険の判定ができる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壁材変更や装置差の説明可能性が高い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工程窓推定や逆設計へ展開しやすい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量産運用で fallback に繋げやすい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280160" y="5577840"/>
          <a:ext cx="9601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</a:rPr>
                        <a:t>通常MLとの差分</a:t>
                      </a:r>
                    </a:p>
                  </a:txBody>
                  <a:tcPr marL="36576" marR="36576" marT="27432" marB="27432">
                    <a:solidFill>
                      <a:srgbClr val="2D5D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データ作成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マスク・派生ラベル・多解像度格子を持つ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物理制約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限定物理を領域別に適用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数値実装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solver-native operator で残差化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運用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Meiryo"/>
                        </a:rPr>
                        <a:t>trust score と fallback を持つ</a:t>
                      </a:r>
                    </a:p>
                  </a:txBody>
                  <a:tcPr marL="36576" marR="36576" marT="27432" marB="27432">
                    <a:solidFill>
                      <a:srgbClr val="E7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77240" y="632764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注: 特許性判断の最終結論ではなく、審査官・弁理士向けの説明整理。実際の出願前には特許文献検索が要確認。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676656"/>
            <a:ext cx="11521440" cy="18288"/>
          </a:xfrm>
          <a:prstGeom prst="rect">
            <a:avLst/>
          </a:prstGeom>
          <a:solidFill>
            <a:srgbClr val="5B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BC0FF"/>
                </a:solidFill>
                <a:latin typeface="Meiryo"/>
              </a:rPr>
              <a:t>請求項例とまとめ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Meiryo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広くは方法クレーム、狭くは壁面・EEDF・信頼度まで従属で積み上げる構成が考えやすい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請求項の骨格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91640" y="2331720"/>
            <a:ext cx="100584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86200" y="2331720"/>
            <a:ext cx="1005840" cy="0"/>
          </a:xfrm>
          <a:prstGeom prst="line">
            <a:avLst/>
          </a:prstGeom>
          <a:ln w="31750">
            <a:solidFill>
              <a:srgbClr val="2D5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1783080"/>
            <a:ext cx="1417320" cy="109728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14173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独立請求項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325880" cy="7863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方法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限定物理層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783080"/>
            <a:ext cx="1417320" cy="109728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783080"/>
            <a:ext cx="141732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従属請求項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57400"/>
            <a:ext cx="1325880" cy="7863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壁差補正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trust/fallback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783080"/>
            <a:ext cx="1417320" cy="109728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1783080"/>
            <a:ext cx="14173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別独立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057400"/>
            <a:ext cx="1325880" cy="786383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装置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システム/媒体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請求項例（箇条書き）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83080"/>
            <a:ext cx="4892040" cy="2011680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方法: 領域マスクを生成し、Poisson/連続/壁面/SG等の離散残差を用いて学習する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従属: 壁材/SEE メタデータを入力し、装置差補正を行う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従属: trust score を算出し、低信頼時にフルソルバへ分岐する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装置: データ取得部、マスク生成部、物理整合演算部、学習制御部を備える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000000"/>
                </a:solidFill>
                <a:latin typeface="Meiryo"/>
              </a:rPr>
              <a:t>• プログラム: 上記方法をコンピュータに実行させる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D5D7D"/>
                </a:solidFill>
                <a:latin typeface="Meiryo"/>
              </a:rPr>
              <a:t>最終まとめ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3474720" cy="1371600"/>
          </a:xfrm>
          <a:prstGeom prst="roundRect">
            <a:avLst/>
          </a:prstGeom>
          <a:solidFill>
            <a:srgbClr val="E7F5FF"/>
          </a:solidFill>
          <a:ln w="12700"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3474720" cy="237744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Takeaway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97680"/>
            <a:ext cx="338327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本件の芯は AI そのものではなく、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入力・ラベル・離散物理層の設計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23360"/>
            <a:ext cx="3474720" cy="1371600"/>
          </a:xfrm>
          <a:prstGeom prst="roundRect">
            <a:avLst/>
          </a:prstGeom>
          <a:solidFill>
            <a:srgbClr val="ECF8EF"/>
          </a:solidFill>
          <a:ln w="12700">
            <a:solidFill>
              <a:srgbClr val="308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474720" cy="237744"/>
          </a:xfrm>
          <a:prstGeom prst="rect">
            <a:avLst/>
          </a:prstGeom>
          <a:solidFill>
            <a:srgbClr val="308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Takeaway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297680"/>
            <a:ext cx="338327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壁境界・EEDF・SG 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低圧プラズマの主要誤差源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023360"/>
            <a:ext cx="3474720" cy="1371600"/>
          </a:xfrm>
          <a:prstGeom prst="roundRect">
            <a:avLst/>
          </a:prstGeom>
          <a:solidFill>
            <a:srgbClr val="FFF8E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4023360"/>
            <a:ext cx="3474720" cy="23774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eiryo"/>
              </a:rPr>
              <a:t>Takeaway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297680"/>
            <a:ext cx="3383279" cy="1060704"/>
          </a:xfrm>
          <a:prstGeom prst="rect">
            <a:avLst/>
          </a:prstGeom>
          <a:noFill/>
          <a:ln>
            <a:noFill/>
          </a:ln>
        </p:spPr>
        <p:txBody>
          <a:bodyPr wrap="square" lIns="73152" tIns="27432" rIns="27432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審査上は『限定物理×領域選択×離散演算』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• で新規性/進歩性を整理しやすい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10789920" cy="502920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879592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Meiryo"/>
              </a:rPr>
              <a:t>本資料は説明素材です。出願前には、対象装置・時系列要件・壁条件メタデータ・既存特許調査の4点を優先確認すると整理が進みやすい。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3176</Words>
  <Application>Microsoft Macintosh PowerPoint</Application>
  <PresentationFormat>ワイド画面</PresentationFormat>
  <Paragraphs>893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4" baseType="lpstr">
      <vt:lpstr>Meiryo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kawahito</cp:lastModifiedBy>
  <cp:revision>2</cp:revision>
  <dcterms:created xsi:type="dcterms:W3CDTF">2013-01-27T09:14:16Z</dcterms:created>
  <dcterms:modified xsi:type="dcterms:W3CDTF">2026-03-09T23:54:05Z</dcterms:modified>
  <cp:category/>
</cp:coreProperties>
</file>
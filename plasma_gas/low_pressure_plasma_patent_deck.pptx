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Title 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Background and objective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Summary of novelty cores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Four-quadrant summary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Prior art categories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Simulation-centric conventional workflow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Gas-specific surrogate and recipe-direct-input AI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Occurrence conditions and limits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Metrics and constraints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Core inventive positioning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System configuration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Data collection specifications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Cross-section registry details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Swarm campaign and table generation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Feature engineering overview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Gas-effect features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Reaction-effect features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Confidence features and applicability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Overall AI architecture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AI1 MLP details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AI2 U-Net details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Loss design and training flow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Generalization evaluation and active learning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Governance and audit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Effects mapped to challenges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Use case: etch condition exploration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Use case: cleaning / ashing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Use case: new gas onboarding and virtual evaluation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Claim examples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the user-provided project description and the iterative technical analysis produced in this conversation.
- All tables, charts, and diagrams in this deck are original schematic visuals created in PptxGenJS; no external image assets are used.
- Any comparative graphs are conceptual illustrations for explanation, not measured production data.
- Slide note: Final summary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特許開示スライド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断面積レジストリと swarm 由来輸送表現に基づく低圧プラズマ予測技術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987552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対象: 半導体製造 × AI / 低圧プラズマ / サロゲートモデル / 発明開示素材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32227" y="1845991"/>
            <a:ext cx="146304" cy="253472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52390" y="1845991"/>
            <a:ext cx="146304" cy="253472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72554" y="1845991"/>
            <a:ext cx="146304" cy="253472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92717" y="1845991"/>
            <a:ext cx="146304" cy="253472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1408176"/>
            <a:ext cx="2000707" cy="1152144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断面積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レジストリ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版管理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品質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追跡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740664" y="1453896"/>
            <a:ext cx="19092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断面積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レジストリ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2915107" y="1408176"/>
            <a:ext cx="2000707" cy="1152144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swarm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係数表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μ,D,k,ε̄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EN表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2960827" y="1453896"/>
            <a:ext cx="19092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swarm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係数表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5135270" y="1408176"/>
            <a:ext cx="2000707" cy="1152144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ガス効果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特徴量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組成変換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潜在表現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5180990" y="1453896"/>
            <a:ext cx="19092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ガス効果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特徴量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7355434" y="1408176"/>
            <a:ext cx="2000707" cy="1152144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AI1 / AI2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分業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空間場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7401154" y="1453896"/>
            <a:ext cx="19092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AI1 / AI2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分業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9575597" y="1408176"/>
            <a:ext cx="2000707" cy="1152144"/>
          </a:xfrm>
          <a:prstGeom prst="roundRect">
            <a:avLst/>
          </a:prstGeom>
          <a:solidFill>
            <a:srgbClr val="F1EEFF"/>
          </a:solidFill>
          <a:ln>
            <a:solidFill>
              <a:srgbClr val="7A6FF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信頼度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外挿検知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監査誘導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9621317" y="1453896"/>
            <a:ext cx="19092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信頼度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749808" y="2724912"/>
            <a:ext cx="1325880" cy="201168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9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発明の芯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49808" y="2962656"/>
            <a:ext cx="5541264" cy="1874520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F2994A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AIそのものではなく、入力データの作り方と特徴量設計を主役に置く。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ガス名を直接学習させず、swarm 由来の物理表現を共通言語として扱う。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予測値に加えて適用可否を示し、運用判断まで設計に含める。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7543800" y="2788920"/>
            <a:ext cx="3236976" cy="2066544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9BA7B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18120" y="2953512"/>
            <a:ext cx="685800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7616952" y="2807208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ガス導入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8046720" y="3209544"/>
            <a:ext cx="2231136" cy="164592"/>
          </a:xfrm>
          <a:prstGeom prst="rect">
            <a:avLst/>
          </a:prstGeom>
          <a:solidFill>
            <a:srgbClr val="77CC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0" y="3044952"/>
            <a:ext cx="2231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上部電極</a:t>
            </a:r>
            <a:endParaRPr lang="en-US" sz="1040" dirty="0"/>
          </a:p>
        </p:txBody>
      </p:sp>
      <p:sp>
        <p:nvSpPr>
          <p:cNvPr id="28" name="Shape 26"/>
          <p:cNvSpPr/>
          <p:nvPr/>
        </p:nvSpPr>
        <p:spPr>
          <a:xfrm>
            <a:off x="8293608" y="3575304"/>
            <a:ext cx="1737360" cy="438912"/>
          </a:xfrm>
          <a:prstGeom prst="rect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30184" y="3867912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低圧プラズマ領域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138160" y="4215384"/>
            <a:ext cx="2048256" cy="182880"/>
          </a:xfrm>
          <a:prstGeom prst="rect">
            <a:avLst/>
          </a:prstGeom>
          <a:solidFill>
            <a:srgbClr val="D9E3EE"/>
          </a:solidFill>
          <a:ln w="12700">
            <a:solidFill>
              <a:srgbClr val="9BA7B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58200" y="3941064"/>
            <a:ext cx="1408176" cy="164592"/>
          </a:xfrm>
          <a:prstGeom prst="rect">
            <a:avLst/>
          </a:prstGeom>
          <a:solidFill>
            <a:srgbClr val="FFE4C7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38160" y="4443984"/>
            <a:ext cx="20482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基板 / 下部電極</a:t>
            </a:r>
            <a:endParaRPr lang="en-US" sz="1040" dirty="0"/>
          </a:p>
        </p:txBody>
      </p:sp>
      <p:sp>
        <p:nvSpPr>
          <p:cNvPr id="33" name="Shape 31"/>
          <p:cNvSpPr/>
          <p:nvPr/>
        </p:nvSpPr>
        <p:spPr>
          <a:xfrm>
            <a:off x="8503920" y="3977640"/>
            <a:ext cx="0" cy="530352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869680" y="3977640"/>
            <a:ext cx="0" cy="530352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235440" y="3977640"/>
            <a:ext cx="0" cy="530352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601200" y="3977640"/>
            <a:ext cx="0" cy="530352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9957816" y="284378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概念図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7543800" y="5084064"/>
            <a:ext cx="1993392" cy="950976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1696E7"/>
            </a:solidFill>
          </a:ln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想定用途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条件探索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仮想計測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新規ガス追加評価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将来の制御支援</a:t>
            </a:r>
            <a:endParaRPr lang="en-US" sz="1420" dirty="0"/>
          </a:p>
        </p:txBody>
      </p:sp>
      <p:sp>
        <p:nvSpPr>
          <p:cNvPr id="39" name="Text 37"/>
          <p:cNvSpPr/>
          <p:nvPr/>
        </p:nvSpPr>
        <p:spPr>
          <a:xfrm>
            <a:off x="9674352" y="5084064"/>
            <a:ext cx="1901952" cy="950976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2FA866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30枚構成</a:t>
            </a:r>
            <a:endParaRPr lang="en-US" sz="1380" dirty="0"/>
          </a:p>
          <a:p>
            <a:pPr algn="ctr" indent="0" marL="0">
              <a:buNone/>
            </a:pPr>
            <a:r>
              <a:rPr lang="en-US" sz="13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 → 課題 → 提案 → 効果 → 活用例 → 請求項例</a:t>
            </a:r>
            <a:endParaRPr lang="en-US" sz="1380" dirty="0"/>
          </a:p>
        </p:txBody>
      </p:sp>
      <p:sp>
        <p:nvSpPr>
          <p:cNvPr id="40" name="Shape 38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1/30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背景と目的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なぜ特許化の価値があるか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969264"/>
            <a:ext cx="132588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96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49808" y="1207008"/>
            <a:ext cx="5065776" cy="1883664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1696E7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低圧プラズマでは、ガス種・混合比・圧力・印加条件で輸送係数と反応係数が大きく変わる。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半導体製造では条件探索や新規ガス評価のたびに swarm と場シミュレーションの負荷が高い。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従来の AI 化はレシピ値やガス名直入力に寄り、断面積版差や外挿条件の説明が弱い。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053328" y="1133856"/>
            <a:ext cx="5010912" cy="2157984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37376" y="2907792"/>
            <a:ext cx="4480560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37376" y="1371600"/>
            <a:ext cx="0" cy="1536192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37376" y="2907792"/>
            <a:ext cx="44805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37376" y="2523744"/>
            <a:ext cx="44805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37376" y="2139696"/>
            <a:ext cx="44805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37376" y="1755648"/>
            <a:ext cx="44805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37376" y="1371600"/>
            <a:ext cx="44805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37376" y="2754173"/>
            <a:ext cx="896112" cy="-122895"/>
          </a:xfrm>
          <a:prstGeom prst="line">
            <a:avLst/>
          </a:prstGeom>
          <a:noFill/>
          <a:ln w="12700">
            <a:solidFill>
              <a:srgbClr val="D94B4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33488" y="2631277"/>
            <a:ext cx="896112" cy="-261153"/>
          </a:xfrm>
          <a:prstGeom prst="line">
            <a:avLst/>
          </a:prstGeom>
          <a:noFill/>
          <a:ln w="12700">
            <a:solidFill>
              <a:srgbClr val="D94B4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2370125"/>
            <a:ext cx="896112" cy="-353324"/>
          </a:xfrm>
          <a:prstGeom prst="line">
            <a:avLst/>
          </a:prstGeom>
          <a:noFill/>
          <a:ln w="12700">
            <a:solidFill>
              <a:srgbClr val="D94B4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25712" y="2016801"/>
            <a:ext cx="896112" cy="-368686"/>
          </a:xfrm>
          <a:prstGeom prst="line">
            <a:avLst/>
          </a:prstGeom>
          <a:noFill/>
          <a:ln w="12700">
            <a:solidFill>
              <a:srgbClr val="D94B4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21824" y="1648115"/>
            <a:ext cx="896112" cy="-215067"/>
          </a:xfrm>
          <a:prstGeom prst="line">
            <a:avLst/>
          </a:prstGeom>
          <a:noFill/>
          <a:ln w="12700">
            <a:solidFill>
              <a:srgbClr val="D94B4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9944" y="2726741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06056" y="2603845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02168" y="2342693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98280" y="1989369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994392" y="1620683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890504" y="1405616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57816" y="1408176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D94B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ガス別データセット方式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6437376" y="2754173"/>
            <a:ext cx="896112" cy="-61448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33488" y="2692725"/>
            <a:ext cx="896112" cy="-122895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2569830"/>
            <a:ext cx="896112" cy="-215067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25712" y="2354763"/>
            <a:ext cx="896112" cy="-215067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021824" y="2139696"/>
            <a:ext cx="896112" cy="-215067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9944" y="2726741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06056" y="2665293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02168" y="2542398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98280" y="2327331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994392" y="2112264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890504" y="1897197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957816" y="1572768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1696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層分離方式</a:t>
            </a:r>
            <a:endParaRPr lang="en-US" sz="1020" dirty="0"/>
          </a:p>
        </p:txBody>
      </p:sp>
      <p:sp>
        <p:nvSpPr>
          <p:cNvPr id="40" name="Text 38"/>
          <p:cNvSpPr/>
          <p:nvPr/>
        </p:nvSpPr>
        <p:spPr>
          <a:xfrm>
            <a:off x="7827264" y="3127248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想定ガス / 条件の広がり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 rot="16200000">
            <a:off x="6071616" y="115214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データ準備負荷</a:t>
            </a:r>
            <a:endParaRPr lang="en-US" sz="920" dirty="0"/>
          </a:p>
        </p:txBody>
      </p:sp>
      <p:sp>
        <p:nvSpPr>
          <p:cNvPr id="42" name="Text 40"/>
          <p:cNvSpPr/>
          <p:nvPr/>
        </p:nvSpPr>
        <p:spPr>
          <a:xfrm>
            <a:off x="6163056" y="1179576"/>
            <a:ext cx="4791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概念比較</a:t>
            </a:r>
            <a:endParaRPr lang="en-US" sz="1020" dirty="0"/>
          </a:p>
        </p:txBody>
      </p:sp>
      <p:sp>
        <p:nvSpPr>
          <p:cNvPr id="43" name="Text 41"/>
          <p:cNvSpPr/>
          <p:nvPr/>
        </p:nvSpPr>
        <p:spPr>
          <a:xfrm>
            <a:off x="749808" y="3456432"/>
            <a:ext cx="1325880" cy="20116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A8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目的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49808" y="3694176"/>
            <a:ext cx="5065776" cy="1591056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2FA866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ガスごと再作成する設計から脱却し、更新対象を前段へ局所化する。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物理特徴量でガス差を表現し、AI の汎化と説明性を高める。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予測値だけでなく信頼度を併記し、運用判断に使える構成とする。</a:t>
            </a:r>
            <a:endParaRPr lang="en-US" sz="1550" dirty="0"/>
          </a:p>
        </p:txBody>
      </p:sp>
      <p:sp>
        <p:nvSpPr>
          <p:cNvPr id="45" name="Shape 43"/>
          <p:cNvSpPr/>
          <p:nvPr/>
        </p:nvSpPr>
        <p:spPr>
          <a:xfrm>
            <a:off x="6601968" y="3657600"/>
            <a:ext cx="2468880" cy="1645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9BA7B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76288" y="3822192"/>
            <a:ext cx="685800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6675120" y="3675888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ガス導入</a:t>
            </a:r>
            <a:endParaRPr lang="en-US" sz="980" dirty="0"/>
          </a:p>
        </p:txBody>
      </p:sp>
      <p:sp>
        <p:nvSpPr>
          <p:cNvPr id="48" name="Shape 46"/>
          <p:cNvSpPr/>
          <p:nvPr/>
        </p:nvSpPr>
        <p:spPr>
          <a:xfrm>
            <a:off x="7104888" y="4078224"/>
            <a:ext cx="1463040" cy="164592"/>
          </a:xfrm>
          <a:prstGeom prst="rect">
            <a:avLst/>
          </a:prstGeom>
          <a:solidFill>
            <a:srgbClr val="77CC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04888" y="3913632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上部電極</a:t>
            </a:r>
            <a:endParaRPr lang="en-US" sz="1040" dirty="0"/>
          </a:p>
        </p:txBody>
      </p:sp>
      <p:sp>
        <p:nvSpPr>
          <p:cNvPr id="50" name="Shape 48"/>
          <p:cNvSpPr/>
          <p:nvPr/>
        </p:nvSpPr>
        <p:spPr>
          <a:xfrm>
            <a:off x="7351776" y="4443984"/>
            <a:ext cx="969264" cy="18288"/>
          </a:xfrm>
          <a:prstGeom prst="rect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88352" y="4736592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場予測対象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7196328" y="4663440"/>
            <a:ext cx="1280160" cy="182880"/>
          </a:xfrm>
          <a:prstGeom prst="rect">
            <a:avLst/>
          </a:prstGeom>
          <a:solidFill>
            <a:srgbClr val="D9E3EE"/>
          </a:solidFill>
          <a:ln w="12700">
            <a:solidFill>
              <a:srgbClr val="9BA7B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516368" y="4389120"/>
            <a:ext cx="640080" cy="164592"/>
          </a:xfrm>
          <a:prstGeom prst="rect">
            <a:avLst/>
          </a:prstGeom>
          <a:solidFill>
            <a:srgbClr val="FFE4C7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96328" y="4892040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基板 / 下部電極</a:t>
            </a:r>
            <a:endParaRPr lang="en-US" sz="1040" dirty="0"/>
          </a:p>
        </p:txBody>
      </p:sp>
      <p:sp>
        <p:nvSpPr>
          <p:cNvPr id="55" name="Shape 53"/>
          <p:cNvSpPr/>
          <p:nvPr/>
        </p:nvSpPr>
        <p:spPr>
          <a:xfrm>
            <a:off x="7562088" y="4846320"/>
            <a:ext cx="0" cy="530352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7714488" y="4846320"/>
            <a:ext cx="0" cy="530352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7866888" y="4846320"/>
            <a:ext cx="0" cy="530352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8019288" y="4846320"/>
            <a:ext cx="0" cy="530352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  <a:tailEnd type="triangle"/>
          </a:ln>
        </p:spPr>
      </p:sp>
      <p:sp>
        <p:nvSpPr>
          <p:cNvPr id="59" name="Text 57"/>
          <p:cNvSpPr/>
          <p:nvPr/>
        </p:nvSpPr>
        <p:spPr>
          <a:xfrm>
            <a:off x="8247888" y="371246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用途</a:t>
            </a:r>
            <a:endParaRPr lang="en-US" sz="980" dirty="0"/>
          </a:p>
        </p:txBody>
      </p:sp>
      <p:sp>
        <p:nvSpPr>
          <p:cNvPr id="60" name="Text 58"/>
          <p:cNvSpPr/>
          <p:nvPr/>
        </p:nvSpPr>
        <p:spPr>
          <a:xfrm>
            <a:off x="9308592" y="3694176"/>
            <a:ext cx="1847088" cy="1591056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F2994A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本スライドで示す到達点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データ生成の起点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特徴量化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二段AI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適用可否判定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2/30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発明の要旨と新規性の核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一枚で押さえる説明ポイント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要約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56002" y="1523025"/>
            <a:ext cx="146304" cy="225308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72507" y="1523025"/>
            <a:ext cx="146304" cy="225308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89013" y="1523025"/>
            <a:ext cx="146304" cy="225308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05518" y="1523025"/>
            <a:ext cx="146304" cy="225308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133856"/>
            <a:ext cx="1978762" cy="102412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断面積管理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xs_set_id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品質情報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777240" y="1179576"/>
            <a:ext cx="18873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断面積管理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2948026" y="1133856"/>
            <a:ext cx="1978762" cy="102412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swarm自動収集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campaign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run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2993746" y="1179576"/>
            <a:ext cx="18873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swarm自動収集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5164531" y="1133856"/>
            <a:ext cx="1978762" cy="102412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輸送表現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特徴量化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曲線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latent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5210251" y="1179576"/>
            <a:ext cx="18873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輸送表現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特徴量化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7381037" y="1133856"/>
            <a:ext cx="1978762" cy="1024128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AI1/AI2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分業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空間場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7426757" y="1179576"/>
            <a:ext cx="18873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AI1/AI2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分業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9597542" y="1133856"/>
            <a:ext cx="1978762" cy="1024128"/>
          </a:xfrm>
          <a:prstGeom prst="roundRect">
            <a:avLst/>
          </a:prstGeom>
          <a:solidFill>
            <a:srgbClr val="F1EEFF"/>
          </a:solidFill>
          <a:ln>
            <a:solidFill>
              <a:srgbClr val="7A6FF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信頼度出力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適用可否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9643262" y="1179576"/>
            <a:ext cx="18873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信頼度出力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749808" y="2414016"/>
            <a:ext cx="1316736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96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核1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49808" y="2651760"/>
            <a:ext cx="2926080" cy="1499616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1696E7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断面積セットを物理モデル単位で管理し、教師データの再現性を確保。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版差・完全性・solver前提を明示し、後段へ伝える。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3840480" y="2414016"/>
            <a:ext cx="1316736" cy="20116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A8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核2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840480" y="2651760"/>
            <a:ext cx="2926080" cy="1499616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2FA866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ガス名 one-hot ではなく、swarm 係数曲線を潜在表現化して扱う。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組成変化を連続量として扱い、新規混合比への転移を容易にする。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931152" y="2414016"/>
            <a:ext cx="1316736" cy="201168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9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核3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931152" y="2651760"/>
            <a:ext cx="2926080" cy="1499616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F2994A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AI1で係数予測、AI2で空間場予測と役割分担。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予測値と信頼度を併記し、高コスト計算を絞り込む。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10021824" y="2651760"/>
            <a:ext cx="1591056" cy="1499616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7A6FF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想定効果</a:t>
            </a:r>
            <a:endParaRPr lang="en-US" sz="1360" dirty="0"/>
          </a:p>
          <a:p>
            <a:pPr algn="ctr" indent="0" marL="0">
              <a:buNone/>
            </a:pPr>
            <a:r>
              <a:rPr lang="en-US" sz="13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更新範囲の局所化</a:t>
            </a:r>
            <a:endParaRPr lang="en-US" sz="1360" dirty="0"/>
          </a:p>
          <a:p>
            <a:pPr algn="ctr" indent="0" marL="0">
              <a:buNone/>
            </a:pPr>
            <a:r>
              <a:rPr lang="en-US" sz="13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監査性向上</a:t>
            </a:r>
            <a:endParaRPr lang="en-US" sz="1360" dirty="0"/>
          </a:p>
          <a:p>
            <a:pPr algn="ctr" indent="0" marL="0">
              <a:buNone/>
            </a:pPr>
            <a:r>
              <a:rPr lang="en-US" sz="13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外挿警告</a:t>
            </a:r>
            <a:endParaRPr lang="en-US" sz="1360" dirty="0"/>
          </a:p>
          <a:p>
            <a:pPr algn="ctr" indent="0" marL="0">
              <a:buNone/>
            </a:pPr>
            <a:r>
              <a:rPr lang="en-US" sz="13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新規ガスの事前比較</a:t>
            </a:r>
            <a:endParaRPr lang="en-US" sz="1360" dirty="0"/>
          </a:p>
        </p:txBody>
      </p:sp>
      <p:sp>
        <p:nvSpPr>
          <p:cNvPr id="27" name="Text 25"/>
          <p:cNvSpPr/>
          <p:nvPr/>
        </p:nvSpPr>
        <p:spPr>
          <a:xfrm>
            <a:off x="749808" y="4590288"/>
            <a:ext cx="2743200" cy="722376"/>
          </a:xfrm>
          <a:prstGeom prst="roundRect">
            <a:avLst/>
          </a:prstGeom>
          <a:solidFill>
            <a:srgbClr val="FCEBEC"/>
          </a:solidFill>
          <a:ln>
            <a:solidFill>
              <a:srgbClr val="D94B4B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4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従来: ガス変更のたびに dataset とモデルが増殖</a:t>
            </a:r>
            <a:endParaRPr lang="en-US" sz="1460" dirty="0"/>
          </a:p>
        </p:txBody>
      </p:sp>
      <p:sp>
        <p:nvSpPr>
          <p:cNvPr id="28" name="Shape 26"/>
          <p:cNvSpPr/>
          <p:nvPr/>
        </p:nvSpPr>
        <p:spPr>
          <a:xfrm>
            <a:off x="3584448" y="4951476"/>
            <a:ext cx="320040" cy="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3904488" y="4590288"/>
            <a:ext cx="4334256" cy="722376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4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提案: 前段を共通資産化し、ガス差は物理潜在表現へ集約</a:t>
            </a:r>
            <a:endParaRPr lang="en-US" sz="1460" dirty="0"/>
          </a:p>
        </p:txBody>
      </p:sp>
      <p:sp>
        <p:nvSpPr>
          <p:cNvPr id="30" name="Shape 28"/>
          <p:cNvSpPr/>
          <p:nvPr/>
        </p:nvSpPr>
        <p:spPr>
          <a:xfrm>
            <a:off x="8394192" y="4951476"/>
            <a:ext cx="320040" cy="0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8833104" y="4590288"/>
            <a:ext cx="2743200" cy="722376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4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効果: 再学習対象を限定</a:t>
            </a:r>
            <a:endParaRPr lang="en-US" sz="1460" dirty="0"/>
          </a:p>
        </p:txBody>
      </p:sp>
      <p:sp>
        <p:nvSpPr>
          <p:cNvPr id="32" name="Text 30"/>
          <p:cNvSpPr/>
          <p:nvPr/>
        </p:nvSpPr>
        <p:spPr>
          <a:xfrm>
            <a:off x="749808" y="5477256"/>
            <a:ext cx="2743200" cy="722376"/>
          </a:xfrm>
          <a:prstGeom prst="roundRect">
            <a:avLst/>
          </a:prstGeom>
          <a:solidFill>
            <a:srgbClr val="FCEBEC"/>
          </a:solidFill>
          <a:ln>
            <a:solidFill>
              <a:srgbClr val="D94B4B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4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従来: 予測値は出ても適用可否が分からない</a:t>
            </a:r>
            <a:endParaRPr lang="en-US" sz="1460" dirty="0"/>
          </a:p>
        </p:txBody>
      </p:sp>
      <p:sp>
        <p:nvSpPr>
          <p:cNvPr id="33" name="Shape 31"/>
          <p:cNvSpPr/>
          <p:nvPr/>
        </p:nvSpPr>
        <p:spPr>
          <a:xfrm>
            <a:off x="3584448" y="5838444"/>
            <a:ext cx="320040" cy="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3904488" y="5477256"/>
            <a:ext cx="4334256" cy="722376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4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提案: 不確かさ・残差・潜在距離・xs品質で信頼度算出</a:t>
            </a:r>
            <a:endParaRPr lang="en-US" sz="1460" dirty="0"/>
          </a:p>
        </p:txBody>
      </p:sp>
      <p:sp>
        <p:nvSpPr>
          <p:cNvPr id="35" name="Shape 33"/>
          <p:cNvSpPr/>
          <p:nvPr/>
        </p:nvSpPr>
        <p:spPr>
          <a:xfrm>
            <a:off x="8394192" y="5838444"/>
            <a:ext cx="320040" cy="0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8833104" y="5477256"/>
            <a:ext cx="2743200" cy="722376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4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効果: 監査条件を先に抽出</a:t>
            </a:r>
            <a:endParaRPr lang="en-US" sz="1460" dirty="0"/>
          </a:p>
        </p:txBody>
      </p:sp>
      <p:sp>
        <p:nvSpPr>
          <p:cNvPr id="37" name="Shape 35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3/30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4象限で把握する全体像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ユーザー指定の4区分を俯瞰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全体像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099048" y="1097280"/>
            <a:ext cx="0" cy="528523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3739896"/>
            <a:ext cx="1077163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152144"/>
            <a:ext cx="132588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96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従来技術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86384" y="1389888"/>
            <a:ext cx="5221224" cy="2276856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1696E7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物理シミュレーション直実行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ガス種ごとの個別サロゲート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レシピ条件直入力型AI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物理制約付きAI / DB管理型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17920" y="1152144"/>
            <a:ext cx="1325880" cy="201168"/>
          </a:xfrm>
          <a:prstGeom prst="roundRect">
            <a:avLst/>
          </a:prstGeom>
          <a:solidFill>
            <a:srgbClr val="FCEBEC"/>
          </a:solidFill>
          <a:ln>
            <a:solidFill>
              <a:srgbClr val="D94B4B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4B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従来課題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17920" y="1389888"/>
            <a:ext cx="5221224" cy="2276856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D94B4B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ガス変更のたび前段データが増殖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断面積差分の追跡が弱い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外挿条件の適用可否が見えにくい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評価指標が平均誤差へ偏る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86384" y="3840480"/>
            <a:ext cx="1325880" cy="20116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A8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提案手法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86384" y="4078224"/>
            <a:ext cx="5221224" cy="2276856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2FA866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断面積レジストリを起点に swarm を自動実行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輸送係数・反応係数を特徴量化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AI1で係数、AI2で場を予測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信頼度を別出力して判断へ利用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17920" y="3840480"/>
            <a:ext cx="1325880" cy="201168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9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提案効果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7920" y="4078224"/>
            <a:ext cx="5221224" cy="2276856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F2994A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更新対象を前段へ局所化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新規ガスや微量添加の評価を高速化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監査性・説明性を向上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高コスト計算の投入先を限定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4/30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従来技術と先行技術カテゴリ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33856"/>
          <a:ext cx="6510528" cy="329184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2395728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カテゴリ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特徴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主な限界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C1 物理シミュレーション直実行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swarm / fluid / PIC を逐次実行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探索速度が遅い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C2 ガスごとの個別サロゲート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単一系では作りやすい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新規ガスで再作成が必要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C3 レシピ条件直入力AI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実装しやすい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物理差の出所が曖昧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C4 物理制約付きAI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整合性を補える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入力設計が弱いと汎化が頭打ち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C5 DB管理＋手動解析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追跡性は一定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AI連携と自動拡張が弱い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1133856"/>
            <a:ext cx="6510528" cy="256032"/>
          </a:xfrm>
          <a:prstGeom prst="rect">
            <a:avLst/>
          </a:prstGeom>
          <a:solidFill>
            <a:srgbClr val="EEF8FF"/>
          </a:solidFill>
          <a:ln w="12700">
            <a:solidFill>
              <a:srgbClr val="EEF8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8096" y="1170432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カテゴリ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505456" y="1170432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882896" y="1170432"/>
            <a:ext cx="2322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主な限界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516368" y="1133856"/>
            <a:ext cx="3785616" cy="2066544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00416" y="2816352"/>
            <a:ext cx="3255264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900416" y="1371600"/>
            <a:ext cx="0" cy="1444752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900416" y="2816352"/>
            <a:ext cx="3255264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900416" y="2455164"/>
            <a:ext cx="3255264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900416" y="2093976"/>
            <a:ext cx="3255264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900416" y="1732788"/>
            <a:ext cx="3255264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900416" y="1371600"/>
            <a:ext cx="3255264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900416" y="1487180"/>
            <a:ext cx="976579" cy="231160"/>
          </a:xfrm>
          <a:prstGeom prst="line">
            <a:avLst/>
          </a:prstGeom>
          <a:noFill/>
          <a:ln w="12700">
            <a:solidFill>
              <a:srgbClr val="D94B4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876995" y="1718340"/>
            <a:ext cx="976579" cy="346740"/>
          </a:xfrm>
          <a:prstGeom prst="line">
            <a:avLst/>
          </a:prstGeom>
          <a:noFill/>
          <a:ln w="12700">
            <a:solidFill>
              <a:srgbClr val="D94B4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853574" y="2065081"/>
            <a:ext cx="1302106" cy="260055"/>
          </a:xfrm>
          <a:prstGeom prst="line">
            <a:avLst/>
          </a:prstGeom>
          <a:noFill/>
          <a:ln w="12700">
            <a:solidFill>
              <a:srgbClr val="D94B4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872984" y="1459748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849563" y="1690908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826142" y="2037649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1128248" y="2297704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195560" y="1408176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D94B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物理忠実性</a:t>
            </a:r>
            <a:endParaRPr lang="en-US" sz="1020" dirty="0"/>
          </a:p>
        </p:txBody>
      </p:sp>
      <p:sp>
        <p:nvSpPr>
          <p:cNvPr id="26" name="Shape 23"/>
          <p:cNvSpPr/>
          <p:nvPr/>
        </p:nvSpPr>
        <p:spPr>
          <a:xfrm>
            <a:off x="7900416" y="2527402"/>
            <a:ext cx="976579" cy="-202265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876995" y="2325136"/>
            <a:ext cx="976579" cy="-346740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853574" y="1978396"/>
            <a:ext cx="1302106" cy="-404531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872984" y="2499970"/>
            <a:ext cx="54864" cy="54864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849563" y="2297704"/>
            <a:ext cx="54864" cy="54864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826142" y="1950964"/>
            <a:ext cx="54864" cy="54864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1128248" y="1546433"/>
            <a:ext cx="54864" cy="54864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195560" y="1572768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2FA8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推論速度</a:t>
            </a:r>
            <a:endParaRPr lang="en-US" sz="1020" dirty="0"/>
          </a:p>
        </p:txBody>
      </p:sp>
      <p:sp>
        <p:nvSpPr>
          <p:cNvPr id="34" name="Text 31"/>
          <p:cNvSpPr/>
          <p:nvPr/>
        </p:nvSpPr>
        <p:spPr>
          <a:xfrm>
            <a:off x="8677656" y="3035808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カテゴリの右方向</a:t>
            </a:r>
            <a:endParaRPr lang="en-US" sz="980" dirty="0"/>
          </a:p>
        </p:txBody>
      </p:sp>
      <p:sp>
        <p:nvSpPr>
          <p:cNvPr id="35" name="Text 32"/>
          <p:cNvSpPr/>
          <p:nvPr/>
        </p:nvSpPr>
        <p:spPr>
          <a:xfrm rot="16200000">
            <a:off x="7534656" y="115214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概念値</a:t>
            </a:r>
            <a:endParaRPr lang="en-US" sz="920" dirty="0"/>
          </a:p>
        </p:txBody>
      </p:sp>
      <p:sp>
        <p:nvSpPr>
          <p:cNvPr id="36" name="Text 33"/>
          <p:cNvSpPr/>
          <p:nvPr/>
        </p:nvSpPr>
        <p:spPr>
          <a:xfrm>
            <a:off x="7626096" y="1179576"/>
            <a:ext cx="3566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技術潮流の概念図</a:t>
            </a:r>
            <a:endParaRPr lang="en-US" sz="1020" dirty="0"/>
          </a:p>
        </p:txBody>
      </p:sp>
      <p:sp>
        <p:nvSpPr>
          <p:cNvPr id="37" name="Text 34"/>
          <p:cNvSpPr/>
          <p:nvPr/>
        </p:nvSpPr>
        <p:spPr>
          <a:xfrm>
            <a:off x="7516368" y="3291840"/>
            <a:ext cx="1325880" cy="201168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9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読み替え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7516368" y="3529584"/>
            <a:ext cx="3785616" cy="1883664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F2994A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従来は物理忠実性と速度のトレードオフ整理が中心で、断面積管理や特徴量設計は主役ではなかった。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特許上の差別化には「何を入力としてどう構成したか」を明示する必要がある。</a:t>
            </a:r>
            <a:endParaRPr lang="en-US" sz="1420" dirty="0"/>
          </a:p>
        </p:txBody>
      </p:sp>
      <p:sp>
        <p:nvSpPr>
          <p:cNvPr id="39" name="Shape 36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5/30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従来方式1: シミュレーション起点の個別構築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54173" y="1716146"/>
            <a:ext cx="128016" cy="273588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59706" y="1716146"/>
            <a:ext cx="128016" cy="273588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65238" y="1716146"/>
            <a:ext cx="128016" cy="273588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70771" y="1716146"/>
            <a:ext cx="128016" cy="273588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243584"/>
            <a:ext cx="2004365" cy="1243584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断面積選定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ガスごとに個別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版差を人手管理</a:t>
            </a:r>
            <a:endParaRPr lang="en-US" sz="1180" dirty="0"/>
          </a:p>
        </p:txBody>
      </p:sp>
      <p:sp>
        <p:nvSpPr>
          <p:cNvPr id="10" name="Text 8"/>
          <p:cNvSpPr/>
          <p:nvPr/>
        </p:nvSpPr>
        <p:spPr>
          <a:xfrm>
            <a:off x="758952" y="1289304"/>
            <a:ext cx="191292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断面積選定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2918765" y="1243584"/>
            <a:ext cx="2004365" cy="1243584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swarm計算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条件ごとに係数取得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ログ管理が分散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2964485" y="1289304"/>
            <a:ext cx="191292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swarm計算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5124298" y="1243584"/>
            <a:ext cx="2004365" cy="1243584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場計算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fluid / PIC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高コスト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5170018" y="1289304"/>
            <a:ext cx="191292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場計算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7329830" y="1243584"/>
            <a:ext cx="2004365" cy="1243584"/>
          </a:xfrm>
          <a:prstGeom prst="roundRect">
            <a:avLst/>
          </a:prstGeom>
          <a:solidFill>
            <a:srgbClr val="FCEBEC"/>
          </a:solidFill>
          <a:ln>
            <a:solidFill>
              <a:srgbClr val="D94B4B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ガス別dataset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混合比ごとに整理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共通資産化しにくい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7375550" y="1289304"/>
            <a:ext cx="191292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ガス別dataset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9535363" y="1243584"/>
            <a:ext cx="2004365" cy="1243584"/>
          </a:xfrm>
          <a:prstGeom prst="roundRect">
            <a:avLst/>
          </a:prstGeom>
          <a:solidFill>
            <a:srgbClr val="FCEBEC"/>
          </a:solidFill>
          <a:ln>
            <a:solidFill>
              <a:srgbClr val="D94B4B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個別モデル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条件探索に利用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新ガスで再構築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9581083" y="1289304"/>
            <a:ext cx="191292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個別モデル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804672" y="2980944"/>
            <a:ext cx="4718304" cy="2139696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88720" y="4736592"/>
            <a:ext cx="4187952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88720" y="3218688"/>
            <a:ext cx="0" cy="1517904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88720" y="4736592"/>
            <a:ext cx="41879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88720" y="4357116"/>
            <a:ext cx="41879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88720" y="3977640"/>
            <a:ext cx="41879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88720" y="3598164"/>
            <a:ext cx="41879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88720" y="3218688"/>
            <a:ext cx="41879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88720" y="4584802"/>
            <a:ext cx="837590" cy="-121432"/>
          </a:xfrm>
          <a:prstGeom prst="line">
            <a:avLst/>
          </a:prstGeom>
          <a:noFill/>
          <a:ln w="12700">
            <a:solidFill>
              <a:srgbClr val="D94B4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26310" y="4463369"/>
            <a:ext cx="837590" cy="-227686"/>
          </a:xfrm>
          <a:prstGeom prst="line">
            <a:avLst/>
          </a:prstGeom>
          <a:noFill/>
          <a:ln w="12700">
            <a:solidFill>
              <a:srgbClr val="D94B4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63901" y="4235684"/>
            <a:ext cx="837590" cy="-349118"/>
          </a:xfrm>
          <a:prstGeom prst="line">
            <a:avLst/>
          </a:prstGeom>
          <a:noFill/>
          <a:ln w="12700">
            <a:solidFill>
              <a:srgbClr val="D94B4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01491" y="3886566"/>
            <a:ext cx="837590" cy="-364297"/>
          </a:xfrm>
          <a:prstGeom prst="line">
            <a:avLst/>
          </a:prstGeom>
          <a:noFill/>
          <a:ln w="12700">
            <a:solidFill>
              <a:srgbClr val="D94B4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39082" y="3522269"/>
            <a:ext cx="837590" cy="-242865"/>
          </a:xfrm>
          <a:prstGeom prst="line">
            <a:avLst/>
          </a:prstGeom>
          <a:noFill/>
          <a:ln w="12700">
            <a:solidFill>
              <a:srgbClr val="D94B4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61288" y="4557370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98878" y="4435937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836469" y="4208252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74059" y="3859134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11650" y="3494837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49240" y="3251972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16552" y="3255264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D94B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ガス別構築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1188720" y="4584802"/>
            <a:ext cx="837590" cy="-60716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026310" y="4524085"/>
            <a:ext cx="837590" cy="-121432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863901" y="4402653"/>
            <a:ext cx="837590" cy="-182148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701491" y="4220505"/>
            <a:ext cx="837590" cy="-212507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39082" y="4007998"/>
            <a:ext cx="837590" cy="-212507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61288" y="4557370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98878" y="4496653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836469" y="4375221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74059" y="4193073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11650" y="3980566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349240" y="3768060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16552" y="3419856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1696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共通資産化</a:t>
            </a:r>
            <a:endParaRPr lang="en-US" sz="1020" dirty="0"/>
          </a:p>
        </p:txBody>
      </p:sp>
      <p:sp>
        <p:nvSpPr>
          <p:cNvPr id="51" name="Text 49"/>
          <p:cNvSpPr/>
          <p:nvPr/>
        </p:nvSpPr>
        <p:spPr>
          <a:xfrm>
            <a:off x="2432304" y="4956048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ガス/組成の拡大</a:t>
            </a:r>
            <a:endParaRPr lang="en-US" sz="980" dirty="0"/>
          </a:p>
        </p:txBody>
      </p:sp>
      <p:sp>
        <p:nvSpPr>
          <p:cNvPr id="52" name="Text 50"/>
          <p:cNvSpPr/>
          <p:nvPr/>
        </p:nvSpPr>
        <p:spPr>
          <a:xfrm rot="16200000">
            <a:off x="822960" y="299923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再構築負荷</a:t>
            </a:r>
            <a:endParaRPr lang="en-US" sz="920" dirty="0"/>
          </a:p>
        </p:txBody>
      </p:sp>
      <p:sp>
        <p:nvSpPr>
          <p:cNvPr id="53" name="Text 51"/>
          <p:cNvSpPr/>
          <p:nvPr/>
        </p:nvSpPr>
        <p:spPr>
          <a:xfrm>
            <a:off x="914400" y="3026664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概念比較</a:t>
            </a:r>
            <a:endParaRPr lang="en-US" sz="1020" dirty="0"/>
          </a:p>
        </p:txBody>
      </p:sp>
      <p:sp>
        <p:nvSpPr>
          <p:cNvPr id="54" name="Text 52"/>
          <p:cNvSpPr/>
          <p:nvPr/>
        </p:nvSpPr>
        <p:spPr>
          <a:xfrm>
            <a:off x="5833872" y="2743200"/>
            <a:ext cx="1325880" cy="201168"/>
          </a:xfrm>
          <a:prstGeom prst="roundRect">
            <a:avLst/>
          </a:prstGeom>
          <a:solidFill>
            <a:srgbClr val="FCEBEC"/>
          </a:solidFill>
          <a:ln>
            <a:solidFill>
              <a:srgbClr val="D94B4B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4B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従来方式の弱点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5833872" y="2980944"/>
            <a:ext cx="5468112" cy="2139696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D94B4B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物理的には妥当でも、データとモデルの単位がガスごとに分断されやすい。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断面積の版差や solver 前提が後段 AI に十分渡らない。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出願時に「AIだから強い」以上の説明がしにくい。</a:t>
            </a:r>
            <a:endParaRPr lang="en-US" sz="1550" dirty="0"/>
          </a:p>
        </p:txBody>
      </p:sp>
      <p:sp>
        <p:nvSpPr>
          <p:cNvPr id="56" name="Text 54"/>
          <p:cNvSpPr/>
          <p:nvPr/>
        </p:nvSpPr>
        <p:spPr>
          <a:xfrm>
            <a:off x="1865376" y="5431536"/>
            <a:ext cx="8412480" cy="420624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F2994A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特許上の示唆</a:t>
            </a:r>
            <a:endParaRPr lang="en-US" sz="1520" dirty="0"/>
          </a:p>
          <a:p>
            <a:pPr algn="ctr" indent="0" marL="0">
              <a:buNone/>
            </a:pPr>
            <a:r>
              <a:rPr lang="en-US" sz="152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課題はモデル選定より前の「データ構成単位」にある。</a:t>
            </a:r>
            <a:endParaRPr lang="en-US" sz="1520" dirty="0"/>
          </a:p>
        </p:txBody>
      </p:sp>
      <p:sp>
        <p:nvSpPr>
          <p:cNvPr id="57" name="Shape 55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6/30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従来方式2: ガス別サロゲートとレシピ直入力AI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3232" y="950976"/>
            <a:ext cx="1325880" cy="201168"/>
          </a:xfrm>
          <a:prstGeom prst="roundRect">
            <a:avLst/>
          </a:prstGeom>
          <a:solidFill>
            <a:srgbClr val="FCEBEC"/>
          </a:solidFill>
          <a:ln>
            <a:solidFill>
              <a:srgbClr val="D94B4B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4B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方式A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13232" y="1188720"/>
            <a:ext cx="3364992" cy="1627632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D94B4B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単一ガス系では構築しやすい。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新しい混合比・添加ガスごとに別学習になりやすい。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モデル保守が分断される。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425696" y="950976"/>
            <a:ext cx="1325880" cy="201168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9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方式B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425696" y="1188720"/>
            <a:ext cx="3364992" cy="1627632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F2994A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実装は容易。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ガス差を流量や圧力だけで表現しがち。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断面積差・外挿条件の説明が弱い。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138160" y="950976"/>
            <a:ext cx="1325880" cy="20116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A8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本発明の方向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138160" y="1188720"/>
            <a:ext cx="3364992" cy="1627632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2FA866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ガス名ではなく swarm 由来物理表現を入力にする。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断面積管理と信頼度を構成要件に含める。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再利用可能な前段資産を定義する。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04672" y="3401568"/>
            <a:ext cx="4718304" cy="192024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88720" y="4937760"/>
            <a:ext cx="4187952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88720" y="3639312"/>
            <a:ext cx="0" cy="1298448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88720" y="4937760"/>
            <a:ext cx="41879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" y="4613148"/>
            <a:ext cx="41879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88720" y="4288536"/>
            <a:ext cx="41879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88720" y="3963924"/>
            <a:ext cx="41879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88720" y="3639312"/>
            <a:ext cx="41879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88720" y="4833884"/>
            <a:ext cx="837590" cy="-129845"/>
          </a:xfrm>
          <a:prstGeom prst="line">
            <a:avLst/>
          </a:prstGeom>
          <a:noFill/>
          <a:ln w="12700">
            <a:solidFill>
              <a:srgbClr val="D94B4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26310" y="4704039"/>
            <a:ext cx="837590" cy="-220736"/>
          </a:xfrm>
          <a:prstGeom prst="line">
            <a:avLst/>
          </a:prstGeom>
          <a:noFill/>
          <a:ln w="12700">
            <a:solidFill>
              <a:srgbClr val="D94B4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63901" y="4483303"/>
            <a:ext cx="837590" cy="-298643"/>
          </a:xfrm>
          <a:prstGeom prst="line">
            <a:avLst/>
          </a:prstGeom>
          <a:noFill/>
          <a:ln w="12700">
            <a:solidFill>
              <a:srgbClr val="D94B4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01491" y="4184660"/>
            <a:ext cx="837590" cy="-337596"/>
          </a:xfrm>
          <a:prstGeom prst="line">
            <a:avLst/>
          </a:prstGeom>
          <a:noFill/>
          <a:ln w="12700">
            <a:solidFill>
              <a:srgbClr val="D94B4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39082" y="3847064"/>
            <a:ext cx="837590" cy="-181783"/>
          </a:xfrm>
          <a:prstGeom prst="line">
            <a:avLst/>
          </a:prstGeom>
          <a:noFill/>
          <a:ln w="12700">
            <a:solidFill>
              <a:srgbClr val="D94B4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61288" y="4806452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98878" y="4676607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36469" y="4455871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74059" y="4157228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11650" y="3819632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49240" y="3637849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16552" y="3675888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D94B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ガス別学習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1188720" y="4833884"/>
            <a:ext cx="837590" cy="-77907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26310" y="4755977"/>
            <a:ext cx="837590" cy="-129845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63901" y="4626132"/>
            <a:ext cx="837590" cy="-168798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01491" y="4457334"/>
            <a:ext cx="837590" cy="-168798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39082" y="4288536"/>
            <a:ext cx="837590" cy="-207752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61288" y="4806452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998878" y="4728545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836469" y="4598700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74059" y="4429902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11650" y="4261104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349240" y="4053352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16552" y="3840480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1696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前段共通化</a:t>
            </a:r>
            <a:endParaRPr lang="en-US" sz="1020" dirty="0"/>
          </a:p>
        </p:txBody>
      </p:sp>
      <p:sp>
        <p:nvSpPr>
          <p:cNvPr id="43" name="Text 41"/>
          <p:cNvSpPr/>
          <p:nvPr/>
        </p:nvSpPr>
        <p:spPr>
          <a:xfrm>
            <a:off x="2432304" y="5157216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ガス/組成の広がり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 rot="16200000">
            <a:off x="822960" y="341985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保守工数</a:t>
            </a:r>
            <a:endParaRPr lang="en-US" sz="920" dirty="0"/>
          </a:p>
        </p:txBody>
      </p:sp>
      <p:sp>
        <p:nvSpPr>
          <p:cNvPr id="45" name="Text 43"/>
          <p:cNvSpPr/>
          <p:nvPr/>
        </p:nvSpPr>
        <p:spPr>
          <a:xfrm>
            <a:off x="914400" y="3447288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概念比較</a:t>
            </a:r>
            <a:endParaRPr lang="en-US" sz="102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07024" y="3419856"/>
          <a:ext cx="5431536" cy="1901952"/>
        </p:xfrm>
        <a:graphic>
          <a:graphicData uri="http://schemas.openxmlformats.org/drawingml/2006/table">
            <a:tbl>
              <a:tblPr/>
              <a:tblGrid>
                <a:gridCol w="1152144"/>
                <a:gridCol w="4279392"/>
              </a:tblGrid>
              <a:tr h="3803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観点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レシピ直入力型で弱い点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03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入力意味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何が物理的に変わるかを分解しにくい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03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監査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断面積差・solver差を遡りにくい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03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運用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予測値の適用可否が見えにくい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03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特許性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AI一般論へ流れやすい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7" name="Shape 44"/>
          <p:cNvSpPr/>
          <p:nvPr/>
        </p:nvSpPr>
        <p:spPr>
          <a:xfrm>
            <a:off x="5907024" y="3419856"/>
            <a:ext cx="5431536" cy="256032"/>
          </a:xfrm>
          <a:prstGeom prst="rect">
            <a:avLst/>
          </a:prstGeom>
          <a:solidFill>
            <a:srgbClr val="FFF1E4"/>
          </a:solidFill>
          <a:ln w="12700">
            <a:solidFill>
              <a:srgbClr val="FFF1E4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943600" y="345643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観点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7095744" y="345643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レシピ直入力型で弱い点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7/30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従来課題1: 発生条件と現行対策の限界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59836" y="1730776"/>
            <a:ext cx="164592" cy="313822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0" y="1730776"/>
            <a:ext cx="164592" cy="313822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10244" y="1730776"/>
            <a:ext cx="164592" cy="313822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188720"/>
            <a:ext cx="2482596" cy="1426464"/>
          </a:xfrm>
          <a:prstGeom prst="roundRect">
            <a:avLst/>
          </a:prstGeom>
          <a:solidFill>
            <a:srgbClr val="FCEBEC"/>
          </a:solidFill>
          <a:ln>
            <a:solidFill>
              <a:srgbClr val="D94B4B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発生条件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新規ガス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微量添加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混合比変更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758952" y="1234440"/>
            <a:ext cx="23911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発生条件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3488436" y="1188720"/>
            <a:ext cx="2482596" cy="1426464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現行対策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個別dataset作成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手動差し替え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追加学習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3534156" y="1234440"/>
            <a:ext cx="23911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現行対策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6263640" y="1188720"/>
            <a:ext cx="2482596" cy="1426464"/>
          </a:xfrm>
          <a:prstGeom prst="roundRect">
            <a:avLst/>
          </a:prstGeom>
          <a:solidFill>
            <a:srgbClr val="FCEBEC"/>
          </a:solidFill>
          <a:ln>
            <a:solidFill>
              <a:srgbClr val="D94B4B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限界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再現性が分散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工数が増殖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監査が難しい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6309360" y="1234440"/>
            <a:ext cx="23911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限界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9038844" y="1188720"/>
            <a:ext cx="2482596" cy="1426464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帰結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探索が遅い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適用可否不明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特許説明が弱い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9084564" y="1234440"/>
            <a:ext cx="23911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帰結</a:t>
            </a:r>
            <a:endParaRPr lang="en-US" sz="132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2999232"/>
          <a:ext cx="10625328" cy="2670048"/>
        </p:xfrm>
        <a:graphic>
          <a:graphicData uri="http://schemas.openxmlformats.org/drawingml/2006/table">
            <a:tbl>
              <a:tblPr/>
              <a:tblGrid>
                <a:gridCol w="1097280"/>
                <a:gridCol w="4187952"/>
                <a:gridCol w="5340096"/>
              </a:tblGrid>
              <a:tr h="5340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観点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なぜ課題になるか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現行対策の限界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40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断面積差異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同一ガスでも版差・完全性差がある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後段AIへ品質情報が渡りにくい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40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組成データ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総和1の制約があり raw 比率は扱いづらい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one-hot や raw 流量では歪みやすい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40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多桁変動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係数・密度・レートが広いダイナミックレンジを持つ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前処理なしでは学習が不安定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40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外挿運用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新条件で値は出ても信用度が不明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平均誤差だけでは判断できない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749808" y="2999232"/>
            <a:ext cx="10625328" cy="256032"/>
          </a:xfrm>
          <a:prstGeom prst="rect">
            <a:avLst/>
          </a:prstGeom>
          <a:solidFill>
            <a:srgbClr val="FCEBEC"/>
          </a:solidFill>
          <a:ln w="12700">
            <a:solidFill>
              <a:srgbClr val="FCEB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6384" y="3035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観点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883664" y="303580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なぜ課題になるか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071616" y="3035808"/>
            <a:ext cx="5266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現行対策の限界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8/30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従来課題2: 評価指標と制約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1170432"/>
          <a:ext cx="5394960" cy="2468880"/>
        </p:xfrm>
        <a:graphic>
          <a:graphicData uri="http://schemas.openxmlformats.org/drawingml/2006/table">
            <a:tbl>
              <a:tblPr/>
              <a:tblGrid>
                <a:gridCol w="1188720"/>
                <a:gridCol w="1554480"/>
                <a:gridCol w="2651760"/>
              </a:tblGrid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評価指標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見えること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見落としやすいこと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RMSE / MAE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平均的な近さ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物理整合・外挿警告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推論速度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計算の速さ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適用条件の妥当性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単一条件の一致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局所精度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ガス追加や装置変更への汎化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学習Loss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最適化の進行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現場KPIとの対応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49808" y="1170432"/>
            <a:ext cx="5394960" cy="256032"/>
          </a:xfrm>
          <a:prstGeom prst="rect">
            <a:avLst/>
          </a:prstGeom>
          <a:solidFill>
            <a:srgbClr val="FFF7D8"/>
          </a:solidFill>
          <a:ln w="12700">
            <a:solidFill>
              <a:srgbClr val="FFF7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6384" y="1207008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評価指標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975104" y="1207008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見えること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529584" y="1207008"/>
            <a:ext cx="2578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見落としやすいこと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49808" y="3675888"/>
            <a:ext cx="132588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96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主要制約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49808" y="3913632"/>
            <a:ext cx="5394960" cy="1481328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1696E7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組成は compositional data である。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電子係数と空間場は強く結合する。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利用者は値だけでなく「信用できる条件域」を必要とする。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6492240" y="1280160"/>
            <a:ext cx="3785616" cy="1883664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76288" y="2779776"/>
            <a:ext cx="3236976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76288" y="1536192"/>
            <a:ext cx="0" cy="1243584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76288" y="2779776"/>
            <a:ext cx="3236976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76288" y="2468880"/>
            <a:ext cx="3236976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76288" y="2157984"/>
            <a:ext cx="3236976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876288" y="1847088"/>
            <a:ext cx="3236976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876288" y="1536192"/>
            <a:ext cx="3236976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125462" y="1710294"/>
            <a:ext cx="310896" cy="1069482"/>
          </a:xfrm>
          <a:prstGeom prst="rect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015734" y="281635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平均誤差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7934706" y="1859524"/>
            <a:ext cx="310896" cy="920252"/>
          </a:xfrm>
          <a:prstGeom prst="rect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24978" y="281635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速度</a:t>
            </a:r>
            <a:endParaRPr lang="en-US" sz="1020" dirty="0"/>
          </a:p>
        </p:txBody>
      </p:sp>
      <p:sp>
        <p:nvSpPr>
          <p:cNvPr id="24" name="Shape 21"/>
          <p:cNvSpPr/>
          <p:nvPr/>
        </p:nvSpPr>
        <p:spPr>
          <a:xfrm>
            <a:off x="8743950" y="2257471"/>
            <a:ext cx="310896" cy="522305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634222" y="281635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汎化</a:t>
            </a:r>
            <a:endParaRPr lang="en-US" sz="1020" dirty="0"/>
          </a:p>
        </p:txBody>
      </p:sp>
      <p:sp>
        <p:nvSpPr>
          <p:cNvPr id="26" name="Shape 23"/>
          <p:cNvSpPr/>
          <p:nvPr/>
        </p:nvSpPr>
        <p:spPr>
          <a:xfrm>
            <a:off x="9553194" y="2431572"/>
            <a:ext cx="310896" cy="348204"/>
          </a:xfrm>
          <a:prstGeom prst="rect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443466" y="281635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監査性</a:t>
            </a:r>
            <a:endParaRPr lang="en-US" sz="1020" dirty="0"/>
          </a:p>
        </p:txBody>
      </p:sp>
      <p:sp>
        <p:nvSpPr>
          <p:cNvPr id="28" name="Text 25"/>
          <p:cNvSpPr/>
          <p:nvPr/>
        </p:nvSpPr>
        <p:spPr>
          <a:xfrm rot="16200000">
            <a:off x="6510528" y="1298448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充足度</a:t>
            </a:r>
            <a:endParaRPr lang="en-US" sz="920" dirty="0"/>
          </a:p>
        </p:txBody>
      </p:sp>
      <p:sp>
        <p:nvSpPr>
          <p:cNvPr id="29" name="Text 26"/>
          <p:cNvSpPr/>
          <p:nvPr/>
        </p:nvSpPr>
        <p:spPr>
          <a:xfrm>
            <a:off x="6601968" y="1325880"/>
            <a:ext cx="3566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従来評価の偏り（概念図）</a:t>
            </a:r>
            <a:endParaRPr lang="en-US" sz="1020" dirty="0"/>
          </a:p>
        </p:txBody>
      </p:sp>
      <p:sp>
        <p:nvSpPr>
          <p:cNvPr id="30" name="Text 27"/>
          <p:cNvSpPr/>
          <p:nvPr/>
        </p:nvSpPr>
        <p:spPr>
          <a:xfrm>
            <a:off x="6492240" y="3346704"/>
            <a:ext cx="929945" cy="20116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A8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補うべき指標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492240" y="3584448"/>
            <a:ext cx="2066544" cy="1810512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2FA866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Poisson整合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連続式残差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非負性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外挿検知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断面積品質</a:t>
            </a:r>
            <a:endParaRPr lang="en-US" sz="1420" dirty="0"/>
          </a:p>
        </p:txBody>
      </p:sp>
      <p:sp>
        <p:nvSpPr>
          <p:cNvPr id="32" name="Shape 29"/>
          <p:cNvSpPr/>
          <p:nvPr/>
        </p:nvSpPr>
        <p:spPr>
          <a:xfrm>
            <a:off x="8741664" y="3767328"/>
            <a:ext cx="2542032" cy="1481328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942832" y="3968496"/>
            <a:ext cx="868680" cy="1078992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043416" y="4169664"/>
            <a:ext cx="201168" cy="201168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308592" y="415137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107424" y="4462272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そのまま比較</a:t>
            </a:r>
            <a:endParaRPr lang="en-US" sz="980" dirty="0"/>
          </a:p>
        </p:txBody>
      </p:sp>
      <p:sp>
        <p:nvSpPr>
          <p:cNvPr id="37" name="Shape 34"/>
          <p:cNvSpPr/>
          <p:nvPr/>
        </p:nvSpPr>
        <p:spPr>
          <a:xfrm>
            <a:off x="9656064" y="3968496"/>
            <a:ext cx="868680" cy="1078992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756648" y="4169664"/>
            <a:ext cx="201168" cy="201168"/>
          </a:xfrm>
          <a:prstGeom prst="ellipse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0021824" y="415137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9820656" y="4462272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監査推奨</a:t>
            </a:r>
            <a:endParaRPr lang="en-US" sz="980" dirty="0"/>
          </a:p>
        </p:txBody>
      </p:sp>
      <p:sp>
        <p:nvSpPr>
          <p:cNvPr id="41" name="Shape 38"/>
          <p:cNvSpPr/>
          <p:nvPr/>
        </p:nvSpPr>
        <p:spPr>
          <a:xfrm>
            <a:off x="10369296" y="3968496"/>
            <a:ext cx="868680" cy="1078992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0469880" y="4169664"/>
            <a:ext cx="201168" cy="201168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0735056" y="415137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</a:t>
            </a:r>
            <a:endParaRPr lang="en-US" sz="1500" dirty="0"/>
          </a:p>
        </p:txBody>
      </p:sp>
      <p:sp>
        <p:nvSpPr>
          <p:cNvPr id="44" name="Text 41"/>
          <p:cNvSpPr/>
          <p:nvPr/>
        </p:nvSpPr>
        <p:spPr>
          <a:xfrm>
            <a:off x="10533888" y="4462272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再計算へ</a:t>
            </a:r>
            <a:endParaRPr lang="en-US" sz="980" dirty="0"/>
          </a:p>
        </p:txBody>
      </p:sp>
      <p:sp>
        <p:nvSpPr>
          <p:cNvPr id="45" name="Shape 4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9/30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発明の位置付け: 対比で見る基本思想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8096" y="1060704"/>
            <a:ext cx="713232" cy="201168"/>
          </a:xfrm>
          <a:prstGeom prst="roundRect">
            <a:avLst/>
          </a:prstGeom>
          <a:solidFill>
            <a:srgbClr val="FCEBEC"/>
          </a:solidFill>
          <a:ln>
            <a:solidFill>
              <a:srgbClr val="D94B4B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4B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364224" y="1060704"/>
            <a:ext cx="713232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96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170176" y="1867571"/>
            <a:ext cx="146304" cy="297729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1712" y="1867571"/>
            <a:ext cx="146304" cy="297729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353312"/>
            <a:ext cx="1365504" cy="1353312"/>
          </a:xfrm>
          <a:prstGeom prst="roundRect">
            <a:avLst/>
          </a:prstGeom>
          <a:solidFill>
            <a:srgbClr val="FCEBEC"/>
          </a:solidFill>
          <a:ln>
            <a:solidFill>
              <a:srgbClr val="D94B4B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ガス名 /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レシピ値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one-hot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流量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圧力</a:t>
            </a:r>
            <a:endParaRPr lang="en-US" sz="1180" dirty="0"/>
          </a:p>
        </p:txBody>
      </p:sp>
      <p:sp>
        <p:nvSpPr>
          <p:cNvPr id="10" name="Text 8"/>
          <p:cNvSpPr/>
          <p:nvPr/>
        </p:nvSpPr>
        <p:spPr>
          <a:xfrm>
            <a:off x="795528" y="1399032"/>
            <a:ext cx="1274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ガス名 /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レシピ値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2371344" y="1353312"/>
            <a:ext cx="1365504" cy="1353312"/>
          </a:xfrm>
          <a:prstGeom prst="roundRect">
            <a:avLst/>
          </a:prstGeom>
          <a:solidFill>
            <a:srgbClr val="FCEBEC"/>
          </a:solidFill>
          <a:ln>
            <a:solidFill>
              <a:srgbClr val="D94B4B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単一AI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係数と場を一括近似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2417064" y="1399032"/>
            <a:ext cx="1274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単一AI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3992880" y="1353312"/>
            <a:ext cx="1365504" cy="1353312"/>
          </a:xfrm>
          <a:prstGeom prst="roundRect">
            <a:avLst/>
          </a:prstGeom>
          <a:solidFill>
            <a:srgbClr val="FCEBEC"/>
          </a:solidFill>
          <a:ln>
            <a:solidFill>
              <a:srgbClr val="D94B4B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予測値のみ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適用可否が見えにくい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4038600" y="1399032"/>
            <a:ext cx="1274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予測値のみ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7443216" y="1867571"/>
            <a:ext cx="128016" cy="297729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32520" y="1867571"/>
            <a:ext cx="128016" cy="297729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21824" y="1867571"/>
            <a:ext cx="128016" cy="297729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353312"/>
            <a:ext cx="1106424" cy="1353312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断面積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レジストリ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xs_set_id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品質 / 版管理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6355080" y="1399032"/>
            <a:ext cx="101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断面積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レジストリ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7598664" y="1353312"/>
            <a:ext cx="1106424" cy="1353312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swarm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係数表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μ,D,k,ε̄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EN表 / ε̄表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7644384" y="1399032"/>
            <a:ext cx="101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swarm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係数表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8887968" y="1353312"/>
            <a:ext cx="1106424" cy="1353312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ガス潜在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 AI1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z_gas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係数予測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8933688" y="1399032"/>
            <a:ext cx="101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ガス潜在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 AI1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10177272" y="1353312"/>
            <a:ext cx="1106424" cy="1353312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AI2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 信頼度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場予測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適用可否</a:t>
            </a:r>
            <a:endParaRPr lang="en-US" sz="1180" dirty="0"/>
          </a:p>
        </p:txBody>
      </p:sp>
      <p:sp>
        <p:nvSpPr>
          <p:cNvPr id="25" name="Text 23"/>
          <p:cNvSpPr/>
          <p:nvPr/>
        </p:nvSpPr>
        <p:spPr>
          <a:xfrm>
            <a:off x="10222992" y="1399032"/>
            <a:ext cx="101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AI2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 信頼度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768096" y="3035808"/>
            <a:ext cx="1325880" cy="201168"/>
          </a:xfrm>
          <a:prstGeom prst="roundRect">
            <a:avLst/>
          </a:prstGeom>
          <a:solidFill>
            <a:srgbClr val="FCEBEC"/>
          </a:solidFill>
          <a:ln>
            <a:solidFill>
              <a:srgbClr val="D94B4B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4B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従来の弱さ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68096" y="3273552"/>
            <a:ext cx="4590288" cy="1408176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D94B4B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入力がレシピ中心のため、物理差の出所を分解しにくい。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ガス追加時に教師データとモデルへの影響が広がる。</a:t>
            </a:r>
            <a:endParaRPr lang="en-US" sz="1480" dirty="0"/>
          </a:p>
        </p:txBody>
      </p:sp>
      <p:sp>
        <p:nvSpPr>
          <p:cNvPr id="28" name="Text 26"/>
          <p:cNvSpPr/>
          <p:nvPr/>
        </p:nvSpPr>
        <p:spPr>
          <a:xfrm>
            <a:off x="6327648" y="3035808"/>
            <a:ext cx="1325880" cy="20116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A8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提案の狙い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27648" y="3273552"/>
            <a:ext cx="4956048" cy="1645920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2FA866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データの起点を固定し、ガス差を swarm 由来の物理表現で渡す。</a:t>
            </a: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係数予測と場予測を分け、更新対象と誤差原因を切り分ける。</a:t>
            </a: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信頼度を併記し、外挿条件を運用判断へ反映する。</a:t>
            </a:r>
            <a:endParaRPr lang="en-US" sz="1460" dirty="0"/>
          </a:p>
        </p:txBody>
      </p:sp>
      <p:sp>
        <p:nvSpPr>
          <p:cNvPr id="30" name="Shape 28"/>
          <p:cNvSpPr/>
          <p:nvPr/>
        </p:nvSpPr>
        <p:spPr>
          <a:xfrm>
            <a:off x="3813048" y="5693786"/>
            <a:ext cx="164592" cy="173004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80176" y="5693786"/>
            <a:ext cx="164592" cy="173004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47304" y="5693786"/>
            <a:ext cx="164592" cy="173004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83664" y="5394960"/>
            <a:ext cx="1856232" cy="786384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データ起点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何を管理するか</a:t>
            </a:r>
            <a:endParaRPr lang="en-US" sz="1180" dirty="0"/>
          </a:p>
        </p:txBody>
      </p:sp>
      <p:sp>
        <p:nvSpPr>
          <p:cNvPr id="34" name="Text 32"/>
          <p:cNvSpPr/>
          <p:nvPr/>
        </p:nvSpPr>
        <p:spPr>
          <a:xfrm>
            <a:off x="1929384" y="5440680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データ起点</a:t>
            </a:r>
            <a:endParaRPr lang="en-US" sz="1320" dirty="0"/>
          </a:p>
        </p:txBody>
      </p:sp>
      <p:sp>
        <p:nvSpPr>
          <p:cNvPr id="35" name="Text 33"/>
          <p:cNvSpPr/>
          <p:nvPr/>
        </p:nvSpPr>
        <p:spPr>
          <a:xfrm>
            <a:off x="4050792" y="5394960"/>
            <a:ext cx="1856232" cy="786384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物理特徴量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何を学習へ渡すか</a:t>
            </a:r>
            <a:endParaRPr lang="en-US" sz="1180" dirty="0"/>
          </a:p>
        </p:txBody>
      </p:sp>
      <p:sp>
        <p:nvSpPr>
          <p:cNvPr id="36" name="Text 34"/>
          <p:cNvSpPr/>
          <p:nvPr/>
        </p:nvSpPr>
        <p:spPr>
          <a:xfrm>
            <a:off x="4096512" y="5440680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物理特徴量</a:t>
            </a:r>
            <a:endParaRPr lang="en-US" sz="1320" dirty="0"/>
          </a:p>
        </p:txBody>
      </p:sp>
      <p:sp>
        <p:nvSpPr>
          <p:cNvPr id="37" name="Text 35"/>
          <p:cNvSpPr/>
          <p:nvPr/>
        </p:nvSpPr>
        <p:spPr>
          <a:xfrm>
            <a:off x="6217920" y="5394960"/>
            <a:ext cx="1856232" cy="786384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二段AI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どこで分業するか</a:t>
            </a:r>
            <a:endParaRPr lang="en-US" sz="1180" dirty="0"/>
          </a:p>
        </p:txBody>
      </p:sp>
      <p:sp>
        <p:nvSpPr>
          <p:cNvPr id="38" name="Text 36"/>
          <p:cNvSpPr/>
          <p:nvPr/>
        </p:nvSpPr>
        <p:spPr>
          <a:xfrm>
            <a:off x="6263640" y="5440680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二段AI</a:t>
            </a:r>
            <a:endParaRPr lang="en-US" sz="1320" dirty="0"/>
          </a:p>
        </p:txBody>
      </p:sp>
      <p:sp>
        <p:nvSpPr>
          <p:cNvPr id="39" name="Text 37"/>
          <p:cNvSpPr/>
          <p:nvPr/>
        </p:nvSpPr>
        <p:spPr>
          <a:xfrm>
            <a:off x="8385048" y="5394960"/>
            <a:ext cx="1856232" cy="786384"/>
          </a:xfrm>
          <a:prstGeom prst="roundRect">
            <a:avLst/>
          </a:prstGeom>
          <a:solidFill>
            <a:srgbClr val="F1EEFF"/>
          </a:solidFill>
          <a:ln>
            <a:solidFill>
              <a:srgbClr val="7A6FF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信頼度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どう判断するか</a:t>
            </a:r>
            <a:endParaRPr lang="en-US" sz="1180" dirty="0"/>
          </a:p>
        </p:txBody>
      </p:sp>
      <p:sp>
        <p:nvSpPr>
          <p:cNvPr id="40" name="Text 38"/>
          <p:cNvSpPr/>
          <p:nvPr/>
        </p:nvSpPr>
        <p:spPr>
          <a:xfrm>
            <a:off x="8430768" y="5440680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信頼度</a:t>
            </a:r>
            <a:endParaRPr lang="en-US" sz="1320" dirty="0"/>
          </a:p>
        </p:txBody>
      </p:sp>
      <p:sp>
        <p:nvSpPr>
          <p:cNvPr id="41" name="Shape 39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10/30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提案システム構成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95298" y="1564721"/>
            <a:ext cx="91440" cy="249448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91663" y="1564721"/>
            <a:ext cx="91440" cy="249448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88029" y="1564721"/>
            <a:ext cx="91440" cy="249448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84394" y="1564721"/>
            <a:ext cx="91440" cy="249448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80760" y="1564721"/>
            <a:ext cx="91440" cy="249448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77126" y="1564721"/>
            <a:ext cx="91440" cy="249448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73491" y="1564721"/>
            <a:ext cx="91440" cy="249448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69857" y="1564721"/>
            <a:ext cx="91440" cy="249448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466222" y="1564721"/>
            <a:ext cx="91440" cy="249448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1133856"/>
            <a:ext cx="959206" cy="1133856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101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断面積登録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版 / 品質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758952" y="1179576"/>
            <a:ext cx="8677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101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断面積登録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1809598" y="1133856"/>
            <a:ext cx="959206" cy="1133856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102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実行計画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campaign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1855318" y="1179576"/>
            <a:ext cx="8677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102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実行計画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2905963" y="1133856"/>
            <a:ext cx="959206" cy="1133856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103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swarm実行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raw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2951683" y="1179576"/>
            <a:ext cx="8677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103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swarm実行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4002329" y="1133856"/>
            <a:ext cx="959206" cy="1133856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104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係数表生成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EN表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4048049" y="1179576"/>
            <a:ext cx="8677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104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係数表生成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5098694" y="1133856"/>
            <a:ext cx="959206" cy="1133856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105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特徴量生成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z_gas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5144414" y="1179576"/>
            <a:ext cx="8677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105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特徴量生成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6195060" y="1133856"/>
            <a:ext cx="959206" cy="1133856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106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AI1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係数予測</a:t>
            </a:r>
            <a:endParaRPr lang="en-US" sz="1180" dirty="0"/>
          </a:p>
        </p:txBody>
      </p:sp>
      <p:sp>
        <p:nvSpPr>
          <p:cNvPr id="25" name="Text 23"/>
          <p:cNvSpPr/>
          <p:nvPr/>
        </p:nvSpPr>
        <p:spPr>
          <a:xfrm>
            <a:off x="6240780" y="1179576"/>
            <a:ext cx="8677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106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AI1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7291426" y="1133856"/>
            <a:ext cx="959206" cy="1133856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107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係数マップ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空間入力</a:t>
            </a:r>
            <a:endParaRPr lang="en-US" sz="1180" dirty="0"/>
          </a:p>
        </p:txBody>
      </p:sp>
      <p:sp>
        <p:nvSpPr>
          <p:cNvPr id="27" name="Text 25"/>
          <p:cNvSpPr/>
          <p:nvPr/>
        </p:nvSpPr>
        <p:spPr>
          <a:xfrm>
            <a:off x="7337146" y="1179576"/>
            <a:ext cx="8677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107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係数マップ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8387791" y="1133856"/>
            <a:ext cx="959206" cy="1133856"/>
          </a:xfrm>
          <a:prstGeom prst="roundRect">
            <a:avLst/>
          </a:prstGeom>
          <a:solidFill>
            <a:srgbClr val="F1EEFF"/>
          </a:solidFill>
          <a:ln>
            <a:solidFill>
              <a:srgbClr val="7A6FF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108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AI2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場予測</a:t>
            </a:r>
            <a:endParaRPr lang="en-US" sz="1180" dirty="0"/>
          </a:p>
        </p:txBody>
      </p:sp>
      <p:sp>
        <p:nvSpPr>
          <p:cNvPr id="29" name="Text 27"/>
          <p:cNvSpPr/>
          <p:nvPr/>
        </p:nvSpPr>
        <p:spPr>
          <a:xfrm>
            <a:off x="8433511" y="1179576"/>
            <a:ext cx="8677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108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AI2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9484157" y="1133856"/>
            <a:ext cx="959206" cy="1133856"/>
          </a:xfrm>
          <a:prstGeom prst="roundRect">
            <a:avLst/>
          </a:prstGeom>
          <a:solidFill>
            <a:srgbClr val="F1EEFF"/>
          </a:solidFill>
          <a:ln>
            <a:solidFill>
              <a:srgbClr val="7A6FF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110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信頼度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</a:t>
            </a:r>
            <a:endParaRPr lang="en-US" sz="1180" dirty="0"/>
          </a:p>
        </p:txBody>
      </p:sp>
      <p:sp>
        <p:nvSpPr>
          <p:cNvPr id="31" name="Text 29"/>
          <p:cNvSpPr/>
          <p:nvPr/>
        </p:nvSpPr>
        <p:spPr>
          <a:xfrm>
            <a:off x="9529877" y="1179576"/>
            <a:ext cx="8677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110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信頼度</a:t>
            </a:r>
            <a:endParaRPr lang="en-US" sz="1320" dirty="0"/>
          </a:p>
        </p:txBody>
      </p:sp>
      <p:sp>
        <p:nvSpPr>
          <p:cNvPr id="32" name="Text 30"/>
          <p:cNvSpPr/>
          <p:nvPr/>
        </p:nvSpPr>
        <p:spPr>
          <a:xfrm>
            <a:off x="10580522" y="1133856"/>
            <a:ext cx="959206" cy="1133856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111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結果提示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</a:t>
            </a:r>
            <a:endParaRPr lang="en-US" sz="1180" dirty="0"/>
          </a:p>
        </p:txBody>
      </p:sp>
      <p:sp>
        <p:nvSpPr>
          <p:cNvPr id="33" name="Text 31"/>
          <p:cNvSpPr/>
          <p:nvPr/>
        </p:nvSpPr>
        <p:spPr>
          <a:xfrm>
            <a:off x="10626242" y="1179576"/>
            <a:ext cx="8677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111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結果提示</a:t>
            </a:r>
            <a:endParaRPr lang="en-US" sz="1320" dirty="0"/>
          </a:p>
        </p:txBody>
      </p:sp>
      <p:sp>
        <p:nvSpPr>
          <p:cNvPr id="34" name="Shape 32"/>
          <p:cNvSpPr/>
          <p:nvPr/>
        </p:nvSpPr>
        <p:spPr>
          <a:xfrm>
            <a:off x="10149840" y="2468880"/>
            <a:ext cx="0" cy="512064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0149840" y="2980944"/>
            <a:ext cx="-8065008" cy="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2084832" y="2980944"/>
            <a:ext cx="0" cy="-475488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3968496" y="2779776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高不確かさ条件を次の campaign へ戻す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3657600"/>
          <a:ext cx="10607040" cy="1956816"/>
        </p:xfrm>
        <a:graphic>
          <a:graphicData uri="http://schemas.openxmlformats.org/drawingml/2006/table">
            <a:tbl>
              <a:tblPr/>
              <a:tblGrid>
                <a:gridCol w="1371600"/>
                <a:gridCol w="3931920"/>
                <a:gridCol w="5303520"/>
              </a:tblGrid>
              <a:tr h="3913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機能ブロック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主入力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主出力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3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前段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断面積セット・運転条件・solver前提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係数表・manifest・品質情報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3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AI1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組成特徴量 + ガス潜在 + 条件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移動度・拡散・反応係数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3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AI2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係数マップ + 幾何 + 境界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電子密度・イオン密度・電位等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3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信頼度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不確かさ + 物理残差 + 潜在距離 + xs品質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高 / 中 / 低の適用判定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" name="Shape 36"/>
          <p:cNvSpPr/>
          <p:nvPr/>
        </p:nvSpPr>
        <p:spPr>
          <a:xfrm>
            <a:off x="749808" y="3657600"/>
            <a:ext cx="10607040" cy="256032"/>
          </a:xfrm>
          <a:prstGeom prst="rect">
            <a:avLst/>
          </a:prstGeom>
          <a:solidFill>
            <a:srgbClr val="EEF8FF"/>
          </a:solidFill>
          <a:ln w="12700">
            <a:solidFill>
              <a:srgbClr val="EEF8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3694176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機能ブロック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2157984" y="3694176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主入力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6089904" y="3694176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主出力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841248" y="5815584"/>
            <a:ext cx="2029968" cy="457200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F2994A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112 監査計算【任意】</a:t>
            </a:r>
            <a:endParaRPr lang="en-US" sz="1160" dirty="0"/>
          </a:p>
          <a:p>
            <a:pPr algn="ctr" indent="0" marL="0">
              <a:buNone/>
            </a:pPr>
            <a:r>
              <a:rPr lang="en-US" sz="11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高忠実度または sparse teacher</a:t>
            </a:r>
            <a:endParaRPr lang="en-US" sz="1160" dirty="0"/>
          </a:p>
        </p:txBody>
      </p:sp>
      <p:sp>
        <p:nvSpPr>
          <p:cNvPr id="44" name="Shape 41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11/30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データ収集仕様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関係シミュレーションでの教師データ作成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1078992"/>
            <a:ext cx="932688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96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キー設計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613002" y="1850380"/>
            <a:ext cx="109728" cy="24542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04211" y="1850380"/>
            <a:ext cx="109728" cy="24542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95421" y="1850380"/>
            <a:ext cx="109728" cy="24542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86630" y="1850380"/>
            <a:ext cx="109728" cy="24542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426464"/>
            <a:ext cx="844906" cy="11155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xs_set_id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断面積セット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795528" y="1472184"/>
            <a:ext cx="7534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xs_set_id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1741018" y="1426464"/>
            <a:ext cx="844906" cy="11155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campaign_id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条件範囲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solver種別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1786738" y="1472184"/>
            <a:ext cx="7534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campaign_id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2732227" y="1426464"/>
            <a:ext cx="844906" cy="11155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run_id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単一点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2777947" y="1472184"/>
            <a:ext cx="7534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run_id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3723437" y="1426464"/>
            <a:ext cx="844906" cy="111556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curve_id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係数曲線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バンク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3769157" y="1472184"/>
            <a:ext cx="7534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curve_id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4714646" y="1426464"/>
            <a:ext cx="844906" cy="1115568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case_id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空間場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ケース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4760366" y="1472184"/>
            <a:ext cx="7534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case_id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749808" y="2670048"/>
            <a:ext cx="132588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96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保存原則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49808" y="2907792"/>
            <a:ext cx="4809744" cy="1664208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1696E7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1 run = 1物理条件として raw ログを保存する。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manifest に solver 種別、growth model、温度条件、断面積IDを紐付ける。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失敗 run は quarantine に隔離し教師データへ混入させない。</a:t>
            </a:r>
            <a:endParaRPr lang="en-US" sz="148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4846320"/>
          <a:ext cx="4809744" cy="1207008"/>
        </p:xfrm>
        <a:graphic>
          <a:graphicData uri="http://schemas.openxmlformats.org/drawingml/2006/table">
            <a:tbl>
              <a:tblPr/>
              <a:tblGrid>
                <a:gridCol w="1078992"/>
                <a:gridCol w="3730752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収集対象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例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必須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μ, DL, DT, k_ion, k_att, ε̄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任意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power partition, EEDF要約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監査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sparse high-fidelity cases</a:t>
                      </a:r>
                      <a:endParaRPr lang="en-US" sz="117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749808" y="4846320"/>
            <a:ext cx="4809744" cy="256032"/>
          </a:xfrm>
          <a:prstGeom prst="rect">
            <a:avLst/>
          </a:prstGeom>
          <a:solidFill>
            <a:srgbClr val="EEF8FF"/>
          </a:solidFill>
          <a:ln w="12700">
            <a:solidFill>
              <a:srgbClr val="EEF8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86384" y="488289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収集対象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865376" y="488289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779008" y="1078992"/>
            <a:ext cx="1078992" cy="20116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A8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収集フロー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981444" y="1850380"/>
            <a:ext cx="128016" cy="24542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430768" y="1850380"/>
            <a:ext cx="128016" cy="24542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880092" y="1850380"/>
            <a:ext cx="128016" cy="24542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705856" y="1426464"/>
            <a:ext cx="1229868" cy="111556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組成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サンプリング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simplex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Sobol / LHS</a:t>
            </a:r>
            <a:endParaRPr lang="en-US" sz="1180" dirty="0"/>
          </a:p>
        </p:txBody>
      </p:sp>
      <p:sp>
        <p:nvSpPr>
          <p:cNvPr id="32" name="Text 29"/>
          <p:cNvSpPr/>
          <p:nvPr/>
        </p:nvSpPr>
        <p:spPr>
          <a:xfrm>
            <a:off x="5751576" y="1472184"/>
            <a:ext cx="11384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組成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サンプリング</a:t>
            </a:r>
            <a:endParaRPr lang="en-US" sz="1320" dirty="0"/>
          </a:p>
        </p:txBody>
      </p:sp>
      <p:sp>
        <p:nvSpPr>
          <p:cNvPr id="33" name="Text 30"/>
          <p:cNvSpPr/>
          <p:nvPr/>
        </p:nvSpPr>
        <p:spPr>
          <a:xfrm>
            <a:off x="7155180" y="1426464"/>
            <a:ext cx="1229868" cy="111556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条件設計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E/N, p, Tg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adaptive</a:t>
            </a:r>
            <a:endParaRPr lang="en-US" sz="1180" dirty="0"/>
          </a:p>
        </p:txBody>
      </p:sp>
      <p:sp>
        <p:nvSpPr>
          <p:cNvPr id="34" name="Text 31"/>
          <p:cNvSpPr/>
          <p:nvPr/>
        </p:nvSpPr>
        <p:spPr>
          <a:xfrm>
            <a:off x="7200900" y="1472184"/>
            <a:ext cx="11384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条件設計</a:t>
            </a:r>
            <a:endParaRPr lang="en-US" sz="1320" dirty="0"/>
          </a:p>
        </p:txBody>
      </p:sp>
      <p:sp>
        <p:nvSpPr>
          <p:cNvPr id="35" name="Text 32"/>
          <p:cNvSpPr/>
          <p:nvPr/>
        </p:nvSpPr>
        <p:spPr>
          <a:xfrm>
            <a:off x="8604504" y="1426464"/>
            <a:ext cx="1229868" cy="1115568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swarm実行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raw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convergence</a:t>
            </a:r>
            <a:endParaRPr lang="en-US" sz="1180" dirty="0"/>
          </a:p>
        </p:txBody>
      </p:sp>
      <p:sp>
        <p:nvSpPr>
          <p:cNvPr id="36" name="Text 33"/>
          <p:cNvSpPr/>
          <p:nvPr/>
        </p:nvSpPr>
        <p:spPr>
          <a:xfrm>
            <a:off x="8650224" y="1472184"/>
            <a:ext cx="11384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swarm実行</a:t>
            </a:r>
            <a:endParaRPr lang="en-US" sz="1320" dirty="0"/>
          </a:p>
        </p:txBody>
      </p:sp>
      <p:sp>
        <p:nvSpPr>
          <p:cNvPr id="37" name="Text 34"/>
          <p:cNvSpPr/>
          <p:nvPr/>
        </p:nvSpPr>
        <p:spPr>
          <a:xfrm>
            <a:off x="10053828" y="1426464"/>
            <a:ext cx="1229868" cy="1115568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係数表整形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resample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QC</a:t>
            </a:r>
            <a:endParaRPr lang="en-US" sz="1180" dirty="0"/>
          </a:p>
        </p:txBody>
      </p:sp>
      <p:sp>
        <p:nvSpPr>
          <p:cNvPr id="38" name="Text 35"/>
          <p:cNvSpPr/>
          <p:nvPr/>
        </p:nvSpPr>
        <p:spPr>
          <a:xfrm>
            <a:off x="10099548" y="1472184"/>
            <a:ext cx="11384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係数表整形</a:t>
            </a:r>
            <a:endParaRPr lang="en-US" sz="1320" dirty="0"/>
          </a:p>
        </p:txBody>
      </p:sp>
      <p:sp>
        <p:nvSpPr>
          <p:cNvPr id="39" name="Text 36"/>
          <p:cNvSpPr/>
          <p:nvPr/>
        </p:nvSpPr>
        <p:spPr>
          <a:xfrm>
            <a:off x="5705856" y="2670048"/>
            <a:ext cx="1325880" cy="20116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A8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整理方針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5705856" y="2907792"/>
            <a:ext cx="5577840" cy="1828800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2FA866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教師データは「断面積セット」「運転条件」「solver前提」を追える形で保存する。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第1AI用データと第2AI用データを分け、再利用できる単位へ整理する。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重粒子輸送が必要な場合は別テーブルとして分離管理する。</a:t>
            </a:r>
            <a:endParaRPr lang="en-US" sz="1480" dirty="0"/>
          </a:p>
        </p:txBody>
      </p:sp>
      <p:sp>
        <p:nvSpPr>
          <p:cNvPr id="41" name="Shape 38"/>
          <p:cNvSpPr/>
          <p:nvPr/>
        </p:nvSpPr>
        <p:spPr>
          <a:xfrm>
            <a:off x="8083296" y="4882896"/>
            <a:ext cx="2157984" cy="11887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9BA7B4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357616" y="5047488"/>
            <a:ext cx="685800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  <a:tailEnd type="triangle"/>
          </a:ln>
        </p:spPr>
      </p:sp>
      <p:sp>
        <p:nvSpPr>
          <p:cNvPr id="43" name="Text 40"/>
          <p:cNvSpPr/>
          <p:nvPr/>
        </p:nvSpPr>
        <p:spPr>
          <a:xfrm>
            <a:off x="8156448" y="4901184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ガス導入</a:t>
            </a:r>
            <a:endParaRPr lang="en-US" sz="980" dirty="0"/>
          </a:p>
        </p:txBody>
      </p:sp>
      <p:sp>
        <p:nvSpPr>
          <p:cNvPr id="44" name="Shape 41"/>
          <p:cNvSpPr/>
          <p:nvPr/>
        </p:nvSpPr>
        <p:spPr>
          <a:xfrm>
            <a:off x="8586216" y="5303520"/>
            <a:ext cx="1152144" cy="164592"/>
          </a:xfrm>
          <a:prstGeom prst="rect">
            <a:avLst/>
          </a:prstGeom>
          <a:solidFill>
            <a:srgbClr val="77CC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586216" y="5138928"/>
            <a:ext cx="11521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上部電極</a:t>
            </a:r>
            <a:endParaRPr lang="en-US" sz="1040" dirty="0"/>
          </a:p>
        </p:txBody>
      </p:sp>
      <p:sp>
        <p:nvSpPr>
          <p:cNvPr id="46" name="Shape 43"/>
          <p:cNvSpPr/>
          <p:nvPr/>
        </p:nvSpPr>
        <p:spPr>
          <a:xfrm>
            <a:off x="8833104" y="5669280"/>
            <a:ext cx="658368" cy="-438912"/>
          </a:xfrm>
          <a:prstGeom prst="rect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869680" y="5961888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教師場</a:t>
            </a:r>
            <a:endParaRPr lang="en-US" sz="1150" dirty="0"/>
          </a:p>
        </p:txBody>
      </p:sp>
      <p:sp>
        <p:nvSpPr>
          <p:cNvPr id="48" name="Shape 45"/>
          <p:cNvSpPr/>
          <p:nvPr/>
        </p:nvSpPr>
        <p:spPr>
          <a:xfrm>
            <a:off x="8677656" y="5431536"/>
            <a:ext cx="969264" cy="182880"/>
          </a:xfrm>
          <a:prstGeom prst="rect">
            <a:avLst/>
          </a:prstGeom>
          <a:solidFill>
            <a:srgbClr val="D9E3EE"/>
          </a:solidFill>
          <a:ln w="12700">
            <a:solidFill>
              <a:srgbClr val="9BA7B4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8997696" y="5157216"/>
            <a:ext cx="329184" cy="164592"/>
          </a:xfrm>
          <a:prstGeom prst="rect">
            <a:avLst/>
          </a:prstGeom>
          <a:solidFill>
            <a:srgbClr val="FFE4C7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8677656" y="5660136"/>
            <a:ext cx="969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基板 / 下部電極</a:t>
            </a:r>
            <a:endParaRPr lang="en-US" sz="1040" dirty="0"/>
          </a:p>
        </p:txBody>
      </p:sp>
      <p:sp>
        <p:nvSpPr>
          <p:cNvPr id="51" name="Shape 48"/>
          <p:cNvSpPr/>
          <p:nvPr/>
        </p:nvSpPr>
        <p:spPr>
          <a:xfrm>
            <a:off x="9043416" y="6071616"/>
            <a:ext cx="0" cy="530352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  <a:tailEnd type="triangle"/>
          </a:ln>
        </p:spPr>
      </p:sp>
      <p:sp>
        <p:nvSpPr>
          <p:cNvPr id="52" name="Shape 49"/>
          <p:cNvSpPr/>
          <p:nvPr/>
        </p:nvSpPr>
        <p:spPr>
          <a:xfrm>
            <a:off x="9109456" y="6071616"/>
            <a:ext cx="0" cy="530352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  <a:tailEnd type="triangle"/>
          </a:ln>
        </p:spPr>
      </p:sp>
      <p:sp>
        <p:nvSpPr>
          <p:cNvPr id="53" name="Shape 50"/>
          <p:cNvSpPr/>
          <p:nvPr/>
        </p:nvSpPr>
        <p:spPr>
          <a:xfrm>
            <a:off x="9175496" y="6071616"/>
            <a:ext cx="0" cy="530352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  <a:tailEnd type="triangle"/>
          </a:ln>
        </p:spPr>
      </p:sp>
      <p:sp>
        <p:nvSpPr>
          <p:cNvPr id="54" name="Shape 51"/>
          <p:cNvSpPr/>
          <p:nvPr/>
        </p:nvSpPr>
        <p:spPr>
          <a:xfrm>
            <a:off x="9241536" y="6071616"/>
            <a:ext cx="0" cy="530352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  <a:tailEnd type="triangle"/>
          </a:ln>
        </p:spPr>
      </p:sp>
      <p:sp>
        <p:nvSpPr>
          <p:cNvPr id="55" name="Text 52"/>
          <p:cNvSpPr/>
          <p:nvPr/>
        </p:nvSpPr>
        <p:spPr>
          <a:xfrm>
            <a:off x="9418320" y="4937760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</a:t>
            </a:r>
            <a:endParaRPr lang="en-US" sz="980" dirty="0"/>
          </a:p>
        </p:txBody>
      </p:sp>
      <p:sp>
        <p:nvSpPr>
          <p:cNvPr id="56" name="Shape 5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12/30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断面積レジストリ仕様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49808" y="932688"/>
            <a:ext cx="132588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96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管理項目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49808" y="1170432"/>
            <a:ext cx="3931920" cy="2761488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1696E7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xs_set_id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species / contributor / version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complete / partial flag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validated solver type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PT / SST 互換性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temperature validity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reaction channels / checksum / notes</a:t>
            </a:r>
            <a:endParaRPr lang="en-US" sz="1420" dirty="0"/>
          </a:p>
        </p:txBody>
      </p:sp>
      <p:sp>
        <p:nvSpPr>
          <p:cNvPr id="7" name="Text 5"/>
          <p:cNvSpPr/>
          <p:nvPr/>
        </p:nvSpPr>
        <p:spPr>
          <a:xfrm>
            <a:off x="859536" y="4187952"/>
            <a:ext cx="1883664" cy="932688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F2994A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要点</a:t>
            </a:r>
            <a:endParaRPr lang="en-US" sz="1520" dirty="0"/>
          </a:p>
          <a:p>
            <a:pPr algn="ctr" indent="0" marL="0">
              <a:buNone/>
            </a:pPr>
            <a:r>
              <a:rPr lang="en-US" sz="152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「ファイル」ではなく</a:t>
            </a:r>
            <a:endParaRPr lang="en-US" sz="1520" dirty="0"/>
          </a:p>
          <a:p>
            <a:pPr algn="ctr" indent="0" marL="0">
              <a:buNone/>
            </a:pPr>
            <a:r>
              <a:rPr lang="en-US" sz="152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「物理モデル単位」で管理</a:t>
            </a:r>
            <a:endParaRPr lang="en-US" sz="152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07792" y="4096512"/>
          <a:ext cx="1773936" cy="1335024"/>
        </p:xfrm>
        <a:graphic>
          <a:graphicData uri="http://schemas.openxmlformats.org/drawingml/2006/table">
            <a:tbl>
              <a:tblPr/>
              <a:tblGrid>
                <a:gridCol w="676656"/>
                <a:gridCol w="1097280"/>
              </a:tblGrid>
              <a:tr h="2670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項目</a:t>
                      </a:r>
                      <a:endParaRPr lang="en-US" sz="10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意味</a:t>
                      </a:r>
                      <a:endParaRPr lang="en-US" sz="10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70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complete</a:t>
                      </a:r>
                      <a:endParaRPr lang="en-US" sz="10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Boltzmann/MC向け完備性</a:t>
                      </a:r>
                      <a:endParaRPr lang="en-US" sz="10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70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family</a:t>
                      </a:r>
                      <a:endParaRPr lang="en-US" sz="10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版違い・系列違い</a:t>
                      </a:r>
                      <a:endParaRPr lang="en-US" sz="10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70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quality</a:t>
                      </a:r>
                      <a:endParaRPr lang="en-US" sz="10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検証状態</a:t>
                      </a:r>
                      <a:endParaRPr lang="en-US" sz="10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70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trace</a:t>
                      </a:r>
                      <a:endParaRPr lang="en-US" sz="10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結果から元へ遡及</a:t>
                      </a:r>
                      <a:endParaRPr lang="en-US" sz="10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907792" y="4096512"/>
            <a:ext cx="1773936" cy="256032"/>
          </a:xfrm>
          <a:prstGeom prst="rect">
            <a:avLst/>
          </a:prstGeom>
          <a:solidFill>
            <a:srgbClr val="FFF1E4"/>
          </a:solidFill>
          <a:ln w="12700">
            <a:solidFill>
              <a:srgbClr val="FFF1E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44368" y="4133088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項目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621024" y="413308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意味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949440" y="1855500"/>
            <a:ext cx="146304" cy="26956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385048" y="1855500"/>
            <a:ext cx="146304" cy="26956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820656" y="1855500"/>
            <a:ext cx="146304" cy="26956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24144" y="1389888"/>
            <a:ext cx="1161288" cy="1225296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Import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text / db</a:t>
            </a:r>
            <a:endParaRPr lang="en-US" sz="1180" dirty="0"/>
          </a:p>
        </p:txBody>
      </p:sp>
      <p:sp>
        <p:nvSpPr>
          <p:cNvPr id="16" name="Text 13"/>
          <p:cNvSpPr/>
          <p:nvPr/>
        </p:nvSpPr>
        <p:spPr>
          <a:xfrm>
            <a:off x="5769864" y="1435608"/>
            <a:ext cx="1069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Import</a:t>
            </a:r>
            <a:endParaRPr lang="en-US" sz="1320" dirty="0"/>
          </a:p>
        </p:txBody>
      </p:sp>
      <p:sp>
        <p:nvSpPr>
          <p:cNvPr id="17" name="Text 14"/>
          <p:cNvSpPr/>
          <p:nvPr/>
        </p:nvSpPr>
        <p:spPr>
          <a:xfrm>
            <a:off x="7159752" y="1389888"/>
            <a:ext cx="1161288" cy="1225296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Normalize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metadata</a:t>
            </a:r>
            <a:endParaRPr lang="en-US" sz="1180" dirty="0"/>
          </a:p>
        </p:txBody>
      </p:sp>
      <p:sp>
        <p:nvSpPr>
          <p:cNvPr id="18" name="Text 15"/>
          <p:cNvSpPr/>
          <p:nvPr/>
        </p:nvSpPr>
        <p:spPr>
          <a:xfrm>
            <a:off x="7205472" y="1435608"/>
            <a:ext cx="1069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Normalize</a:t>
            </a:r>
            <a:endParaRPr lang="en-US" sz="1320" dirty="0"/>
          </a:p>
        </p:txBody>
      </p:sp>
      <p:sp>
        <p:nvSpPr>
          <p:cNvPr id="19" name="Text 16"/>
          <p:cNvSpPr/>
          <p:nvPr/>
        </p:nvSpPr>
        <p:spPr>
          <a:xfrm>
            <a:off x="8595360" y="1389888"/>
            <a:ext cx="1161288" cy="1225296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Review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complete?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混用?</a:t>
            </a:r>
            <a:endParaRPr lang="en-US" sz="1180" dirty="0"/>
          </a:p>
        </p:txBody>
      </p:sp>
      <p:sp>
        <p:nvSpPr>
          <p:cNvPr id="20" name="Text 17"/>
          <p:cNvSpPr/>
          <p:nvPr/>
        </p:nvSpPr>
        <p:spPr>
          <a:xfrm>
            <a:off x="8641080" y="1435608"/>
            <a:ext cx="1069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Review</a:t>
            </a:r>
            <a:endParaRPr lang="en-US" sz="1320" dirty="0"/>
          </a:p>
        </p:txBody>
      </p:sp>
      <p:sp>
        <p:nvSpPr>
          <p:cNvPr id="21" name="Text 18"/>
          <p:cNvSpPr/>
          <p:nvPr/>
        </p:nvSpPr>
        <p:spPr>
          <a:xfrm>
            <a:off x="10030968" y="1389888"/>
            <a:ext cx="1161288" cy="1225296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Approve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approved</a:t>
            </a:r>
            <a:endParaRPr lang="en-US" sz="1180" dirty="0"/>
          </a:p>
        </p:txBody>
      </p:sp>
      <p:sp>
        <p:nvSpPr>
          <p:cNvPr id="22" name="Text 19"/>
          <p:cNvSpPr/>
          <p:nvPr/>
        </p:nvSpPr>
        <p:spPr>
          <a:xfrm>
            <a:off x="10076688" y="1435608"/>
            <a:ext cx="1069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Approve</a:t>
            </a:r>
            <a:endParaRPr lang="en-US" sz="1320" dirty="0"/>
          </a:p>
        </p:txBody>
      </p:sp>
      <p:sp>
        <p:nvSpPr>
          <p:cNvPr id="23" name="Text 20"/>
          <p:cNvSpPr/>
          <p:nvPr/>
        </p:nvSpPr>
        <p:spPr>
          <a:xfrm>
            <a:off x="5705856" y="2889504"/>
            <a:ext cx="1325880" cy="20116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A8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発明上の位置付け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705856" y="3127248"/>
            <a:ext cx="5577840" cy="1700784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2FA866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断面積データ管理そのものを AI 入力設計の一部とみなす。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complete set / 版差 / solver 前提を明示して教師データの一貫性を担保する。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将来的には xs_family_id を ensemble / UQ 軸として利用できる。</a:t>
            </a:r>
            <a:endParaRPr lang="en-US" sz="1480" dirty="0"/>
          </a:p>
        </p:txBody>
      </p:sp>
      <p:sp>
        <p:nvSpPr>
          <p:cNvPr id="25" name="Shape 22"/>
          <p:cNvSpPr/>
          <p:nvPr/>
        </p:nvSpPr>
        <p:spPr>
          <a:xfrm>
            <a:off x="7461504" y="5010912"/>
            <a:ext cx="2852928" cy="1060704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845552" y="5687568"/>
            <a:ext cx="2304288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845552" y="5266944"/>
            <a:ext cx="0" cy="420624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845552" y="5687568"/>
            <a:ext cx="230428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845552" y="5582412"/>
            <a:ext cx="230428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845552" y="5477256"/>
            <a:ext cx="230428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845552" y="5372100"/>
            <a:ext cx="230428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845552" y="5266944"/>
            <a:ext cx="230428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978140" y="5300594"/>
            <a:ext cx="310896" cy="386974"/>
          </a:xfrm>
          <a:prstGeom prst="rect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68412" y="572414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版管理</a:t>
            </a:r>
            <a:endParaRPr lang="en-US" sz="1020" dirty="0"/>
          </a:p>
        </p:txBody>
      </p:sp>
      <p:sp>
        <p:nvSpPr>
          <p:cNvPr id="35" name="Shape 32"/>
          <p:cNvSpPr/>
          <p:nvPr/>
        </p:nvSpPr>
        <p:spPr>
          <a:xfrm>
            <a:off x="8554212" y="5342656"/>
            <a:ext cx="310896" cy="344912"/>
          </a:xfrm>
          <a:prstGeom prst="rect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444484" y="572414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品質</a:t>
            </a:r>
            <a:endParaRPr lang="en-US" sz="1020" dirty="0"/>
          </a:p>
        </p:txBody>
      </p:sp>
      <p:sp>
        <p:nvSpPr>
          <p:cNvPr id="37" name="Shape 34"/>
          <p:cNvSpPr/>
          <p:nvPr/>
        </p:nvSpPr>
        <p:spPr>
          <a:xfrm>
            <a:off x="9130284" y="5309006"/>
            <a:ext cx="310896" cy="378562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020556" y="572414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追跡</a:t>
            </a:r>
            <a:endParaRPr lang="en-US" sz="1020" dirty="0"/>
          </a:p>
        </p:txBody>
      </p:sp>
      <p:sp>
        <p:nvSpPr>
          <p:cNvPr id="39" name="Shape 36"/>
          <p:cNvSpPr/>
          <p:nvPr/>
        </p:nvSpPr>
        <p:spPr>
          <a:xfrm>
            <a:off x="9706356" y="5334244"/>
            <a:ext cx="310896" cy="353324"/>
          </a:xfrm>
          <a:prstGeom prst="rect">
            <a:avLst/>
          </a:prstGeom>
          <a:solidFill>
            <a:srgbClr val="7A6FF0"/>
          </a:solidFill>
          <a:ln w="12700">
            <a:solidFill>
              <a:srgbClr val="7A6F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596628" y="572414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再利用</a:t>
            </a:r>
            <a:endParaRPr lang="en-US" sz="1020" dirty="0"/>
          </a:p>
        </p:txBody>
      </p:sp>
      <p:sp>
        <p:nvSpPr>
          <p:cNvPr id="41" name="Text 38"/>
          <p:cNvSpPr/>
          <p:nvPr/>
        </p:nvSpPr>
        <p:spPr>
          <a:xfrm>
            <a:off x="7571232" y="5056632"/>
            <a:ext cx="2633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レジストリ価値（概念図）</a:t>
            </a:r>
            <a:endParaRPr lang="en-US" sz="1020" dirty="0"/>
          </a:p>
        </p:txBody>
      </p:sp>
      <p:sp>
        <p:nvSpPr>
          <p:cNvPr id="42" name="Shape 39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13/30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swarm campaign と係数表生成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407920" y="1585570"/>
            <a:ext cx="128016" cy="261518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30624" y="1585570"/>
            <a:ext cx="128016" cy="261518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53328" y="1585570"/>
            <a:ext cx="128016" cy="261518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76032" y="1585570"/>
            <a:ext cx="128016" cy="261518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8736" y="1585570"/>
            <a:ext cx="128016" cy="261518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133856"/>
            <a:ext cx="1621536" cy="1188720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組成サンプリング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pure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edge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interior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795528" y="1179576"/>
            <a:ext cx="1530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組成サンプリング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2572512" y="1133856"/>
            <a:ext cx="1621536" cy="1188720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条件設計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E/N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p,Tg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ω/N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2618232" y="1179576"/>
            <a:ext cx="1530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条件設計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4395216" y="1133856"/>
            <a:ext cx="1621536" cy="1188720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swarm実行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solver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logs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QC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4440936" y="1179576"/>
            <a:ext cx="1530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swarm実行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6217920" y="1133856"/>
            <a:ext cx="1621536" cy="1188720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raw解析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μ,D,k,ε̄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flags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6263640" y="1179576"/>
            <a:ext cx="1530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raw解析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8040624" y="1133856"/>
            <a:ext cx="1621536" cy="1188720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表整形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EN表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ε̄表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8086344" y="1179576"/>
            <a:ext cx="1530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表整形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9863328" y="1133856"/>
            <a:ext cx="1621536" cy="1188720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parquet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manifest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9909048" y="1179576"/>
            <a:ext cx="1530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749808" y="2688336"/>
            <a:ext cx="103693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96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入力軸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49808" y="2926080"/>
            <a:ext cx="2304288" cy="1499616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1696E7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gas composition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E/N または ε̄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p, Tg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PT / SST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solver種別</a:t>
            </a:r>
            <a:endParaRPr lang="en-US" sz="1420" dirty="0"/>
          </a:p>
        </p:txBody>
      </p:sp>
      <p:sp>
        <p:nvSpPr>
          <p:cNvPr id="24" name="Text 22"/>
          <p:cNvSpPr/>
          <p:nvPr/>
        </p:nvSpPr>
        <p:spPr>
          <a:xfrm>
            <a:off x="3730752" y="2688336"/>
            <a:ext cx="1036930" cy="20116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A8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主出力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730752" y="2926080"/>
            <a:ext cx="2304288" cy="1499616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2FA866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μN, DLN, DTN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k_ion, k_att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grouped rates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mean energy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diagnostics</a:t>
            </a:r>
            <a:endParaRPr lang="en-US" sz="1420" dirty="0"/>
          </a:p>
        </p:txBody>
      </p:sp>
      <p:sp>
        <p:nvSpPr>
          <p:cNvPr id="26" name="Text 24"/>
          <p:cNvSpPr/>
          <p:nvPr/>
        </p:nvSpPr>
        <p:spPr>
          <a:xfrm>
            <a:off x="6711696" y="2688336"/>
            <a:ext cx="1036930" cy="201168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9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設計の要点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711696" y="2926080"/>
            <a:ext cx="2304288" cy="1499616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F2994A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flux / bulk 分離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EN表 + ε̄表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grouping / QC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失敗run隔離</a:t>
            </a:r>
            <a:endParaRPr lang="en-US" sz="1420" dirty="0"/>
          </a:p>
        </p:txBody>
      </p:sp>
      <p:sp>
        <p:nvSpPr>
          <p:cNvPr id="28" name="Shape 26"/>
          <p:cNvSpPr/>
          <p:nvPr/>
        </p:nvSpPr>
        <p:spPr>
          <a:xfrm>
            <a:off x="9217152" y="2834640"/>
            <a:ext cx="2103120" cy="1883664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01200" y="4334256"/>
            <a:ext cx="1572768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01200" y="3072384"/>
            <a:ext cx="0" cy="1261872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01200" y="4334256"/>
            <a:ext cx="157276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01200" y="4018788"/>
            <a:ext cx="157276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601200" y="3703320"/>
            <a:ext cx="157276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01200" y="3387852"/>
            <a:ext cx="157276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601200" y="3072384"/>
            <a:ext cx="157276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601200" y="4208069"/>
            <a:ext cx="314554" cy="-10095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915754" y="4107119"/>
            <a:ext cx="314554" cy="-151425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230307" y="3955694"/>
            <a:ext cx="314554" cy="-252374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544861" y="3703320"/>
            <a:ext cx="314554" cy="-328087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859414" y="3375233"/>
            <a:ext cx="314554" cy="-20190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573768" y="4180637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888322" y="4079687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202875" y="3928262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517429" y="3675888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831982" y="3347801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146536" y="3145902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213848" y="3108960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1696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μN</a:t>
            </a:r>
            <a:endParaRPr lang="en-US" sz="1020" dirty="0"/>
          </a:p>
        </p:txBody>
      </p:sp>
      <p:sp>
        <p:nvSpPr>
          <p:cNvPr id="48" name="Shape 46"/>
          <p:cNvSpPr/>
          <p:nvPr/>
        </p:nvSpPr>
        <p:spPr>
          <a:xfrm>
            <a:off x="9601200" y="4233306"/>
            <a:ext cx="314554" cy="-75712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915754" y="4157594"/>
            <a:ext cx="314554" cy="-100950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230307" y="4056644"/>
            <a:ext cx="314554" cy="-151425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544861" y="3905220"/>
            <a:ext cx="314554" cy="-277612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859414" y="3627608"/>
            <a:ext cx="314554" cy="-277612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573768" y="4205874"/>
            <a:ext cx="54864" cy="54864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888322" y="4130162"/>
            <a:ext cx="54864" cy="54864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202875" y="4029212"/>
            <a:ext cx="54864" cy="54864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517429" y="3877788"/>
            <a:ext cx="54864" cy="54864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831982" y="3600176"/>
            <a:ext cx="54864" cy="54864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146536" y="3322564"/>
            <a:ext cx="54864" cy="54864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213848" y="3273552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2FA8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DLN</a:t>
            </a:r>
            <a:endParaRPr lang="en-US" sz="1020" dirty="0"/>
          </a:p>
        </p:txBody>
      </p:sp>
      <p:sp>
        <p:nvSpPr>
          <p:cNvPr id="60" name="Shape 58"/>
          <p:cNvSpPr/>
          <p:nvPr/>
        </p:nvSpPr>
        <p:spPr>
          <a:xfrm>
            <a:off x="9601200" y="4334256"/>
            <a:ext cx="393192" cy="-25237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994392" y="4309019"/>
            <a:ext cx="393192" cy="-126187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387584" y="4182831"/>
            <a:ext cx="393192" cy="-454274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780776" y="3728557"/>
            <a:ext cx="393192" cy="-529986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573768" y="4306824"/>
            <a:ext cx="54864" cy="54864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966960" y="4281587"/>
            <a:ext cx="54864" cy="54864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360152" y="4155399"/>
            <a:ext cx="54864" cy="54864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753344" y="3701125"/>
            <a:ext cx="54864" cy="54864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146536" y="3171139"/>
            <a:ext cx="54864" cy="54864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213848" y="3438144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F29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k_ion</a:t>
            </a:r>
            <a:endParaRPr lang="en-US" sz="1020" dirty="0"/>
          </a:p>
        </p:txBody>
      </p:sp>
      <p:sp>
        <p:nvSpPr>
          <p:cNvPr id="70" name="Text 68"/>
          <p:cNvSpPr/>
          <p:nvPr/>
        </p:nvSpPr>
        <p:spPr>
          <a:xfrm>
            <a:off x="9537192" y="455371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E/N</a:t>
            </a:r>
            <a:endParaRPr lang="en-US" sz="980" dirty="0"/>
          </a:p>
        </p:txBody>
      </p:sp>
      <p:sp>
        <p:nvSpPr>
          <p:cNvPr id="71" name="Text 69"/>
          <p:cNvSpPr/>
          <p:nvPr/>
        </p:nvSpPr>
        <p:spPr>
          <a:xfrm rot="16200000">
            <a:off x="9235440" y="285292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reduced</a:t>
            </a:r>
            <a:endParaRPr lang="en-US" sz="920" dirty="0"/>
          </a:p>
        </p:txBody>
      </p:sp>
      <p:sp>
        <p:nvSpPr>
          <p:cNvPr id="72" name="Text 70"/>
          <p:cNvSpPr/>
          <p:nvPr/>
        </p:nvSpPr>
        <p:spPr>
          <a:xfrm>
            <a:off x="9326880" y="2880360"/>
            <a:ext cx="18836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係数曲線の概念図</a:t>
            </a:r>
            <a:endParaRPr lang="en-US" sz="1020" dirty="0"/>
          </a:p>
        </p:txBody>
      </p:sp>
      <p:sp>
        <p:nvSpPr>
          <p:cNvPr id="73" name="Text 71"/>
          <p:cNvSpPr/>
          <p:nvPr/>
        </p:nvSpPr>
        <p:spPr>
          <a:xfrm>
            <a:off x="841248" y="5230368"/>
            <a:ext cx="5376672" cy="658368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2FA866"/>
            </a:solidFill>
          </a:ln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補足</a:t>
            </a:r>
            <a:endParaRPr lang="en-US" sz="1480" dirty="0"/>
          </a:p>
          <a:p>
            <a:pPr algn="l" indent="0" marL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重粒子輸送が必要な場合は、mixture-averaged / multicomponent を別レイヤで保持する。</a:t>
            </a:r>
            <a:endParaRPr lang="en-US" sz="1480" dirty="0"/>
          </a:p>
        </p:txBody>
      </p:sp>
      <p:sp>
        <p:nvSpPr>
          <p:cNvPr id="74" name="Shape 72"/>
          <p:cNvSpPr/>
          <p:nvPr/>
        </p:nvSpPr>
        <p:spPr>
          <a:xfrm>
            <a:off x="7735824" y="4992624"/>
            <a:ext cx="2194560" cy="107899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9BA7B4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010144" y="5157216"/>
            <a:ext cx="685800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  <a:tailEnd type="triangle"/>
          </a:ln>
        </p:spPr>
      </p:sp>
      <p:sp>
        <p:nvSpPr>
          <p:cNvPr id="76" name="Text 74"/>
          <p:cNvSpPr/>
          <p:nvPr/>
        </p:nvSpPr>
        <p:spPr>
          <a:xfrm>
            <a:off x="7808976" y="5010912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ガス導入</a:t>
            </a:r>
            <a:endParaRPr lang="en-US" sz="980" dirty="0"/>
          </a:p>
        </p:txBody>
      </p:sp>
      <p:sp>
        <p:nvSpPr>
          <p:cNvPr id="77" name="Shape 75"/>
          <p:cNvSpPr/>
          <p:nvPr/>
        </p:nvSpPr>
        <p:spPr>
          <a:xfrm>
            <a:off x="8238744" y="5413248"/>
            <a:ext cx="1188720" cy="164592"/>
          </a:xfrm>
          <a:prstGeom prst="rect">
            <a:avLst/>
          </a:prstGeom>
          <a:solidFill>
            <a:srgbClr val="77CC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238744" y="5248656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上部電極</a:t>
            </a:r>
            <a:endParaRPr lang="en-US" sz="1040" dirty="0"/>
          </a:p>
        </p:txBody>
      </p:sp>
      <p:sp>
        <p:nvSpPr>
          <p:cNvPr id="79" name="Shape 77"/>
          <p:cNvSpPr/>
          <p:nvPr/>
        </p:nvSpPr>
        <p:spPr>
          <a:xfrm>
            <a:off x="8485632" y="5779008"/>
            <a:ext cx="694944" cy="-548640"/>
          </a:xfrm>
          <a:prstGeom prst="rect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522208" y="6071616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 → 場</a:t>
            </a:r>
            <a:endParaRPr lang="en-US" sz="1150" dirty="0"/>
          </a:p>
        </p:txBody>
      </p:sp>
      <p:sp>
        <p:nvSpPr>
          <p:cNvPr id="81" name="Shape 79"/>
          <p:cNvSpPr/>
          <p:nvPr/>
        </p:nvSpPr>
        <p:spPr>
          <a:xfrm>
            <a:off x="8330184" y="5431536"/>
            <a:ext cx="1005840" cy="182880"/>
          </a:xfrm>
          <a:prstGeom prst="rect">
            <a:avLst/>
          </a:prstGeom>
          <a:solidFill>
            <a:srgbClr val="D9E3EE"/>
          </a:solidFill>
          <a:ln w="12700">
            <a:solidFill>
              <a:srgbClr val="9BA7B4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650224" y="5157216"/>
            <a:ext cx="365760" cy="164592"/>
          </a:xfrm>
          <a:prstGeom prst="rect">
            <a:avLst/>
          </a:prstGeom>
          <a:solidFill>
            <a:srgbClr val="FFE4C7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330184" y="566013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基板 / 下部電極</a:t>
            </a:r>
            <a:endParaRPr lang="en-US" sz="1040" dirty="0"/>
          </a:p>
        </p:txBody>
      </p:sp>
      <p:sp>
        <p:nvSpPr>
          <p:cNvPr id="84" name="Shape 82"/>
          <p:cNvSpPr/>
          <p:nvPr/>
        </p:nvSpPr>
        <p:spPr>
          <a:xfrm>
            <a:off x="8695944" y="6181344"/>
            <a:ext cx="0" cy="530352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  <a:tailEnd type="triangle"/>
          </a:ln>
        </p:spPr>
      </p:sp>
      <p:sp>
        <p:nvSpPr>
          <p:cNvPr id="85" name="Shape 83"/>
          <p:cNvSpPr/>
          <p:nvPr/>
        </p:nvSpPr>
        <p:spPr>
          <a:xfrm>
            <a:off x="8772144" y="6181344"/>
            <a:ext cx="0" cy="530352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>
            <a:off x="8848344" y="6181344"/>
            <a:ext cx="0" cy="530352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  <a:tailEnd type="triangle"/>
          </a:ln>
        </p:spPr>
      </p:sp>
      <p:sp>
        <p:nvSpPr>
          <p:cNvPr id="87" name="Shape 85"/>
          <p:cNvSpPr/>
          <p:nvPr/>
        </p:nvSpPr>
        <p:spPr>
          <a:xfrm>
            <a:off x="8924544" y="6181344"/>
            <a:ext cx="0" cy="530352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  <a:tailEnd type="triangle"/>
          </a:ln>
        </p:spPr>
      </p:sp>
      <p:sp>
        <p:nvSpPr>
          <p:cNvPr id="88" name="Text 86"/>
          <p:cNvSpPr/>
          <p:nvPr/>
        </p:nvSpPr>
        <p:spPr>
          <a:xfrm>
            <a:off x="9107424" y="504748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接続</a:t>
            </a:r>
            <a:endParaRPr lang="en-US" sz="980" dirty="0"/>
          </a:p>
        </p:txBody>
      </p:sp>
      <p:sp>
        <p:nvSpPr>
          <p:cNvPr id="89" name="Shape 87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14/30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特徴量化の全体像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72712" y="1793321"/>
            <a:ext cx="164592" cy="350032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0792" y="1793321"/>
            <a:ext cx="164592" cy="350032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188720"/>
            <a:ext cx="3322320" cy="1591056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ガス効果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特徴量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組成の log-ratio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係数曲線 latent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raw XS latent 任意</a:t>
            </a:r>
            <a:endParaRPr lang="en-US" sz="1180" dirty="0"/>
          </a:p>
        </p:txBody>
      </p:sp>
      <p:sp>
        <p:nvSpPr>
          <p:cNvPr id="8" name="Text 6"/>
          <p:cNvSpPr/>
          <p:nvPr/>
        </p:nvSpPr>
        <p:spPr>
          <a:xfrm>
            <a:off x="795528" y="1234440"/>
            <a:ext cx="323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ガス効果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特徴量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4437888" y="1188720"/>
            <a:ext cx="3322320" cy="1591056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反応効果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特徴量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電離 / 付着 / 励起 / 解離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競合指標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しきい値感度</a:t>
            </a:r>
            <a:endParaRPr lang="en-US" sz="1180" dirty="0"/>
          </a:p>
        </p:txBody>
      </p:sp>
      <p:sp>
        <p:nvSpPr>
          <p:cNvPr id="10" name="Text 8"/>
          <p:cNvSpPr/>
          <p:nvPr/>
        </p:nvSpPr>
        <p:spPr>
          <a:xfrm>
            <a:off x="4483608" y="1234440"/>
            <a:ext cx="323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反応効果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特徴量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8125968" y="1188720"/>
            <a:ext cx="3322320" cy="1591056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信頼度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特徴量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モデル不確かさ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物理残差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潜在距離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断面積品質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8171688" y="1234440"/>
            <a:ext cx="323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信頼度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特徴量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786384" y="3310128"/>
            <a:ext cx="10588752" cy="694944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1696E7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入力テンソルの考え方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 = z_comp + z_gas + f_rxn + condition + geometry + f_conf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56760" y="4677339"/>
            <a:ext cx="164592" cy="20921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03592" y="4677339"/>
            <a:ext cx="164592" cy="20921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93392" y="4315968"/>
            <a:ext cx="2444496" cy="950976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AI1へ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z_comp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z_gas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condition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2039112" y="4361688"/>
            <a:ext cx="2353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AI1へ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4840224" y="4315968"/>
            <a:ext cx="2444496" cy="950976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AI2へ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geometry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BC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coefficient maps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4885944" y="4361688"/>
            <a:ext cx="2353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AI2へ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7687056" y="4315968"/>
            <a:ext cx="2444496" cy="950976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信頼度へ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u,r,d,q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判定ロジック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7732776" y="4361688"/>
            <a:ext cx="2353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信頼度へ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1024128" y="5266944"/>
            <a:ext cx="1325880" cy="201168"/>
          </a:xfrm>
          <a:prstGeom prst="roundRect">
            <a:avLst/>
          </a:prstGeom>
          <a:solidFill>
            <a:srgbClr val="F1EEFF"/>
          </a:solidFill>
          <a:ln>
            <a:solidFill>
              <a:srgbClr val="7A6FF0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6F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発明の芯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24128" y="5504688"/>
            <a:ext cx="9857232" cy="621792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7A6FF0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物理量を「どの単位で」「どの粒度で」「どのAIへ」渡すかを構成要件として定義する。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ガス効果・反応効果・信頼度を分けて設計し、説明可能な入出力を作る。</a:t>
            </a:r>
            <a:endParaRPr lang="en-US" sz="1480" dirty="0"/>
          </a:p>
        </p:txBody>
      </p:sp>
      <p:sp>
        <p:nvSpPr>
          <p:cNvPr id="24" name="Shape 2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15/30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ガス効果特徴量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49808" y="932688"/>
            <a:ext cx="132588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96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構成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49808" y="1170432"/>
            <a:ext cx="4059936" cy="1938528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1696E7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組成 x は総和1の制約を持つため、ilr / clr などの log-ratio 変換を用いる。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ガス名 one-hot の代わりに、swarm 係数曲線を共通グリッドへ再標本化して潜在表現 z_gas を得る。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必要に応じて raw cross section token を別 latent として追加できる。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859536" y="3730752"/>
            <a:ext cx="3840480" cy="1024128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2FA866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2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z_comp = ilr(x)</a:t>
            </a:r>
            <a:endParaRPr lang="en-US" sz="1720" dirty="0"/>
          </a:p>
          <a:p>
            <a:pPr algn="ctr" indent="0" marL="0">
              <a:buNone/>
            </a:pPr>
            <a:r>
              <a:rPr lang="en-US" sz="172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z_gas = Enc[ log μN, log DLN, log DTN, log k ]</a:t>
            </a:r>
            <a:endParaRPr lang="en-US" sz="1720" dirty="0"/>
          </a:p>
        </p:txBody>
      </p:sp>
      <p:sp>
        <p:nvSpPr>
          <p:cNvPr id="8" name="Shape 6"/>
          <p:cNvSpPr/>
          <p:nvPr/>
        </p:nvSpPr>
        <p:spPr>
          <a:xfrm>
            <a:off x="5522976" y="1426464"/>
            <a:ext cx="1737360" cy="1170432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07024" y="2212848"/>
            <a:ext cx="1207008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07024" y="1664208"/>
            <a:ext cx="0" cy="54864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07024" y="2212848"/>
            <a:ext cx="120700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07024" y="2075688"/>
            <a:ext cx="120700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07024" y="1938528"/>
            <a:ext cx="120700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07024" y="1801368"/>
            <a:ext cx="120700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07024" y="1664208"/>
            <a:ext cx="120700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07024" y="2157984"/>
            <a:ext cx="241402" cy="-43891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48426" y="2114093"/>
            <a:ext cx="241402" cy="-65837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89827" y="2048256"/>
            <a:ext cx="241402" cy="-120701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31229" y="1927555"/>
            <a:ext cx="241402" cy="-131674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72630" y="1795882"/>
            <a:ext cx="241402" cy="-87782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79592" y="2130552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0994" y="2086661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62395" y="2020824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03797" y="1900123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45198" y="1768450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86600" y="1680667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07024" y="2168957"/>
            <a:ext cx="241402" cy="-32918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48426" y="2136038"/>
            <a:ext cx="241402" cy="-32918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89827" y="2103120"/>
            <a:ext cx="241402" cy="-76810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31229" y="2026310"/>
            <a:ext cx="241402" cy="-120701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72630" y="1905610"/>
            <a:ext cx="241402" cy="-120701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79592" y="2141525"/>
            <a:ext cx="54864" cy="54864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20994" y="2108606"/>
            <a:ext cx="54864" cy="54864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62395" y="2075688"/>
            <a:ext cx="54864" cy="54864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03797" y="1998878"/>
            <a:ext cx="54864" cy="54864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5198" y="1878178"/>
            <a:ext cx="54864" cy="54864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86600" y="1757477"/>
            <a:ext cx="54864" cy="54864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32704" y="1472184"/>
            <a:ext cx="1517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係数曲線群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5522976" y="2761488"/>
            <a:ext cx="1737360" cy="1170432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07024" y="3547872"/>
            <a:ext cx="1207008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07024" y="2999232"/>
            <a:ext cx="0" cy="54864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07024" y="3547872"/>
            <a:ext cx="120700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07024" y="3410712"/>
            <a:ext cx="120700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907024" y="3273552"/>
            <a:ext cx="120700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07024" y="3136392"/>
            <a:ext cx="120700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07024" y="2999232"/>
            <a:ext cx="120700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07024" y="3547872"/>
            <a:ext cx="301752" cy="-10973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08776" y="3536899"/>
            <a:ext cx="301752" cy="-65837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510528" y="3471062"/>
            <a:ext cx="301752" cy="-197510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12280" y="3273552"/>
            <a:ext cx="301752" cy="-230429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879592" y="3520440"/>
            <a:ext cx="54864" cy="54864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181344" y="3509467"/>
            <a:ext cx="54864" cy="54864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83096" y="3443630"/>
            <a:ext cx="54864" cy="54864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784848" y="3246120"/>
            <a:ext cx="54864" cy="54864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086600" y="3015691"/>
            <a:ext cx="54864" cy="54864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907024" y="3547872"/>
            <a:ext cx="301752" cy="-5486"/>
          </a:xfrm>
          <a:prstGeom prst="line">
            <a:avLst/>
          </a:prstGeom>
          <a:noFill/>
          <a:ln w="12700">
            <a:solidFill>
              <a:srgbClr val="D94B4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208776" y="3542386"/>
            <a:ext cx="301752" cy="-27432"/>
          </a:xfrm>
          <a:prstGeom prst="line">
            <a:avLst/>
          </a:prstGeom>
          <a:noFill/>
          <a:ln w="12700">
            <a:solidFill>
              <a:srgbClr val="D94B4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510528" y="3514954"/>
            <a:ext cx="301752" cy="-87782"/>
          </a:xfrm>
          <a:prstGeom prst="line">
            <a:avLst/>
          </a:prstGeom>
          <a:noFill/>
          <a:ln w="12700">
            <a:solidFill>
              <a:srgbClr val="D94B4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812280" y="3427171"/>
            <a:ext cx="301752" cy="-197510"/>
          </a:xfrm>
          <a:prstGeom prst="line">
            <a:avLst/>
          </a:prstGeom>
          <a:noFill/>
          <a:ln w="12700">
            <a:solidFill>
              <a:srgbClr val="D94B4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879592" y="3520440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181344" y="3514954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483096" y="3487522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784848" y="3399739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086600" y="3202229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632704" y="2807208"/>
            <a:ext cx="1517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反応曲線群</a:t>
            </a:r>
            <a:endParaRPr lang="en-US" sz="1020" dirty="0"/>
          </a:p>
        </p:txBody>
      </p:sp>
      <p:sp>
        <p:nvSpPr>
          <p:cNvPr id="66" name="Shape 64"/>
          <p:cNvSpPr/>
          <p:nvPr/>
        </p:nvSpPr>
        <p:spPr>
          <a:xfrm>
            <a:off x="7388352" y="2487168"/>
            <a:ext cx="292608" cy="237744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754112" y="1993392"/>
            <a:ext cx="969264" cy="859536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1696E7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Encoder</a:t>
            </a:r>
            <a:endParaRPr lang="en-US" sz="1620" dirty="0"/>
          </a:p>
        </p:txBody>
      </p:sp>
      <p:sp>
        <p:nvSpPr>
          <p:cNvPr id="68" name="Shape 66"/>
          <p:cNvSpPr/>
          <p:nvPr/>
        </p:nvSpPr>
        <p:spPr>
          <a:xfrm>
            <a:off x="8869680" y="2487168"/>
            <a:ext cx="292608" cy="237744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326880" y="1847088"/>
            <a:ext cx="109728" cy="201168"/>
          </a:xfrm>
          <a:prstGeom prst="rect">
            <a:avLst/>
          </a:prstGeom>
          <a:solidFill>
            <a:srgbClr val="1696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491472" y="1847088"/>
            <a:ext cx="109728" cy="201168"/>
          </a:xfrm>
          <a:prstGeom prst="rect">
            <a:avLst/>
          </a:prstGeom>
          <a:solidFill>
            <a:srgbClr val="2FA8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656064" y="1847088"/>
            <a:ext cx="109728" cy="201168"/>
          </a:xfrm>
          <a:prstGeom prst="rect">
            <a:avLst/>
          </a:prstGeom>
          <a:solidFill>
            <a:srgbClr val="F299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820656" y="1847088"/>
            <a:ext cx="109728" cy="201168"/>
          </a:xfrm>
          <a:prstGeom prst="rect">
            <a:avLst/>
          </a:prstGeom>
          <a:solidFill>
            <a:srgbClr val="7A6F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985248" y="1847088"/>
            <a:ext cx="109728" cy="201168"/>
          </a:xfrm>
          <a:prstGeom prst="rect">
            <a:avLst/>
          </a:prstGeom>
          <a:solidFill>
            <a:srgbClr val="77CC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326880" y="2249424"/>
            <a:ext cx="109728" cy="201168"/>
          </a:xfrm>
          <a:prstGeom prst="rect">
            <a:avLst/>
          </a:prstGeom>
          <a:solidFill>
            <a:srgbClr val="1696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491472" y="2249424"/>
            <a:ext cx="109728" cy="201168"/>
          </a:xfrm>
          <a:prstGeom prst="rect">
            <a:avLst/>
          </a:prstGeom>
          <a:solidFill>
            <a:srgbClr val="2FA8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656064" y="2249424"/>
            <a:ext cx="109728" cy="201168"/>
          </a:xfrm>
          <a:prstGeom prst="rect">
            <a:avLst/>
          </a:prstGeom>
          <a:solidFill>
            <a:srgbClr val="F299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820656" y="2249424"/>
            <a:ext cx="109728" cy="201168"/>
          </a:xfrm>
          <a:prstGeom prst="rect">
            <a:avLst/>
          </a:prstGeom>
          <a:solidFill>
            <a:srgbClr val="7A6F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985248" y="2249424"/>
            <a:ext cx="109728" cy="201168"/>
          </a:xfrm>
          <a:prstGeom prst="rect">
            <a:avLst/>
          </a:prstGeom>
          <a:solidFill>
            <a:srgbClr val="77CC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326880" y="2651760"/>
            <a:ext cx="109728" cy="201168"/>
          </a:xfrm>
          <a:prstGeom prst="rect">
            <a:avLst/>
          </a:prstGeom>
          <a:solidFill>
            <a:srgbClr val="1696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491472" y="2651760"/>
            <a:ext cx="109728" cy="201168"/>
          </a:xfrm>
          <a:prstGeom prst="rect">
            <a:avLst/>
          </a:prstGeom>
          <a:solidFill>
            <a:srgbClr val="2FA8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656064" y="2651760"/>
            <a:ext cx="109728" cy="201168"/>
          </a:xfrm>
          <a:prstGeom prst="rect">
            <a:avLst/>
          </a:prstGeom>
          <a:solidFill>
            <a:srgbClr val="F299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820656" y="2651760"/>
            <a:ext cx="109728" cy="201168"/>
          </a:xfrm>
          <a:prstGeom prst="rect">
            <a:avLst/>
          </a:prstGeom>
          <a:solidFill>
            <a:srgbClr val="7A6F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985248" y="2651760"/>
            <a:ext cx="109728" cy="201168"/>
          </a:xfrm>
          <a:prstGeom prst="rect">
            <a:avLst/>
          </a:prstGeom>
          <a:solidFill>
            <a:srgbClr val="77CC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436608" y="3236976"/>
            <a:ext cx="749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z_gas</a:t>
            </a:r>
            <a:endParaRPr lang="en-US" sz="1200" dirty="0"/>
          </a:p>
        </p:txBody>
      </p:sp>
      <p:sp>
        <p:nvSpPr>
          <p:cNvPr id="85" name="Text 83"/>
          <p:cNvSpPr/>
          <p:nvPr/>
        </p:nvSpPr>
        <p:spPr>
          <a:xfrm>
            <a:off x="10277856" y="1993392"/>
            <a:ext cx="914400" cy="859536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2FA866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近傍ガスで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連続変化</a:t>
            </a:r>
            <a:endParaRPr lang="en-US" sz="1500" dirty="0"/>
          </a:p>
        </p:txBody>
      </p:sp>
      <p:sp>
        <p:nvSpPr>
          <p:cNvPr id="86" name="Text 84"/>
          <p:cNvSpPr/>
          <p:nvPr/>
        </p:nvSpPr>
        <p:spPr>
          <a:xfrm>
            <a:off x="5358384" y="4901184"/>
            <a:ext cx="1325880" cy="20116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A8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利点</a:t>
            </a:r>
            <a:endParaRPr lang="en-US" sz="1050" dirty="0"/>
          </a:p>
        </p:txBody>
      </p:sp>
      <p:sp>
        <p:nvSpPr>
          <p:cNvPr id="87" name="Text 85"/>
          <p:cNvSpPr/>
          <p:nvPr/>
        </p:nvSpPr>
        <p:spPr>
          <a:xfrm>
            <a:off x="5358384" y="5138928"/>
            <a:ext cx="5833872" cy="804672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2FA866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「新しいガス」をカテゴリとして切るのでなく、latent 空間上の近い点として扱える。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組成変化を連続量として学習しやすく、transfer / fine-tuning の出発点を共通化できる。</a:t>
            </a:r>
            <a:endParaRPr lang="en-US" sz="1480" dirty="0"/>
          </a:p>
        </p:txBody>
      </p:sp>
      <p:sp>
        <p:nvSpPr>
          <p:cNvPr id="88" name="Shape 86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16/30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反応効果特徴量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49808" y="950976"/>
            <a:ext cx="1325880" cy="20116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A8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反応効果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49808" y="1188720"/>
            <a:ext cx="4133088" cy="1920240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2FA866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電離・付着・励起・解離を process ごとにそのまま使うのではなく、運用上意味のある群へまとめる。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単体レートに加え、反応間競合やしきい値近傍の感度を特徴量化する。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energy partition を入れると、反応支配条件と散逸支配条件の区別がしやすい。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877824" y="3730752"/>
            <a:ext cx="3877056" cy="1042416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F2994A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f_rxn = [ log k_ion, log k_att, log k_exc, log k_diss,</a:t>
            </a:r>
            <a:endParaRPr lang="en-US" sz="1620" dirty="0"/>
          </a:p>
          <a:p>
            <a:pPr algn="ctr" indent="0" marL="0">
              <a:buNone/>
            </a:pPr>
            <a:r>
              <a:rPr lang="en-US" sz="162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competition ratio, threshold sensitivity, power partition ]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5486400" y="1554480"/>
            <a:ext cx="1993392" cy="1444752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70448" y="2615184"/>
            <a:ext cx="1444752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70448" y="1810512"/>
            <a:ext cx="0" cy="804672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70448" y="2615184"/>
            <a:ext cx="14447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70448" y="2414016"/>
            <a:ext cx="14447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70448" y="2212848"/>
            <a:ext cx="14447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70448" y="2011680"/>
            <a:ext cx="14447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70448" y="1810512"/>
            <a:ext cx="14447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24626" y="1955353"/>
            <a:ext cx="132436" cy="659831"/>
          </a:xfrm>
          <a:prstGeom prst="rect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14898" y="2651760"/>
            <a:ext cx="3518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ion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6165418" y="2389876"/>
            <a:ext cx="132436" cy="225308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55690" y="2651760"/>
            <a:ext cx="3518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att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406210" y="2180661"/>
            <a:ext cx="132436" cy="434523"/>
          </a:xfrm>
          <a:prstGeom prst="rect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6482" y="2651760"/>
            <a:ext cx="3518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exc1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647002" y="2245035"/>
            <a:ext cx="132436" cy="370149"/>
          </a:xfrm>
          <a:prstGeom prst="rect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274" y="2651760"/>
            <a:ext cx="3518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exc2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6887794" y="2422063"/>
            <a:ext cx="132436" cy="193121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78066" y="2651760"/>
            <a:ext cx="3518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diss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7128586" y="2486436"/>
            <a:ext cx="132436" cy="128748"/>
          </a:xfrm>
          <a:prstGeom prst="rect">
            <a:avLst/>
          </a:prstGeom>
          <a:solidFill>
            <a:srgbClr val="9BA7B4"/>
          </a:solidFill>
          <a:ln w="12700">
            <a:solidFill>
              <a:srgbClr val="9BA7B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18858" y="2651760"/>
            <a:ext cx="3518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other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5596128" y="1600200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raw rates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7626096" y="2176272"/>
            <a:ext cx="292608" cy="237744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46720" y="1554480"/>
            <a:ext cx="2066544" cy="1444752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30768" y="2615184"/>
            <a:ext cx="1517904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30768" y="1810512"/>
            <a:ext cx="0" cy="804672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30768" y="2615184"/>
            <a:ext cx="1517904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30768" y="2414016"/>
            <a:ext cx="1517904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30768" y="2212848"/>
            <a:ext cx="1517904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30768" y="2011680"/>
            <a:ext cx="1517904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1810512"/>
            <a:ext cx="1517904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516150" y="1955353"/>
            <a:ext cx="208712" cy="659831"/>
          </a:xfrm>
          <a:prstGeom prst="rect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06422" y="2651760"/>
            <a:ext cx="428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ion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8895626" y="2389876"/>
            <a:ext cx="208712" cy="225308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785898" y="2651760"/>
            <a:ext cx="428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att</a:t>
            </a:r>
            <a:endParaRPr lang="en-US" sz="1020" dirty="0"/>
          </a:p>
        </p:txBody>
      </p:sp>
      <p:sp>
        <p:nvSpPr>
          <p:cNvPr id="42" name="Shape 40"/>
          <p:cNvSpPr/>
          <p:nvPr/>
        </p:nvSpPr>
        <p:spPr>
          <a:xfrm>
            <a:off x="9275102" y="1987540"/>
            <a:ext cx="208712" cy="627644"/>
          </a:xfrm>
          <a:prstGeom prst="rect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65374" y="2651760"/>
            <a:ext cx="428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exc</a:t>
            </a:r>
            <a:endParaRPr lang="en-US" sz="1020" dirty="0"/>
          </a:p>
        </p:txBody>
      </p:sp>
      <p:sp>
        <p:nvSpPr>
          <p:cNvPr id="44" name="Shape 42"/>
          <p:cNvSpPr/>
          <p:nvPr/>
        </p:nvSpPr>
        <p:spPr>
          <a:xfrm>
            <a:off x="9654578" y="2422063"/>
            <a:ext cx="208712" cy="193121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544850" y="2651760"/>
            <a:ext cx="428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diss</a:t>
            </a:r>
            <a:endParaRPr lang="en-US" sz="1020" dirty="0"/>
          </a:p>
        </p:txBody>
      </p:sp>
      <p:sp>
        <p:nvSpPr>
          <p:cNvPr id="46" name="Text 44"/>
          <p:cNvSpPr/>
          <p:nvPr/>
        </p:nvSpPr>
        <p:spPr>
          <a:xfrm>
            <a:off x="8156448" y="1600200"/>
            <a:ext cx="1847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grouped descriptors</a:t>
            </a:r>
            <a:endParaRPr lang="en-US" sz="1020" dirty="0"/>
          </a:p>
        </p:txBody>
      </p:sp>
      <p:sp>
        <p:nvSpPr>
          <p:cNvPr id="47" name="Text 45"/>
          <p:cNvSpPr/>
          <p:nvPr/>
        </p:nvSpPr>
        <p:spPr>
          <a:xfrm>
            <a:off x="5596128" y="3730752"/>
            <a:ext cx="2048256" cy="859536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F2994A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competition ratio</a:t>
            </a:r>
            <a:endParaRPr lang="en-US" sz="1360" dirty="0"/>
          </a:p>
          <a:p>
            <a:pPr algn="ctr" indent="0" marL="0">
              <a:buNone/>
            </a:pPr>
            <a:r>
              <a:rPr lang="en-US" sz="13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k_ion / (k_ion + k_att)</a:t>
            </a:r>
            <a:endParaRPr lang="en-US" sz="1360" dirty="0"/>
          </a:p>
        </p:txBody>
      </p:sp>
      <p:sp>
        <p:nvSpPr>
          <p:cNvPr id="48" name="Text 46"/>
          <p:cNvSpPr/>
          <p:nvPr/>
        </p:nvSpPr>
        <p:spPr>
          <a:xfrm>
            <a:off x="8138160" y="3730752"/>
            <a:ext cx="2505456" cy="859536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F2994A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threshold sensitivity</a:t>
            </a:r>
            <a:endParaRPr lang="en-US" sz="1360" dirty="0"/>
          </a:p>
          <a:p>
            <a:pPr algn="ctr" indent="0" marL="0">
              <a:buNone/>
            </a:pPr>
            <a:r>
              <a:rPr lang="en-US" sz="13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しきい値近傍の勾配や tail mass</a:t>
            </a:r>
            <a:endParaRPr lang="en-US" sz="1360" dirty="0"/>
          </a:p>
        </p:txBody>
      </p:sp>
      <p:sp>
        <p:nvSpPr>
          <p:cNvPr id="49" name="Text 47"/>
          <p:cNvSpPr/>
          <p:nvPr/>
        </p:nvSpPr>
        <p:spPr>
          <a:xfrm>
            <a:off x="5486400" y="4754880"/>
            <a:ext cx="1325880" cy="20116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A8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利点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486400" y="4992624"/>
            <a:ext cx="5340096" cy="749808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2FA866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「どの反応が支配的か」を1本の係数より明確に表せる。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同じ平均エネルギーでも tail が違う条件を補助的に見分けやすい。</a:t>
            </a:r>
            <a:endParaRPr lang="en-US" sz="1480" dirty="0"/>
          </a:p>
        </p:txBody>
      </p:sp>
      <p:sp>
        <p:nvSpPr>
          <p:cNvPr id="51" name="Shape 49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17/30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信頼度特徴量と適用判定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49808" y="950976"/>
            <a:ext cx="132588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96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信頼度入力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49808" y="1188720"/>
            <a:ext cx="4059936" cy="2029968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1696E7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u_model: アンサンブル分散や variance head によるモデル不確かさ。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r_phys: Poisson / continuity などの物理残差。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d_latent: 学習済み潜在空間からの距離。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q_xs: 断面積セットの品質・完全性・検証状態。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877824" y="3730752"/>
            <a:ext cx="3840480" cy="713232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2FA866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Score_conf = 1 - Norm( w1·u + w2·r + w3·d + w4·(1-q) )</a:t>
            </a:r>
            <a:endParaRPr lang="en-US" sz="1620" dirty="0"/>
          </a:p>
        </p:txBody>
      </p:sp>
      <p:sp>
        <p:nvSpPr>
          <p:cNvPr id="8" name="Text 6"/>
          <p:cNvSpPr/>
          <p:nvPr/>
        </p:nvSpPr>
        <p:spPr>
          <a:xfrm>
            <a:off x="950976" y="4553712"/>
            <a:ext cx="3694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式は一例。重みと規格化は実装依存。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6784848" y="2043867"/>
            <a:ext cx="128016" cy="20921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47304" y="2043867"/>
            <a:ext cx="128016" cy="20921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09760" y="2043867"/>
            <a:ext cx="128016" cy="20921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96128" y="1682496"/>
            <a:ext cx="1143000" cy="950976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u_model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NN側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5641848" y="172821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u_model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6958584" y="1682496"/>
            <a:ext cx="1143000" cy="950976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r_phys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物理側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7004304" y="172821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r_phys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8321040" y="1682496"/>
            <a:ext cx="1143000" cy="950976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d_latent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学習域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8366760" y="172821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d_latent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9683496" y="1682496"/>
            <a:ext cx="1143000" cy="950976"/>
          </a:xfrm>
          <a:prstGeom prst="roundRect">
            <a:avLst/>
          </a:prstGeom>
          <a:solidFill>
            <a:srgbClr val="F1EEFF"/>
          </a:solidFill>
          <a:ln>
            <a:solidFill>
              <a:srgbClr val="7A6FF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q_xs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データ源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9729216" y="172821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q_xs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7644384" y="3017520"/>
            <a:ext cx="1170432" cy="420624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1696E7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Score_conf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229600" y="2724912"/>
            <a:ext cx="0" cy="256032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980176" y="3694176"/>
            <a:ext cx="3749040" cy="100584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81344" y="3895344"/>
            <a:ext cx="868680" cy="603504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4096512"/>
            <a:ext cx="201168" cy="201168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47104" y="407822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45936" y="4389120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そのまま比較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7296912" y="3895344"/>
            <a:ext cx="868680" cy="603504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97496" y="4096512"/>
            <a:ext cx="201168" cy="201168"/>
          </a:xfrm>
          <a:prstGeom prst="ellipse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62672" y="407822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461504" y="4389120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監査推奨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8412480" y="3895344"/>
            <a:ext cx="868680" cy="603504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13064" y="4096512"/>
            <a:ext cx="201168" cy="201168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78240" y="407822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577072" y="4389120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再計算へ</a:t>
            </a:r>
            <a:endParaRPr lang="en-US" sz="98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4882896"/>
          <a:ext cx="5394960" cy="1078992"/>
        </p:xfrm>
        <a:graphic>
          <a:graphicData uri="http://schemas.openxmlformats.org/drawingml/2006/table">
            <a:tbl>
              <a:tblPr/>
              <a:tblGrid>
                <a:gridCol w="932688"/>
                <a:gridCol w="4462272"/>
              </a:tblGrid>
              <a:tr h="2697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6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判定</a:t>
                      </a:r>
                      <a:endParaRPr lang="en-US" sz="116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6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推奨動作</a:t>
                      </a:r>
                      <a:endParaRPr lang="en-US" sz="116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6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高</a:t>
                      </a:r>
                      <a:endParaRPr lang="en-US" sz="116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6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予測をそのまま候補比較へ使用</a:t>
                      </a:r>
                      <a:endParaRPr lang="en-US" sz="116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6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</a:t>
                      </a:r>
                      <a:endParaRPr lang="en-US" sz="116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6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監査計算または追加チェック</a:t>
                      </a:r>
                      <a:endParaRPr lang="en-US" sz="116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6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低</a:t>
                      </a:r>
                      <a:endParaRPr lang="en-US" sz="116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6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高忠実度シミュレーションへフォールバック</a:t>
                      </a:r>
                      <a:endParaRPr lang="en-US" sz="116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Shape 33"/>
          <p:cNvSpPr/>
          <p:nvPr/>
        </p:nvSpPr>
        <p:spPr>
          <a:xfrm>
            <a:off x="5760720" y="4882896"/>
            <a:ext cx="5394960" cy="256032"/>
          </a:xfrm>
          <a:prstGeom prst="rect">
            <a:avLst/>
          </a:prstGeom>
          <a:solidFill>
            <a:srgbClr val="EEF8FF"/>
          </a:solidFill>
          <a:ln w="12700">
            <a:solidFill>
              <a:srgbClr val="EEF8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797296" y="4919472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6729984" y="49194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推奨動作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18/30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AIアーキテクチャ全体像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164515" y="1599468"/>
            <a:ext cx="109728" cy="26956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34671" y="1599468"/>
            <a:ext cx="109728" cy="26956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4826" y="1599468"/>
            <a:ext cx="109728" cy="26956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74982" y="1599468"/>
            <a:ext cx="109728" cy="26956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45137" y="1599468"/>
            <a:ext cx="109728" cy="26956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15293" y="1599468"/>
            <a:ext cx="109728" cy="26956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133856"/>
            <a:ext cx="1405563" cy="1225296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組成特徴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z_comp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ilr / clr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777240" y="1179576"/>
            <a:ext cx="13141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組成特徴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z_comp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2301675" y="1133856"/>
            <a:ext cx="1405563" cy="1225296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ガス潜在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z_gas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transport curves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2347395" y="1179576"/>
            <a:ext cx="13141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ガス潜在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z_gas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3871831" y="1133856"/>
            <a:ext cx="1405563" cy="1225296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運転条件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p,Tg,E/N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ω/N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3917551" y="1179576"/>
            <a:ext cx="13141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運転条件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5441986" y="1133856"/>
            <a:ext cx="1405563" cy="1225296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AI1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MLP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係数推定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5487706" y="1179576"/>
            <a:ext cx="13141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AI1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7012142" y="1133856"/>
            <a:ext cx="1405563" cy="1225296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係数マップ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μ,D,k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spatial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7057862" y="1179576"/>
            <a:ext cx="13141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係数マップ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8582297" y="1133856"/>
            <a:ext cx="1405563" cy="1225296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AI2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conditional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U-Net</a:t>
            </a:r>
            <a:endParaRPr lang="en-US" sz="1180" dirty="0"/>
          </a:p>
        </p:txBody>
      </p:sp>
      <p:sp>
        <p:nvSpPr>
          <p:cNvPr id="22" name="Text 20"/>
          <p:cNvSpPr/>
          <p:nvPr/>
        </p:nvSpPr>
        <p:spPr>
          <a:xfrm>
            <a:off x="8628017" y="1179576"/>
            <a:ext cx="13141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AI2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10152453" y="1133856"/>
            <a:ext cx="1405563" cy="1225296"/>
          </a:xfrm>
          <a:prstGeom prst="roundRect">
            <a:avLst/>
          </a:prstGeom>
          <a:solidFill>
            <a:srgbClr val="F1EEFF"/>
          </a:solidFill>
          <a:ln>
            <a:solidFill>
              <a:srgbClr val="7A6FF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 + 信頼度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n_e,n_i,φ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Score_conf</a:t>
            </a:r>
            <a:endParaRPr lang="en-US" sz="1180" dirty="0"/>
          </a:p>
        </p:txBody>
      </p:sp>
      <p:sp>
        <p:nvSpPr>
          <p:cNvPr id="24" name="Text 22"/>
          <p:cNvSpPr/>
          <p:nvPr/>
        </p:nvSpPr>
        <p:spPr>
          <a:xfrm>
            <a:off x="10198173" y="1179576"/>
            <a:ext cx="13141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 + 信頼度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822960" y="2907792"/>
            <a:ext cx="132588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96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AI1の役割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2960" y="3145536"/>
            <a:ext cx="3127248" cy="1554480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1696E7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ガス変更の影響を係数空間で吸収。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表データに対する近似器として安定。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後段へ物理量を明示的に渡せる。</a:t>
            </a:r>
            <a:endParaRPr lang="en-US" sz="1480" dirty="0"/>
          </a:p>
        </p:txBody>
      </p:sp>
      <p:sp>
        <p:nvSpPr>
          <p:cNvPr id="27" name="Text 25"/>
          <p:cNvSpPr/>
          <p:nvPr/>
        </p:nvSpPr>
        <p:spPr>
          <a:xfrm>
            <a:off x="896112" y="4736592"/>
            <a:ext cx="2999232" cy="1170432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D7DEE5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1261872" y="4992624"/>
            <a:ext cx="5943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61872" y="4992624"/>
            <a:ext cx="594360" cy="13167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61872" y="4992624"/>
            <a:ext cx="594360" cy="263347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61872" y="4992624"/>
            <a:ext cx="594360" cy="395021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61872" y="4992624"/>
            <a:ext cx="594360" cy="52669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61872" y="4992624"/>
            <a:ext cx="594360" cy="658368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261872" y="5212080"/>
            <a:ext cx="594360" cy="-219456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61872" y="5212080"/>
            <a:ext cx="594360" cy="-8778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61872" y="5212080"/>
            <a:ext cx="594360" cy="43891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261872" y="5212080"/>
            <a:ext cx="594360" cy="175565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261872" y="5212080"/>
            <a:ext cx="594360" cy="307238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261872" y="5212080"/>
            <a:ext cx="594360" cy="43891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261872" y="5431536"/>
            <a:ext cx="594360" cy="-43891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261872" y="5431536"/>
            <a:ext cx="594360" cy="-307238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261872" y="5431536"/>
            <a:ext cx="594360" cy="-175565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261872" y="5431536"/>
            <a:ext cx="594360" cy="-43891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261872" y="5431536"/>
            <a:ext cx="594360" cy="8778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261872" y="5431536"/>
            <a:ext cx="594360" cy="219456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261872" y="5650992"/>
            <a:ext cx="594360" cy="-658368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261872" y="5650992"/>
            <a:ext cx="594360" cy="-52669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261872" y="5650992"/>
            <a:ext cx="594360" cy="-395021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261872" y="5650992"/>
            <a:ext cx="594360" cy="-263347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261872" y="5650992"/>
            <a:ext cx="594360" cy="-13167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261872" y="5650992"/>
            <a:ext cx="5943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856232" y="4992624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56232" y="4992624"/>
            <a:ext cx="640080" cy="13167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856232" y="4992624"/>
            <a:ext cx="640080" cy="263347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856232" y="4992624"/>
            <a:ext cx="640080" cy="395021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856232" y="4992624"/>
            <a:ext cx="640080" cy="52669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856232" y="4992624"/>
            <a:ext cx="640080" cy="658368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856232" y="5124298"/>
            <a:ext cx="640080" cy="-13167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856232" y="5124298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856232" y="5124298"/>
            <a:ext cx="640080" cy="13167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856232" y="5124298"/>
            <a:ext cx="640080" cy="263347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856232" y="5124298"/>
            <a:ext cx="640080" cy="395021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856232" y="5124298"/>
            <a:ext cx="640080" cy="52669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856232" y="5255971"/>
            <a:ext cx="640080" cy="-263347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856232" y="5255971"/>
            <a:ext cx="640080" cy="-13167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856232" y="5255971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856232" y="5255971"/>
            <a:ext cx="640080" cy="13167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856232" y="5255971"/>
            <a:ext cx="640080" cy="263347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856232" y="5255971"/>
            <a:ext cx="640080" cy="395021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856232" y="5387645"/>
            <a:ext cx="640080" cy="-395021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856232" y="5387645"/>
            <a:ext cx="640080" cy="-263347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856232" y="5387645"/>
            <a:ext cx="640080" cy="-13167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856232" y="5387645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856232" y="5387645"/>
            <a:ext cx="640080" cy="13167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856232" y="5387645"/>
            <a:ext cx="640080" cy="263347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856232" y="5519318"/>
            <a:ext cx="640080" cy="-52669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856232" y="5519318"/>
            <a:ext cx="640080" cy="-395021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856232" y="5519318"/>
            <a:ext cx="640080" cy="-263347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856232" y="5519318"/>
            <a:ext cx="640080" cy="-13167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856232" y="5519318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856232" y="5519318"/>
            <a:ext cx="640080" cy="13167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856232" y="5650992"/>
            <a:ext cx="640080" cy="-658368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856232" y="5650992"/>
            <a:ext cx="640080" cy="-52669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856232" y="5650992"/>
            <a:ext cx="640080" cy="-395021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856232" y="5650992"/>
            <a:ext cx="640080" cy="-263347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856232" y="5650992"/>
            <a:ext cx="640080" cy="-13167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856232" y="5650992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496312" y="4992624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496312" y="4992624"/>
            <a:ext cx="640080" cy="16459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496312" y="4992624"/>
            <a:ext cx="640080" cy="32918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496312" y="4992624"/>
            <a:ext cx="640080" cy="493776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496312" y="4992624"/>
            <a:ext cx="640080" cy="658368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496312" y="5124298"/>
            <a:ext cx="640080" cy="-13167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496312" y="5124298"/>
            <a:ext cx="640080" cy="32918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496312" y="5124298"/>
            <a:ext cx="640080" cy="19751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496312" y="5124298"/>
            <a:ext cx="640080" cy="36210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496312" y="5124298"/>
            <a:ext cx="640080" cy="52669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496312" y="5255971"/>
            <a:ext cx="640080" cy="-263347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496312" y="5255971"/>
            <a:ext cx="640080" cy="-98755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496312" y="5255971"/>
            <a:ext cx="640080" cy="65837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496312" y="5255971"/>
            <a:ext cx="640080" cy="230429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496312" y="5255971"/>
            <a:ext cx="640080" cy="395021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496312" y="5387645"/>
            <a:ext cx="640080" cy="-395021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496312" y="5387645"/>
            <a:ext cx="640080" cy="-230429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2496312" y="5387645"/>
            <a:ext cx="640080" cy="-65837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2496312" y="5387645"/>
            <a:ext cx="640080" cy="98755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2496312" y="5387645"/>
            <a:ext cx="640080" cy="263347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496312" y="5519318"/>
            <a:ext cx="640080" cy="-52669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496312" y="5519318"/>
            <a:ext cx="640080" cy="-36210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496312" y="5519318"/>
            <a:ext cx="640080" cy="-19751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496312" y="5519318"/>
            <a:ext cx="640080" cy="-32918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2496312" y="5519318"/>
            <a:ext cx="640080" cy="13167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2496312" y="5650992"/>
            <a:ext cx="640080" cy="-658368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496312" y="5650992"/>
            <a:ext cx="640080" cy="-493776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496312" y="5650992"/>
            <a:ext cx="640080" cy="-32918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2496312" y="5650992"/>
            <a:ext cx="640080" cy="-16459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496312" y="5650992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136392" y="4992624"/>
            <a:ext cx="5943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136392" y="4992624"/>
            <a:ext cx="594360" cy="219456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136392" y="4992624"/>
            <a:ext cx="594360" cy="43891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136392" y="4992624"/>
            <a:ext cx="594360" cy="658368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3136392" y="5157216"/>
            <a:ext cx="594360" cy="-16459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3136392" y="5157216"/>
            <a:ext cx="594360" cy="5486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3136392" y="5157216"/>
            <a:ext cx="594360" cy="27432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3136392" y="5157216"/>
            <a:ext cx="594360" cy="493776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3136392" y="5321808"/>
            <a:ext cx="594360" cy="-32918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3136392" y="5321808"/>
            <a:ext cx="594360" cy="-109728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3136392" y="5321808"/>
            <a:ext cx="594360" cy="109728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3136392" y="5321808"/>
            <a:ext cx="594360" cy="32918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3136392" y="5486400"/>
            <a:ext cx="594360" cy="-493776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3136392" y="5486400"/>
            <a:ext cx="594360" cy="-27432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3136392" y="5486400"/>
            <a:ext cx="594360" cy="-5486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3136392" y="5486400"/>
            <a:ext cx="594360" cy="16459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3136392" y="5650992"/>
            <a:ext cx="594360" cy="-658368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3136392" y="5650992"/>
            <a:ext cx="594360" cy="-43891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3136392" y="5650992"/>
            <a:ext cx="594360" cy="-219456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3136392" y="5650992"/>
            <a:ext cx="5943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207008" y="4937760"/>
            <a:ext cx="109728" cy="109728"/>
          </a:xfrm>
          <a:prstGeom prst="ellipse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207008" y="5157216"/>
            <a:ext cx="109728" cy="109728"/>
          </a:xfrm>
          <a:prstGeom prst="ellipse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207008" y="5376672"/>
            <a:ext cx="109728" cy="109728"/>
          </a:xfrm>
          <a:prstGeom prst="ellipse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207008" y="5596128"/>
            <a:ext cx="109728" cy="109728"/>
          </a:xfrm>
          <a:prstGeom prst="ellipse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801368" y="4937760"/>
            <a:ext cx="109728" cy="109728"/>
          </a:xfrm>
          <a:prstGeom prst="ellipse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801368" y="5069434"/>
            <a:ext cx="109728" cy="109728"/>
          </a:xfrm>
          <a:prstGeom prst="ellipse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801368" y="5201107"/>
            <a:ext cx="109728" cy="109728"/>
          </a:xfrm>
          <a:prstGeom prst="ellipse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801368" y="5332781"/>
            <a:ext cx="109728" cy="109728"/>
          </a:xfrm>
          <a:prstGeom prst="ellipse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1801368" y="5464454"/>
            <a:ext cx="109728" cy="109728"/>
          </a:xfrm>
          <a:prstGeom prst="ellipse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801368" y="5596128"/>
            <a:ext cx="109728" cy="109728"/>
          </a:xfrm>
          <a:prstGeom prst="ellipse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2441448" y="4937760"/>
            <a:ext cx="109728" cy="109728"/>
          </a:xfrm>
          <a:prstGeom prst="ellipse">
            <a:avLst/>
          </a:prstGeom>
          <a:solidFill>
            <a:srgbClr val="77CC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2441448" y="5069434"/>
            <a:ext cx="109728" cy="109728"/>
          </a:xfrm>
          <a:prstGeom prst="ellipse">
            <a:avLst/>
          </a:prstGeom>
          <a:solidFill>
            <a:srgbClr val="77CC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2441448" y="5201107"/>
            <a:ext cx="109728" cy="109728"/>
          </a:xfrm>
          <a:prstGeom prst="ellipse">
            <a:avLst/>
          </a:prstGeom>
          <a:solidFill>
            <a:srgbClr val="77CC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2441448" y="5332781"/>
            <a:ext cx="109728" cy="109728"/>
          </a:xfrm>
          <a:prstGeom prst="ellipse">
            <a:avLst/>
          </a:prstGeom>
          <a:solidFill>
            <a:srgbClr val="77CC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2441448" y="5464454"/>
            <a:ext cx="109728" cy="109728"/>
          </a:xfrm>
          <a:prstGeom prst="ellipse">
            <a:avLst/>
          </a:prstGeom>
          <a:solidFill>
            <a:srgbClr val="77CC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2441448" y="5596128"/>
            <a:ext cx="109728" cy="109728"/>
          </a:xfrm>
          <a:prstGeom prst="ellipse">
            <a:avLst/>
          </a:prstGeom>
          <a:solidFill>
            <a:srgbClr val="77CC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3081528" y="4937760"/>
            <a:ext cx="109728" cy="109728"/>
          </a:xfrm>
          <a:prstGeom prst="ellipse">
            <a:avLst/>
          </a:prstGeom>
          <a:solidFill>
            <a:srgbClr val="EAF7EF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3081528" y="5102352"/>
            <a:ext cx="109728" cy="109728"/>
          </a:xfrm>
          <a:prstGeom prst="ellipse">
            <a:avLst/>
          </a:prstGeom>
          <a:solidFill>
            <a:srgbClr val="EAF7EF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3081528" y="5266944"/>
            <a:ext cx="109728" cy="109728"/>
          </a:xfrm>
          <a:prstGeom prst="ellipse">
            <a:avLst/>
          </a:prstGeom>
          <a:solidFill>
            <a:srgbClr val="EAF7EF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3081528" y="5431536"/>
            <a:ext cx="109728" cy="109728"/>
          </a:xfrm>
          <a:prstGeom prst="ellipse">
            <a:avLst/>
          </a:prstGeom>
          <a:solidFill>
            <a:srgbClr val="EAF7EF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3081528" y="5596128"/>
            <a:ext cx="109728" cy="109728"/>
          </a:xfrm>
          <a:prstGeom prst="ellipse">
            <a:avLst/>
          </a:prstGeom>
          <a:solidFill>
            <a:srgbClr val="EAF7EF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3675888" y="4937760"/>
            <a:ext cx="109728" cy="109728"/>
          </a:xfrm>
          <a:prstGeom prst="ellipse">
            <a:avLst/>
          </a:prstGeom>
          <a:solidFill>
            <a:srgbClr val="FFF1E4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3675888" y="5157216"/>
            <a:ext cx="109728" cy="109728"/>
          </a:xfrm>
          <a:prstGeom prst="ellipse">
            <a:avLst/>
          </a:prstGeom>
          <a:solidFill>
            <a:srgbClr val="FFF1E4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3675888" y="5376672"/>
            <a:ext cx="109728" cy="109728"/>
          </a:xfrm>
          <a:prstGeom prst="ellipse">
            <a:avLst/>
          </a:prstGeom>
          <a:solidFill>
            <a:srgbClr val="FFF1E4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3675888" y="5596128"/>
            <a:ext cx="109728" cy="109728"/>
          </a:xfrm>
          <a:prstGeom prst="ellipse">
            <a:avLst/>
          </a:prstGeom>
          <a:solidFill>
            <a:srgbClr val="FFF1E4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1042416" y="570585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</a:t>
            </a:r>
            <a:endParaRPr lang="en-US" sz="1050" dirty="0"/>
          </a:p>
        </p:txBody>
      </p:sp>
      <p:sp>
        <p:nvSpPr>
          <p:cNvPr id="164" name="Text 162"/>
          <p:cNvSpPr/>
          <p:nvPr/>
        </p:nvSpPr>
        <p:spPr>
          <a:xfrm>
            <a:off x="3200400" y="5705856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係数出力</a:t>
            </a:r>
            <a:endParaRPr lang="en-US" sz="1050" dirty="0"/>
          </a:p>
        </p:txBody>
      </p:sp>
      <p:sp>
        <p:nvSpPr>
          <p:cNvPr id="165" name="Text 163"/>
          <p:cNvSpPr/>
          <p:nvPr/>
        </p:nvSpPr>
        <p:spPr>
          <a:xfrm>
            <a:off x="4535424" y="2907792"/>
            <a:ext cx="1325880" cy="20116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A8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AI2の役割</a:t>
            </a:r>
            <a:endParaRPr lang="en-US" sz="1050" dirty="0"/>
          </a:p>
        </p:txBody>
      </p:sp>
      <p:sp>
        <p:nvSpPr>
          <p:cNvPr id="166" name="Text 164"/>
          <p:cNvSpPr/>
          <p:nvPr/>
        </p:nvSpPr>
        <p:spPr>
          <a:xfrm>
            <a:off x="4535424" y="3145536"/>
            <a:ext cx="3145536" cy="1554480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2FA866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geometry / boundary / coefficient map を統合。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密度・電位・ソース分布を再構成。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物理 Loss で場の整合を補強。</a:t>
            </a:r>
            <a:endParaRPr lang="en-US" sz="1480" dirty="0"/>
          </a:p>
        </p:txBody>
      </p:sp>
      <p:sp>
        <p:nvSpPr>
          <p:cNvPr id="167" name="Text 165"/>
          <p:cNvSpPr/>
          <p:nvPr/>
        </p:nvSpPr>
        <p:spPr>
          <a:xfrm>
            <a:off x="4480560" y="4608576"/>
            <a:ext cx="3310128" cy="1298448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D7DEE5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8" name="Shape 166"/>
          <p:cNvSpPr/>
          <p:nvPr/>
        </p:nvSpPr>
        <p:spPr>
          <a:xfrm>
            <a:off x="5065776" y="5257800"/>
            <a:ext cx="3456432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586984" y="5257800"/>
            <a:ext cx="2423160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108192" y="5257800"/>
            <a:ext cx="1389888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4919472" y="4823460"/>
            <a:ext cx="182880" cy="868680"/>
          </a:xfrm>
          <a:prstGeom prst="rect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5440680" y="4910328"/>
            <a:ext cx="182880" cy="694944"/>
          </a:xfrm>
          <a:prstGeom prst="rect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5961888" y="5001768"/>
            <a:ext cx="182880" cy="512064"/>
          </a:xfrm>
          <a:prstGeom prst="rect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492240" y="5093208"/>
            <a:ext cx="182880" cy="329184"/>
          </a:xfrm>
          <a:prstGeom prst="rect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739128" y="5093208"/>
            <a:ext cx="201168" cy="329184"/>
          </a:xfrm>
          <a:prstGeom prst="rect">
            <a:avLst/>
          </a:prstGeom>
          <a:solidFill>
            <a:srgbClr val="FFF1E4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986016" y="5093208"/>
            <a:ext cx="182880" cy="329184"/>
          </a:xfrm>
          <a:prstGeom prst="rect">
            <a:avLst/>
          </a:prstGeom>
          <a:solidFill>
            <a:srgbClr val="EAF7EF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7498080" y="5001768"/>
            <a:ext cx="182880" cy="512064"/>
          </a:xfrm>
          <a:prstGeom prst="rect">
            <a:avLst/>
          </a:prstGeom>
          <a:solidFill>
            <a:srgbClr val="EAF7EF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8010144" y="4910328"/>
            <a:ext cx="182880" cy="694944"/>
          </a:xfrm>
          <a:prstGeom prst="rect">
            <a:avLst/>
          </a:prstGeom>
          <a:solidFill>
            <a:srgbClr val="EAF7EF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8522208" y="4823460"/>
            <a:ext cx="182880" cy="868680"/>
          </a:xfrm>
          <a:prstGeom prst="rect">
            <a:avLst/>
          </a:prstGeom>
          <a:solidFill>
            <a:srgbClr val="EAF7EF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5029200" y="466344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encoder</a:t>
            </a:r>
            <a:endParaRPr lang="en-US" sz="1020" dirty="0"/>
          </a:p>
        </p:txBody>
      </p:sp>
      <p:sp>
        <p:nvSpPr>
          <p:cNvPr id="181" name="Text 179"/>
          <p:cNvSpPr/>
          <p:nvPr/>
        </p:nvSpPr>
        <p:spPr>
          <a:xfrm>
            <a:off x="6528816" y="4663440"/>
            <a:ext cx="658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bottleneck</a:t>
            </a:r>
            <a:endParaRPr lang="en-US" sz="1020" dirty="0"/>
          </a:p>
        </p:txBody>
      </p:sp>
      <p:sp>
        <p:nvSpPr>
          <p:cNvPr id="182" name="Text 180"/>
          <p:cNvSpPr/>
          <p:nvPr/>
        </p:nvSpPr>
        <p:spPr>
          <a:xfrm>
            <a:off x="7552944" y="466344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decoder</a:t>
            </a:r>
            <a:endParaRPr lang="en-US" sz="1020" dirty="0"/>
          </a:p>
        </p:txBody>
      </p:sp>
      <p:sp>
        <p:nvSpPr>
          <p:cNvPr id="183" name="Text 181"/>
          <p:cNvSpPr/>
          <p:nvPr/>
        </p:nvSpPr>
        <p:spPr>
          <a:xfrm>
            <a:off x="5212080" y="5742432"/>
            <a:ext cx="18470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geometry + boundary + coefficient maps</a:t>
            </a:r>
            <a:endParaRPr lang="en-US" sz="1020" dirty="0"/>
          </a:p>
        </p:txBody>
      </p:sp>
      <p:sp>
        <p:nvSpPr>
          <p:cNvPr id="184" name="Text 182"/>
          <p:cNvSpPr/>
          <p:nvPr/>
        </p:nvSpPr>
        <p:spPr>
          <a:xfrm>
            <a:off x="8247888" y="2907792"/>
            <a:ext cx="1325880" cy="201168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9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分離の意義</a:t>
            </a:r>
            <a:endParaRPr lang="en-US" sz="1050" dirty="0"/>
          </a:p>
        </p:txBody>
      </p:sp>
      <p:sp>
        <p:nvSpPr>
          <p:cNvPr id="185" name="Text 183"/>
          <p:cNvSpPr/>
          <p:nvPr/>
        </p:nvSpPr>
        <p:spPr>
          <a:xfrm>
            <a:off x="8247888" y="3145536"/>
            <a:ext cx="2999232" cy="1554480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F2994A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更新対象の局所化。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誤差原因の切り分け。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特許上も構成要件が明確。</a:t>
            </a:r>
            <a:endParaRPr lang="en-US" sz="1480" dirty="0"/>
          </a:p>
        </p:txBody>
      </p:sp>
      <p:sp>
        <p:nvSpPr>
          <p:cNvPr id="186" name="Shape 184"/>
          <p:cNvSpPr/>
          <p:nvPr/>
        </p:nvSpPr>
        <p:spPr>
          <a:xfrm>
            <a:off x="9180576" y="5236586"/>
            <a:ext cx="146304" cy="173004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10186416" y="5236586"/>
            <a:ext cx="146304" cy="173004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8394192" y="4937760"/>
            <a:ext cx="713232" cy="786384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前段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</a:t>
            </a:r>
            <a:endParaRPr lang="en-US" sz="1180" dirty="0"/>
          </a:p>
        </p:txBody>
      </p:sp>
      <p:sp>
        <p:nvSpPr>
          <p:cNvPr id="189" name="Text 187"/>
          <p:cNvSpPr/>
          <p:nvPr/>
        </p:nvSpPr>
        <p:spPr>
          <a:xfrm>
            <a:off x="8439912" y="498348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前段</a:t>
            </a:r>
            <a:endParaRPr lang="en-US" sz="1320" dirty="0"/>
          </a:p>
        </p:txBody>
      </p:sp>
      <p:sp>
        <p:nvSpPr>
          <p:cNvPr id="190" name="Text 188"/>
          <p:cNvSpPr/>
          <p:nvPr/>
        </p:nvSpPr>
        <p:spPr>
          <a:xfrm>
            <a:off x="9400032" y="4937760"/>
            <a:ext cx="713232" cy="786384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後段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空間場</a:t>
            </a:r>
            <a:endParaRPr lang="en-US" sz="1180" dirty="0"/>
          </a:p>
        </p:txBody>
      </p:sp>
      <p:sp>
        <p:nvSpPr>
          <p:cNvPr id="191" name="Text 189"/>
          <p:cNvSpPr/>
          <p:nvPr/>
        </p:nvSpPr>
        <p:spPr>
          <a:xfrm>
            <a:off x="9445752" y="498348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後段</a:t>
            </a:r>
            <a:endParaRPr lang="en-US" sz="1320" dirty="0"/>
          </a:p>
        </p:txBody>
      </p:sp>
      <p:sp>
        <p:nvSpPr>
          <p:cNvPr id="192" name="Text 190"/>
          <p:cNvSpPr/>
          <p:nvPr/>
        </p:nvSpPr>
        <p:spPr>
          <a:xfrm>
            <a:off x="10405872" y="4937760"/>
            <a:ext cx="713232" cy="786384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信頼度</a:t>
            </a:r>
            <a:endParaRPr lang="en-US" sz="1180" dirty="0"/>
          </a:p>
        </p:txBody>
      </p:sp>
      <p:sp>
        <p:nvSpPr>
          <p:cNvPr id="193" name="Text 191"/>
          <p:cNvSpPr/>
          <p:nvPr/>
        </p:nvSpPr>
        <p:spPr>
          <a:xfrm>
            <a:off x="10451592" y="498348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</a:t>
            </a:r>
            <a:endParaRPr lang="en-US" sz="1320" dirty="0"/>
          </a:p>
        </p:txBody>
      </p:sp>
      <p:sp>
        <p:nvSpPr>
          <p:cNvPr id="194" name="Shape 19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19/30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第1AI: MLP係数サロゲート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1152144"/>
          <a:ext cx="4517136" cy="2249424"/>
        </p:xfrm>
        <a:graphic>
          <a:graphicData uri="http://schemas.openxmlformats.org/drawingml/2006/table">
            <a:tbl>
              <a:tblPr/>
              <a:tblGrid>
                <a:gridCol w="1060704"/>
                <a:gridCol w="3456432"/>
              </a:tblGrid>
              <a:tr h="4498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区分</a:t>
                      </a:r>
                      <a:endParaRPr lang="en-US" sz="118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内容</a:t>
                      </a:r>
                      <a:endParaRPr lang="en-US" sz="118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8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入力</a:t>
                      </a:r>
                      <a:endParaRPr lang="en-US" sz="118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z_comp, z_gas, p, Tg, E/N, solver flag</a:t>
                      </a:r>
                      <a:endParaRPr lang="en-US" sz="118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8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出力</a:t>
                      </a:r>
                      <a:endParaRPr lang="en-US" sz="118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μN, DLN, DTN, k_ion, k_att, grouped rates, ε̄</a:t>
                      </a:r>
                      <a:endParaRPr lang="en-US" sz="118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8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役割</a:t>
                      </a:r>
                      <a:endParaRPr lang="en-US" sz="118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係数表の即時近似 / 補正</a:t>
                      </a:r>
                      <a:endParaRPr lang="en-US" sz="118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8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発明の芯</a:t>
                      </a:r>
                      <a:endParaRPr lang="en-US" sz="118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ガスラベルでなく物理潜在表現を使う</a:t>
                      </a:r>
                      <a:endParaRPr lang="en-US" sz="118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49808" y="1152144"/>
            <a:ext cx="4517136" cy="256032"/>
          </a:xfrm>
          <a:prstGeom prst="rect">
            <a:avLst/>
          </a:prstGeom>
          <a:solidFill>
            <a:srgbClr val="EEF8FF"/>
          </a:solidFill>
          <a:ln w="12700">
            <a:solidFill>
              <a:srgbClr val="EEF8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6384" y="1188720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区分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847088" y="118872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内容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8096" y="3511296"/>
            <a:ext cx="132588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96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実装候補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68096" y="3749040"/>
            <a:ext cx="4480560" cy="1042416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1696E7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残差 MLP や Mixture-of-Experts を候補とし、出力は log-space を基本とする。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variance head や deep ensemble を付加すると、信頼度計算へ接続しやすい。</a:t>
            </a:r>
            <a:endParaRPr lang="en-US" sz="1480" dirty="0"/>
          </a:p>
        </p:txBody>
      </p:sp>
      <p:sp>
        <p:nvSpPr>
          <p:cNvPr id="11" name="Text 8"/>
          <p:cNvSpPr/>
          <p:nvPr/>
        </p:nvSpPr>
        <p:spPr>
          <a:xfrm>
            <a:off x="5577840" y="1298448"/>
            <a:ext cx="3749040" cy="2029968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D7DEE5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5943600" y="1554480"/>
            <a:ext cx="5943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43600" y="1554480"/>
            <a:ext cx="594360" cy="303581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43600" y="1554480"/>
            <a:ext cx="594360" cy="60716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43600" y="1554480"/>
            <a:ext cx="594360" cy="91074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43600" y="1554480"/>
            <a:ext cx="594360" cy="1214323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0" y="1554480"/>
            <a:ext cx="594360" cy="151790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43600" y="2060448"/>
            <a:ext cx="594360" cy="-505968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43600" y="2060448"/>
            <a:ext cx="594360" cy="-202387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943600" y="2060448"/>
            <a:ext cx="594360" cy="10119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943600" y="2060448"/>
            <a:ext cx="594360" cy="40477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943600" y="2060448"/>
            <a:ext cx="594360" cy="708355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943600" y="2060448"/>
            <a:ext cx="594360" cy="1011936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943600" y="2566416"/>
            <a:ext cx="594360" cy="-1011936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943600" y="2566416"/>
            <a:ext cx="594360" cy="-708355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943600" y="2566416"/>
            <a:ext cx="594360" cy="-40477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943600" y="2566416"/>
            <a:ext cx="594360" cy="-10119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943600" y="2566416"/>
            <a:ext cx="594360" cy="202387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943600" y="2566416"/>
            <a:ext cx="594360" cy="505968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943600" y="3072384"/>
            <a:ext cx="594360" cy="-151790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943600" y="3072384"/>
            <a:ext cx="594360" cy="-1214323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943600" y="3072384"/>
            <a:ext cx="594360" cy="-91074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943600" y="3072384"/>
            <a:ext cx="594360" cy="-60716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943600" y="3072384"/>
            <a:ext cx="594360" cy="-303581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943600" y="3072384"/>
            <a:ext cx="5943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537960" y="1554480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537960" y="1554480"/>
            <a:ext cx="640080" cy="303581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537960" y="1554480"/>
            <a:ext cx="640080" cy="60716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537960" y="1554480"/>
            <a:ext cx="640080" cy="91074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537960" y="1554480"/>
            <a:ext cx="640080" cy="1214323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537960" y="1554480"/>
            <a:ext cx="640080" cy="151790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537960" y="1858061"/>
            <a:ext cx="640080" cy="-303581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537960" y="1858061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537960" y="1858061"/>
            <a:ext cx="640080" cy="303581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537960" y="1858061"/>
            <a:ext cx="640080" cy="60716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537960" y="1858061"/>
            <a:ext cx="640080" cy="91074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537960" y="1858061"/>
            <a:ext cx="640080" cy="1214323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537960" y="2161642"/>
            <a:ext cx="640080" cy="-60716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537960" y="2161642"/>
            <a:ext cx="640080" cy="-303581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537960" y="2161642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537960" y="2161642"/>
            <a:ext cx="640080" cy="303581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537960" y="2161642"/>
            <a:ext cx="640080" cy="60716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537960" y="2161642"/>
            <a:ext cx="640080" cy="91074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537960" y="2465222"/>
            <a:ext cx="640080" cy="-91074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6537960" y="2465222"/>
            <a:ext cx="640080" cy="-60716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6537960" y="2465222"/>
            <a:ext cx="640080" cy="-303581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6537960" y="2465222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6537960" y="2465222"/>
            <a:ext cx="640080" cy="303581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6537960" y="2465222"/>
            <a:ext cx="640080" cy="60716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6537960" y="2768803"/>
            <a:ext cx="640080" cy="-1214323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6537960" y="2768803"/>
            <a:ext cx="640080" cy="-91074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6537960" y="2768803"/>
            <a:ext cx="640080" cy="-60716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6537960" y="2768803"/>
            <a:ext cx="640080" cy="-303581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6537960" y="2768803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6537960" y="2768803"/>
            <a:ext cx="640080" cy="303581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6537960" y="3072384"/>
            <a:ext cx="640080" cy="-151790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6537960" y="3072384"/>
            <a:ext cx="640080" cy="-1214323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6537960" y="3072384"/>
            <a:ext cx="640080" cy="-91074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6537960" y="3072384"/>
            <a:ext cx="640080" cy="-60716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6537960" y="3072384"/>
            <a:ext cx="640080" cy="-303581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6537960" y="3072384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7178040" y="1554480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7178040" y="1554480"/>
            <a:ext cx="640080" cy="379476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7178040" y="1554480"/>
            <a:ext cx="640080" cy="75895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7178040" y="1554480"/>
            <a:ext cx="640080" cy="1138428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7178040" y="1554480"/>
            <a:ext cx="640080" cy="151790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7178040" y="1858061"/>
            <a:ext cx="640080" cy="-303581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7178040" y="1858061"/>
            <a:ext cx="640080" cy="75895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7178040" y="1858061"/>
            <a:ext cx="640080" cy="455371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7178040" y="1858061"/>
            <a:ext cx="640080" cy="834847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7178040" y="1858061"/>
            <a:ext cx="640080" cy="1214323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7178040" y="2161642"/>
            <a:ext cx="640080" cy="-60716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7178040" y="2161642"/>
            <a:ext cx="640080" cy="-227686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7178040" y="2161642"/>
            <a:ext cx="640080" cy="15179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7178040" y="2161642"/>
            <a:ext cx="640080" cy="531266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7178040" y="2161642"/>
            <a:ext cx="640080" cy="91074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7178040" y="2465222"/>
            <a:ext cx="640080" cy="-91074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7178040" y="2465222"/>
            <a:ext cx="640080" cy="-531266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7178040" y="2465222"/>
            <a:ext cx="640080" cy="-15179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7178040" y="2465222"/>
            <a:ext cx="640080" cy="227686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7178040" y="2465222"/>
            <a:ext cx="640080" cy="60716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7178040" y="2768803"/>
            <a:ext cx="640080" cy="-1214323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7178040" y="2768803"/>
            <a:ext cx="640080" cy="-834847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7178040" y="2768803"/>
            <a:ext cx="640080" cy="-455371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7178040" y="2768803"/>
            <a:ext cx="640080" cy="-75895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7178040" y="2768803"/>
            <a:ext cx="640080" cy="303581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7178040" y="3072384"/>
            <a:ext cx="640080" cy="-151790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7178040" y="3072384"/>
            <a:ext cx="640080" cy="-1138428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7178040" y="3072384"/>
            <a:ext cx="640080" cy="-75895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7178040" y="3072384"/>
            <a:ext cx="640080" cy="-379476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7178040" y="3072384"/>
            <a:ext cx="6400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7818120" y="1554480"/>
            <a:ext cx="5943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7818120" y="1554480"/>
            <a:ext cx="594360" cy="505968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7818120" y="1554480"/>
            <a:ext cx="594360" cy="1011936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7818120" y="1554480"/>
            <a:ext cx="594360" cy="151790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7818120" y="1933956"/>
            <a:ext cx="594360" cy="-379476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7818120" y="1933956"/>
            <a:ext cx="594360" cy="12649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7818120" y="1933956"/>
            <a:ext cx="594360" cy="63246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7818120" y="1933956"/>
            <a:ext cx="594360" cy="1138428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7818120" y="2313432"/>
            <a:ext cx="594360" cy="-75895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7818120" y="2313432"/>
            <a:ext cx="594360" cy="-25298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7818120" y="2313432"/>
            <a:ext cx="594360" cy="25298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7818120" y="2313432"/>
            <a:ext cx="594360" cy="75895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7818120" y="2692908"/>
            <a:ext cx="594360" cy="-1138428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7818120" y="2692908"/>
            <a:ext cx="594360" cy="-63246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7818120" y="2692908"/>
            <a:ext cx="594360" cy="-126492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7818120" y="2692908"/>
            <a:ext cx="594360" cy="379476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7818120" y="3072384"/>
            <a:ext cx="594360" cy="-1517904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7818120" y="3072384"/>
            <a:ext cx="594360" cy="-1011936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7818120" y="3072384"/>
            <a:ext cx="594360" cy="-505968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7818120" y="3072384"/>
            <a:ext cx="5943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5888736" y="1499616"/>
            <a:ext cx="109728" cy="109728"/>
          </a:xfrm>
          <a:prstGeom prst="ellipse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5888736" y="2005584"/>
            <a:ext cx="109728" cy="109728"/>
          </a:xfrm>
          <a:prstGeom prst="ellipse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5888736" y="2511552"/>
            <a:ext cx="109728" cy="109728"/>
          </a:xfrm>
          <a:prstGeom prst="ellipse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5888736" y="3017520"/>
            <a:ext cx="109728" cy="109728"/>
          </a:xfrm>
          <a:prstGeom prst="ellipse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6483096" y="1499616"/>
            <a:ext cx="109728" cy="109728"/>
          </a:xfrm>
          <a:prstGeom prst="ellipse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6483096" y="1803197"/>
            <a:ext cx="109728" cy="109728"/>
          </a:xfrm>
          <a:prstGeom prst="ellipse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6483096" y="2106778"/>
            <a:ext cx="109728" cy="109728"/>
          </a:xfrm>
          <a:prstGeom prst="ellipse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6483096" y="2410358"/>
            <a:ext cx="109728" cy="109728"/>
          </a:xfrm>
          <a:prstGeom prst="ellipse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6483096" y="2713939"/>
            <a:ext cx="109728" cy="109728"/>
          </a:xfrm>
          <a:prstGeom prst="ellipse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6483096" y="3017520"/>
            <a:ext cx="109728" cy="109728"/>
          </a:xfrm>
          <a:prstGeom prst="ellipse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7123176" y="1499616"/>
            <a:ext cx="109728" cy="109728"/>
          </a:xfrm>
          <a:prstGeom prst="ellipse">
            <a:avLst/>
          </a:prstGeom>
          <a:solidFill>
            <a:srgbClr val="77CC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7123176" y="1803197"/>
            <a:ext cx="109728" cy="109728"/>
          </a:xfrm>
          <a:prstGeom prst="ellipse">
            <a:avLst/>
          </a:prstGeom>
          <a:solidFill>
            <a:srgbClr val="77CC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7123176" y="2106778"/>
            <a:ext cx="109728" cy="109728"/>
          </a:xfrm>
          <a:prstGeom prst="ellipse">
            <a:avLst/>
          </a:prstGeom>
          <a:solidFill>
            <a:srgbClr val="77CC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7123176" y="2410358"/>
            <a:ext cx="109728" cy="109728"/>
          </a:xfrm>
          <a:prstGeom prst="ellipse">
            <a:avLst/>
          </a:prstGeom>
          <a:solidFill>
            <a:srgbClr val="77CC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7123176" y="2713939"/>
            <a:ext cx="109728" cy="109728"/>
          </a:xfrm>
          <a:prstGeom prst="ellipse">
            <a:avLst/>
          </a:prstGeom>
          <a:solidFill>
            <a:srgbClr val="77CC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7123176" y="3017520"/>
            <a:ext cx="109728" cy="109728"/>
          </a:xfrm>
          <a:prstGeom prst="ellipse">
            <a:avLst/>
          </a:prstGeom>
          <a:solidFill>
            <a:srgbClr val="77CC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7763256" y="1499616"/>
            <a:ext cx="109728" cy="109728"/>
          </a:xfrm>
          <a:prstGeom prst="ellipse">
            <a:avLst/>
          </a:prstGeom>
          <a:solidFill>
            <a:srgbClr val="EAF7EF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7763256" y="1879092"/>
            <a:ext cx="109728" cy="109728"/>
          </a:xfrm>
          <a:prstGeom prst="ellipse">
            <a:avLst/>
          </a:prstGeom>
          <a:solidFill>
            <a:srgbClr val="EAF7EF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7763256" y="2258568"/>
            <a:ext cx="109728" cy="109728"/>
          </a:xfrm>
          <a:prstGeom prst="ellipse">
            <a:avLst/>
          </a:prstGeom>
          <a:solidFill>
            <a:srgbClr val="EAF7EF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7763256" y="2638044"/>
            <a:ext cx="109728" cy="109728"/>
          </a:xfrm>
          <a:prstGeom prst="ellipse">
            <a:avLst/>
          </a:prstGeom>
          <a:solidFill>
            <a:srgbClr val="EAF7EF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7763256" y="3017520"/>
            <a:ext cx="109728" cy="109728"/>
          </a:xfrm>
          <a:prstGeom prst="ellipse">
            <a:avLst/>
          </a:prstGeom>
          <a:solidFill>
            <a:srgbClr val="EAF7EF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8357616" y="1499616"/>
            <a:ext cx="109728" cy="109728"/>
          </a:xfrm>
          <a:prstGeom prst="ellipse">
            <a:avLst/>
          </a:prstGeom>
          <a:solidFill>
            <a:srgbClr val="FFF1E4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8357616" y="2005584"/>
            <a:ext cx="109728" cy="109728"/>
          </a:xfrm>
          <a:prstGeom prst="ellipse">
            <a:avLst/>
          </a:prstGeom>
          <a:solidFill>
            <a:srgbClr val="FFF1E4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8357616" y="2511552"/>
            <a:ext cx="109728" cy="109728"/>
          </a:xfrm>
          <a:prstGeom prst="ellipse">
            <a:avLst/>
          </a:prstGeom>
          <a:solidFill>
            <a:srgbClr val="FFF1E4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8357616" y="3017520"/>
            <a:ext cx="109728" cy="109728"/>
          </a:xfrm>
          <a:prstGeom prst="ellipse">
            <a:avLst/>
          </a:prstGeom>
          <a:solidFill>
            <a:srgbClr val="FFF1E4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47" name="Text 144"/>
          <p:cNvSpPr/>
          <p:nvPr/>
        </p:nvSpPr>
        <p:spPr>
          <a:xfrm>
            <a:off x="5724144" y="312724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</a:t>
            </a:r>
            <a:endParaRPr lang="en-US" sz="1050" dirty="0"/>
          </a:p>
        </p:txBody>
      </p:sp>
      <p:sp>
        <p:nvSpPr>
          <p:cNvPr id="148" name="Text 145"/>
          <p:cNvSpPr/>
          <p:nvPr/>
        </p:nvSpPr>
        <p:spPr>
          <a:xfrm>
            <a:off x="8631936" y="3127248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係数出力</a:t>
            </a:r>
            <a:endParaRPr lang="en-US" sz="1050" dirty="0"/>
          </a:p>
        </p:txBody>
      </p:sp>
      <p:sp>
        <p:nvSpPr>
          <p:cNvPr id="149" name="Shape 146"/>
          <p:cNvSpPr/>
          <p:nvPr/>
        </p:nvSpPr>
        <p:spPr>
          <a:xfrm>
            <a:off x="5632704" y="3712464"/>
            <a:ext cx="2761488" cy="1755648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6016752" y="5084064"/>
            <a:ext cx="2231136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6016752" y="3950208"/>
            <a:ext cx="0" cy="1133856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6016752" y="5084064"/>
            <a:ext cx="2231136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6016752" y="4800600"/>
            <a:ext cx="2231136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6016752" y="4517136"/>
            <a:ext cx="2231136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6016752" y="4233672"/>
            <a:ext cx="2231136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6016752" y="3950208"/>
            <a:ext cx="2231136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6016752" y="4970678"/>
            <a:ext cx="446227" cy="-90708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6462979" y="4879970"/>
            <a:ext cx="446227" cy="-136063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6909206" y="4743907"/>
            <a:ext cx="446227" cy="-249448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7355434" y="4494459"/>
            <a:ext cx="446227" cy="-272125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7801661" y="4222333"/>
            <a:ext cx="446227" cy="-181417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5989320" y="4943246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6435547" y="4852538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6881774" y="4716475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7328002" y="4467027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7774229" y="4194901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8220456" y="4013484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68" name="Text 165"/>
          <p:cNvSpPr/>
          <p:nvPr/>
        </p:nvSpPr>
        <p:spPr>
          <a:xfrm>
            <a:off x="7287768" y="3986784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1696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teacher</a:t>
            </a:r>
            <a:endParaRPr lang="en-US" sz="1020" dirty="0"/>
          </a:p>
        </p:txBody>
      </p:sp>
      <p:sp>
        <p:nvSpPr>
          <p:cNvPr id="169" name="Shape 166"/>
          <p:cNvSpPr/>
          <p:nvPr/>
        </p:nvSpPr>
        <p:spPr>
          <a:xfrm>
            <a:off x="6016752" y="4959340"/>
            <a:ext cx="446227" cy="-68031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6462979" y="4891308"/>
            <a:ext cx="446227" cy="-158740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6909206" y="4732569"/>
            <a:ext cx="446227" cy="-226771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7355434" y="4505797"/>
            <a:ext cx="446227" cy="-272125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7801661" y="4233672"/>
            <a:ext cx="446227" cy="-170078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5989320" y="4931908"/>
            <a:ext cx="54864" cy="54864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6435547" y="4863876"/>
            <a:ext cx="54864" cy="54864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6881774" y="4705137"/>
            <a:ext cx="54864" cy="54864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7328002" y="4478365"/>
            <a:ext cx="54864" cy="54864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>
            <a:off x="7774229" y="4206240"/>
            <a:ext cx="54864" cy="54864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>
            <a:off x="8220456" y="4036162"/>
            <a:ext cx="54864" cy="54864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0" name="Text 177"/>
          <p:cNvSpPr/>
          <p:nvPr/>
        </p:nvSpPr>
        <p:spPr>
          <a:xfrm>
            <a:off x="7287768" y="4151376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F29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predict</a:t>
            </a:r>
            <a:endParaRPr lang="en-US" sz="1020" dirty="0"/>
          </a:p>
        </p:txBody>
      </p:sp>
      <p:sp>
        <p:nvSpPr>
          <p:cNvPr id="181" name="Text 178"/>
          <p:cNvSpPr/>
          <p:nvPr/>
        </p:nvSpPr>
        <p:spPr>
          <a:xfrm>
            <a:off x="6281928" y="5303520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E/N</a:t>
            </a:r>
            <a:endParaRPr lang="en-US" sz="980" dirty="0"/>
          </a:p>
        </p:txBody>
      </p:sp>
      <p:sp>
        <p:nvSpPr>
          <p:cNvPr id="182" name="Text 179"/>
          <p:cNvSpPr/>
          <p:nvPr/>
        </p:nvSpPr>
        <p:spPr>
          <a:xfrm rot="16200000">
            <a:off x="5650992" y="373075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μN</a:t>
            </a:r>
            <a:endParaRPr lang="en-US" sz="920" dirty="0"/>
          </a:p>
        </p:txBody>
      </p:sp>
      <p:sp>
        <p:nvSpPr>
          <p:cNvPr id="183" name="Text 180"/>
          <p:cNvSpPr/>
          <p:nvPr/>
        </p:nvSpPr>
        <p:spPr>
          <a:xfrm>
            <a:off x="5742432" y="3758184"/>
            <a:ext cx="2542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係数近似イメージ</a:t>
            </a:r>
            <a:endParaRPr lang="en-US" sz="1020" dirty="0"/>
          </a:p>
        </p:txBody>
      </p:sp>
      <p:sp>
        <p:nvSpPr>
          <p:cNvPr id="184" name="Text 181"/>
          <p:cNvSpPr/>
          <p:nvPr/>
        </p:nvSpPr>
        <p:spPr>
          <a:xfrm>
            <a:off x="8705088" y="3474720"/>
            <a:ext cx="1119226" cy="20116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A8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利点</a:t>
            </a:r>
            <a:endParaRPr lang="en-US" sz="1050" dirty="0"/>
          </a:p>
        </p:txBody>
      </p:sp>
      <p:sp>
        <p:nvSpPr>
          <p:cNvPr id="185" name="Text 182"/>
          <p:cNvSpPr/>
          <p:nvPr/>
        </p:nvSpPr>
        <p:spPr>
          <a:xfrm>
            <a:off x="8705088" y="3712464"/>
            <a:ext cx="2487168" cy="1755648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2FA866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新しい組成の評価時に、まず係数空間で差分を吸収できる。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後段 U-Net に入れる前の誤差を単独で評価しやすい。</a:t>
            </a:r>
            <a:endParaRPr lang="en-US" sz="1400" dirty="0"/>
          </a:p>
        </p:txBody>
      </p:sp>
      <p:sp>
        <p:nvSpPr>
          <p:cNvPr id="186" name="Shape 18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87" name="Text 184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20/30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第2AI: U-Net空間場サロゲート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</a:t>
            </a:r>
            <a:endParaRPr lang="en-US" sz="1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1152144"/>
          <a:ext cx="4681728" cy="2395728"/>
        </p:xfrm>
        <a:graphic>
          <a:graphicData uri="http://schemas.openxmlformats.org/drawingml/2006/table">
            <a:tbl>
              <a:tblPr/>
              <a:tblGrid>
                <a:gridCol w="1005840"/>
                <a:gridCol w="3675888"/>
              </a:tblGrid>
              <a:tr h="4791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6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区分</a:t>
                      </a:r>
                      <a:endParaRPr lang="en-US" sz="116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6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内容</a:t>
                      </a:r>
                      <a:endParaRPr lang="en-US" sz="116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91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6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入力</a:t>
                      </a:r>
                      <a:endParaRPr lang="en-US" sz="116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6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geometry mask, boundary mask, coefficient maps, global conditions</a:t>
                      </a:r>
                      <a:endParaRPr lang="en-US" sz="116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91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6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出力</a:t>
                      </a:r>
                      <a:endParaRPr lang="en-US" sz="116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6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log n_e, log n_i, φ, source map など</a:t>
                      </a:r>
                      <a:endParaRPr lang="en-US" sz="116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91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6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条件付け</a:t>
                      </a:r>
                      <a:endParaRPr lang="en-US" sz="116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6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broadcast channels / FiLM / AdaIN など</a:t>
                      </a:r>
                      <a:endParaRPr lang="en-US" sz="116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91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6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役割</a:t>
                      </a:r>
                      <a:endParaRPr lang="en-US" sz="116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6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係数差を空間場へ一貫伝播</a:t>
                      </a:r>
                      <a:endParaRPr lang="en-US" sz="116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49808" y="1152144"/>
            <a:ext cx="4681728" cy="256032"/>
          </a:xfrm>
          <a:prstGeom prst="rect">
            <a:avLst/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6384" y="1188720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区分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792224" y="1188720"/>
            <a:ext cx="3602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内容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8096" y="3584448"/>
            <a:ext cx="1325880" cy="20116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A8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設計ポイント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68096" y="3822192"/>
            <a:ext cx="4645152" cy="1188720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2FA866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geometry・boundary・distance field を併用し、装置形状と境界条件を分かりやすく渡す。</a:t>
            </a: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電場は独立に出さず、まず φ を出して ∇φ から導く設計が扱いやすい。</a:t>
            </a:r>
            <a:endParaRPr lang="en-US" sz="1460" dirty="0"/>
          </a:p>
        </p:txBody>
      </p:sp>
      <p:sp>
        <p:nvSpPr>
          <p:cNvPr id="11" name="Text 8"/>
          <p:cNvSpPr/>
          <p:nvPr/>
        </p:nvSpPr>
        <p:spPr>
          <a:xfrm>
            <a:off x="5760720" y="1261872"/>
            <a:ext cx="4992624" cy="2011680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D7DEE5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6345936" y="2267712"/>
            <a:ext cx="3456432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67144" y="2267712"/>
            <a:ext cx="2423160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88352" y="2267712"/>
            <a:ext cx="1389888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99632" y="1833372"/>
            <a:ext cx="182880" cy="868680"/>
          </a:xfrm>
          <a:prstGeom prst="rect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720840" y="1920240"/>
            <a:ext cx="182880" cy="694944"/>
          </a:xfrm>
          <a:prstGeom prst="rect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242048" y="2011680"/>
            <a:ext cx="182880" cy="512064"/>
          </a:xfrm>
          <a:prstGeom prst="rect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772400" y="2103120"/>
            <a:ext cx="182880" cy="329184"/>
          </a:xfrm>
          <a:prstGeom prst="rect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19288" y="2103120"/>
            <a:ext cx="201168" cy="329184"/>
          </a:xfrm>
          <a:prstGeom prst="rect">
            <a:avLst/>
          </a:prstGeom>
          <a:solidFill>
            <a:srgbClr val="FFF1E4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266176" y="2103120"/>
            <a:ext cx="182880" cy="329184"/>
          </a:xfrm>
          <a:prstGeom prst="rect">
            <a:avLst/>
          </a:prstGeom>
          <a:solidFill>
            <a:srgbClr val="EAF7EF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778240" y="2011680"/>
            <a:ext cx="182880" cy="512064"/>
          </a:xfrm>
          <a:prstGeom prst="rect">
            <a:avLst/>
          </a:prstGeom>
          <a:solidFill>
            <a:srgbClr val="EAF7EF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290304" y="1920240"/>
            <a:ext cx="182880" cy="694944"/>
          </a:xfrm>
          <a:prstGeom prst="rect">
            <a:avLst/>
          </a:prstGeom>
          <a:solidFill>
            <a:srgbClr val="EAF7EF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802368" y="1833372"/>
            <a:ext cx="182880" cy="868680"/>
          </a:xfrm>
          <a:prstGeom prst="rect">
            <a:avLst/>
          </a:prstGeom>
          <a:solidFill>
            <a:srgbClr val="EAF7EF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09360" y="1316736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encoder</a:t>
            </a:r>
            <a:endParaRPr lang="en-US" sz="1020" dirty="0"/>
          </a:p>
        </p:txBody>
      </p:sp>
      <p:sp>
        <p:nvSpPr>
          <p:cNvPr id="25" name="Text 22"/>
          <p:cNvSpPr/>
          <p:nvPr/>
        </p:nvSpPr>
        <p:spPr>
          <a:xfrm>
            <a:off x="7808976" y="1316736"/>
            <a:ext cx="658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bottleneck</a:t>
            </a:r>
            <a:endParaRPr lang="en-US" sz="1020" dirty="0"/>
          </a:p>
        </p:txBody>
      </p:sp>
      <p:sp>
        <p:nvSpPr>
          <p:cNvPr id="26" name="Text 23"/>
          <p:cNvSpPr/>
          <p:nvPr/>
        </p:nvSpPr>
        <p:spPr>
          <a:xfrm>
            <a:off x="8833104" y="1316736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decoder</a:t>
            </a:r>
            <a:endParaRPr lang="en-US" sz="1020" dirty="0"/>
          </a:p>
        </p:txBody>
      </p:sp>
      <p:sp>
        <p:nvSpPr>
          <p:cNvPr id="27" name="Text 24"/>
          <p:cNvSpPr/>
          <p:nvPr/>
        </p:nvSpPr>
        <p:spPr>
          <a:xfrm>
            <a:off x="6492240" y="3108960"/>
            <a:ext cx="35295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geometry + boundary + coefficient maps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5833872" y="3767328"/>
            <a:ext cx="2359152" cy="1609344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9BA7B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108192" y="3931920"/>
            <a:ext cx="685800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  <a:tailEnd type="triangle"/>
          </a:ln>
        </p:spPr>
      </p:sp>
      <p:sp>
        <p:nvSpPr>
          <p:cNvPr id="30" name="Text 27"/>
          <p:cNvSpPr/>
          <p:nvPr/>
        </p:nvSpPr>
        <p:spPr>
          <a:xfrm>
            <a:off x="5907024" y="3785616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ガス導入</a:t>
            </a:r>
            <a:endParaRPr lang="en-US" sz="980" dirty="0"/>
          </a:p>
        </p:txBody>
      </p:sp>
      <p:sp>
        <p:nvSpPr>
          <p:cNvPr id="31" name="Shape 28"/>
          <p:cNvSpPr/>
          <p:nvPr/>
        </p:nvSpPr>
        <p:spPr>
          <a:xfrm>
            <a:off x="6336792" y="4187952"/>
            <a:ext cx="1353312" cy="164592"/>
          </a:xfrm>
          <a:prstGeom prst="rect">
            <a:avLst/>
          </a:prstGeom>
          <a:solidFill>
            <a:srgbClr val="77CC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336792" y="4023360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上部電極</a:t>
            </a:r>
            <a:endParaRPr lang="en-US" sz="1040" dirty="0"/>
          </a:p>
        </p:txBody>
      </p:sp>
      <p:sp>
        <p:nvSpPr>
          <p:cNvPr id="33" name="Shape 30"/>
          <p:cNvSpPr/>
          <p:nvPr/>
        </p:nvSpPr>
        <p:spPr>
          <a:xfrm>
            <a:off x="6583680" y="4553712"/>
            <a:ext cx="859536" cy="-18288"/>
          </a:xfrm>
          <a:prstGeom prst="rect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620256" y="4846320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入力係数マップ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6428232" y="4736592"/>
            <a:ext cx="1170432" cy="182880"/>
          </a:xfrm>
          <a:prstGeom prst="rect">
            <a:avLst/>
          </a:prstGeom>
          <a:solidFill>
            <a:srgbClr val="D9E3EE"/>
          </a:solidFill>
          <a:ln w="12700">
            <a:solidFill>
              <a:srgbClr val="9BA7B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748272" y="4462272"/>
            <a:ext cx="530352" cy="164592"/>
          </a:xfrm>
          <a:prstGeom prst="rect">
            <a:avLst/>
          </a:prstGeom>
          <a:solidFill>
            <a:srgbClr val="FFE4C7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28232" y="4965192"/>
            <a:ext cx="1170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基板 / 下部電極</a:t>
            </a:r>
            <a:endParaRPr lang="en-US" sz="1040" dirty="0"/>
          </a:p>
        </p:txBody>
      </p:sp>
      <p:sp>
        <p:nvSpPr>
          <p:cNvPr id="38" name="Shape 35"/>
          <p:cNvSpPr/>
          <p:nvPr/>
        </p:nvSpPr>
        <p:spPr>
          <a:xfrm>
            <a:off x="6793992" y="4956048"/>
            <a:ext cx="0" cy="530352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6915912" y="4956048"/>
            <a:ext cx="0" cy="530352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  <a:tailEnd type="triangle"/>
          </a:ln>
        </p:spPr>
      </p:sp>
      <p:sp>
        <p:nvSpPr>
          <p:cNvPr id="40" name="Shape 37"/>
          <p:cNvSpPr/>
          <p:nvPr/>
        </p:nvSpPr>
        <p:spPr>
          <a:xfrm>
            <a:off x="7037832" y="4956048"/>
            <a:ext cx="0" cy="530352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7159752" y="4956048"/>
            <a:ext cx="0" cy="530352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  <a:tailEnd type="triangle"/>
          </a:ln>
        </p:spPr>
      </p:sp>
      <p:sp>
        <p:nvSpPr>
          <p:cNvPr id="42" name="Text 39"/>
          <p:cNvSpPr/>
          <p:nvPr/>
        </p:nvSpPr>
        <p:spPr>
          <a:xfrm>
            <a:off x="7370064" y="3822192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</a:t>
            </a:r>
            <a:endParaRPr lang="en-US" sz="980" dirty="0"/>
          </a:p>
        </p:txBody>
      </p:sp>
      <p:sp>
        <p:nvSpPr>
          <p:cNvPr id="43" name="Text 40"/>
          <p:cNvSpPr/>
          <p:nvPr/>
        </p:nvSpPr>
        <p:spPr>
          <a:xfrm>
            <a:off x="8503920" y="3767328"/>
            <a:ext cx="1481328" cy="1609344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F2994A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出力例</a:t>
            </a:r>
            <a:endParaRPr lang="en-US" sz="1380" dirty="0"/>
          </a:p>
          <a:p>
            <a:pPr algn="ctr" indent="0" marL="0">
              <a:buNone/>
            </a:pPr>
            <a:r>
              <a:rPr lang="en-US" sz="13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log n_e</a:t>
            </a:r>
            <a:endParaRPr lang="en-US" sz="1380" dirty="0"/>
          </a:p>
          <a:p>
            <a:pPr algn="ctr" indent="0" marL="0">
              <a:buNone/>
            </a:pPr>
            <a:r>
              <a:rPr lang="en-US" sz="13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log n_i</a:t>
            </a:r>
            <a:endParaRPr lang="en-US" sz="1380" dirty="0"/>
          </a:p>
          <a:p>
            <a:pPr algn="ctr" indent="0" marL="0">
              <a:buNone/>
            </a:pPr>
            <a:r>
              <a:rPr lang="en-US" sz="13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φ</a:t>
            </a:r>
            <a:endParaRPr lang="en-US" sz="1380" dirty="0"/>
          </a:p>
          <a:p>
            <a:pPr algn="ctr" indent="0" marL="0">
              <a:buNone/>
            </a:pPr>
            <a:r>
              <a:rPr lang="en-US" sz="13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S_ion</a:t>
            </a:r>
            <a:endParaRPr lang="en-US" sz="1380" dirty="0"/>
          </a:p>
        </p:txBody>
      </p:sp>
      <p:sp>
        <p:nvSpPr>
          <p:cNvPr id="44" name="Text 41"/>
          <p:cNvSpPr/>
          <p:nvPr/>
        </p:nvSpPr>
        <p:spPr>
          <a:xfrm>
            <a:off x="10113264" y="3767328"/>
            <a:ext cx="1097280" cy="1609344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7A6FF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物理一貫性</a:t>
            </a:r>
            <a:endParaRPr lang="en-US" sz="1280" dirty="0"/>
          </a:p>
          <a:p>
            <a:pPr algn="ctr" indent="0" marL="0">
              <a:buNone/>
            </a:pPr>
            <a:r>
              <a:rPr lang="en-US" sz="12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Poisson整合・非負性・積分量を Loss で補強</a:t>
            </a:r>
            <a:endParaRPr lang="en-US" sz="1280" dirty="0"/>
          </a:p>
        </p:txBody>
      </p:sp>
      <p:sp>
        <p:nvSpPr>
          <p:cNvPr id="45" name="Shape 42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21/30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Loss設計と学習手順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49808" y="950976"/>
            <a:ext cx="1168603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96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第1AI Loss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49808" y="1188720"/>
            <a:ext cx="2596896" cy="1700784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1696E7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log-space 誤差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相対誤差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曲線の一次・二次勾配整合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latent 再構成 / consistency</a:t>
            </a:r>
            <a:endParaRPr lang="en-US" sz="1420" dirty="0"/>
          </a:p>
        </p:txBody>
      </p:sp>
      <p:sp>
        <p:nvSpPr>
          <p:cNvPr id="7" name="Text 5"/>
          <p:cNvSpPr/>
          <p:nvPr/>
        </p:nvSpPr>
        <p:spPr>
          <a:xfrm>
            <a:off x="3639312" y="950976"/>
            <a:ext cx="1168603" cy="20116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A8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第2AI Loss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39312" y="1188720"/>
            <a:ext cx="2596896" cy="1700784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2FA866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field data loss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gradient loss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BC loss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PDE residual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integral / rollout loss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6528816" y="950976"/>
            <a:ext cx="1168603" cy="201168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9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Loss重み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28816" y="1188720"/>
            <a:ext cx="2596896" cy="1700784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F2994A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固定重みだけでなく self-adaptive balancing を検討。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物理残差とデータ誤差の釣り合いを取る。</a:t>
            </a:r>
            <a:endParaRPr lang="en-US" sz="1420" dirty="0"/>
          </a:p>
        </p:txBody>
      </p:sp>
      <p:sp>
        <p:nvSpPr>
          <p:cNvPr id="11" name="Text 9"/>
          <p:cNvSpPr/>
          <p:nvPr/>
        </p:nvSpPr>
        <p:spPr>
          <a:xfrm>
            <a:off x="9418320" y="1188720"/>
            <a:ext cx="1828800" cy="1700784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7A6FF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学習手順</a:t>
            </a:r>
            <a:endParaRPr lang="en-US" sz="1360" dirty="0"/>
          </a:p>
          <a:p>
            <a:pPr algn="ctr" indent="0" marL="0">
              <a:buNone/>
            </a:pPr>
            <a:r>
              <a:rPr lang="en-US" sz="13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潜在表現学習</a:t>
            </a:r>
            <a:endParaRPr lang="en-US" sz="1360" dirty="0"/>
          </a:p>
          <a:p>
            <a:pPr algn="ctr" indent="0" marL="0">
              <a:buNone/>
            </a:pPr>
            <a:r>
              <a:rPr lang="en-US" sz="13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 AI1学習</a:t>
            </a:r>
            <a:endParaRPr lang="en-US" sz="1360" dirty="0"/>
          </a:p>
          <a:p>
            <a:pPr algn="ctr" indent="0" marL="0">
              <a:buNone/>
            </a:pPr>
            <a:r>
              <a:rPr lang="en-US" sz="13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AI2学習</a:t>
            </a:r>
            <a:endParaRPr lang="en-US" sz="1360" dirty="0"/>
          </a:p>
          <a:p>
            <a:pPr algn="ctr" indent="0" marL="0">
              <a:buNone/>
            </a:pPr>
            <a:r>
              <a:rPr lang="en-US" sz="13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4. 信頼度校正</a:t>
            </a:r>
            <a:endParaRPr lang="en-US" sz="1360" dirty="0"/>
          </a:p>
          <a:p>
            <a:pPr algn="ctr" indent="0" marL="0">
              <a:buNone/>
            </a:pPr>
            <a:r>
              <a:rPr lang="en-US" sz="13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5. 追加計算条件の選定</a:t>
            </a:r>
            <a:endParaRPr lang="en-US" sz="1360" dirty="0"/>
          </a:p>
        </p:txBody>
      </p:sp>
      <p:sp>
        <p:nvSpPr>
          <p:cNvPr id="12" name="Shape 10"/>
          <p:cNvSpPr/>
          <p:nvPr/>
        </p:nvSpPr>
        <p:spPr>
          <a:xfrm>
            <a:off x="2874874" y="3966667"/>
            <a:ext cx="146304" cy="22128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71923" y="3966667"/>
            <a:ext cx="146304" cy="22128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68973" y="3966667"/>
            <a:ext cx="146304" cy="22128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66022" y="3966667"/>
            <a:ext cx="146304" cy="22128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992" y="3584448"/>
            <a:ext cx="1741018" cy="1005840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curve bank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encoder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1124712" y="3630168"/>
            <a:ext cx="16495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curve bank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3076042" y="3584448"/>
            <a:ext cx="1741018" cy="1005840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AI1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coefficient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3121762" y="3630168"/>
            <a:ext cx="16495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AI1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5073091" y="3584448"/>
            <a:ext cx="1741018" cy="1005840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AI2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field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5118811" y="3630168"/>
            <a:ext cx="16495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AI2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7070141" y="3584448"/>
            <a:ext cx="1741018" cy="1005840"/>
          </a:xfrm>
          <a:prstGeom prst="roundRect">
            <a:avLst/>
          </a:prstGeom>
          <a:solidFill>
            <a:srgbClr val="F1EEFF"/>
          </a:solidFill>
          <a:ln>
            <a:solidFill>
              <a:srgbClr val="7A6FF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calibration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confidence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7115861" y="3630168"/>
            <a:ext cx="16495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calibration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9067190" y="3584448"/>
            <a:ext cx="1741018" cy="1005840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active loop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new runs</a:t>
            </a:r>
            <a:endParaRPr lang="en-US" sz="1180" dirty="0"/>
          </a:p>
        </p:txBody>
      </p:sp>
      <p:sp>
        <p:nvSpPr>
          <p:cNvPr id="25" name="Text 23"/>
          <p:cNvSpPr/>
          <p:nvPr/>
        </p:nvSpPr>
        <p:spPr>
          <a:xfrm>
            <a:off x="9112910" y="3630168"/>
            <a:ext cx="16495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active loop</a:t>
            </a:r>
            <a:endParaRPr lang="en-US" sz="1320" dirty="0"/>
          </a:p>
        </p:txBody>
      </p:sp>
      <p:sp>
        <p:nvSpPr>
          <p:cNvPr id="26" name="Shape 24"/>
          <p:cNvSpPr/>
          <p:nvPr/>
        </p:nvSpPr>
        <p:spPr>
          <a:xfrm>
            <a:off x="1005840" y="4882896"/>
            <a:ext cx="3749040" cy="987552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89888" y="5486400"/>
            <a:ext cx="3200400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89888" y="5138928"/>
            <a:ext cx="0" cy="347472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89888" y="5486400"/>
            <a:ext cx="320040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89888" y="5399532"/>
            <a:ext cx="320040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89888" y="5312664"/>
            <a:ext cx="320040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389888" y="5225796"/>
            <a:ext cx="320040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89888" y="5138928"/>
            <a:ext cx="320040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634490" y="5215372"/>
            <a:ext cx="310896" cy="271028"/>
          </a:xfrm>
          <a:prstGeom prst="rect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524762" y="552297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Llog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2434590" y="5298765"/>
            <a:ext cx="310896" cy="187635"/>
          </a:xfrm>
          <a:prstGeom prst="rect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24862" y="552297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Lrel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3234690" y="5340462"/>
            <a:ext cx="310896" cy="145938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24962" y="552297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Lsmooth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4034790" y="5284866"/>
            <a:ext cx="310896" cy="201534"/>
          </a:xfrm>
          <a:prstGeom prst="rect">
            <a:avLst/>
          </a:prstGeom>
          <a:solidFill>
            <a:srgbClr val="7A6FF0"/>
          </a:solidFill>
          <a:ln w="12700">
            <a:solidFill>
              <a:srgbClr val="7A6F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25062" y="552297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LPDE</a:t>
            </a:r>
            <a:endParaRPr lang="en-US" sz="1020" dirty="0"/>
          </a:p>
        </p:txBody>
      </p:sp>
      <p:sp>
        <p:nvSpPr>
          <p:cNvPr id="42" name="Text 40"/>
          <p:cNvSpPr/>
          <p:nvPr/>
        </p:nvSpPr>
        <p:spPr>
          <a:xfrm>
            <a:off x="1115568" y="4928616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Loss群の概念構成</a:t>
            </a:r>
            <a:endParaRPr lang="en-US" sz="1020" dirty="0"/>
          </a:p>
        </p:txBody>
      </p:sp>
      <p:sp>
        <p:nvSpPr>
          <p:cNvPr id="43" name="Shape 41"/>
          <p:cNvSpPr/>
          <p:nvPr/>
        </p:nvSpPr>
        <p:spPr>
          <a:xfrm>
            <a:off x="5065776" y="4882896"/>
            <a:ext cx="3749040" cy="987552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449824" y="5486400"/>
            <a:ext cx="3218688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49824" y="5120640"/>
            <a:ext cx="0" cy="36576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49824" y="5486400"/>
            <a:ext cx="321868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49824" y="5394960"/>
            <a:ext cx="321868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449824" y="5303520"/>
            <a:ext cx="321868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449824" y="5212080"/>
            <a:ext cx="321868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49824" y="5120640"/>
            <a:ext cx="321868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449824" y="5164531"/>
            <a:ext cx="643738" cy="65837"/>
          </a:xfrm>
          <a:prstGeom prst="line">
            <a:avLst/>
          </a:prstGeom>
          <a:noFill/>
          <a:ln w="12700">
            <a:solidFill>
              <a:srgbClr val="D94B4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093562" y="5230368"/>
            <a:ext cx="643738" cy="43891"/>
          </a:xfrm>
          <a:prstGeom prst="line">
            <a:avLst/>
          </a:prstGeom>
          <a:noFill/>
          <a:ln w="12700">
            <a:solidFill>
              <a:srgbClr val="D94B4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37299" y="5274259"/>
            <a:ext cx="643738" cy="43891"/>
          </a:xfrm>
          <a:prstGeom prst="line">
            <a:avLst/>
          </a:prstGeom>
          <a:noFill/>
          <a:ln w="12700">
            <a:solidFill>
              <a:srgbClr val="D94B4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381037" y="5318150"/>
            <a:ext cx="643738" cy="29261"/>
          </a:xfrm>
          <a:prstGeom prst="line">
            <a:avLst/>
          </a:prstGeom>
          <a:noFill/>
          <a:ln w="12700">
            <a:solidFill>
              <a:srgbClr val="D94B4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024774" y="5347411"/>
            <a:ext cx="643738" cy="14630"/>
          </a:xfrm>
          <a:prstGeom prst="line">
            <a:avLst/>
          </a:prstGeom>
          <a:noFill/>
          <a:ln w="12700">
            <a:solidFill>
              <a:srgbClr val="D94B4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422392" y="5137099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066130" y="5202936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709867" y="5246827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353605" y="5290718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997342" y="5319979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641080" y="5334610"/>
            <a:ext cx="54864" cy="54864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708392" y="5157216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D94B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before</a:t>
            </a:r>
            <a:endParaRPr lang="en-US" sz="1020" dirty="0"/>
          </a:p>
        </p:txBody>
      </p:sp>
      <p:sp>
        <p:nvSpPr>
          <p:cNvPr id="63" name="Shape 61"/>
          <p:cNvSpPr/>
          <p:nvPr/>
        </p:nvSpPr>
        <p:spPr>
          <a:xfrm>
            <a:off x="5449824" y="5193792"/>
            <a:ext cx="643738" cy="102413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093562" y="5296205"/>
            <a:ext cx="643738" cy="65837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737299" y="5362042"/>
            <a:ext cx="643738" cy="43891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381037" y="5405933"/>
            <a:ext cx="643738" cy="29261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024774" y="5435194"/>
            <a:ext cx="643738" cy="14630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422392" y="5166360"/>
            <a:ext cx="54864" cy="54864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066130" y="5268773"/>
            <a:ext cx="54864" cy="54864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709867" y="5334610"/>
            <a:ext cx="54864" cy="54864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353605" y="5378501"/>
            <a:ext cx="54864" cy="54864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997342" y="5407762"/>
            <a:ext cx="54864" cy="54864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641080" y="5422392"/>
            <a:ext cx="54864" cy="54864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708392" y="5321808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2FA8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after</a:t>
            </a:r>
            <a:endParaRPr lang="en-US" sz="1020" dirty="0"/>
          </a:p>
        </p:txBody>
      </p:sp>
      <p:sp>
        <p:nvSpPr>
          <p:cNvPr id="75" name="Text 73"/>
          <p:cNvSpPr/>
          <p:nvPr/>
        </p:nvSpPr>
        <p:spPr>
          <a:xfrm>
            <a:off x="5175504" y="4928616"/>
            <a:ext cx="3529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学習進行の概念図</a:t>
            </a:r>
            <a:endParaRPr lang="en-US" sz="1020" dirty="0"/>
          </a:p>
        </p:txBody>
      </p:sp>
      <p:sp>
        <p:nvSpPr>
          <p:cNvPr id="76" name="Text 74"/>
          <p:cNvSpPr/>
          <p:nvPr/>
        </p:nvSpPr>
        <p:spPr>
          <a:xfrm>
            <a:off x="9089136" y="4828032"/>
            <a:ext cx="2084832" cy="1078992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F2994A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重要点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Loss は精度向上の道具であると同時に、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発明の「物理制約の使い方」を示す説明材料になる。</a:t>
            </a:r>
            <a:endParaRPr lang="en-US" sz="1320" dirty="0"/>
          </a:p>
        </p:txBody>
      </p:sp>
      <p:sp>
        <p:nvSpPr>
          <p:cNvPr id="77" name="Shape 75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22/30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汎化評価と Active Learning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</a:t>
            </a:r>
            <a:endParaRPr lang="en-US" sz="11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1152144"/>
          <a:ext cx="5047488" cy="2304288"/>
        </p:xfrm>
        <a:graphic>
          <a:graphicData uri="http://schemas.openxmlformats.org/drawingml/2006/table">
            <a:tbl>
              <a:tblPr/>
              <a:tblGrid>
                <a:gridCol w="1810512"/>
                <a:gridCol w="3236976"/>
              </a:tblGrid>
              <a:tr h="4608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評価モード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何を確認するか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08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random split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補間域での基本精度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08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leave-composition-range-out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組成帯を外した外挿耐性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08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leave-gas-family-out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新規ガス族に近い条件での頑健性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08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leave-geometry-out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装置形状変更への影響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49808" y="1152144"/>
            <a:ext cx="5047488" cy="256032"/>
          </a:xfrm>
          <a:prstGeom prst="rect">
            <a:avLst/>
          </a:prstGeom>
          <a:solidFill>
            <a:srgbClr val="EEF8FF"/>
          </a:solidFill>
          <a:ln w="12700">
            <a:solidFill>
              <a:srgbClr val="EEF8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6384" y="118872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評価モード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596896" y="1188720"/>
            <a:ext cx="3163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何を確認するか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8096" y="3529584"/>
            <a:ext cx="1325880" cy="20116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A8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追加計算の選び方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68096" y="3767328"/>
            <a:ext cx="5010912" cy="1627632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2FA866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不確かさが高い条件。</a:t>
            </a:r>
            <a:endParaRPr lang="en-US" sz="1440" dirty="0"/>
          </a:p>
          <a:p>
            <a:pPr indent="0" marL="0">
              <a:buNone/>
            </a:pPr>
            <a:r>
              <a:rPr lang="en-US" sz="144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物理残差が大きい条件。</a:t>
            </a:r>
            <a:endParaRPr lang="en-US" sz="1440" dirty="0"/>
          </a:p>
          <a:p>
            <a:pPr indent="0" marL="0">
              <a:buNone/>
            </a:pPr>
            <a:r>
              <a:rPr lang="en-US" sz="144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潜在距離が遠い条件。</a:t>
            </a:r>
            <a:endParaRPr lang="en-US" sz="1440" dirty="0"/>
          </a:p>
          <a:p>
            <a:pPr indent="0" marL="0">
              <a:buNone/>
            </a:pPr>
            <a:r>
              <a:rPr lang="en-US" sz="144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実運用で重要な条件。</a:t>
            </a:r>
            <a:endParaRPr lang="en-US" sz="1440" dirty="0"/>
          </a:p>
        </p:txBody>
      </p:sp>
      <p:sp>
        <p:nvSpPr>
          <p:cNvPr id="11" name="Shape 8"/>
          <p:cNvSpPr/>
          <p:nvPr/>
        </p:nvSpPr>
        <p:spPr>
          <a:xfrm>
            <a:off x="6965899" y="1919874"/>
            <a:ext cx="128016" cy="285659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033918" y="1919874"/>
            <a:ext cx="128016" cy="285659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101938" y="1919874"/>
            <a:ext cx="128016" cy="285659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169957" y="1919874"/>
            <a:ext cx="128016" cy="285659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71616" y="1426464"/>
            <a:ext cx="848563" cy="129844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予測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AI1/AI2</a:t>
            </a:r>
            <a:endParaRPr lang="en-US" sz="1180" dirty="0"/>
          </a:p>
        </p:txBody>
      </p:sp>
      <p:sp>
        <p:nvSpPr>
          <p:cNvPr id="16" name="Text 13"/>
          <p:cNvSpPr/>
          <p:nvPr/>
        </p:nvSpPr>
        <p:spPr>
          <a:xfrm>
            <a:off x="6117336" y="1472184"/>
            <a:ext cx="7571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予測</a:t>
            </a:r>
            <a:endParaRPr lang="en-US" sz="1320" dirty="0"/>
          </a:p>
        </p:txBody>
      </p:sp>
      <p:sp>
        <p:nvSpPr>
          <p:cNvPr id="17" name="Text 14"/>
          <p:cNvSpPr/>
          <p:nvPr/>
        </p:nvSpPr>
        <p:spPr>
          <a:xfrm>
            <a:off x="7139635" y="1426464"/>
            <a:ext cx="848563" cy="1298448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誤差/不確かさ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 + r + d</a:t>
            </a:r>
            <a:endParaRPr lang="en-US" sz="1180" dirty="0"/>
          </a:p>
        </p:txBody>
      </p:sp>
      <p:sp>
        <p:nvSpPr>
          <p:cNvPr id="18" name="Text 15"/>
          <p:cNvSpPr/>
          <p:nvPr/>
        </p:nvSpPr>
        <p:spPr>
          <a:xfrm>
            <a:off x="7185355" y="1472184"/>
            <a:ext cx="7571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誤差/不確かさ</a:t>
            </a:r>
            <a:endParaRPr lang="en-US" sz="1320" dirty="0"/>
          </a:p>
        </p:txBody>
      </p:sp>
      <p:sp>
        <p:nvSpPr>
          <p:cNvPr id="19" name="Text 16"/>
          <p:cNvSpPr/>
          <p:nvPr/>
        </p:nvSpPr>
        <p:spPr>
          <a:xfrm>
            <a:off x="8207654" y="1426464"/>
            <a:ext cx="848563" cy="129844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候補選定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next runs</a:t>
            </a:r>
            <a:endParaRPr lang="en-US" sz="1180" dirty="0"/>
          </a:p>
        </p:txBody>
      </p:sp>
      <p:sp>
        <p:nvSpPr>
          <p:cNvPr id="20" name="Text 17"/>
          <p:cNvSpPr/>
          <p:nvPr/>
        </p:nvSpPr>
        <p:spPr>
          <a:xfrm>
            <a:off x="8253374" y="1472184"/>
            <a:ext cx="7571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候補選定</a:t>
            </a:r>
            <a:endParaRPr lang="en-US" sz="1320" dirty="0"/>
          </a:p>
        </p:txBody>
      </p:sp>
      <p:sp>
        <p:nvSpPr>
          <p:cNvPr id="21" name="Text 18"/>
          <p:cNvSpPr/>
          <p:nvPr/>
        </p:nvSpPr>
        <p:spPr>
          <a:xfrm>
            <a:off x="9275674" y="1426464"/>
            <a:ext cx="848563" cy="1298448"/>
          </a:xfrm>
          <a:prstGeom prst="roundRect">
            <a:avLst/>
          </a:prstGeom>
          <a:solidFill>
            <a:srgbClr val="F1EEFF"/>
          </a:solidFill>
          <a:ln>
            <a:solidFill>
              <a:srgbClr val="7A6FF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新計算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swarm / field</a:t>
            </a:r>
            <a:endParaRPr lang="en-US" sz="1180" dirty="0"/>
          </a:p>
        </p:txBody>
      </p:sp>
      <p:sp>
        <p:nvSpPr>
          <p:cNvPr id="22" name="Text 19"/>
          <p:cNvSpPr/>
          <p:nvPr/>
        </p:nvSpPr>
        <p:spPr>
          <a:xfrm>
            <a:off x="9321394" y="1472184"/>
            <a:ext cx="7571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新計算</a:t>
            </a:r>
            <a:endParaRPr lang="en-US" sz="1320" dirty="0"/>
          </a:p>
        </p:txBody>
      </p:sp>
      <p:sp>
        <p:nvSpPr>
          <p:cNvPr id="23" name="Text 20"/>
          <p:cNvSpPr/>
          <p:nvPr/>
        </p:nvSpPr>
        <p:spPr>
          <a:xfrm>
            <a:off x="10343693" y="1426464"/>
            <a:ext cx="848563" cy="129844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再学習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dataset更新</a:t>
            </a:r>
            <a:endParaRPr lang="en-US" sz="1180" dirty="0"/>
          </a:p>
        </p:txBody>
      </p:sp>
      <p:sp>
        <p:nvSpPr>
          <p:cNvPr id="24" name="Text 21"/>
          <p:cNvSpPr/>
          <p:nvPr/>
        </p:nvSpPr>
        <p:spPr>
          <a:xfrm>
            <a:off x="10389413" y="1472184"/>
            <a:ext cx="7571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再学習</a:t>
            </a:r>
            <a:endParaRPr lang="en-US" sz="1320" dirty="0"/>
          </a:p>
        </p:txBody>
      </p:sp>
      <p:sp>
        <p:nvSpPr>
          <p:cNvPr id="25" name="Shape 22"/>
          <p:cNvSpPr/>
          <p:nvPr/>
        </p:nvSpPr>
        <p:spPr>
          <a:xfrm>
            <a:off x="6199632" y="3291840"/>
            <a:ext cx="2267712" cy="1591056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583680" y="4498848"/>
            <a:ext cx="1719072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583680" y="3547872"/>
            <a:ext cx="0" cy="950976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583680" y="4498848"/>
            <a:ext cx="171907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583680" y="4261104"/>
            <a:ext cx="171907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583680" y="4023360"/>
            <a:ext cx="171907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583680" y="3785616"/>
            <a:ext cx="171907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583680" y="3547872"/>
            <a:ext cx="171907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680378" y="3757087"/>
            <a:ext cx="236372" cy="741761"/>
          </a:xfrm>
          <a:prstGeom prst="rect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570650" y="4535424"/>
            <a:ext cx="4558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</a:t>
            </a:r>
            <a:endParaRPr lang="en-US" sz="1020" dirty="0"/>
          </a:p>
        </p:txBody>
      </p:sp>
      <p:sp>
        <p:nvSpPr>
          <p:cNvPr id="35" name="Shape 32"/>
          <p:cNvSpPr/>
          <p:nvPr/>
        </p:nvSpPr>
        <p:spPr>
          <a:xfrm>
            <a:off x="7110146" y="3909243"/>
            <a:ext cx="236372" cy="589605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000418" y="4535424"/>
            <a:ext cx="4558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</a:t>
            </a:r>
            <a:endParaRPr lang="en-US" sz="1020" dirty="0"/>
          </a:p>
        </p:txBody>
      </p:sp>
      <p:sp>
        <p:nvSpPr>
          <p:cNvPr id="37" name="Shape 34"/>
          <p:cNvSpPr/>
          <p:nvPr/>
        </p:nvSpPr>
        <p:spPr>
          <a:xfrm>
            <a:off x="7539914" y="3985321"/>
            <a:ext cx="236372" cy="513527"/>
          </a:xfrm>
          <a:prstGeom prst="rect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430186" y="4535424"/>
            <a:ext cx="4558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</a:t>
            </a:r>
            <a:endParaRPr lang="en-US" sz="1020" dirty="0"/>
          </a:p>
        </p:txBody>
      </p:sp>
      <p:sp>
        <p:nvSpPr>
          <p:cNvPr id="39" name="Shape 36"/>
          <p:cNvSpPr/>
          <p:nvPr/>
        </p:nvSpPr>
        <p:spPr>
          <a:xfrm>
            <a:off x="7969682" y="3681009"/>
            <a:ext cx="236372" cy="817839"/>
          </a:xfrm>
          <a:prstGeom prst="rect">
            <a:avLst/>
          </a:prstGeom>
          <a:solidFill>
            <a:srgbClr val="7A6FF0"/>
          </a:solidFill>
          <a:ln w="12700">
            <a:solidFill>
              <a:srgbClr val="7A6F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59954" y="4535424"/>
            <a:ext cx="4558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imp</a:t>
            </a:r>
            <a:endParaRPr lang="en-US" sz="1020" dirty="0"/>
          </a:p>
        </p:txBody>
      </p:sp>
      <p:sp>
        <p:nvSpPr>
          <p:cNvPr id="41" name="Text 38"/>
          <p:cNvSpPr/>
          <p:nvPr/>
        </p:nvSpPr>
        <p:spPr>
          <a:xfrm>
            <a:off x="6309360" y="3337560"/>
            <a:ext cx="20482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acquisition score</a:t>
            </a:r>
            <a:endParaRPr lang="en-US" sz="1020" dirty="0"/>
          </a:p>
        </p:txBody>
      </p:sp>
      <p:sp>
        <p:nvSpPr>
          <p:cNvPr id="42" name="Text 39"/>
          <p:cNvSpPr/>
          <p:nvPr/>
        </p:nvSpPr>
        <p:spPr>
          <a:xfrm>
            <a:off x="8759952" y="3054096"/>
            <a:ext cx="1094537" cy="201168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9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8759952" y="3291840"/>
            <a:ext cx="2432304" cy="1591056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F2994A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全条件を最初から埋めず、必要な地点だけ計算できる。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特許説明では「更新型の運用」まで含めて価値を示せる。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23/30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運用・監査・更新ガバナンス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68803" y="1580449"/>
            <a:ext cx="128016" cy="237378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52390" y="1580449"/>
            <a:ext cx="128016" cy="237378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5978" y="1580449"/>
            <a:ext cx="128016" cy="237378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19565" y="1580449"/>
            <a:ext cx="128016" cy="237378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170432"/>
            <a:ext cx="1982419" cy="1078992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断面積版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xs_set_id</a:t>
            </a:r>
            <a:endParaRPr lang="en-US" sz="1180" dirty="0"/>
          </a:p>
        </p:txBody>
      </p:sp>
      <p:sp>
        <p:nvSpPr>
          <p:cNvPr id="10" name="Text 8"/>
          <p:cNvSpPr/>
          <p:nvPr/>
        </p:nvSpPr>
        <p:spPr>
          <a:xfrm>
            <a:off x="795528" y="1216152"/>
            <a:ext cx="18909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断面積版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2933395" y="1170432"/>
            <a:ext cx="1982419" cy="1078992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campaign版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sampling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2979115" y="1216152"/>
            <a:ext cx="18909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campaign版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5116982" y="1170432"/>
            <a:ext cx="1982419" cy="1078992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モデル版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AI1 / AI2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5162702" y="1216152"/>
            <a:ext cx="18909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モデル版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7300570" y="1170432"/>
            <a:ext cx="1982419" cy="1078992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出力版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prediction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7346290" y="1216152"/>
            <a:ext cx="18909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出力版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9484157" y="1170432"/>
            <a:ext cx="1982419" cy="1078992"/>
          </a:xfrm>
          <a:prstGeom prst="roundRect">
            <a:avLst/>
          </a:prstGeom>
          <a:solidFill>
            <a:srgbClr val="F1EEFF"/>
          </a:solidFill>
          <a:ln>
            <a:solidFill>
              <a:srgbClr val="7A6FF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監査ログ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trace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9529877" y="1216152"/>
            <a:ext cx="18909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監査ログ</a:t>
            </a:r>
            <a:endParaRPr lang="en-US" sz="132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2743200"/>
          <a:ext cx="5852160" cy="2615184"/>
        </p:xfrm>
        <a:graphic>
          <a:graphicData uri="http://schemas.openxmlformats.org/drawingml/2006/table">
            <a:tbl>
              <a:tblPr/>
              <a:tblGrid>
                <a:gridCol w="1097280"/>
                <a:gridCol w="4754880"/>
              </a:tblGrid>
              <a:tr h="4358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観点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設計ポイント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58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データ量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pure gas / binary edge / interior mixture を段階収集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58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汎化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random split だけでなく leave-out 系を用意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58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更新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新ガス追加時は全再学習でなく前段更新を優先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58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監査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xs_set_id, run_id, model version を紐付け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58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セキュリティ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装置条件・教師データ・監査ログを分離管理</a:t>
                      </a:r>
                      <a:endParaRPr lang="en-US" sz="114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6576" marR="36576" marT="36576" marB="36576" anchor="mid">
                    <a:lnL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749808" y="2743200"/>
            <a:ext cx="5852160" cy="256032"/>
          </a:xfrm>
          <a:prstGeom prst="rect">
            <a:avLst/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6384" y="2779776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観点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883664" y="2779776"/>
            <a:ext cx="4681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設計ポイント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004304" y="2798064"/>
            <a:ext cx="2231136" cy="15544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9BA7B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278624" y="2962656"/>
            <a:ext cx="685800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  <a:tailEnd type="triangle"/>
          </a:ln>
        </p:spPr>
      </p:sp>
      <p:sp>
        <p:nvSpPr>
          <p:cNvPr id="25" name="Text 22"/>
          <p:cNvSpPr/>
          <p:nvPr/>
        </p:nvSpPr>
        <p:spPr>
          <a:xfrm>
            <a:off x="7077456" y="2816352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ガス導入</a:t>
            </a:r>
            <a:endParaRPr lang="en-US" sz="980" dirty="0"/>
          </a:p>
        </p:txBody>
      </p:sp>
      <p:sp>
        <p:nvSpPr>
          <p:cNvPr id="26" name="Shape 23"/>
          <p:cNvSpPr/>
          <p:nvPr/>
        </p:nvSpPr>
        <p:spPr>
          <a:xfrm>
            <a:off x="7507224" y="3218688"/>
            <a:ext cx="1225296" cy="164592"/>
          </a:xfrm>
          <a:prstGeom prst="rect">
            <a:avLst/>
          </a:prstGeom>
          <a:solidFill>
            <a:srgbClr val="77CC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507224" y="3054096"/>
            <a:ext cx="1225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上部電極</a:t>
            </a:r>
            <a:endParaRPr lang="en-US" sz="1040" dirty="0"/>
          </a:p>
        </p:txBody>
      </p:sp>
      <p:sp>
        <p:nvSpPr>
          <p:cNvPr id="28" name="Shape 25"/>
          <p:cNvSpPr/>
          <p:nvPr/>
        </p:nvSpPr>
        <p:spPr>
          <a:xfrm>
            <a:off x="7754112" y="3584448"/>
            <a:ext cx="731520" cy="-73152"/>
          </a:xfrm>
          <a:prstGeom prst="rect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790688" y="387705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推論結果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7598664" y="3712464"/>
            <a:ext cx="1042416" cy="182880"/>
          </a:xfrm>
          <a:prstGeom prst="rect">
            <a:avLst/>
          </a:prstGeom>
          <a:solidFill>
            <a:srgbClr val="D9E3EE"/>
          </a:solidFill>
          <a:ln w="12700">
            <a:solidFill>
              <a:srgbClr val="9BA7B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918704" y="3438144"/>
            <a:ext cx="402336" cy="164592"/>
          </a:xfrm>
          <a:prstGeom prst="rect">
            <a:avLst/>
          </a:prstGeom>
          <a:solidFill>
            <a:srgbClr val="FFE4C7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598664" y="3941064"/>
            <a:ext cx="1042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基板 / 下部電極</a:t>
            </a:r>
            <a:endParaRPr lang="en-US" sz="1040" dirty="0"/>
          </a:p>
        </p:txBody>
      </p:sp>
      <p:sp>
        <p:nvSpPr>
          <p:cNvPr id="33" name="Shape 30"/>
          <p:cNvSpPr/>
          <p:nvPr/>
        </p:nvSpPr>
        <p:spPr>
          <a:xfrm>
            <a:off x="7964424" y="3986784"/>
            <a:ext cx="0" cy="530352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8050784" y="3986784"/>
            <a:ext cx="0" cy="530352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8137144" y="3986784"/>
            <a:ext cx="0" cy="530352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8223504" y="3986784"/>
            <a:ext cx="0" cy="530352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  <a:tailEnd type="triangle"/>
          </a:ln>
        </p:spPr>
      </p:sp>
      <p:sp>
        <p:nvSpPr>
          <p:cNvPr id="37" name="Text 34"/>
          <p:cNvSpPr/>
          <p:nvPr/>
        </p:nvSpPr>
        <p:spPr>
          <a:xfrm>
            <a:off x="8412480" y="285292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</a:t>
            </a:r>
            <a:endParaRPr lang="en-US" sz="980" dirty="0"/>
          </a:p>
        </p:txBody>
      </p:sp>
      <p:sp>
        <p:nvSpPr>
          <p:cNvPr id="38" name="Text 35"/>
          <p:cNvSpPr/>
          <p:nvPr/>
        </p:nvSpPr>
        <p:spPr>
          <a:xfrm>
            <a:off x="9454896" y="2560320"/>
            <a:ext cx="798271" cy="201168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9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運用時の出し分け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9454896" y="2798064"/>
            <a:ext cx="1773936" cy="1554480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F2994A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高信頼: そのまま比較・探索へ。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中信頼: 監査計算を推奨。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低信頼: 再計算または適用除外。</a:t>
            </a:r>
            <a:endParaRPr lang="en-US" sz="1380" dirty="0"/>
          </a:p>
        </p:txBody>
      </p:sp>
      <p:sp>
        <p:nvSpPr>
          <p:cNvPr id="40" name="Text 37"/>
          <p:cNvSpPr/>
          <p:nvPr/>
        </p:nvSpPr>
        <p:spPr>
          <a:xfrm>
            <a:off x="6986016" y="4736592"/>
            <a:ext cx="4242816" cy="841248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7A6FF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価値</a:t>
            </a:r>
            <a:endParaRPr lang="en-US" sz="1440" dirty="0"/>
          </a:p>
          <a:p>
            <a:pPr algn="ctr" indent="0" marL="0">
              <a:buNone/>
            </a:pPr>
            <a:r>
              <a:rPr lang="en-US" sz="144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「予測モデル」ではなく、</a:t>
            </a:r>
            <a:endParaRPr lang="en-US" sz="1440" dirty="0"/>
          </a:p>
          <a:p>
            <a:pPr algn="ctr" indent="0" marL="0">
              <a:buNone/>
            </a:pPr>
            <a:r>
              <a:rPr lang="en-US" sz="144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更新・監査・運用を含む知財ストーリーにできる。</a:t>
            </a:r>
            <a:endParaRPr lang="en-US" sz="1440" dirty="0"/>
          </a:p>
        </p:txBody>
      </p:sp>
      <p:sp>
        <p:nvSpPr>
          <p:cNvPr id="41" name="Shape 38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24/30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効果整理: 従来課題との対応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3232" y="1243584"/>
            <a:ext cx="2743200" cy="1060704"/>
          </a:xfrm>
          <a:prstGeom prst="roundRect">
            <a:avLst/>
          </a:prstGeom>
          <a:solidFill>
            <a:srgbClr val="FCEBEC"/>
          </a:solidFill>
          <a:ln>
            <a:solidFill>
              <a:srgbClr val="D94B4B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4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ガス変更のたびにデータセットとモデルが増殖</a:t>
            </a:r>
            <a:endParaRPr lang="en-US" sz="1460" dirty="0"/>
          </a:p>
        </p:txBody>
      </p:sp>
      <p:sp>
        <p:nvSpPr>
          <p:cNvPr id="6" name="Shape 4"/>
          <p:cNvSpPr/>
          <p:nvPr/>
        </p:nvSpPr>
        <p:spPr>
          <a:xfrm>
            <a:off x="3547872" y="1773936"/>
            <a:ext cx="320040" cy="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867912" y="1243584"/>
            <a:ext cx="4370832" cy="1060704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4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断面積レジストリ + swarm係数表 + ガス潜在表現</a:t>
            </a:r>
            <a:endParaRPr lang="en-US" sz="1460" dirty="0"/>
          </a:p>
        </p:txBody>
      </p:sp>
      <p:sp>
        <p:nvSpPr>
          <p:cNvPr id="8" name="Shape 6"/>
          <p:cNvSpPr/>
          <p:nvPr/>
        </p:nvSpPr>
        <p:spPr>
          <a:xfrm>
            <a:off x="8394192" y="1773936"/>
            <a:ext cx="320040" cy="0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8833104" y="1243584"/>
            <a:ext cx="2743200" cy="1060704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4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更新対象を前段へ局所化し、再利用率を高める</a:t>
            </a:r>
            <a:endParaRPr lang="en-US" sz="1460" dirty="0"/>
          </a:p>
        </p:txBody>
      </p:sp>
      <p:sp>
        <p:nvSpPr>
          <p:cNvPr id="10" name="Text 8"/>
          <p:cNvSpPr/>
          <p:nvPr/>
        </p:nvSpPr>
        <p:spPr>
          <a:xfrm>
            <a:off x="713232" y="2468880"/>
            <a:ext cx="2743200" cy="1060704"/>
          </a:xfrm>
          <a:prstGeom prst="roundRect">
            <a:avLst/>
          </a:prstGeom>
          <a:solidFill>
            <a:srgbClr val="FCEBEC"/>
          </a:solidFill>
          <a:ln>
            <a:solidFill>
              <a:srgbClr val="D94B4B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4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断面積差や solver 前提の追跡が弱い</a:t>
            </a:r>
            <a:endParaRPr lang="en-US" sz="1460" dirty="0"/>
          </a:p>
        </p:txBody>
      </p:sp>
      <p:sp>
        <p:nvSpPr>
          <p:cNvPr id="11" name="Shape 9"/>
          <p:cNvSpPr/>
          <p:nvPr/>
        </p:nvSpPr>
        <p:spPr>
          <a:xfrm>
            <a:off x="3547872" y="2999232"/>
            <a:ext cx="320040" cy="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867912" y="2468880"/>
            <a:ext cx="4370832" cy="1060704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4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xs_set_id / campaign_id / run_id を一貫管理</a:t>
            </a:r>
            <a:endParaRPr lang="en-US" sz="1460" dirty="0"/>
          </a:p>
        </p:txBody>
      </p:sp>
      <p:sp>
        <p:nvSpPr>
          <p:cNvPr id="13" name="Shape 11"/>
          <p:cNvSpPr/>
          <p:nvPr/>
        </p:nvSpPr>
        <p:spPr>
          <a:xfrm>
            <a:off x="8394192" y="2999232"/>
            <a:ext cx="320040" cy="0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8833104" y="2468880"/>
            <a:ext cx="2743200" cy="1060704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4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結果から元データへ遡及しやすい</a:t>
            </a:r>
            <a:endParaRPr lang="en-US" sz="1460" dirty="0"/>
          </a:p>
        </p:txBody>
      </p:sp>
      <p:sp>
        <p:nvSpPr>
          <p:cNvPr id="15" name="Text 13"/>
          <p:cNvSpPr/>
          <p:nvPr/>
        </p:nvSpPr>
        <p:spPr>
          <a:xfrm>
            <a:off x="713232" y="3694176"/>
            <a:ext cx="2743200" cy="1060704"/>
          </a:xfrm>
          <a:prstGeom prst="roundRect">
            <a:avLst/>
          </a:prstGeom>
          <a:solidFill>
            <a:srgbClr val="FCEBEC"/>
          </a:solidFill>
          <a:ln>
            <a:solidFill>
              <a:srgbClr val="D94B4B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4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外挿条件で適用可否が分からない</a:t>
            </a:r>
            <a:endParaRPr lang="en-US" sz="1460" dirty="0"/>
          </a:p>
        </p:txBody>
      </p:sp>
      <p:sp>
        <p:nvSpPr>
          <p:cNvPr id="16" name="Shape 14"/>
          <p:cNvSpPr/>
          <p:nvPr/>
        </p:nvSpPr>
        <p:spPr>
          <a:xfrm>
            <a:off x="3547872" y="4224528"/>
            <a:ext cx="320040" cy="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3867912" y="3694176"/>
            <a:ext cx="4370832" cy="1060704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4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不確かさ・物理残差・潜在距離・xs品質で信頼度算出</a:t>
            </a:r>
            <a:endParaRPr lang="en-US" sz="1460" dirty="0"/>
          </a:p>
        </p:txBody>
      </p:sp>
      <p:sp>
        <p:nvSpPr>
          <p:cNvPr id="18" name="Shape 16"/>
          <p:cNvSpPr/>
          <p:nvPr/>
        </p:nvSpPr>
        <p:spPr>
          <a:xfrm>
            <a:off x="8394192" y="4224528"/>
            <a:ext cx="320040" cy="0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8833104" y="3694176"/>
            <a:ext cx="2743200" cy="1060704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4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監査条件を先回りで抽出できる</a:t>
            </a:r>
            <a:endParaRPr lang="en-US" sz="1460" dirty="0"/>
          </a:p>
        </p:txBody>
      </p:sp>
      <p:sp>
        <p:nvSpPr>
          <p:cNvPr id="20" name="Text 18"/>
          <p:cNvSpPr/>
          <p:nvPr/>
        </p:nvSpPr>
        <p:spPr>
          <a:xfrm>
            <a:off x="713232" y="4919472"/>
            <a:ext cx="2743200" cy="1060704"/>
          </a:xfrm>
          <a:prstGeom prst="roundRect">
            <a:avLst/>
          </a:prstGeom>
          <a:solidFill>
            <a:srgbClr val="FCEBEC"/>
          </a:solidFill>
          <a:ln>
            <a:solidFill>
              <a:srgbClr val="D94B4B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4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レシピ直入力では物理差の説明が難しい</a:t>
            </a:r>
            <a:endParaRPr lang="en-US" sz="1460" dirty="0"/>
          </a:p>
        </p:txBody>
      </p:sp>
      <p:sp>
        <p:nvSpPr>
          <p:cNvPr id="21" name="Shape 19"/>
          <p:cNvSpPr/>
          <p:nvPr/>
        </p:nvSpPr>
        <p:spPr>
          <a:xfrm>
            <a:off x="3547872" y="5449824"/>
            <a:ext cx="320040" cy="0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3867912" y="4919472"/>
            <a:ext cx="4370832" cy="1060704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4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ガス効果・反応効果を分けた特徴量化</a:t>
            </a:r>
            <a:endParaRPr lang="en-US" sz="1460" dirty="0"/>
          </a:p>
        </p:txBody>
      </p:sp>
      <p:sp>
        <p:nvSpPr>
          <p:cNvPr id="23" name="Shape 21"/>
          <p:cNvSpPr/>
          <p:nvPr/>
        </p:nvSpPr>
        <p:spPr>
          <a:xfrm>
            <a:off x="8394192" y="5449824"/>
            <a:ext cx="320040" cy="0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8833104" y="4919472"/>
            <a:ext cx="2743200" cy="1060704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4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新規性 / 進歩性の芯を説明しやすい</a:t>
            </a:r>
            <a:endParaRPr lang="en-US" sz="1460" dirty="0"/>
          </a:p>
        </p:txBody>
      </p:sp>
      <p:sp>
        <p:nvSpPr>
          <p:cNvPr id="25" name="Shape 2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25/30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活用事例1: エッチ条件探索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実施例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04672" y="1280160"/>
            <a:ext cx="3017520" cy="2212848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9BA7B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8992" y="1444752"/>
            <a:ext cx="685800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877824" y="1298448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ガス導入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1307592" y="1700784"/>
            <a:ext cx="2011680" cy="164592"/>
          </a:xfrm>
          <a:prstGeom prst="rect">
            <a:avLst/>
          </a:prstGeom>
          <a:solidFill>
            <a:srgbClr val="77CC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07592" y="1536192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上部電極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1554480" y="2066544"/>
            <a:ext cx="1517904" cy="585216"/>
          </a:xfrm>
          <a:prstGeom prst="rect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91056" y="2359152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エッチ用プラズマ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399032" y="2852928"/>
            <a:ext cx="1828800" cy="182880"/>
          </a:xfrm>
          <a:prstGeom prst="rect">
            <a:avLst/>
          </a:prstGeom>
          <a:solidFill>
            <a:srgbClr val="D9E3EE"/>
          </a:solidFill>
          <a:ln w="12700">
            <a:solidFill>
              <a:srgbClr val="9BA7B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19072" y="2578608"/>
            <a:ext cx="1188720" cy="164592"/>
          </a:xfrm>
          <a:prstGeom prst="rect">
            <a:avLst/>
          </a:prstGeom>
          <a:solidFill>
            <a:srgbClr val="FFE4C7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99032" y="3081528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基板 / 下部電極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1764792" y="2468880"/>
            <a:ext cx="0" cy="530352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069592" y="2468880"/>
            <a:ext cx="0" cy="530352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374392" y="2468880"/>
            <a:ext cx="0" cy="530352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679192" y="2468880"/>
            <a:ext cx="0" cy="530352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2999232" y="133502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装置A 例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4133088" y="1042416"/>
            <a:ext cx="1036930" cy="201168"/>
          </a:xfrm>
          <a:prstGeom prst="roundRect">
            <a:avLst/>
          </a:prstGeom>
          <a:solidFill>
            <a:srgbClr val="FCEBEC"/>
          </a:solidFill>
          <a:ln>
            <a:solidFill>
              <a:srgbClr val="D94B4B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4B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従来課題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133088" y="1280160"/>
            <a:ext cx="2304288" cy="1152144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D94B4B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微量 O2 や混合比変更で付着・電離バランスが変わる。</a:t>
            </a:r>
            <a:endParaRPr lang="en-US" sz="1440" dirty="0"/>
          </a:p>
          <a:p>
            <a:pPr indent="0" marL="0">
              <a:buNone/>
            </a:pPr>
            <a:r>
              <a:rPr lang="en-US" sz="144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条件探索のたびに前段データと場計算の負荷が増える。</a:t>
            </a:r>
            <a:endParaRPr lang="en-US" sz="1440" dirty="0"/>
          </a:p>
        </p:txBody>
      </p:sp>
      <p:sp>
        <p:nvSpPr>
          <p:cNvPr id="22" name="Text 20"/>
          <p:cNvSpPr/>
          <p:nvPr/>
        </p:nvSpPr>
        <p:spPr>
          <a:xfrm>
            <a:off x="6601968" y="1042416"/>
            <a:ext cx="1036930" cy="20116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A8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提案利用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601968" y="1280160"/>
            <a:ext cx="2304288" cy="1152144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2FA866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対象組成を swarm で係数表化し、ガス潜在表現へ変換。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AI1 で係数を、AI2 でシースや密度分布を高速比較する。</a:t>
            </a:r>
            <a:endParaRPr lang="en-US" sz="1420" dirty="0"/>
          </a:p>
        </p:txBody>
      </p:sp>
      <p:sp>
        <p:nvSpPr>
          <p:cNvPr id="24" name="Text 22"/>
          <p:cNvSpPr/>
          <p:nvPr/>
        </p:nvSpPr>
        <p:spPr>
          <a:xfrm>
            <a:off x="9070848" y="1042416"/>
            <a:ext cx="938174" cy="201168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9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期待効果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070848" y="1280160"/>
            <a:ext cx="2084832" cy="1152144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F2994A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候補レシピの粗選別を高速化。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高コスト計算を必要条件へ限定。</a:t>
            </a:r>
            <a:endParaRPr lang="en-US" sz="1420" dirty="0"/>
          </a:p>
        </p:txBody>
      </p:sp>
      <p:sp>
        <p:nvSpPr>
          <p:cNvPr id="26" name="Shape 24"/>
          <p:cNvSpPr/>
          <p:nvPr/>
        </p:nvSpPr>
        <p:spPr>
          <a:xfrm>
            <a:off x="5742432" y="3180283"/>
            <a:ext cx="128016" cy="22128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62088" y="3180283"/>
            <a:ext cx="128016" cy="22128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381744" y="3180283"/>
            <a:ext cx="128016" cy="22128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96512" y="2798064"/>
            <a:ext cx="1600200" cy="1005840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候補組成列挙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 / FC / O2</a:t>
            </a:r>
            <a:endParaRPr lang="en-US" sz="1180" dirty="0"/>
          </a:p>
        </p:txBody>
      </p:sp>
      <p:sp>
        <p:nvSpPr>
          <p:cNvPr id="30" name="Text 28"/>
          <p:cNvSpPr/>
          <p:nvPr/>
        </p:nvSpPr>
        <p:spPr>
          <a:xfrm>
            <a:off x="4142232" y="284378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候補組成列挙</a:t>
            </a:r>
            <a:endParaRPr lang="en-US" sz="1320" dirty="0"/>
          </a:p>
        </p:txBody>
      </p:sp>
      <p:sp>
        <p:nvSpPr>
          <p:cNvPr id="31" name="Text 29"/>
          <p:cNvSpPr/>
          <p:nvPr/>
        </p:nvSpPr>
        <p:spPr>
          <a:xfrm>
            <a:off x="5916168" y="2798064"/>
            <a:ext cx="1600200" cy="1005840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AI1係数比較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μ,D,k</a:t>
            </a:r>
            <a:endParaRPr lang="en-US" sz="1180" dirty="0"/>
          </a:p>
        </p:txBody>
      </p:sp>
      <p:sp>
        <p:nvSpPr>
          <p:cNvPr id="32" name="Text 30"/>
          <p:cNvSpPr/>
          <p:nvPr/>
        </p:nvSpPr>
        <p:spPr>
          <a:xfrm>
            <a:off x="5961888" y="284378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AI1係数比較</a:t>
            </a:r>
            <a:endParaRPr lang="en-US" sz="1320" dirty="0"/>
          </a:p>
        </p:txBody>
      </p:sp>
      <p:sp>
        <p:nvSpPr>
          <p:cNvPr id="33" name="Text 31"/>
          <p:cNvSpPr/>
          <p:nvPr/>
        </p:nvSpPr>
        <p:spPr>
          <a:xfrm>
            <a:off x="7735824" y="2798064"/>
            <a:ext cx="1600200" cy="1005840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AI2場比較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n_e,φ,flux</a:t>
            </a:r>
            <a:endParaRPr lang="en-US" sz="1180" dirty="0"/>
          </a:p>
        </p:txBody>
      </p:sp>
      <p:sp>
        <p:nvSpPr>
          <p:cNvPr id="34" name="Text 32"/>
          <p:cNvSpPr/>
          <p:nvPr/>
        </p:nvSpPr>
        <p:spPr>
          <a:xfrm>
            <a:off x="7781544" y="284378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AI2場比較</a:t>
            </a:r>
            <a:endParaRPr lang="en-US" sz="1320" dirty="0"/>
          </a:p>
        </p:txBody>
      </p:sp>
      <p:sp>
        <p:nvSpPr>
          <p:cNvPr id="35" name="Text 33"/>
          <p:cNvSpPr/>
          <p:nvPr/>
        </p:nvSpPr>
        <p:spPr>
          <a:xfrm>
            <a:off x="9555480" y="2798064"/>
            <a:ext cx="1600200" cy="1005840"/>
          </a:xfrm>
          <a:prstGeom prst="roundRect">
            <a:avLst/>
          </a:prstGeom>
          <a:solidFill>
            <a:srgbClr val="F1EEFF"/>
          </a:solidFill>
          <a:ln>
            <a:solidFill>
              <a:srgbClr val="7A6FF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高信頼候補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レシピ絞り込み</a:t>
            </a:r>
            <a:endParaRPr lang="en-US" sz="1180" dirty="0"/>
          </a:p>
        </p:txBody>
      </p:sp>
      <p:sp>
        <p:nvSpPr>
          <p:cNvPr id="36" name="Text 34"/>
          <p:cNvSpPr/>
          <p:nvPr/>
        </p:nvSpPr>
        <p:spPr>
          <a:xfrm>
            <a:off x="9601200" y="284378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高信頼候補</a:t>
            </a:r>
            <a:endParaRPr lang="en-US" sz="1320" dirty="0"/>
          </a:p>
        </p:txBody>
      </p:sp>
      <p:sp>
        <p:nvSpPr>
          <p:cNvPr id="37" name="Shape 35"/>
          <p:cNvSpPr/>
          <p:nvPr/>
        </p:nvSpPr>
        <p:spPr>
          <a:xfrm>
            <a:off x="4224528" y="4169664"/>
            <a:ext cx="2871216" cy="1444752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08576" y="5230368"/>
            <a:ext cx="2322576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08576" y="4425696"/>
            <a:ext cx="0" cy="804672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08576" y="5230368"/>
            <a:ext cx="2322576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08576" y="5029200"/>
            <a:ext cx="2322576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08576" y="4828032"/>
            <a:ext cx="2322576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08576" y="4626864"/>
            <a:ext cx="2322576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08576" y="4425696"/>
            <a:ext cx="2322576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033772" y="4473976"/>
            <a:ext cx="310896" cy="756392"/>
          </a:xfrm>
          <a:prstGeom prst="rect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24044" y="526694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全計算</a:t>
            </a:r>
            <a:endParaRPr lang="en-US" sz="1020" dirty="0"/>
          </a:p>
        </p:txBody>
      </p:sp>
      <p:sp>
        <p:nvSpPr>
          <p:cNvPr id="47" name="Shape 45"/>
          <p:cNvSpPr/>
          <p:nvPr/>
        </p:nvSpPr>
        <p:spPr>
          <a:xfrm>
            <a:off x="6195060" y="4892406"/>
            <a:ext cx="310896" cy="337962"/>
          </a:xfrm>
          <a:prstGeom prst="rect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85332" y="526694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提案後</a:t>
            </a:r>
            <a:endParaRPr lang="en-US" sz="1020" dirty="0"/>
          </a:p>
        </p:txBody>
      </p:sp>
      <p:sp>
        <p:nvSpPr>
          <p:cNvPr id="49" name="Text 47"/>
          <p:cNvSpPr/>
          <p:nvPr/>
        </p:nvSpPr>
        <p:spPr>
          <a:xfrm>
            <a:off x="4334256" y="4215384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高コスト計算投入量（概念図）</a:t>
            </a:r>
            <a:endParaRPr lang="en-US" sz="1020" dirty="0"/>
          </a:p>
        </p:txBody>
      </p:sp>
      <p:sp>
        <p:nvSpPr>
          <p:cNvPr id="50" name="Shape 48"/>
          <p:cNvSpPr/>
          <p:nvPr/>
        </p:nvSpPr>
        <p:spPr>
          <a:xfrm>
            <a:off x="7333488" y="4169664"/>
            <a:ext cx="3840480" cy="1444752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717536" y="5230368"/>
            <a:ext cx="3310128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717536" y="4407408"/>
            <a:ext cx="0" cy="82296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717536" y="5230368"/>
            <a:ext cx="331012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17536" y="5024628"/>
            <a:ext cx="331012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717536" y="4818888"/>
            <a:ext cx="331012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717536" y="4613148"/>
            <a:ext cx="331012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717536" y="4407408"/>
            <a:ext cx="3310128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717536" y="5049317"/>
            <a:ext cx="662026" cy="-82296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379562" y="4967021"/>
            <a:ext cx="662026" cy="-115214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041587" y="4851806"/>
            <a:ext cx="662026" cy="-65837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703613" y="4785970"/>
            <a:ext cx="662026" cy="-115214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365638" y="4670755"/>
            <a:ext cx="662026" cy="-98755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690104" y="5021885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352130" y="4939589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014155" y="4824374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76181" y="4758538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338206" y="4643323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000232" y="4544568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067544" y="4443984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1696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候補A</a:t>
            </a:r>
            <a:endParaRPr lang="en-US" sz="1020" dirty="0"/>
          </a:p>
        </p:txBody>
      </p:sp>
      <p:sp>
        <p:nvSpPr>
          <p:cNvPr id="70" name="Shape 68"/>
          <p:cNvSpPr/>
          <p:nvPr/>
        </p:nvSpPr>
        <p:spPr>
          <a:xfrm>
            <a:off x="7717536" y="5098694"/>
            <a:ext cx="662026" cy="-65837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379562" y="5032858"/>
            <a:ext cx="662026" cy="-82296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041587" y="4950562"/>
            <a:ext cx="662026" cy="-82296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703613" y="4868266"/>
            <a:ext cx="662026" cy="-98755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365638" y="4769510"/>
            <a:ext cx="662026" cy="-115214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690104" y="5071262"/>
            <a:ext cx="54864" cy="54864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352130" y="5005426"/>
            <a:ext cx="54864" cy="54864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014155" y="4923130"/>
            <a:ext cx="54864" cy="54864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676181" y="4840834"/>
            <a:ext cx="54864" cy="54864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338206" y="4742078"/>
            <a:ext cx="54864" cy="54864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1000232" y="4626864"/>
            <a:ext cx="54864" cy="54864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0067544" y="4608576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F29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候補B</a:t>
            </a:r>
            <a:endParaRPr lang="en-US" sz="1020" dirty="0"/>
          </a:p>
        </p:txBody>
      </p:sp>
      <p:sp>
        <p:nvSpPr>
          <p:cNvPr id="82" name="Text 80"/>
          <p:cNvSpPr/>
          <p:nvPr/>
        </p:nvSpPr>
        <p:spPr>
          <a:xfrm>
            <a:off x="8522208" y="5449824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位置</a:t>
            </a:r>
            <a:endParaRPr lang="en-US" sz="980" dirty="0"/>
          </a:p>
        </p:txBody>
      </p:sp>
      <p:sp>
        <p:nvSpPr>
          <p:cNvPr id="83" name="Text 81"/>
          <p:cNvSpPr/>
          <p:nvPr/>
        </p:nvSpPr>
        <p:spPr>
          <a:xfrm rot="16200000">
            <a:off x="7351776" y="418795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ion flux</a:t>
            </a:r>
            <a:endParaRPr lang="en-US" sz="920" dirty="0"/>
          </a:p>
        </p:txBody>
      </p:sp>
      <p:sp>
        <p:nvSpPr>
          <p:cNvPr id="84" name="Text 82"/>
          <p:cNvSpPr/>
          <p:nvPr/>
        </p:nvSpPr>
        <p:spPr>
          <a:xfrm>
            <a:off x="7443216" y="4215384"/>
            <a:ext cx="3621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候補比較イメージ</a:t>
            </a:r>
            <a:endParaRPr lang="en-US" sz="1020" dirty="0"/>
          </a:p>
        </p:txBody>
      </p:sp>
      <p:sp>
        <p:nvSpPr>
          <p:cNvPr id="85" name="Shape 8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26/30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活用事例2: クリーニング / アッシング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実施例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1261872"/>
            <a:ext cx="2834640" cy="2029968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9BA7B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1426464"/>
            <a:ext cx="685800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896112" y="1280160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ガス導入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1325880" y="1682496"/>
            <a:ext cx="1828800" cy="164592"/>
          </a:xfrm>
          <a:prstGeom prst="rect">
            <a:avLst/>
          </a:prstGeom>
          <a:solidFill>
            <a:srgbClr val="77CC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1517904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上部電極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1572768" y="2048256"/>
            <a:ext cx="1335024" cy="402336"/>
          </a:xfrm>
          <a:prstGeom prst="rect">
            <a:avLst/>
          </a:prstGeom>
          <a:solidFill>
            <a:srgbClr val="EEF8FF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09344" y="2340864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クリーニングプラズマ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417320" y="2651760"/>
            <a:ext cx="1645920" cy="182880"/>
          </a:xfrm>
          <a:prstGeom prst="rect">
            <a:avLst/>
          </a:prstGeom>
          <a:solidFill>
            <a:srgbClr val="D9E3EE"/>
          </a:solidFill>
          <a:ln w="12700">
            <a:solidFill>
              <a:srgbClr val="9BA7B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37360" y="2377440"/>
            <a:ext cx="1005840" cy="164592"/>
          </a:xfrm>
          <a:prstGeom prst="rect">
            <a:avLst/>
          </a:prstGeom>
          <a:solidFill>
            <a:srgbClr val="FFE4C7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2880360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基板 / 下部電極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1783080" y="2450592"/>
            <a:ext cx="0" cy="530352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037080" y="2450592"/>
            <a:ext cx="0" cy="530352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291080" y="2450592"/>
            <a:ext cx="0" cy="530352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545080" y="2450592"/>
            <a:ext cx="0" cy="530352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2834640" y="1316736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装置B 例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3931920" y="1024128"/>
            <a:ext cx="1300277" cy="201168"/>
          </a:xfrm>
          <a:prstGeom prst="roundRect">
            <a:avLst/>
          </a:prstGeom>
          <a:solidFill>
            <a:srgbClr val="FCEBEC"/>
          </a:solidFill>
          <a:ln>
            <a:solidFill>
              <a:srgbClr val="D94B4B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4B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従来課題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931920" y="1261872"/>
            <a:ext cx="2889504" cy="1133856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D94B4B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O2 系や H2/N2 系では付着・励起・解離の寄与が条件依存で変わる。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反応主導条件はレシピ直入力だけでは汎化が不安定。</a:t>
            </a:r>
            <a:endParaRPr lang="en-US" sz="1420" dirty="0"/>
          </a:p>
        </p:txBody>
      </p:sp>
      <p:sp>
        <p:nvSpPr>
          <p:cNvPr id="22" name="Text 20"/>
          <p:cNvSpPr/>
          <p:nvPr/>
        </p:nvSpPr>
        <p:spPr>
          <a:xfrm>
            <a:off x="7040880" y="1024128"/>
            <a:ext cx="1325880" cy="20116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A8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提案利用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040880" y="1261872"/>
            <a:ext cx="3931920" cy="1133856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2FA866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反応群特徴量や平均電子エネルギー軸表を併用し、条件差を前段で整理。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U-Net には係数マップを渡して空間場と反応支配領域を比較する。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986784" y="2798064"/>
            <a:ext cx="2468880" cy="1481328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70832" y="3895344"/>
            <a:ext cx="1920240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70832" y="3054096"/>
            <a:ext cx="0" cy="841248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70832" y="3895344"/>
            <a:ext cx="1920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70832" y="3685032"/>
            <a:ext cx="1920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70832" y="3474720"/>
            <a:ext cx="1920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70832" y="3264408"/>
            <a:ext cx="1920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70832" y="3054096"/>
            <a:ext cx="1920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78846" y="3659795"/>
            <a:ext cx="264033" cy="235549"/>
          </a:xfrm>
          <a:prstGeom prst="rect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69118" y="3931920"/>
            <a:ext cx="48348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ion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4958906" y="3508370"/>
            <a:ext cx="264033" cy="386974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9178" y="3931920"/>
            <a:ext cx="48348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att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5438966" y="3205521"/>
            <a:ext cx="264033" cy="689823"/>
          </a:xfrm>
          <a:prstGeom prst="rect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29238" y="3931920"/>
            <a:ext cx="48348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exc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5919026" y="3323295"/>
            <a:ext cx="264033" cy="572049"/>
          </a:xfrm>
          <a:prstGeom prst="rect">
            <a:avLst/>
          </a:prstGeom>
          <a:solidFill>
            <a:srgbClr val="7A6FF0"/>
          </a:solidFill>
          <a:ln w="12700">
            <a:solidFill>
              <a:srgbClr val="7A6F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09298" y="3931920"/>
            <a:ext cx="48348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diss</a:t>
            </a:r>
            <a:endParaRPr lang="en-US" sz="1020" dirty="0"/>
          </a:p>
        </p:txBody>
      </p:sp>
      <p:sp>
        <p:nvSpPr>
          <p:cNvPr id="40" name="Text 38"/>
          <p:cNvSpPr/>
          <p:nvPr/>
        </p:nvSpPr>
        <p:spPr>
          <a:xfrm>
            <a:off x="4096512" y="2843784"/>
            <a:ext cx="22494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反応寄与の例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6729984" y="2798064"/>
            <a:ext cx="4334256" cy="1481328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114032" y="3895344"/>
            <a:ext cx="3803904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114032" y="3035808"/>
            <a:ext cx="0" cy="859536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114032" y="3895344"/>
            <a:ext cx="3803904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114032" y="3680460"/>
            <a:ext cx="3803904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114032" y="3465576"/>
            <a:ext cx="3803904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114032" y="3250692"/>
            <a:ext cx="3803904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14032" y="3035808"/>
            <a:ext cx="3803904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114032" y="3740628"/>
            <a:ext cx="760781" cy="-51572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74813" y="3689055"/>
            <a:ext cx="760781" cy="-103144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635594" y="3585911"/>
            <a:ext cx="760781" cy="-120335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396374" y="3465576"/>
            <a:ext cx="760781" cy="-120335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157155" y="3345241"/>
            <a:ext cx="760781" cy="-137526"/>
          </a:xfrm>
          <a:prstGeom prst="line">
            <a:avLst/>
          </a:prstGeom>
          <a:noFill/>
          <a:ln w="12700">
            <a:solidFill>
              <a:srgbClr val="2FA86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086600" y="3713196"/>
            <a:ext cx="54864" cy="54864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847381" y="3661623"/>
            <a:ext cx="54864" cy="54864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608162" y="3558479"/>
            <a:ext cx="54864" cy="54864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368942" y="3438144"/>
            <a:ext cx="54864" cy="54864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129723" y="3317809"/>
            <a:ext cx="54864" cy="54864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890504" y="3180283"/>
            <a:ext cx="54864" cy="54864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957816" y="3072384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2FA8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平均電子エネルギー軸</a:t>
            </a:r>
            <a:endParaRPr lang="en-US" sz="1020" dirty="0"/>
          </a:p>
        </p:txBody>
      </p:sp>
      <p:sp>
        <p:nvSpPr>
          <p:cNvPr id="61" name="Shape 59"/>
          <p:cNvSpPr/>
          <p:nvPr/>
        </p:nvSpPr>
        <p:spPr>
          <a:xfrm>
            <a:off x="7114032" y="3723437"/>
            <a:ext cx="760781" cy="-51572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874813" y="3671865"/>
            <a:ext cx="760781" cy="-120335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635594" y="3551530"/>
            <a:ext cx="760781" cy="-120335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396374" y="3431195"/>
            <a:ext cx="760781" cy="-120335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157155" y="3310860"/>
            <a:ext cx="760781" cy="-120335"/>
          </a:xfrm>
          <a:prstGeom prst="line">
            <a:avLst/>
          </a:prstGeom>
          <a:noFill/>
          <a:ln w="12700">
            <a:solidFill>
              <a:srgbClr val="1696E7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086600" y="3696005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847381" y="3644433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608162" y="3524098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368942" y="3403763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129723" y="3283428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890504" y="3163092"/>
            <a:ext cx="54864" cy="54864"/>
          </a:xfrm>
          <a:prstGeom prst="ellipse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957816" y="3236976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1696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E/N軸</a:t>
            </a:r>
            <a:endParaRPr lang="en-US" sz="1020" dirty="0"/>
          </a:p>
        </p:txBody>
      </p:sp>
      <p:sp>
        <p:nvSpPr>
          <p:cNvPr id="73" name="Text 71"/>
          <p:cNvSpPr/>
          <p:nvPr/>
        </p:nvSpPr>
        <p:spPr>
          <a:xfrm>
            <a:off x="8165592" y="4114800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条件軸</a:t>
            </a:r>
            <a:endParaRPr lang="en-US" sz="980" dirty="0"/>
          </a:p>
        </p:txBody>
      </p:sp>
      <p:sp>
        <p:nvSpPr>
          <p:cNvPr id="74" name="Text 72"/>
          <p:cNvSpPr/>
          <p:nvPr/>
        </p:nvSpPr>
        <p:spPr>
          <a:xfrm rot="16200000">
            <a:off x="6748272" y="281635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代表係数</a:t>
            </a:r>
            <a:endParaRPr lang="en-US" sz="920" dirty="0"/>
          </a:p>
        </p:txBody>
      </p:sp>
      <p:sp>
        <p:nvSpPr>
          <p:cNvPr id="75" name="Text 73"/>
          <p:cNvSpPr/>
          <p:nvPr/>
        </p:nvSpPr>
        <p:spPr>
          <a:xfrm>
            <a:off x="6839712" y="2843784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表現軸の比較イメージ</a:t>
            </a:r>
            <a:endParaRPr lang="en-US" sz="1020" dirty="0"/>
          </a:p>
        </p:txBody>
      </p:sp>
      <p:sp>
        <p:nvSpPr>
          <p:cNvPr id="76" name="Text 74"/>
          <p:cNvSpPr/>
          <p:nvPr/>
        </p:nvSpPr>
        <p:spPr>
          <a:xfrm>
            <a:off x="3931920" y="4389120"/>
            <a:ext cx="1325880" cy="201168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9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期待効果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3931920" y="4626864"/>
            <a:ext cx="7040880" cy="987552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F2994A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反応支配条件の比較がしやすくなる。</a:t>
            </a:r>
            <a:endParaRPr lang="en-US" sz="1440" dirty="0"/>
          </a:p>
          <a:p>
            <a:pPr indent="0" marL="0">
              <a:buNone/>
            </a:pPr>
            <a:r>
              <a:rPr lang="en-US" sz="144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ガス追加時は主に前段更新で対応しやすい。</a:t>
            </a:r>
            <a:endParaRPr lang="en-US" sz="1440" dirty="0"/>
          </a:p>
          <a:p>
            <a:pPr indent="0" marL="0">
              <a:buNone/>
            </a:pPr>
            <a:r>
              <a:rPr lang="en-US" sz="144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監査対象を絞り込める。</a:t>
            </a:r>
            <a:endParaRPr lang="en-US" sz="1440" dirty="0"/>
          </a:p>
        </p:txBody>
      </p:sp>
      <p:sp>
        <p:nvSpPr>
          <p:cNvPr id="78" name="Shape 76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27/30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活用事例3: 新規ガス追加と仮想評価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実施例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66974" y="1630924"/>
            <a:ext cx="128016" cy="24542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76165" y="1630924"/>
            <a:ext cx="128016" cy="24542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85355" y="1630924"/>
            <a:ext cx="128016" cy="24542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94546" y="1630924"/>
            <a:ext cx="128016" cy="24542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207008"/>
            <a:ext cx="1989734" cy="1115568"/>
          </a:xfrm>
          <a:prstGeom prst="roundRect">
            <a:avLst/>
          </a:prstGeom>
          <a:solidFill>
            <a:srgbClr val="FCEBEC"/>
          </a:solidFill>
          <a:ln>
            <a:solidFill>
              <a:srgbClr val="D94B4B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候補ガス追加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新成分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微量添加</a:t>
            </a:r>
            <a:endParaRPr lang="en-US" sz="1180" dirty="0"/>
          </a:p>
        </p:txBody>
      </p:sp>
      <p:sp>
        <p:nvSpPr>
          <p:cNvPr id="10" name="Text 8"/>
          <p:cNvSpPr/>
          <p:nvPr/>
        </p:nvSpPr>
        <p:spPr>
          <a:xfrm>
            <a:off x="777240" y="1252728"/>
            <a:ext cx="189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候補ガス追加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2940710" y="1207008"/>
            <a:ext cx="1989734" cy="11155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断面積登録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xs_set_id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2986430" y="1252728"/>
            <a:ext cx="189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断面積登録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5149901" y="1207008"/>
            <a:ext cx="1989734" cy="111556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swarm campaign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必要条件のみ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5195621" y="1252728"/>
            <a:ext cx="189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swarm campaign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7359091" y="1207008"/>
            <a:ext cx="1989734" cy="1115568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AI更新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前段優先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7404811" y="1252728"/>
            <a:ext cx="189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AI更新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9568282" y="1207008"/>
            <a:ext cx="1989734" cy="1115568"/>
          </a:xfrm>
          <a:prstGeom prst="roundRect">
            <a:avLst/>
          </a:prstGeom>
          <a:solidFill>
            <a:srgbClr val="F1EEFF"/>
          </a:solidFill>
          <a:ln>
            <a:solidFill>
              <a:srgbClr val="7A6FF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仮想評価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高/中/低信頼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9614002" y="1252728"/>
            <a:ext cx="189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仮想評価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749808" y="2596896"/>
            <a:ext cx="1325880" cy="201168"/>
          </a:xfrm>
          <a:prstGeom prst="roundRect">
            <a:avLst/>
          </a:prstGeom>
          <a:solidFill>
            <a:srgbClr val="FCEBEC"/>
          </a:solidFill>
          <a:ln>
            <a:solidFill>
              <a:srgbClr val="D94B4B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4B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従来課題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49808" y="2834640"/>
            <a:ext cx="3749040" cy="1335024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D94B4B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新規ガス追加のたびに、どこまで既存モデルが使えるか判断しにくい。</a:t>
            </a: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全条件を最初から計算すると時間と計算資源を要する。</a:t>
            </a:r>
            <a:endParaRPr lang="en-US" sz="1460" dirty="0"/>
          </a:p>
        </p:txBody>
      </p:sp>
      <p:sp>
        <p:nvSpPr>
          <p:cNvPr id="21" name="Text 19"/>
          <p:cNvSpPr/>
          <p:nvPr/>
        </p:nvSpPr>
        <p:spPr>
          <a:xfrm>
            <a:off x="4718304" y="2596896"/>
            <a:ext cx="1325880" cy="20116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A8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提案利用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18304" y="2834640"/>
            <a:ext cx="3749040" cy="1335024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2FA866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断面積品質と潜在距離を見ながら追加計算条件を選ぶ。</a:t>
            </a: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高信頼な条件は仮想比較へ、中低信頼は監査へ回す。</a:t>
            </a:r>
            <a:endParaRPr lang="en-US" sz="1460" dirty="0"/>
          </a:p>
        </p:txBody>
      </p:sp>
      <p:sp>
        <p:nvSpPr>
          <p:cNvPr id="23" name="Shape 21"/>
          <p:cNvSpPr/>
          <p:nvPr/>
        </p:nvSpPr>
        <p:spPr>
          <a:xfrm>
            <a:off x="8741664" y="2798064"/>
            <a:ext cx="2487168" cy="1408176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42832" y="2999232"/>
            <a:ext cx="868680" cy="100584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43416" y="3200400"/>
            <a:ext cx="201168" cy="201168"/>
          </a:xfrm>
          <a:prstGeom prst="ellipse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08592" y="31821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107424" y="3493008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そのまま比較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9637776" y="2999232"/>
            <a:ext cx="868680" cy="100584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38360" y="3200400"/>
            <a:ext cx="201168" cy="201168"/>
          </a:xfrm>
          <a:prstGeom prst="ellipse">
            <a:avLst/>
          </a:prstGeom>
          <a:solidFill>
            <a:srgbClr val="F3C64E"/>
          </a:solidFill>
          <a:ln w="12700">
            <a:solidFill>
              <a:srgbClr val="F3C64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03536" y="31821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802368" y="3493008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監査推奨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10332720" y="2999232"/>
            <a:ext cx="868680" cy="100584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433304" y="3200400"/>
            <a:ext cx="201168" cy="201168"/>
          </a:xfrm>
          <a:prstGeom prst="ellipse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698480" y="31821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0497312" y="3493008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再計算へ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841248" y="4590288"/>
            <a:ext cx="2907792" cy="1207008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225296" y="5413248"/>
            <a:ext cx="2359152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225296" y="4846320"/>
            <a:ext cx="0" cy="566928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225296" y="5413248"/>
            <a:ext cx="23591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225296" y="5271516"/>
            <a:ext cx="23591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225296" y="5129784"/>
            <a:ext cx="23591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225296" y="4988052"/>
            <a:ext cx="23591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225296" y="4846320"/>
            <a:ext cx="23591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659636" y="4868997"/>
            <a:ext cx="310896" cy="544251"/>
          </a:xfrm>
          <a:prstGeom prst="rect">
            <a:avLst/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549908" y="544982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全探索</a:t>
            </a:r>
            <a:endParaRPr lang="en-US" sz="1020" dirty="0"/>
          </a:p>
        </p:txBody>
      </p:sp>
      <p:sp>
        <p:nvSpPr>
          <p:cNvPr id="46" name="Shape 44"/>
          <p:cNvSpPr/>
          <p:nvPr/>
        </p:nvSpPr>
        <p:spPr>
          <a:xfrm>
            <a:off x="2839212" y="5163800"/>
            <a:ext cx="310896" cy="249448"/>
          </a:xfrm>
          <a:prstGeom prst="rect">
            <a:avLst/>
          </a:prstGeom>
          <a:solidFill>
            <a:srgbClr val="2FA866"/>
          </a:solidFill>
          <a:ln w="12700">
            <a:solidFill>
              <a:srgbClr val="2FA86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29484" y="544982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選択追加</a:t>
            </a:r>
            <a:endParaRPr lang="en-US" sz="1020" dirty="0"/>
          </a:p>
        </p:txBody>
      </p:sp>
      <p:sp>
        <p:nvSpPr>
          <p:cNvPr id="48" name="Text 46"/>
          <p:cNvSpPr/>
          <p:nvPr/>
        </p:nvSpPr>
        <p:spPr>
          <a:xfrm>
            <a:off x="950976" y="4636008"/>
            <a:ext cx="2688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計算投入量（概念図）</a:t>
            </a:r>
            <a:endParaRPr lang="en-US" sz="1020" dirty="0"/>
          </a:p>
        </p:txBody>
      </p:sp>
      <p:sp>
        <p:nvSpPr>
          <p:cNvPr id="49" name="Shape 47"/>
          <p:cNvSpPr/>
          <p:nvPr/>
        </p:nvSpPr>
        <p:spPr>
          <a:xfrm>
            <a:off x="4151376" y="4590288"/>
            <a:ext cx="2907792" cy="1207008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35424" y="5413248"/>
            <a:ext cx="2359152" cy="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35424" y="4846320"/>
            <a:ext cx="0" cy="566928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35424" y="5413248"/>
            <a:ext cx="23591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35424" y="5271516"/>
            <a:ext cx="23591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35424" y="5129784"/>
            <a:ext cx="23591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35424" y="4988052"/>
            <a:ext cx="23591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535424" y="4846320"/>
            <a:ext cx="23591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969764" y="4925690"/>
            <a:ext cx="310896" cy="487558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60036" y="544982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再学習範囲</a:t>
            </a:r>
            <a:endParaRPr lang="en-US" sz="1020" dirty="0"/>
          </a:p>
        </p:txBody>
      </p:sp>
      <p:sp>
        <p:nvSpPr>
          <p:cNvPr id="59" name="Shape 57"/>
          <p:cNvSpPr/>
          <p:nvPr/>
        </p:nvSpPr>
        <p:spPr>
          <a:xfrm>
            <a:off x="6149340" y="5197815"/>
            <a:ext cx="310896" cy="215433"/>
          </a:xfrm>
          <a:prstGeom prst="rect">
            <a:avLst/>
          </a:prstGeom>
          <a:solidFill>
            <a:srgbClr val="1696E7"/>
          </a:solidFill>
          <a:ln w="12700">
            <a:solidFill>
              <a:srgbClr val="1696E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039612" y="544982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前段のみ</a:t>
            </a:r>
            <a:endParaRPr lang="en-US" sz="1020" dirty="0"/>
          </a:p>
        </p:txBody>
      </p:sp>
      <p:sp>
        <p:nvSpPr>
          <p:cNvPr id="61" name="Text 59"/>
          <p:cNvSpPr/>
          <p:nvPr/>
        </p:nvSpPr>
        <p:spPr>
          <a:xfrm>
            <a:off x="4261104" y="4636008"/>
            <a:ext cx="2688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更新範囲（概念図）</a:t>
            </a:r>
            <a:endParaRPr lang="en-US" sz="1020" dirty="0"/>
          </a:p>
        </p:txBody>
      </p:sp>
      <p:sp>
        <p:nvSpPr>
          <p:cNvPr id="62" name="Text 60"/>
          <p:cNvSpPr/>
          <p:nvPr/>
        </p:nvSpPr>
        <p:spPr>
          <a:xfrm>
            <a:off x="7388352" y="4535424"/>
            <a:ext cx="3785616" cy="1261872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F2994A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価値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新規ガス追加を「全部作り直し」ではなく、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「必要部分だけ拡張」に変える。</a:t>
            </a:r>
            <a:endParaRPr lang="en-US" sz="1500" dirty="0"/>
          </a:p>
        </p:txBody>
      </p:sp>
      <p:sp>
        <p:nvSpPr>
          <p:cNvPr id="63" name="Shape 61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28/30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請求項例（たたき台）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クレーム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166360" y="1097280"/>
            <a:ext cx="1920240" cy="768096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発明の芯</a:t>
            </a:r>
            <a:endParaRPr lang="en-US" sz="1420" dirty="0"/>
          </a:p>
          <a:p>
            <a:pPr algn="ctr" indent="0" marL="0">
              <a:buNone/>
            </a:pPr>
            <a:r>
              <a:rPr lang="en-US" sz="14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断面積登録 + swarm係数表 +</a:t>
            </a:r>
            <a:endParaRPr lang="en-US" sz="1420" dirty="0"/>
          </a:p>
          <a:p>
            <a:pPr algn="ctr" indent="0" marL="0">
              <a:buNone/>
            </a:pPr>
            <a:r>
              <a:rPr lang="en-US" sz="14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物理潜在表現 + 二段AI + 信頼度</a:t>
            </a:r>
            <a:endParaRPr lang="en-US" sz="1420" dirty="0"/>
          </a:p>
        </p:txBody>
      </p:sp>
      <p:sp>
        <p:nvSpPr>
          <p:cNvPr id="6" name="Shape 4"/>
          <p:cNvSpPr/>
          <p:nvPr/>
        </p:nvSpPr>
        <p:spPr>
          <a:xfrm>
            <a:off x="6126480" y="1956816"/>
            <a:ext cx="-3895344" cy="77724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126480" y="1956816"/>
            <a:ext cx="-91440" cy="77724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126480" y="1956816"/>
            <a:ext cx="3803904" cy="777240"/>
          </a:xfrm>
          <a:prstGeom prst="line">
            <a:avLst/>
          </a:prstGeom>
          <a:noFill/>
          <a:ln w="12700">
            <a:solidFill>
              <a:srgbClr val="9BA7B4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950976" y="1956816"/>
            <a:ext cx="781812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96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方法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50976" y="2194560"/>
            <a:ext cx="1737360" cy="1207008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1696E7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データ登録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swarm実行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特徴量生成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AI1/AI2推論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57800" y="1956816"/>
            <a:ext cx="781812" cy="20116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A8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257800" y="2194560"/>
            <a:ext cx="1737360" cy="1207008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2FA866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レジストリ部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実行計画部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AI1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AI2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信頼度部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564624" y="1956816"/>
            <a:ext cx="781812" cy="201168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9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プログラム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29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記録媒体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564624" y="2194560"/>
            <a:ext cx="1737360" cy="1207008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F2994A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各工程を実行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モデル更新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監査ログ出力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8096" y="3639312"/>
            <a:ext cx="132588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96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方法クレームの芯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68096" y="3877056"/>
            <a:ext cx="5065776" cy="1901952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1696E7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断面積データセットを識別子付きで登録する。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swarm シミュレーションで輸送係数・反応係数を取得する。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係数曲線群からガス効果潜在表現を生成する。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第1AIで係数を、第2AIで空間場を推定する。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信頼度指標を算出し、結果とともに出力する。</a:t>
            </a:r>
            <a:endParaRPr lang="en-US" sz="1420" dirty="0"/>
          </a:p>
        </p:txBody>
      </p:sp>
      <p:sp>
        <p:nvSpPr>
          <p:cNvPr id="17" name="Text 15"/>
          <p:cNvSpPr/>
          <p:nvPr/>
        </p:nvSpPr>
        <p:spPr>
          <a:xfrm>
            <a:off x="6126480" y="3639312"/>
            <a:ext cx="1325880" cy="20116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A8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従属項の候補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26480" y="3877056"/>
            <a:ext cx="5065776" cy="1901952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2FA866"/>
            </a:solidFill>
          </a:ln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組成特徴量として ilr / clr を用いる。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EN表と平均電子エネルギー表を併用する。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flux / bulk を区別して保持する。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反応効果として grouped rate / 競合指標 / しきい値感度を用いる。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active learning により追加計算条件を選定する。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29/30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9B9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新規性・進歩性・有用性のまとめ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0" y="201168"/>
            <a:ext cx="960120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9536" y="1115568"/>
            <a:ext cx="3255264" cy="201168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96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新規性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68096" y="1371600"/>
            <a:ext cx="3438144" cy="1792224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1696E7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断面積レジストリを起点にするデータ構成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swarm係数曲線を潜在表現化してガス効果を扱う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予測値と信頼度を同時出力する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480560" y="1115568"/>
            <a:ext cx="3255264" cy="201168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A8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進歩性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389120" y="1371600"/>
            <a:ext cx="3438144" cy="1792224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2FA866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ガス名直入力から物理表現入力へ転換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AI1/AI2分離で更新対象と誤差原因を切り分け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監査性をシステム要件へ組み込む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01584" y="1115568"/>
            <a:ext cx="3255264" cy="201168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9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有用性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10144" y="1371600"/>
            <a:ext cx="3438144" cy="1792224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F2994A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新規ガスや微量添加の比較を高速化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高コスト計算の投入先を限定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審査官・弁理士・製造技術者が説明しやすい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07992" y="4110411"/>
            <a:ext cx="164592" cy="20921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79208" y="4110411"/>
            <a:ext cx="164592" cy="209215"/>
          </a:xfrm>
          <a:prstGeom prst="chevron">
            <a:avLst/>
          </a:prstGeom>
          <a:solidFill>
            <a:srgbClr val="77CCFF"/>
          </a:solidFill>
          <a:ln w="12700">
            <a:solidFill>
              <a:srgbClr val="77C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20240" y="3749040"/>
            <a:ext cx="2468880" cy="950976"/>
          </a:xfrm>
          <a:prstGeom prst="roundRect">
            <a:avLst/>
          </a:prstGeom>
          <a:solidFill>
            <a:srgbClr val="EEF8FF"/>
          </a:solidFill>
          <a:ln>
            <a:solidFill>
              <a:srgbClr val="1696E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審査官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発明の芯が見える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1965960" y="37947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審査官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4791456" y="3749040"/>
            <a:ext cx="2468880" cy="950976"/>
          </a:xfrm>
          <a:prstGeom prst="roundRect">
            <a:avLst/>
          </a:prstGeom>
          <a:solidFill>
            <a:srgbClr val="EAF7EF"/>
          </a:solidFill>
          <a:ln>
            <a:solidFill>
              <a:srgbClr val="2FA866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弁理士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クレームの軸が立つ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4837176" y="37947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弁理士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7662672" y="3749040"/>
            <a:ext cx="2468880" cy="950976"/>
          </a:xfrm>
          <a:prstGeom prst="roundRect">
            <a:avLst/>
          </a:prstGeom>
          <a:solidFill>
            <a:srgbClr val="FFF1E4"/>
          </a:solidFill>
          <a:ln>
            <a:solidFill>
              <a:srgbClr val="F2994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製造技術者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運用価値が把握できる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7708392" y="37947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4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製造技術者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1078992" y="4992624"/>
            <a:ext cx="10040112" cy="987552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7A6FF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最終メッセージ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「AIだから強い」ではなく、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「入力データの作り方・特徴量・信頼度設計」が発明の芯である。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0" y="6519672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30/30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断面積レジストリとswarm由来輸送表現に基づく低圧プラズマ予測技術</dc:title>
  <dc:subject>低圧プラズマ予測技術の特許開示スライド</dc:subject>
  <dc:creator>OpenAI</dc:creator>
  <cp:lastModifiedBy>OpenAI</cp:lastModifiedBy>
  <cp:revision>1</cp:revision>
  <dcterms:created xsi:type="dcterms:W3CDTF">2026-03-09T22:45:27Z</dcterms:created>
  <dcterms:modified xsi:type="dcterms:W3CDTF">2026-03-09T22:45:27Z</dcterms:modified>
</cp:coreProperties>
</file>
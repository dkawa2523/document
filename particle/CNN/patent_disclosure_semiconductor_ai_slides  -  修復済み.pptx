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43820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表紙および概念図は本会話の技術内容から作図。</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背景・目的の整理はユーザー提供の特許素材と技術議論を基に要約。</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定量値は current attached CSV の監査値を使用。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パターン family 名は current attached CSV の label/canonical pattern id に基づく。</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- 4象限はユーザー指定の構成に沿って再編。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画像分類カテゴリの説明は一般カテゴリ整理。</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点群/GNN/SPCは一般カテゴリ整理。</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運用・装置連携の整理は一般的カテゴリに基づく。</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粒子数ヒストグラムは current attached CSV の集計値に基づく。</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空間×サイズの分解は本会話の提案手法の中心概念。</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制約の一部は current attached CSV と技術仕様に基づく。</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全体像は prior technical materials を slide 化。</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現添付CSVで確認できる列と、提案した拡張列を区別して記載。</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dual-grid と size bins は target_builder.py の設計を基に整理。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教師定義は patent material と target_builder/hssfnet の設計を統合。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HSSFNet-v2 構成は hssfnet.py の設計を反映。</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因子分解式は hssfnet の forward 設計に基づく説明用表現。</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閾値名称 U1 等は説明用。実運用値は要確認。</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MarkedMixture は marked_mixture.py の設計を基に図式化。</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二段構えの設計思想を patent narrative 向けに整理。</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比較評価は本会話の技術整理に基づく定性的比較。</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課題と手段の対応は特許説明用に整理。</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活用事例は技術内容からの想定例。具体工程は匿名化。</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装置活用例は一般化・匿名化した想定。</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レビュー優先度付けは uncertainty gating の代表用途。</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装置設計FBは本技術の価値訴求点として想定。</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新規性/進歩性の整理は先行調査前の差分候補。</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請求項例は法的助言ではなく説明素材のたたき台。</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請求項例は patent_material_semiconductor_ai.md の内容を簡略化。</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description in this conversation.
- User-provided files: particles.csv, samples.csv (current attached version) for dataset facts and schema.
- Local working materials: patent_material_semiconductor_ai.md, updated_ml_spec.md.
- Local code skeletons: target_builder.py, hssfnet.py, marked_mixture.py.
- External images/non-trivial external claims: none.
- KPIは期待方向の例示であり、実測値ではない。</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960120"/>
            <a:ext cx="5669280" cy="914400"/>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半導体製造×AI</a:t>
            </a:r>
            <a:endParaRPr lang="en-US" sz="2800" dirty="0"/>
          </a:p>
          <a:p>
            <a:pPr marL="0" indent="0">
              <a:buNone/>
            </a:pPr>
            <a:r>
              <a:rPr lang="en-US" sz="2800" dirty="0">
                <a:solidFill>
                  <a:srgbClr val="4FC3F7"/>
                </a:solidFill>
                <a:latin typeface="Meiryo" pitchFamily="34" charset="0"/>
                <a:ea typeface="Meiryo" pitchFamily="34" charset="-122"/>
                <a:cs typeface="Meiryo" pitchFamily="34" charset="-120"/>
              </a:rPr>
              <a:t>特許開示書ドラフト</a:t>
            </a:r>
            <a:endParaRPr lang="en-US" sz="2800" dirty="0"/>
          </a:p>
        </p:txBody>
      </p:sp>
      <p:sp>
        <p:nvSpPr>
          <p:cNvPr id="3" name="Text 1"/>
          <p:cNvSpPr/>
          <p:nvPr/>
        </p:nvSpPr>
        <p:spPr>
          <a:xfrm>
            <a:off x="713232" y="1847088"/>
            <a:ext cx="5577840" cy="685800"/>
          </a:xfrm>
          <a:prstGeom prst="rect">
            <a:avLst/>
          </a:prstGeom>
          <a:noFill/>
          <a:ln/>
        </p:spPr>
        <p:txBody>
          <a:bodyPr wrap="square" lIns="0" tIns="0" rIns="0" bIns="0" rtlCol="0" anchor="ctr"/>
          <a:lstStyle/>
          <a:p>
            <a:pPr marL="0" indent="0">
              <a:buNone/>
            </a:pPr>
            <a:r>
              <a:rPr lang="en-US" sz="1800" dirty="0">
                <a:solidFill>
                  <a:srgbClr val="111111"/>
                </a:solidFill>
                <a:latin typeface="Meiryo" pitchFamily="34" charset="0"/>
                <a:ea typeface="Meiryo" pitchFamily="34" charset="-122"/>
                <a:cs typeface="Meiryo" pitchFamily="34" charset="-120"/>
              </a:rPr>
              <a:t>ウェハ付着粒子の空間×サイズ因子化解析</a:t>
            </a:r>
            <a:endParaRPr lang="en-US" sz="1800" dirty="0"/>
          </a:p>
          <a:p>
            <a:pPr marL="0" indent="0">
              <a:buNone/>
            </a:pPr>
            <a:r>
              <a:rPr lang="en-US" sz="1800" dirty="0">
                <a:solidFill>
                  <a:srgbClr val="111111"/>
                </a:solidFill>
                <a:latin typeface="Meiryo" pitchFamily="34" charset="0"/>
                <a:ea typeface="Meiryo" pitchFamily="34" charset="-122"/>
                <a:cs typeface="Meiryo" pitchFamily="34" charset="-120"/>
              </a:rPr>
              <a:t>— 背景、従来課題、提案手法、活用、請求項例 —</a:t>
            </a:r>
            <a:endParaRPr lang="en-US" sz="1800" dirty="0"/>
          </a:p>
        </p:txBody>
      </p:sp>
      <p:sp>
        <p:nvSpPr>
          <p:cNvPr id="4" name="Shape 2"/>
          <p:cNvSpPr/>
          <p:nvPr/>
        </p:nvSpPr>
        <p:spPr>
          <a:xfrm>
            <a:off x="713232" y="2697480"/>
            <a:ext cx="1143000" cy="237744"/>
          </a:xfrm>
          <a:prstGeom prst="roundRect">
            <a:avLst>
              <a:gd name="adj" fmla="val 30769"/>
            </a:avLst>
          </a:prstGeom>
          <a:solidFill>
            <a:srgbClr val="0B3C5D"/>
          </a:solidFill>
          <a:ln w="12700">
            <a:solidFill>
              <a:srgbClr val="0B3C5D"/>
            </a:solidFill>
            <a:prstDash val="solid"/>
          </a:ln>
        </p:spPr>
      </p:sp>
      <p:sp>
        <p:nvSpPr>
          <p:cNvPr id="5" name="Text 3"/>
          <p:cNvSpPr/>
          <p:nvPr/>
        </p:nvSpPr>
        <p:spPr>
          <a:xfrm>
            <a:off x="713232" y="2724912"/>
            <a:ext cx="1143000"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特許説明素材</a:t>
            </a:r>
            <a:endParaRPr lang="en-US" sz="1050" dirty="0"/>
          </a:p>
        </p:txBody>
      </p:sp>
      <p:sp>
        <p:nvSpPr>
          <p:cNvPr id="6" name="Shape 4"/>
          <p:cNvSpPr/>
          <p:nvPr/>
        </p:nvSpPr>
        <p:spPr>
          <a:xfrm>
            <a:off x="1938528" y="2697480"/>
            <a:ext cx="1051560" cy="237744"/>
          </a:xfrm>
          <a:prstGeom prst="roundRect">
            <a:avLst>
              <a:gd name="adj" fmla="val 30769"/>
            </a:avLst>
          </a:prstGeom>
          <a:solidFill>
            <a:srgbClr val="4FC3F7"/>
          </a:solidFill>
          <a:ln w="12700">
            <a:solidFill>
              <a:srgbClr val="4FC3F7"/>
            </a:solidFill>
            <a:prstDash val="solid"/>
          </a:ln>
        </p:spPr>
      </p:sp>
      <p:sp>
        <p:nvSpPr>
          <p:cNvPr id="7" name="Text 5"/>
          <p:cNvSpPr/>
          <p:nvPr/>
        </p:nvSpPr>
        <p:spPr>
          <a:xfrm>
            <a:off x="1938528" y="2724912"/>
            <a:ext cx="1051560" cy="146304"/>
          </a:xfrm>
          <a:prstGeom prst="rect">
            <a:avLst/>
          </a:prstGeom>
          <a:noFill/>
          <a:ln/>
        </p:spPr>
        <p:txBody>
          <a:bodyPr wrap="square" lIns="0" tIns="0" rIns="0" bIns="0" rtlCol="0" anchor="ctr">
            <a:normAutofit/>
          </a:bodyPr>
          <a:lstStyle/>
          <a:p>
            <a:pPr marL="0" indent="0" algn="ctr">
              <a:buNone/>
            </a:pPr>
            <a:r>
              <a:rPr lang="en-US" sz="1050" dirty="0">
                <a:solidFill>
                  <a:srgbClr val="0B3C5D"/>
                </a:solidFill>
                <a:latin typeface="Meiryo" pitchFamily="34" charset="0"/>
                <a:ea typeface="Meiryo" pitchFamily="34" charset="-122"/>
                <a:cs typeface="Meiryo" pitchFamily="34" charset="-120"/>
              </a:rPr>
              <a:t>半導体製造</a:t>
            </a:r>
            <a:endParaRPr lang="en-US" sz="1050" dirty="0"/>
          </a:p>
        </p:txBody>
      </p:sp>
      <p:sp>
        <p:nvSpPr>
          <p:cNvPr id="8" name="Shape 6"/>
          <p:cNvSpPr/>
          <p:nvPr/>
        </p:nvSpPr>
        <p:spPr>
          <a:xfrm>
            <a:off x="3090672" y="2697480"/>
            <a:ext cx="822960" cy="237744"/>
          </a:xfrm>
          <a:prstGeom prst="roundRect">
            <a:avLst>
              <a:gd name="adj" fmla="val 30769"/>
            </a:avLst>
          </a:prstGeom>
          <a:solidFill>
            <a:srgbClr val="2A9D8F"/>
          </a:solidFill>
          <a:ln w="12700">
            <a:solidFill>
              <a:srgbClr val="2A9D8F"/>
            </a:solidFill>
            <a:prstDash val="solid"/>
          </a:ln>
        </p:spPr>
      </p:sp>
      <p:sp>
        <p:nvSpPr>
          <p:cNvPr id="9" name="Text 7"/>
          <p:cNvSpPr/>
          <p:nvPr/>
        </p:nvSpPr>
        <p:spPr>
          <a:xfrm>
            <a:off x="3090672" y="2724912"/>
            <a:ext cx="822960"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AI解析</a:t>
            </a:r>
            <a:endParaRPr lang="en-US" sz="1050" dirty="0"/>
          </a:p>
        </p:txBody>
      </p:sp>
      <p:sp>
        <p:nvSpPr>
          <p:cNvPr id="10" name="Shape 8"/>
          <p:cNvSpPr/>
          <p:nvPr/>
        </p:nvSpPr>
        <p:spPr>
          <a:xfrm>
            <a:off x="4014216" y="2697480"/>
            <a:ext cx="1143000" cy="237744"/>
          </a:xfrm>
          <a:prstGeom prst="roundRect">
            <a:avLst>
              <a:gd name="adj" fmla="val 30769"/>
            </a:avLst>
          </a:prstGeom>
          <a:solidFill>
            <a:srgbClr val="F4A261"/>
          </a:solidFill>
          <a:ln w="12700">
            <a:solidFill>
              <a:srgbClr val="F4A261"/>
            </a:solidFill>
            <a:prstDash val="solid"/>
          </a:ln>
        </p:spPr>
      </p:sp>
      <p:sp>
        <p:nvSpPr>
          <p:cNvPr id="11" name="Text 9"/>
          <p:cNvSpPr/>
          <p:nvPr/>
        </p:nvSpPr>
        <p:spPr>
          <a:xfrm>
            <a:off x="4014216" y="2724912"/>
            <a:ext cx="1143000" cy="146304"/>
          </a:xfrm>
          <a:prstGeom prst="rect">
            <a:avLst/>
          </a:prstGeom>
          <a:noFill/>
          <a:ln/>
        </p:spPr>
        <p:txBody>
          <a:bodyPr wrap="square" lIns="0" tIns="0" rIns="0" bIns="0" rtlCol="0" anchor="ctr">
            <a:normAutofit/>
          </a:bodyPr>
          <a:lstStyle/>
          <a:p>
            <a:pPr marL="0" indent="0" algn="ctr">
              <a:buNone/>
            </a:pPr>
            <a:r>
              <a:rPr lang="en-US" sz="1050" dirty="0">
                <a:solidFill>
                  <a:srgbClr val="0B3C5D"/>
                </a:solidFill>
                <a:latin typeface="Meiryo" pitchFamily="34" charset="0"/>
                <a:ea typeface="Meiryo" pitchFamily="34" charset="-122"/>
                <a:cs typeface="Meiryo" pitchFamily="34" charset="-120"/>
              </a:rPr>
              <a:t>低粒子数対応</a:t>
            </a:r>
            <a:endParaRPr lang="en-US" sz="1050" dirty="0"/>
          </a:p>
        </p:txBody>
      </p:sp>
      <p:sp>
        <p:nvSpPr>
          <p:cNvPr id="12" name="Shape 10"/>
          <p:cNvSpPr/>
          <p:nvPr/>
        </p:nvSpPr>
        <p:spPr>
          <a:xfrm>
            <a:off x="6537960" y="868680"/>
            <a:ext cx="4892040" cy="5074920"/>
          </a:xfrm>
          <a:prstGeom prst="roundRect">
            <a:avLst>
              <a:gd name="adj" fmla="val 1121"/>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13" name="Shape 11"/>
          <p:cNvSpPr/>
          <p:nvPr/>
        </p:nvSpPr>
        <p:spPr>
          <a:xfrm>
            <a:off x="7360920" y="1508760"/>
            <a:ext cx="2057400" cy="2057400"/>
          </a:xfrm>
          <a:prstGeom prst="ellipse">
            <a:avLst/>
          </a:prstGeom>
          <a:solidFill>
            <a:srgbClr val="FFFFFF"/>
          </a:solidFill>
          <a:ln w="12700">
            <a:solidFill>
              <a:srgbClr val="BBC9D1"/>
            </a:solidFill>
            <a:prstDash val="solid"/>
          </a:ln>
        </p:spPr>
      </p:sp>
      <p:sp>
        <p:nvSpPr>
          <p:cNvPr id="14" name="Shape 12"/>
          <p:cNvSpPr/>
          <p:nvPr/>
        </p:nvSpPr>
        <p:spPr>
          <a:xfrm>
            <a:off x="7731252" y="1879092"/>
            <a:ext cx="1316736" cy="1316736"/>
          </a:xfrm>
          <a:prstGeom prst="donut">
            <a:avLst/>
          </a:prstGeom>
          <a:solidFill>
            <a:srgbClr val="4FC3F7">
              <a:alpha val="45000"/>
            </a:srgbClr>
          </a:solidFill>
          <a:ln w="12700">
            <a:solidFill>
              <a:srgbClr val="4FC3F7"/>
            </a:solidFill>
            <a:prstDash val="solid"/>
          </a:ln>
        </p:spPr>
      </p:sp>
      <p:sp>
        <p:nvSpPr>
          <p:cNvPr id="15" name="Shape 13"/>
          <p:cNvSpPr/>
          <p:nvPr/>
        </p:nvSpPr>
        <p:spPr>
          <a:xfrm>
            <a:off x="8595360" y="2084832"/>
            <a:ext cx="370332" cy="370332"/>
          </a:xfrm>
          <a:prstGeom prst="ellipse">
            <a:avLst/>
          </a:prstGeom>
          <a:solidFill>
            <a:srgbClr val="E76F51">
              <a:alpha val="90000"/>
            </a:srgbClr>
          </a:solidFill>
          <a:ln w="12700">
            <a:solidFill>
              <a:srgbClr val="E76F51"/>
            </a:solidFill>
            <a:prstDash val="solid"/>
          </a:ln>
        </p:spPr>
      </p:sp>
      <p:sp>
        <p:nvSpPr>
          <p:cNvPr id="16" name="Shape 14"/>
          <p:cNvSpPr/>
          <p:nvPr/>
        </p:nvSpPr>
        <p:spPr>
          <a:xfrm>
            <a:off x="9555480" y="2130552"/>
            <a:ext cx="411480" cy="292608"/>
          </a:xfrm>
          <a:prstGeom prst="chevron">
            <a:avLst/>
          </a:prstGeom>
          <a:solidFill>
            <a:srgbClr val="4FC3F7"/>
          </a:solidFill>
          <a:ln w="12700">
            <a:solidFill>
              <a:srgbClr val="4FC3F7"/>
            </a:solidFill>
            <a:prstDash val="solid"/>
          </a:ln>
        </p:spPr>
      </p:sp>
      <p:sp>
        <p:nvSpPr>
          <p:cNvPr id="17" name="Shape 15"/>
          <p:cNvSpPr/>
          <p:nvPr/>
        </p:nvSpPr>
        <p:spPr>
          <a:xfrm>
            <a:off x="10012680" y="1600200"/>
            <a:ext cx="1005840" cy="502920"/>
          </a:xfrm>
          <a:prstGeom prst="roundRect">
            <a:avLst>
              <a:gd name="adj" fmla="val 10909"/>
            </a:avLst>
          </a:prstGeom>
          <a:solidFill>
            <a:srgbClr val="FFFFFF"/>
          </a:solidFill>
          <a:ln w="12700">
            <a:solidFill>
              <a:srgbClr val="CAD8E0"/>
            </a:solidFill>
            <a:prstDash val="solid"/>
          </a:ln>
        </p:spPr>
      </p:sp>
      <p:sp>
        <p:nvSpPr>
          <p:cNvPr id="18" name="Text 16"/>
          <p:cNvSpPr/>
          <p:nvPr/>
        </p:nvSpPr>
        <p:spPr>
          <a:xfrm>
            <a:off x="10140696" y="1673352"/>
            <a:ext cx="7498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粒子表</a:t>
            </a:r>
            <a:endParaRPr lang="en-US" sz="1400" dirty="0"/>
          </a:p>
        </p:txBody>
      </p:sp>
      <p:sp>
        <p:nvSpPr>
          <p:cNvPr id="19" name="Shape 17"/>
          <p:cNvSpPr/>
          <p:nvPr/>
        </p:nvSpPr>
        <p:spPr>
          <a:xfrm>
            <a:off x="10012680" y="2240280"/>
            <a:ext cx="1005840" cy="502920"/>
          </a:xfrm>
          <a:prstGeom prst="roundRect">
            <a:avLst>
              <a:gd name="adj" fmla="val 10909"/>
            </a:avLst>
          </a:prstGeom>
          <a:solidFill>
            <a:srgbClr val="FFFFFF"/>
          </a:solidFill>
          <a:ln w="12700">
            <a:solidFill>
              <a:srgbClr val="CAD8E0"/>
            </a:solidFill>
            <a:prstDash val="solid"/>
          </a:ln>
        </p:spPr>
      </p:sp>
      <p:sp>
        <p:nvSpPr>
          <p:cNvPr id="20" name="Text 18"/>
          <p:cNvSpPr/>
          <p:nvPr/>
        </p:nvSpPr>
        <p:spPr>
          <a:xfrm>
            <a:off x="10140696" y="2313432"/>
            <a:ext cx="7498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dual-grid</a:t>
            </a:r>
            <a:endParaRPr lang="en-US" sz="1400" dirty="0"/>
          </a:p>
        </p:txBody>
      </p:sp>
      <p:sp>
        <p:nvSpPr>
          <p:cNvPr id="21" name="Shape 19"/>
          <p:cNvSpPr/>
          <p:nvPr/>
        </p:nvSpPr>
        <p:spPr>
          <a:xfrm>
            <a:off x="10012680" y="2880360"/>
            <a:ext cx="1005840" cy="502920"/>
          </a:xfrm>
          <a:prstGeom prst="roundRect">
            <a:avLst>
              <a:gd name="adj" fmla="val 10909"/>
            </a:avLst>
          </a:prstGeom>
          <a:solidFill>
            <a:srgbClr val="FFFFFF"/>
          </a:solidFill>
          <a:ln w="12700">
            <a:solidFill>
              <a:srgbClr val="CAD8E0"/>
            </a:solidFill>
            <a:prstDash val="solid"/>
          </a:ln>
        </p:spPr>
      </p:sp>
      <p:sp>
        <p:nvSpPr>
          <p:cNvPr id="22" name="Text 20"/>
          <p:cNvSpPr/>
          <p:nvPr/>
        </p:nvSpPr>
        <p:spPr>
          <a:xfrm>
            <a:off x="10140696" y="2953512"/>
            <a:ext cx="7498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HSSF</a:t>
            </a:r>
            <a:endParaRPr lang="en-US" sz="1400" dirty="0"/>
          </a:p>
        </p:txBody>
      </p:sp>
      <p:sp>
        <p:nvSpPr>
          <p:cNvPr id="23" name="Shape 21"/>
          <p:cNvSpPr/>
          <p:nvPr/>
        </p:nvSpPr>
        <p:spPr>
          <a:xfrm>
            <a:off x="10012680" y="3520440"/>
            <a:ext cx="1005840" cy="502920"/>
          </a:xfrm>
          <a:prstGeom prst="roundRect">
            <a:avLst>
              <a:gd name="adj" fmla="val 10909"/>
            </a:avLst>
          </a:prstGeom>
          <a:solidFill>
            <a:srgbClr val="FFFFFF"/>
          </a:solidFill>
          <a:ln w="12700">
            <a:solidFill>
              <a:srgbClr val="CAD8E0"/>
            </a:solidFill>
            <a:prstDash val="solid"/>
          </a:ln>
        </p:spPr>
      </p:sp>
      <p:sp>
        <p:nvSpPr>
          <p:cNvPr id="24" name="Text 22"/>
          <p:cNvSpPr/>
          <p:nvPr/>
        </p:nvSpPr>
        <p:spPr>
          <a:xfrm>
            <a:off x="10140696" y="3593592"/>
            <a:ext cx="7498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Mixture</a:t>
            </a:r>
            <a:endParaRPr lang="en-US" sz="1400" dirty="0"/>
          </a:p>
        </p:txBody>
      </p:sp>
      <p:sp>
        <p:nvSpPr>
          <p:cNvPr id="25" name="Shape 23"/>
          <p:cNvSpPr/>
          <p:nvPr/>
        </p:nvSpPr>
        <p:spPr>
          <a:xfrm>
            <a:off x="10515600" y="2103120"/>
            <a:ext cx="0" cy="137160"/>
          </a:xfrm>
          <a:prstGeom prst="line">
            <a:avLst/>
          </a:prstGeom>
          <a:noFill/>
          <a:ln w="12700">
            <a:solidFill>
              <a:srgbClr val="D7E3EA"/>
            </a:solidFill>
            <a:prstDash val="solid"/>
          </a:ln>
        </p:spPr>
      </p:sp>
      <p:sp>
        <p:nvSpPr>
          <p:cNvPr id="26" name="Shape 24"/>
          <p:cNvSpPr/>
          <p:nvPr/>
        </p:nvSpPr>
        <p:spPr>
          <a:xfrm>
            <a:off x="10515600" y="2743200"/>
            <a:ext cx="0" cy="137160"/>
          </a:xfrm>
          <a:prstGeom prst="line">
            <a:avLst/>
          </a:prstGeom>
          <a:noFill/>
          <a:ln w="12700">
            <a:solidFill>
              <a:srgbClr val="D7E3EA"/>
            </a:solidFill>
            <a:prstDash val="solid"/>
          </a:ln>
        </p:spPr>
      </p:sp>
      <p:sp>
        <p:nvSpPr>
          <p:cNvPr id="27" name="Shape 25"/>
          <p:cNvSpPr/>
          <p:nvPr/>
        </p:nvSpPr>
        <p:spPr>
          <a:xfrm>
            <a:off x="10515600" y="3383280"/>
            <a:ext cx="0" cy="137160"/>
          </a:xfrm>
          <a:prstGeom prst="line">
            <a:avLst/>
          </a:prstGeom>
          <a:noFill/>
          <a:ln w="12700">
            <a:solidFill>
              <a:srgbClr val="D7E3EA"/>
            </a:solidFill>
            <a:prstDash val="solid"/>
          </a:ln>
        </p:spPr>
      </p:sp>
      <p:sp>
        <p:nvSpPr>
          <p:cNvPr id="28" name="Shape 26"/>
          <p:cNvSpPr/>
          <p:nvPr/>
        </p:nvSpPr>
        <p:spPr>
          <a:xfrm>
            <a:off x="7315200" y="4251960"/>
            <a:ext cx="3840480" cy="1051560"/>
          </a:xfrm>
          <a:prstGeom prst="roundRect">
            <a:avLst>
              <a:gd name="adj" fmla="val 5217"/>
            </a:avLst>
          </a:prstGeom>
          <a:solidFill>
            <a:srgbClr val="FFFFFF"/>
          </a:solidFill>
          <a:ln w="12700">
            <a:solidFill>
              <a:srgbClr val="CAD8E0"/>
            </a:solidFill>
            <a:prstDash val="solid"/>
          </a:ln>
        </p:spPr>
      </p:sp>
      <p:sp>
        <p:nvSpPr>
          <p:cNvPr id="29" name="Text 27"/>
          <p:cNvSpPr/>
          <p:nvPr/>
        </p:nvSpPr>
        <p:spPr>
          <a:xfrm>
            <a:off x="7443216" y="4325112"/>
            <a:ext cx="35844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発明の芯</a:t>
            </a:r>
            <a:endParaRPr lang="en-US" sz="1400" dirty="0"/>
          </a:p>
        </p:txBody>
      </p:sp>
      <p:sp>
        <p:nvSpPr>
          <p:cNvPr id="30" name="Text 28"/>
          <p:cNvSpPr/>
          <p:nvPr/>
        </p:nvSpPr>
        <p:spPr>
          <a:xfrm>
            <a:off x="7479792" y="4526280"/>
            <a:ext cx="3520440" cy="594360"/>
          </a:xfrm>
          <a:prstGeom prst="rect">
            <a:avLst/>
          </a:prstGeom>
          <a:noFill/>
          <a:ln/>
        </p:spPr>
        <p:txBody>
          <a:bodyPr wrap="square" lIns="508" tIns="508" rIns="508" bIns="508" rtlCol="0" anchor="t">
            <a:normAutofit/>
          </a:bodyPr>
          <a:lstStyle/>
          <a:p>
            <a:pPr marL="0" indent="0" algn="l">
              <a:buNone/>
            </a:pPr>
            <a:r>
              <a:rPr lang="en-US" sz="1400" dirty="0">
                <a:solidFill>
                  <a:srgbClr val="111111"/>
                </a:solidFill>
                <a:latin typeface="Meiryo" pitchFamily="34" charset="0"/>
                <a:ea typeface="Meiryo" pitchFamily="34" charset="-122"/>
                <a:cs typeface="Meiryo" pitchFamily="34" charset="-120"/>
              </a:rPr>
              <a:t>• 位置情報と粒径情報から、原因パターンの空間分布を推定</a:t>
            </a:r>
            <a:endParaRPr lang="en-US" sz="1400" dirty="0"/>
          </a:p>
          <a:p>
            <a:pPr marL="0" indent="0" algn="l">
              <a:buNone/>
            </a:pPr>
            <a:r>
              <a:rPr lang="en-US" sz="1400" dirty="0">
                <a:solidFill>
                  <a:srgbClr val="111111"/>
                </a:solidFill>
                <a:latin typeface="Meiryo" pitchFamily="34" charset="0"/>
                <a:ea typeface="Meiryo" pitchFamily="34" charset="-122"/>
                <a:cs typeface="Meiryo" pitchFamily="34" charset="-120"/>
              </a:rPr>
              <a:t>• size-aware 因子分解と説明器で、製造アクションへ接続</a:t>
            </a:r>
            <a:endParaRPr lang="en-US" sz="1400" dirty="0"/>
          </a:p>
        </p:txBody>
      </p:sp>
      <p:sp>
        <p:nvSpPr>
          <p:cNvPr id="31" name="Text 29"/>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01</a:t>
            </a:r>
            <a:endParaRPr lang="en-US" sz="1000" dirty="0"/>
          </a:p>
        </p:txBody>
      </p:sp>
      <p:sp>
        <p:nvSpPr>
          <p:cNvPr id="32" name="Text 30"/>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背景と目的</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Background / Objective</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566928" y="932688"/>
            <a:ext cx="3794760" cy="5074920"/>
          </a:xfrm>
          <a:prstGeom prst="roundRect">
            <a:avLst>
              <a:gd name="adj" fmla="val 1446"/>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31520" y="1078992"/>
            <a:ext cx="914400" cy="228600"/>
          </a:xfrm>
          <a:prstGeom prst="rect">
            <a:avLst/>
          </a:prstGeom>
          <a:noFill/>
          <a:ln/>
        </p:spPr>
        <p:txBody>
          <a:bodyPr wrap="square" lIns="0" tIns="0" rIns="0" bIns="0" rtlCol="0" anchor="ctr"/>
          <a:lstStyle/>
          <a:p>
            <a:pPr marL="0" indent="0">
              <a:buNone/>
            </a:pPr>
            <a:r>
              <a:rPr lang="en-US" sz="1800" b="1" dirty="0">
                <a:solidFill>
                  <a:srgbClr val="0B3C5D"/>
                </a:solidFill>
                <a:latin typeface="Meiryo" pitchFamily="34" charset="0"/>
                <a:ea typeface="Meiryo" pitchFamily="34" charset="-122"/>
                <a:cs typeface="Meiryo" pitchFamily="34" charset="-120"/>
              </a:rPr>
              <a:t>背景</a:t>
            </a:r>
            <a:endParaRPr lang="en-US" sz="1800" dirty="0"/>
          </a:p>
        </p:txBody>
      </p:sp>
      <p:sp>
        <p:nvSpPr>
          <p:cNvPr id="7" name="Text 5"/>
          <p:cNvSpPr/>
          <p:nvPr/>
        </p:nvSpPr>
        <p:spPr>
          <a:xfrm>
            <a:off x="749808" y="1417320"/>
            <a:ext cx="3429000" cy="2103120"/>
          </a:xfrm>
          <a:prstGeom prst="rect">
            <a:avLst/>
          </a:prstGeom>
          <a:noFill/>
          <a:ln/>
        </p:spPr>
        <p:txBody>
          <a:bodyPr wrap="square" lIns="508" tIns="508" rIns="508" bIns="508" rtlCol="0" anchor="t">
            <a:normAutofit/>
          </a:bodyPr>
          <a:lstStyle/>
          <a:p>
            <a:pPr marL="0" indent="0" algn="l">
              <a:buNone/>
            </a:pPr>
            <a:r>
              <a:rPr lang="en-US" sz="1600" dirty="0">
                <a:solidFill>
                  <a:srgbClr val="111111"/>
                </a:solidFill>
                <a:latin typeface="Meiryo" pitchFamily="34" charset="0"/>
                <a:ea typeface="Meiryo" pitchFamily="34" charset="-122"/>
                <a:cs typeface="Meiryo" pitchFamily="34" charset="-120"/>
              </a:rPr>
              <a:t>• 歩留まり改善では、粒子数だけでなく「どこに」「どのサイズ帯で」「どの原因が」重要かを早く把握したい。</a:t>
            </a:r>
            <a:endParaRPr lang="en-US" sz="1600" dirty="0"/>
          </a:p>
          <a:p>
            <a:pPr marL="0" indent="0" algn="l">
              <a:buNone/>
            </a:pPr>
            <a:r>
              <a:rPr lang="en-US" sz="1600" dirty="0">
                <a:solidFill>
                  <a:srgbClr val="111111"/>
                </a:solidFill>
                <a:latin typeface="Meiryo" pitchFamily="34" charset="0"/>
                <a:ea typeface="Meiryo" pitchFamily="34" charset="-122"/>
                <a:cs typeface="Meiryo" pitchFamily="34" charset="-120"/>
              </a:rPr>
              <a:t>• 従来は画像分類、点群/GNN分類、統計ルール判定が個別に使われ、空間×サイズ×説明性の同時充足が難しい。</a:t>
            </a:r>
            <a:endParaRPr lang="en-US" sz="1600" dirty="0"/>
          </a:p>
          <a:p>
            <a:pPr marL="0" indent="0" algn="l">
              <a:buNone/>
            </a:pPr>
            <a:r>
              <a:rPr lang="en-US" sz="1600" dirty="0">
                <a:solidFill>
                  <a:srgbClr val="111111"/>
                </a:solidFill>
                <a:latin typeface="Meiryo" pitchFamily="34" charset="0"/>
                <a:ea typeface="Meiryo" pitchFamily="34" charset="-122"/>
                <a:cs typeface="Meiryo" pitchFamily="34" charset="-120"/>
              </a:rPr>
              <a:t>• 製造現場では、解析結果を装置点検、追加計測、工程条件見直し、設計変更仮説へ接続する必要がある。</a:t>
            </a:r>
            <a:endParaRPr lang="en-US" sz="1600" dirty="0"/>
          </a:p>
        </p:txBody>
      </p:sp>
      <p:sp>
        <p:nvSpPr>
          <p:cNvPr id="8" name="Text 6"/>
          <p:cNvSpPr/>
          <p:nvPr/>
        </p:nvSpPr>
        <p:spPr>
          <a:xfrm>
            <a:off x="731520" y="3794760"/>
            <a:ext cx="914400" cy="228600"/>
          </a:xfrm>
          <a:prstGeom prst="rect">
            <a:avLst/>
          </a:prstGeom>
          <a:noFill/>
          <a:ln/>
        </p:spPr>
        <p:txBody>
          <a:bodyPr wrap="square" lIns="0" tIns="0" rIns="0" bIns="0" rtlCol="0" anchor="ctr"/>
          <a:lstStyle/>
          <a:p>
            <a:pPr marL="0" indent="0">
              <a:buNone/>
            </a:pPr>
            <a:r>
              <a:rPr lang="en-US" sz="1800" b="1" dirty="0">
                <a:solidFill>
                  <a:srgbClr val="0B3C5D"/>
                </a:solidFill>
                <a:latin typeface="Meiryo" pitchFamily="34" charset="0"/>
                <a:ea typeface="Meiryo" pitchFamily="34" charset="-122"/>
                <a:cs typeface="Meiryo" pitchFamily="34" charset="-120"/>
              </a:rPr>
              <a:t>目的</a:t>
            </a:r>
            <a:endParaRPr lang="en-US" sz="1800" dirty="0"/>
          </a:p>
        </p:txBody>
      </p:sp>
      <p:sp>
        <p:nvSpPr>
          <p:cNvPr id="9" name="Text 7"/>
          <p:cNvSpPr/>
          <p:nvPr/>
        </p:nvSpPr>
        <p:spPr>
          <a:xfrm>
            <a:off x="749808" y="4133088"/>
            <a:ext cx="3383280" cy="1325880"/>
          </a:xfrm>
          <a:prstGeom prst="rect">
            <a:avLst/>
          </a:prstGeom>
          <a:noFill/>
          <a:ln/>
        </p:spPr>
        <p:txBody>
          <a:bodyPr wrap="square" lIns="508" tIns="508" rIns="508" bIns="508" rtlCol="0" anchor="t">
            <a:normAutofit/>
          </a:bodyPr>
          <a:lstStyle/>
          <a:p>
            <a:pPr marL="0" indent="0" algn="l">
              <a:buNone/>
            </a:pPr>
            <a:r>
              <a:rPr lang="en-US" sz="1600" dirty="0">
                <a:solidFill>
                  <a:srgbClr val="111111"/>
                </a:solidFill>
                <a:latin typeface="Meiryo" pitchFamily="34" charset="0"/>
                <a:ea typeface="Meiryo" pitchFamily="34" charset="-122"/>
                <a:cs typeface="Meiryo" pitchFamily="34" charset="-120"/>
              </a:rPr>
              <a:t>• 低粒子数でも崩れにくい cause map を出す。</a:t>
            </a:r>
            <a:endParaRPr lang="en-US" sz="1600" dirty="0"/>
          </a:p>
          <a:p>
            <a:pPr marL="0" indent="0" algn="l">
              <a:buNone/>
            </a:pPr>
            <a:r>
              <a:rPr lang="en-US" sz="1600" dirty="0">
                <a:solidFill>
                  <a:srgbClr val="111111"/>
                </a:solidFill>
                <a:latin typeface="Meiryo" pitchFamily="34" charset="0"/>
                <a:ea typeface="Meiryo" pitchFamily="34" charset="-122"/>
                <a:cs typeface="Meiryo" pitchFamily="34" charset="-120"/>
              </a:rPr>
              <a:t>• 粒径分布を含む要因切り分けを行う。</a:t>
            </a:r>
            <a:endParaRPr lang="en-US" sz="1600" dirty="0"/>
          </a:p>
          <a:p>
            <a:pPr marL="0" indent="0" algn="l">
              <a:buNone/>
            </a:pPr>
            <a:r>
              <a:rPr lang="en-US" sz="1600" dirty="0">
                <a:solidFill>
                  <a:srgbClr val="111111"/>
                </a:solidFill>
                <a:latin typeface="Meiryo" pitchFamily="34" charset="0"/>
                <a:ea typeface="Meiryo" pitchFamily="34" charset="-122"/>
                <a:cs typeface="Meiryo" pitchFamily="34" charset="-120"/>
              </a:rPr>
              <a:t>• 不確かさつきで製造アクションへ分岐させる。</a:t>
            </a:r>
            <a:endParaRPr lang="en-US" sz="1600" dirty="0"/>
          </a:p>
        </p:txBody>
      </p:sp>
      <p:sp>
        <p:nvSpPr>
          <p:cNvPr id="10" name="Shape 8"/>
          <p:cNvSpPr/>
          <p:nvPr/>
        </p:nvSpPr>
        <p:spPr>
          <a:xfrm>
            <a:off x="4617720" y="960120"/>
            <a:ext cx="6949440" cy="5047488"/>
          </a:xfrm>
          <a:prstGeom prst="roundRect">
            <a:avLst>
              <a:gd name="adj" fmla="val 1087"/>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11" name="Shape 9"/>
          <p:cNvSpPr/>
          <p:nvPr/>
        </p:nvSpPr>
        <p:spPr>
          <a:xfrm>
            <a:off x="6281928" y="2761488"/>
            <a:ext cx="384048" cy="320040"/>
          </a:xfrm>
          <a:prstGeom prst="chevron">
            <a:avLst/>
          </a:prstGeom>
          <a:solidFill>
            <a:srgbClr val="D9E6EE"/>
          </a:solidFill>
          <a:ln w="12700">
            <a:solidFill>
              <a:srgbClr val="D9E6EE"/>
            </a:solidFill>
            <a:prstDash val="solid"/>
          </a:ln>
        </p:spPr>
      </p:sp>
      <p:sp>
        <p:nvSpPr>
          <p:cNvPr id="12" name="Shape 10"/>
          <p:cNvSpPr/>
          <p:nvPr/>
        </p:nvSpPr>
        <p:spPr>
          <a:xfrm>
            <a:off x="7927848" y="2761488"/>
            <a:ext cx="384048" cy="320040"/>
          </a:xfrm>
          <a:prstGeom prst="chevron">
            <a:avLst/>
          </a:prstGeom>
          <a:solidFill>
            <a:srgbClr val="D9E6EE"/>
          </a:solidFill>
          <a:ln w="12700">
            <a:solidFill>
              <a:srgbClr val="D9E6EE"/>
            </a:solidFill>
            <a:prstDash val="solid"/>
          </a:ln>
        </p:spPr>
      </p:sp>
      <p:sp>
        <p:nvSpPr>
          <p:cNvPr id="13" name="Shape 11"/>
          <p:cNvSpPr/>
          <p:nvPr/>
        </p:nvSpPr>
        <p:spPr>
          <a:xfrm>
            <a:off x="9573768" y="2761488"/>
            <a:ext cx="384048" cy="320040"/>
          </a:xfrm>
          <a:prstGeom prst="chevron">
            <a:avLst/>
          </a:prstGeom>
          <a:solidFill>
            <a:srgbClr val="D9E6EE"/>
          </a:solidFill>
          <a:ln w="12700">
            <a:solidFill>
              <a:srgbClr val="D9E6EE"/>
            </a:solidFill>
            <a:prstDash val="solid"/>
          </a:ln>
        </p:spPr>
      </p:sp>
      <p:sp>
        <p:nvSpPr>
          <p:cNvPr id="14" name="Shape 12"/>
          <p:cNvSpPr/>
          <p:nvPr/>
        </p:nvSpPr>
        <p:spPr>
          <a:xfrm>
            <a:off x="4983480" y="2194560"/>
            <a:ext cx="1325880" cy="1417320"/>
          </a:xfrm>
          <a:prstGeom prst="roundRect">
            <a:avLst>
              <a:gd name="adj" fmla="val 4138"/>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15" name="Text 13"/>
          <p:cNvSpPr/>
          <p:nvPr/>
        </p:nvSpPr>
        <p:spPr>
          <a:xfrm>
            <a:off x="5093208" y="2441448"/>
            <a:ext cx="1106424" cy="658368"/>
          </a:xfrm>
          <a:prstGeom prst="rect">
            <a:avLst/>
          </a:prstGeom>
          <a:noFill/>
          <a:ln/>
        </p:spPr>
        <p:txBody>
          <a:bodyPr wrap="square" lIns="0" tIns="0" rIns="0" bIns="0" rtlCol="0" anchor="ctr"/>
          <a:lstStyle/>
          <a:p>
            <a:pPr marL="0" indent="0" algn="ctr">
              <a:buNone/>
            </a:pPr>
            <a:r>
              <a:rPr lang="en-US" sz="1700" b="1" dirty="0">
                <a:solidFill>
                  <a:srgbClr val="111111"/>
                </a:solidFill>
                <a:latin typeface="Meiryo" pitchFamily="34" charset="0"/>
                <a:ea typeface="Meiryo" pitchFamily="34" charset="-122"/>
                <a:cs typeface="Meiryo" pitchFamily="34" charset="-120"/>
              </a:rPr>
              <a:t>入力</a:t>
            </a:r>
            <a:endParaRPr lang="en-US" sz="1700" dirty="0"/>
          </a:p>
          <a:p>
            <a:pPr marL="0" indent="0" algn="ctr">
              <a:buNone/>
            </a:pPr>
            <a:r>
              <a:rPr lang="en-US" sz="1700" b="1" dirty="0">
                <a:solidFill>
                  <a:srgbClr val="111111"/>
                </a:solidFill>
                <a:latin typeface="Meiryo" pitchFamily="34" charset="0"/>
                <a:ea typeface="Meiryo" pitchFamily="34" charset="-122"/>
                <a:cs typeface="Meiryo" pitchFamily="34" charset="-120"/>
              </a:rPr>
              <a:t>粒子座標+粒径</a:t>
            </a:r>
            <a:endParaRPr lang="en-US" sz="1700" dirty="0"/>
          </a:p>
        </p:txBody>
      </p:sp>
      <p:sp>
        <p:nvSpPr>
          <p:cNvPr id="16" name="Shape 14"/>
          <p:cNvSpPr/>
          <p:nvPr/>
        </p:nvSpPr>
        <p:spPr>
          <a:xfrm>
            <a:off x="5422392" y="1892808"/>
            <a:ext cx="457200" cy="201168"/>
          </a:xfrm>
          <a:prstGeom prst="ellipse">
            <a:avLst/>
          </a:prstGeom>
          <a:solidFill>
            <a:srgbClr val="A0AEC0">
              <a:alpha val="90000"/>
            </a:srgbClr>
          </a:solidFill>
          <a:ln w="12700">
            <a:solidFill>
              <a:srgbClr val="A0AEC0"/>
            </a:solidFill>
            <a:prstDash val="solid"/>
          </a:ln>
        </p:spPr>
      </p:sp>
      <p:sp>
        <p:nvSpPr>
          <p:cNvPr id="17" name="Shape 15"/>
          <p:cNvSpPr/>
          <p:nvPr/>
        </p:nvSpPr>
        <p:spPr>
          <a:xfrm>
            <a:off x="6629400" y="2194560"/>
            <a:ext cx="1325880" cy="1417320"/>
          </a:xfrm>
          <a:prstGeom prst="roundRect">
            <a:avLst>
              <a:gd name="adj" fmla="val 4138"/>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18" name="Text 16"/>
          <p:cNvSpPr/>
          <p:nvPr/>
        </p:nvSpPr>
        <p:spPr>
          <a:xfrm>
            <a:off x="6739128" y="2441448"/>
            <a:ext cx="1106424" cy="658368"/>
          </a:xfrm>
          <a:prstGeom prst="rect">
            <a:avLst/>
          </a:prstGeom>
          <a:noFill/>
          <a:ln/>
        </p:spPr>
        <p:txBody>
          <a:bodyPr wrap="square" lIns="0" tIns="0" rIns="0" bIns="0" rtlCol="0" anchor="ctr"/>
          <a:lstStyle/>
          <a:p>
            <a:pPr marL="0" indent="0" algn="ctr">
              <a:buNone/>
            </a:pPr>
            <a:r>
              <a:rPr lang="en-US" sz="1700" b="1" dirty="0">
                <a:solidFill>
                  <a:srgbClr val="111111"/>
                </a:solidFill>
                <a:latin typeface="Meiryo" pitchFamily="34" charset="0"/>
                <a:ea typeface="Meiryo" pitchFamily="34" charset="-122"/>
                <a:cs typeface="Meiryo" pitchFamily="34" charset="-120"/>
              </a:rPr>
              <a:t>推定</a:t>
            </a:r>
            <a:endParaRPr lang="en-US" sz="1700" dirty="0"/>
          </a:p>
          <a:p>
            <a:pPr marL="0" indent="0" algn="ctr">
              <a:buNone/>
            </a:pPr>
            <a:r>
              <a:rPr lang="en-US" sz="1700" b="1" dirty="0">
                <a:solidFill>
                  <a:srgbClr val="111111"/>
                </a:solidFill>
                <a:latin typeface="Meiryo" pitchFamily="34" charset="0"/>
                <a:ea typeface="Meiryo" pitchFamily="34" charset="-122"/>
                <a:cs typeface="Meiryo" pitchFamily="34" charset="-120"/>
              </a:rPr>
              <a:t>空間×サイズ因子化</a:t>
            </a:r>
            <a:endParaRPr lang="en-US" sz="1700" dirty="0"/>
          </a:p>
        </p:txBody>
      </p:sp>
      <p:sp>
        <p:nvSpPr>
          <p:cNvPr id="19" name="Shape 17"/>
          <p:cNvSpPr/>
          <p:nvPr/>
        </p:nvSpPr>
        <p:spPr>
          <a:xfrm>
            <a:off x="7068312" y="1892808"/>
            <a:ext cx="457200" cy="201168"/>
          </a:xfrm>
          <a:prstGeom prst="ellipse">
            <a:avLst/>
          </a:prstGeom>
          <a:solidFill>
            <a:srgbClr val="4FC3F7">
              <a:alpha val="90000"/>
            </a:srgbClr>
          </a:solidFill>
          <a:ln w="12700">
            <a:solidFill>
              <a:srgbClr val="4FC3F7"/>
            </a:solidFill>
            <a:prstDash val="solid"/>
          </a:ln>
        </p:spPr>
      </p:sp>
      <p:sp>
        <p:nvSpPr>
          <p:cNvPr id="20" name="Shape 18"/>
          <p:cNvSpPr/>
          <p:nvPr/>
        </p:nvSpPr>
        <p:spPr>
          <a:xfrm>
            <a:off x="8275320" y="2194560"/>
            <a:ext cx="1325880" cy="1417320"/>
          </a:xfrm>
          <a:prstGeom prst="roundRect">
            <a:avLst>
              <a:gd name="adj" fmla="val 4138"/>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21" name="Text 19"/>
          <p:cNvSpPr/>
          <p:nvPr/>
        </p:nvSpPr>
        <p:spPr>
          <a:xfrm>
            <a:off x="8385048" y="2441448"/>
            <a:ext cx="1106424" cy="658368"/>
          </a:xfrm>
          <a:prstGeom prst="rect">
            <a:avLst/>
          </a:prstGeom>
          <a:noFill/>
          <a:ln/>
        </p:spPr>
        <p:txBody>
          <a:bodyPr wrap="square" lIns="0" tIns="0" rIns="0" bIns="0" rtlCol="0" anchor="ctr"/>
          <a:lstStyle/>
          <a:p>
            <a:pPr marL="0" indent="0" algn="ctr">
              <a:buNone/>
            </a:pPr>
            <a:r>
              <a:rPr lang="en-US" sz="1700" b="1" dirty="0">
                <a:solidFill>
                  <a:srgbClr val="111111"/>
                </a:solidFill>
                <a:latin typeface="Meiryo" pitchFamily="34" charset="0"/>
                <a:ea typeface="Meiryo" pitchFamily="34" charset="-122"/>
                <a:cs typeface="Meiryo" pitchFamily="34" charset="-120"/>
              </a:rPr>
              <a:t>説明</a:t>
            </a:r>
            <a:endParaRPr lang="en-US" sz="1700" dirty="0"/>
          </a:p>
          <a:p>
            <a:pPr marL="0" indent="0" algn="ctr">
              <a:buNone/>
            </a:pPr>
            <a:r>
              <a:rPr lang="en-US" sz="1700" b="1" dirty="0">
                <a:solidFill>
                  <a:srgbClr val="111111"/>
                </a:solidFill>
                <a:latin typeface="Meiryo" pitchFamily="34" charset="0"/>
                <a:ea typeface="Meiryo" pitchFamily="34" charset="-122"/>
                <a:cs typeface="Meiryo" pitchFamily="34" charset="-120"/>
              </a:rPr>
              <a:t>原因パラメータ化</a:t>
            </a:r>
            <a:endParaRPr lang="en-US" sz="1700" dirty="0"/>
          </a:p>
        </p:txBody>
      </p:sp>
      <p:sp>
        <p:nvSpPr>
          <p:cNvPr id="22" name="Shape 20"/>
          <p:cNvSpPr/>
          <p:nvPr/>
        </p:nvSpPr>
        <p:spPr>
          <a:xfrm>
            <a:off x="8714232" y="1892808"/>
            <a:ext cx="457200" cy="201168"/>
          </a:xfrm>
          <a:prstGeom prst="ellipse">
            <a:avLst/>
          </a:prstGeom>
          <a:solidFill>
            <a:srgbClr val="F4A261">
              <a:alpha val="90000"/>
            </a:srgbClr>
          </a:solidFill>
          <a:ln w="12700">
            <a:solidFill>
              <a:srgbClr val="F4A261"/>
            </a:solidFill>
            <a:prstDash val="solid"/>
          </a:ln>
        </p:spPr>
      </p:sp>
      <p:sp>
        <p:nvSpPr>
          <p:cNvPr id="23" name="Shape 21"/>
          <p:cNvSpPr/>
          <p:nvPr/>
        </p:nvSpPr>
        <p:spPr>
          <a:xfrm>
            <a:off x="9921240" y="2194560"/>
            <a:ext cx="1325880" cy="1417320"/>
          </a:xfrm>
          <a:prstGeom prst="roundRect">
            <a:avLst>
              <a:gd name="adj" fmla="val 4138"/>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24" name="Text 22"/>
          <p:cNvSpPr/>
          <p:nvPr/>
        </p:nvSpPr>
        <p:spPr>
          <a:xfrm>
            <a:off x="10030968" y="2441448"/>
            <a:ext cx="1106424" cy="658368"/>
          </a:xfrm>
          <a:prstGeom prst="rect">
            <a:avLst/>
          </a:prstGeom>
          <a:noFill/>
          <a:ln/>
        </p:spPr>
        <p:txBody>
          <a:bodyPr wrap="square" lIns="0" tIns="0" rIns="0" bIns="0" rtlCol="0" anchor="ctr"/>
          <a:lstStyle/>
          <a:p>
            <a:pPr marL="0" indent="0" algn="ctr">
              <a:buNone/>
            </a:pPr>
            <a:r>
              <a:rPr lang="en-US" sz="1700" b="1" dirty="0">
                <a:solidFill>
                  <a:srgbClr val="111111"/>
                </a:solidFill>
                <a:latin typeface="Meiryo" pitchFamily="34" charset="0"/>
                <a:ea typeface="Meiryo" pitchFamily="34" charset="-122"/>
                <a:cs typeface="Meiryo" pitchFamily="34" charset="-120"/>
              </a:rPr>
              <a:t>運用</a:t>
            </a:r>
            <a:endParaRPr lang="en-US" sz="1700" dirty="0"/>
          </a:p>
          <a:p>
            <a:pPr marL="0" indent="0" algn="ctr">
              <a:buNone/>
            </a:pPr>
            <a:r>
              <a:rPr lang="en-US" sz="1700" b="1" dirty="0">
                <a:solidFill>
                  <a:srgbClr val="111111"/>
                </a:solidFill>
                <a:latin typeface="Meiryo" pitchFamily="34" charset="0"/>
                <a:ea typeface="Meiryo" pitchFamily="34" charset="-122"/>
                <a:cs typeface="Meiryo" pitchFamily="34" charset="-120"/>
              </a:rPr>
              <a:t>アクション分岐</a:t>
            </a:r>
            <a:endParaRPr lang="en-US" sz="1700" dirty="0"/>
          </a:p>
        </p:txBody>
      </p:sp>
      <p:sp>
        <p:nvSpPr>
          <p:cNvPr id="25" name="Shape 23"/>
          <p:cNvSpPr/>
          <p:nvPr/>
        </p:nvSpPr>
        <p:spPr>
          <a:xfrm>
            <a:off x="10360152" y="1892808"/>
            <a:ext cx="457200" cy="201168"/>
          </a:xfrm>
          <a:prstGeom prst="ellipse">
            <a:avLst/>
          </a:prstGeom>
          <a:solidFill>
            <a:srgbClr val="2A9D8F">
              <a:alpha val="90000"/>
            </a:srgbClr>
          </a:solidFill>
          <a:ln w="12700">
            <a:solidFill>
              <a:srgbClr val="2A9D8F"/>
            </a:solidFill>
            <a:prstDash val="solid"/>
          </a:ln>
        </p:spPr>
      </p:sp>
      <p:sp>
        <p:nvSpPr>
          <p:cNvPr id="26" name="Text 24"/>
          <p:cNvSpPr/>
          <p:nvPr/>
        </p:nvSpPr>
        <p:spPr>
          <a:xfrm>
            <a:off x="4983480" y="4160520"/>
            <a:ext cx="1920240" cy="228600"/>
          </a:xfrm>
          <a:prstGeom prst="rect">
            <a:avLst/>
          </a:prstGeom>
          <a:noFill/>
          <a:ln/>
        </p:spPr>
        <p:txBody>
          <a:bodyPr wrap="square" lIns="0" tIns="0" rIns="0" bIns="0" rtlCol="0" anchor="ctr"/>
          <a:lstStyle/>
          <a:p>
            <a:pPr marL="0" indent="0">
              <a:buNone/>
            </a:pPr>
            <a:r>
              <a:rPr lang="en-US" sz="1700" b="1" dirty="0">
                <a:solidFill>
                  <a:srgbClr val="0B3C5D"/>
                </a:solidFill>
                <a:latin typeface="Meiryo" pitchFamily="34" charset="0"/>
                <a:ea typeface="Meiryo" pitchFamily="34" charset="-122"/>
                <a:cs typeface="Meiryo" pitchFamily="34" charset="-120"/>
              </a:rPr>
              <a:t>特許としての訴求点</a:t>
            </a:r>
            <a:endParaRPr lang="en-US" sz="1700" dirty="0"/>
          </a:p>
        </p:txBody>
      </p:sp>
      <p:sp>
        <p:nvSpPr>
          <p:cNvPr id="27" name="Text 25"/>
          <p:cNvSpPr/>
          <p:nvPr/>
        </p:nvSpPr>
        <p:spPr>
          <a:xfrm>
            <a:off x="5010912" y="4462272"/>
            <a:ext cx="2057400" cy="114300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入力データの作り方</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size-aware 前処理/特徴量</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不確かさと製造アクション接続</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設計フィードバック可能性</a:t>
            </a:r>
            <a:endParaRPr lang="en-US" sz="1450" dirty="0"/>
          </a:p>
        </p:txBody>
      </p:sp>
      <p:sp>
        <p:nvSpPr>
          <p:cNvPr id="28" name="Shape 26"/>
          <p:cNvSpPr/>
          <p:nvPr/>
        </p:nvSpPr>
        <p:spPr>
          <a:xfrm>
            <a:off x="7223760" y="4343400"/>
            <a:ext cx="0" cy="1097280"/>
          </a:xfrm>
          <a:prstGeom prst="line">
            <a:avLst/>
          </a:prstGeom>
          <a:noFill/>
          <a:ln w="12700">
            <a:solidFill>
              <a:srgbClr val="D7E3EA"/>
            </a:solidFill>
            <a:prstDash val="solid"/>
          </a:ln>
        </p:spPr>
      </p:sp>
      <p:sp>
        <p:nvSpPr>
          <p:cNvPr id="29" name="Text 27"/>
          <p:cNvSpPr/>
          <p:nvPr/>
        </p:nvSpPr>
        <p:spPr>
          <a:xfrm>
            <a:off x="7498080" y="4160520"/>
            <a:ext cx="1920240" cy="228600"/>
          </a:xfrm>
          <a:prstGeom prst="rect">
            <a:avLst/>
          </a:prstGeom>
          <a:noFill/>
          <a:ln/>
        </p:spPr>
        <p:txBody>
          <a:bodyPr wrap="square" lIns="0" tIns="0" rIns="0" bIns="0" rtlCol="0" anchor="ctr"/>
          <a:lstStyle/>
          <a:p>
            <a:pPr marL="0" indent="0">
              <a:buNone/>
            </a:pPr>
            <a:r>
              <a:rPr lang="en-US" sz="1700" b="1" dirty="0">
                <a:solidFill>
                  <a:srgbClr val="0B3C5D"/>
                </a:solidFill>
                <a:latin typeface="Meiryo" pitchFamily="34" charset="0"/>
                <a:ea typeface="Meiryo" pitchFamily="34" charset="-122"/>
                <a:cs typeface="Meiryo" pitchFamily="34" charset="-120"/>
              </a:rPr>
              <a:t>想定される利用者</a:t>
            </a:r>
            <a:endParaRPr lang="en-US" sz="1700" dirty="0"/>
          </a:p>
        </p:txBody>
      </p:sp>
      <p:sp>
        <p:nvSpPr>
          <p:cNvPr id="30" name="Text 28"/>
          <p:cNvSpPr/>
          <p:nvPr/>
        </p:nvSpPr>
        <p:spPr>
          <a:xfrm>
            <a:off x="7516368" y="4462272"/>
            <a:ext cx="3200400" cy="114300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審査官: 新規性/進歩性の核</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弁理士: 請求項の芯</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製造技術者: 実装・運用像</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装置設計者: 設計FBの価値</a:t>
            </a:r>
            <a:endParaRPr lang="en-US" sz="1450" dirty="0"/>
          </a:p>
        </p:txBody>
      </p:sp>
      <p:sp>
        <p:nvSpPr>
          <p:cNvPr id="31" name="Text 29"/>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02</a:t>
            </a:r>
            <a:endParaRPr lang="en-US" sz="1000" dirty="0"/>
          </a:p>
        </p:txBody>
      </p:sp>
      <p:sp>
        <p:nvSpPr>
          <p:cNvPr id="32" name="Text 30"/>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解析対象データセットの概要</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Dataset Basis</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969264"/>
            <a:ext cx="2286000" cy="1051560"/>
          </a:xfrm>
          <a:prstGeom prst="roundRect">
            <a:avLst>
              <a:gd name="adj" fmla="val 5217"/>
            </a:avLst>
          </a:prstGeom>
          <a:solidFill>
            <a:srgbClr val="EEF6FB"/>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95528" y="1133856"/>
            <a:ext cx="2011680" cy="256032"/>
          </a:xfrm>
          <a:prstGeom prst="rect">
            <a:avLst/>
          </a:prstGeom>
          <a:noFill/>
          <a:ln/>
        </p:spPr>
        <p:txBody>
          <a:bodyPr wrap="square" lIns="0" tIns="0" rIns="0" bIns="0" rtlCol="0" anchor="ctr"/>
          <a:lstStyle/>
          <a:p>
            <a:pPr marL="0" indent="0">
              <a:buNone/>
            </a:pPr>
            <a:r>
              <a:rPr lang="en-US" sz="2200" b="1" dirty="0">
                <a:solidFill>
                  <a:srgbClr val="0B3C5D"/>
                </a:solidFill>
                <a:latin typeface="Meiryo" pitchFamily="34" charset="0"/>
                <a:ea typeface="Meiryo" pitchFamily="34" charset="-122"/>
                <a:cs typeface="Meiryo" pitchFamily="34" charset="-120"/>
              </a:rPr>
              <a:t>15,000</a:t>
            </a:r>
            <a:endParaRPr lang="en-US" sz="2200" dirty="0"/>
          </a:p>
        </p:txBody>
      </p:sp>
      <p:sp>
        <p:nvSpPr>
          <p:cNvPr id="7" name="Text 5"/>
          <p:cNvSpPr/>
          <p:nvPr/>
        </p:nvSpPr>
        <p:spPr>
          <a:xfrm>
            <a:off x="795528" y="1444752"/>
            <a:ext cx="2011680" cy="164592"/>
          </a:xfrm>
          <a:prstGeom prst="rect">
            <a:avLst/>
          </a:prstGeom>
          <a:noFill/>
          <a:ln/>
        </p:spPr>
        <p:txBody>
          <a:bodyPr wrap="square" lIns="0" tIns="0" rIns="0" bIns="0" rtlCol="0" anchor="ctr"/>
          <a:lstStyle/>
          <a:p>
            <a:pPr marL="0" indent="0">
              <a:buNone/>
            </a:pPr>
            <a:r>
              <a:rPr lang="en-US" sz="1250" dirty="0">
                <a:solidFill>
                  <a:srgbClr val="5F6B6D"/>
                </a:solidFill>
                <a:latin typeface="Meiryo" pitchFamily="34" charset="0"/>
                <a:ea typeface="Meiryo" pitchFamily="34" charset="-122"/>
                <a:cs typeface="Meiryo" pitchFamily="34" charset="-120"/>
              </a:rPr>
              <a:t>samples</a:t>
            </a:r>
            <a:endParaRPr lang="en-US" sz="1250" dirty="0"/>
          </a:p>
        </p:txBody>
      </p:sp>
      <p:sp>
        <p:nvSpPr>
          <p:cNvPr id="8" name="Text 6"/>
          <p:cNvSpPr/>
          <p:nvPr/>
        </p:nvSpPr>
        <p:spPr>
          <a:xfrm>
            <a:off x="795528" y="1664208"/>
            <a:ext cx="2011680" cy="128016"/>
          </a:xfrm>
          <a:prstGeom prst="rect">
            <a:avLst/>
          </a:prstGeom>
          <a:noFill/>
          <a:ln/>
        </p:spPr>
        <p:txBody>
          <a:bodyPr wrap="square" lIns="0" tIns="0" rIns="0" bIns="0" rtlCol="0" anchor="ctr">
            <a:normAutofit/>
          </a:bodyPr>
          <a:lstStyle/>
          <a:p>
            <a:pPr marL="0" indent="0">
              <a:buNone/>
            </a:pPr>
            <a:r>
              <a:rPr lang="en-US" sz="1050" dirty="0">
                <a:solidFill>
                  <a:srgbClr val="5F6B6D"/>
                </a:solidFill>
                <a:latin typeface="Meiryo" pitchFamily="34" charset="0"/>
                <a:ea typeface="Meiryo" pitchFamily="34" charset="-122"/>
                <a:cs typeface="Meiryo" pitchFamily="34" charset="-120"/>
              </a:rPr>
              <a:t>15 canonical pattern families</a:t>
            </a:r>
            <a:endParaRPr lang="en-US" sz="1050" dirty="0"/>
          </a:p>
        </p:txBody>
      </p:sp>
      <p:sp>
        <p:nvSpPr>
          <p:cNvPr id="9" name="Shape 7"/>
          <p:cNvSpPr/>
          <p:nvPr/>
        </p:nvSpPr>
        <p:spPr>
          <a:xfrm>
            <a:off x="3072384" y="969264"/>
            <a:ext cx="2286000" cy="1051560"/>
          </a:xfrm>
          <a:prstGeom prst="roundRect">
            <a:avLst>
              <a:gd name="adj" fmla="val 5217"/>
            </a:avLst>
          </a:prstGeom>
          <a:solidFill>
            <a:srgbClr val="EEF6FB"/>
          </a:solidFill>
          <a:ln w="12700">
            <a:solidFill>
              <a:srgbClr val="CAD8E0"/>
            </a:solidFill>
            <a:prstDash val="solid"/>
          </a:ln>
          <a:effectLst>
            <a:outerShdw blurRad="19050" dist="12700" dir="2700000" algn="bl" rotWithShape="0">
              <a:srgbClr val="000000">
                <a:alpha val="8000"/>
              </a:srgbClr>
            </a:outerShdw>
          </a:effectLst>
        </p:spPr>
      </p:sp>
      <p:sp>
        <p:nvSpPr>
          <p:cNvPr id="10" name="Text 8"/>
          <p:cNvSpPr/>
          <p:nvPr/>
        </p:nvSpPr>
        <p:spPr>
          <a:xfrm>
            <a:off x="3209544" y="1133856"/>
            <a:ext cx="2011680" cy="256032"/>
          </a:xfrm>
          <a:prstGeom prst="rect">
            <a:avLst/>
          </a:prstGeom>
          <a:noFill/>
          <a:ln/>
        </p:spPr>
        <p:txBody>
          <a:bodyPr wrap="square" lIns="0" tIns="0" rIns="0" bIns="0" rtlCol="0" anchor="ctr"/>
          <a:lstStyle/>
          <a:p>
            <a:pPr marL="0" indent="0">
              <a:buNone/>
            </a:pPr>
            <a:r>
              <a:rPr lang="en-US" sz="2200" b="1" dirty="0">
                <a:solidFill>
                  <a:srgbClr val="0B3C5D"/>
                </a:solidFill>
                <a:latin typeface="Meiryo" pitchFamily="34" charset="0"/>
                <a:ea typeface="Meiryo" pitchFamily="34" charset="-122"/>
                <a:cs typeface="Meiryo" pitchFamily="34" charset="-120"/>
              </a:rPr>
              <a:t>1.64M</a:t>
            </a:r>
            <a:endParaRPr lang="en-US" sz="2200" dirty="0"/>
          </a:p>
        </p:txBody>
      </p:sp>
      <p:sp>
        <p:nvSpPr>
          <p:cNvPr id="11" name="Text 9"/>
          <p:cNvSpPr/>
          <p:nvPr/>
        </p:nvSpPr>
        <p:spPr>
          <a:xfrm>
            <a:off x="3209544" y="1444752"/>
            <a:ext cx="2011680" cy="164592"/>
          </a:xfrm>
          <a:prstGeom prst="rect">
            <a:avLst/>
          </a:prstGeom>
          <a:noFill/>
          <a:ln/>
        </p:spPr>
        <p:txBody>
          <a:bodyPr wrap="square" lIns="0" tIns="0" rIns="0" bIns="0" rtlCol="0" anchor="ctr"/>
          <a:lstStyle/>
          <a:p>
            <a:pPr marL="0" indent="0">
              <a:buNone/>
            </a:pPr>
            <a:r>
              <a:rPr lang="en-US" sz="1250" dirty="0">
                <a:solidFill>
                  <a:srgbClr val="5F6B6D"/>
                </a:solidFill>
                <a:latin typeface="Meiryo" pitchFamily="34" charset="0"/>
                <a:ea typeface="Meiryo" pitchFamily="34" charset="-122"/>
                <a:cs typeface="Meiryo" pitchFamily="34" charset="-120"/>
              </a:rPr>
              <a:t>particles</a:t>
            </a:r>
            <a:endParaRPr lang="en-US" sz="1250" dirty="0"/>
          </a:p>
        </p:txBody>
      </p:sp>
      <p:sp>
        <p:nvSpPr>
          <p:cNvPr id="12" name="Text 10"/>
          <p:cNvSpPr/>
          <p:nvPr/>
        </p:nvSpPr>
        <p:spPr>
          <a:xfrm>
            <a:off x="3209544" y="1664208"/>
            <a:ext cx="2011680" cy="128016"/>
          </a:xfrm>
          <a:prstGeom prst="rect">
            <a:avLst/>
          </a:prstGeom>
          <a:noFill/>
          <a:ln/>
        </p:spPr>
        <p:txBody>
          <a:bodyPr wrap="square" lIns="0" tIns="0" rIns="0" bIns="0" rtlCol="0" anchor="ctr">
            <a:normAutofit/>
          </a:bodyPr>
          <a:lstStyle/>
          <a:p>
            <a:pPr marL="0" indent="0">
              <a:buNone/>
            </a:pPr>
            <a:r>
              <a:rPr lang="en-US" sz="1050" dirty="0">
                <a:solidFill>
                  <a:srgbClr val="5F6B6D"/>
                </a:solidFill>
                <a:latin typeface="Meiryo" pitchFamily="34" charset="0"/>
                <a:ea typeface="Meiryo" pitchFamily="34" charset="-122"/>
                <a:cs typeface="Meiryo" pitchFamily="34" charset="-120"/>
              </a:rPr>
              <a:t>current attached CSV basis</a:t>
            </a:r>
            <a:endParaRPr lang="en-US" sz="1050" dirty="0"/>
          </a:p>
        </p:txBody>
      </p:sp>
      <p:sp>
        <p:nvSpPr>
          <p:cNvPr id="13" name="Shape 11"/>
          <p:cNvSpPr/>
          <p:nvPr/>
        </p:nvSpPr>
        <p:spPr>
          <a:xfrm>
            <a:off x="5486400" y="969264"/>
            <a:ext cx="2286000" cy="1051560"/>
          </a:xfrm>
          <a:prstGeom prst="roundRect">
            <a:avLst>
              <a:gd name="adj" fmla="val 5217"/>
            </a:avLst>
          </a:prstGeom>
          <a:solidFill>
            <a:srgbClr val="EEF6FB"/>
          </a:solidFill>
          <a:ln w="12700">
            <a:solidFill>
              <a:srgbClr val="CAD8E0"/>
            </a:solidFill>
            <a:prstDash val="solid"/>
          </a:ln>
          <a:effectLst>
            <a:outerShdw blurRad="19050" dist="12700" dir="2700000" algn="bl" rotWithShape="0">
              <a:srgbClr val="000000">
                <a:alpha val="8000"/>
              </a:srgbClr>
            </a:outerShdw>
          </a:effectLst>
        </p:spPr>
      </p:sp>
      <p:sp>
        <p:nvSpPr>
          <p:cNvPr id="14" name="Text 12"/>
          <p:cNvSpPr/>
          <p:nvPr/>
        </p:nvSpPr>
        <p:spPr>
          <a:xfrm>
            <a:off x="5623560" y="1133856"/>
            <a:ext cx="2011680" cy="256032"/>
          </a:xfrm>
          <a:prstGeom prst="rect">
            <a:avLst/>
          </a:prstGeom>
          <a:noFill/>
          <a:ln/>
        </p:spPr>
        <p:txBody>
          <a:bodyPr wrap="square" lIns="0" tIns="0" rIns="0" bIns="0" rtlCol="0" anchor="ctr"/>
          <a:lstStyle/>
          <a:p>
            <a:pPr marL="0" indent="0">
              <a:buNone/>
            </a:pPr>
            <a:r>
              <a:rPr lang="en-US" sz="2200" b="1" dirty="0">
                <a:solidFill>
                  <a:srgbClr val="0B3C5D"/>
                </a:solidFill>
                <a:latin typeface="Meiryo" pitchFamily="34" charset="0"/>
                <a:ea typeface="Meiryo" pitchFamily="34" charset="-122"/>
                <a:cs typeface="Meiryo" pitchFamily="34" charset="-120"/>
              </a:rPr>
              <a:t>20–200</a:t>
            </a:r>
            <a:endParaRPr lang="en-US" sz="2200" dirty="0"/>
          </a:p>
        </p:txBody>
      </p:sp>
      <p:sp>
        <p:nvSpPr>
          <p:cNvPr id="15" name="Text 13"/>
          <p:cNvSpPr/>
          <p:nvPr/>
        </p:nvSpPr>
        <p:spPr>
          <a:xfrm>
            <a:off x="5623560" y="1444752"/>
            <a:ext cx="2011680" cy="164592"/>
          </a:xfrm>
          <a:prstGeom prst="rect">
            <a:avLst/>
          </a:prstGeom>
          <a:noFill/>
          <a:ln/>
        </p:spPr>
        <p:txBody>
          <a:bodyPr wrap="square" lIns="0" tIns="0" rIns="0" bIns="0" rtlCol="0" anchor="ctr"/>
          <a:lstStyle/>
          <a:p>
            <a:pPr marL="0" indent="0">
              <a:buNone/>
            </a:pPr>
            <a:r>
              <a:rPr lang="en-US" sz="1250" dirty="0">
                <a:solidFill>
                  <a:srgbClr val="5F6B6D"/>
                </a:solidFill>
                <a:latin typeface="Meiryo" pitchFamily="34" charset="0"/>
                <a:ea typeface="Meiryo" pitchFamily="34" charset="-122"/>
                <a:cs typeface="Meiryo" pitchFamily="34" charset="-120"/>
              </a:rPr>
              <a:t>particles / sample</a:t>
            </a:r>
            <a:endParaRPr lang="en-US" sz="1250" dirty="0"/>
          </a:p>
        </p:txBody>
      </p:sp>
      <p:sp>
        <p:nvSpPr>
          <p:cNvPr id="16" name="Text 14"/>
          <p:cNvSpPr/>
          <p:nvPr/>
        </p:nvSpPr>
        <p:spPr>
          <a:xfrm>
            <a:off x="5623560" y="1664208"/>
            <a:ext cx="2011680" cy="128016"/>
          </a:xfrm>
          <a:prstGeom prst="rect">
            <a:avLst/>
          </a:prstGeom>
          <a:noFill/>
          <a:ln/>
        </p:spPr>
        <p:txBody>
          <a:bodyPr wrap="square" lIns="0" tIns="0" rIns="0" bIns="0" rtlCol="0" anchor="ctr">
            <a:normAutofit/>
          </a:bodyPr>
          <a:lstStyle/>
          <a:p>
            <a:pPr marL="0" indent="0">
              <a:buNone/>
            </a:pPr>
            <a:r>
              <a:rPr lang="en-US" sz="1050" dirty="0">
                <a:solidFill>
                  <a:srgbClr val="5F6B6D"/>
                </a:solidFill>
                <a:latin typeface="Meiryo" pitchFamily="34" charset="0"/>
                <a:ea typeface="Meiryo" pitchFamily="34" charset="-122"/>
                <a:cs typeface="Meiryo" pitchFamily="34" charset="-120"/>
              </a:rPr>
              <a:t>mean 109.37</a:t>
            </a:r>
            <a:endParaRPr lang="en-US" sz="1050" dirty="0"/>
          </a:p>
        </p:txBody>
      </p:sp>
      <p:sp>
        <p:nvSpPr>
          <p:cNvPr id="17" name="Shape 15"/>
          <p:cNvSpPr/>
          <p:nvPr/>
        </p:nvSpPr>
        <p:spPr>
          <a:xfrm>
            <a:off x="7900416" y="969264"/>
            <a:ext cx="2286000" cy="1051560"/>
          </a:xfrm>
          <a:prstGeom prst="roundRect">
            <a:avLst>
              <a:gd name="adj" fmla="val 5217"/>
            </a:avLst>
          </a:prstGeom>
          <a:solidFill>
            <a:srgbClr val="EEF6FB"/>
          </a:solidFill>
          <a:ln w="12700">
            <a:solidFill>
              <a:srgbClr val="CAD8E0"/>
            </a:solidFill>
            <a:prstDash val="solid"/>
          </a:ln>
          <a:effectLst>
            <a:outerShdw blurRad="19050" dist="12700" dir="2700000" algn="bl" rotWithShape="0">
              <a:srgbClr val="000000">
                <a:alpha val="8000"/>
              </a:srgbClr>
            </a:outerShdw>
          </a:effectLst>
        </p:spPr>
      </p:sp>
      <p:sp>
        <p:nvSpPr>
          <p:cNvPr id="18" name="Text 16"/>
          <p:cNvSpPr/>
          <p:nvPr/>
        </p:nvSpPr>
        <p:spPr>
          <a:xfrm>
            <a:off x="8037576" y="1133856"/>
            <a:ext cx="2011680" cy="256032"/>
          </a:xfrm>
          <a:prstGeom prst="rect">
            <a:avLst/>
          </a:prstGeom>
          <a:noFill/>
          <a:ln/>
        </p:spPr>
        <p:txBody>
          <a:bodyPr wrap="square" lIns="0" tIns="0" rIns="0" bIns="0" rtlCol="0" anchor="ctr"/>
          <a:lstStyle/>
          <a:p>
            <a:pPr marL="0" indent="0">
              <a:buNone/>
            </a:pPr>
            <a:r>
              <a:rPr lang="en-US" sz="2200" b="1" dirty="0">
                <a:solidFill>
                  <a:srgbClr val="0B3C5D"/>
                </a:solidFill>
                <a:latin typeface="Meiryo" pitchFamily="34" charset="0"/>
                <a:ea typeface="Meiryo" pitchFamily="34" charset="-122"/>
                <a:cs typeface="Meiryo" pitchFamily="34" charset="-120"/>
              </a:rPr>
              <a:t>15</a:t>
            </a:r>
            <a:endParaRPr lang="en-US" sz="2200" dirty="0"/>
          </a:p>
        </p:txBody>
      </p:sp>
      <p:sp>
        <p:nvSpPr>
          <p:cNvPr id="19" name="Text 17"/>
          <p:cNvSpPr/>
          <p:nvPr/>
        </p:nvSpPr>
        <p:spPr>
          <a:xfrm>
            <a:off x="8037576" y="1444752"/>
            <a:ext cx="2011680" cy="164592"/>
          </a:xfrm>
          <a:prstGeom prst="rect">
            <a:avLst/>
          </a:prstGeom>
          <a:noFill/>
          <a:ln/>
        </p:spPr>
        <p:txBody>
          <a:bodyPr wrap="square" lIns="0" tIns="0" rIns="0" bIns="0" rtlCol="0" anchor="ctr"/>
          <a:lstStyle/>
          <a:p>
            <a:pPr marL="0" indent="0">
              <a:buNone/>
            </a:pPr>
            <a:r>
              <a:rPr lang="en-US" sz="1250" dirty="0">
                <a:solidFill>
                  <a:srgbClr val="5F6B6D"/>
                </a:solidFill>
                <a:latin typeface="Meiryo" pitchFamily="34" charset="0"/>
                <a:ea typeface="Meiryo" pitchFamily="34" charset="-122"/>
                <a:cs typeface="Meiryo" pitchFamily="34" charset="-120"/>
              </a:rPr>
              <a:t>pattern classes</a:t>
            </a:r>
            <a:endParaRPr lang="en-US" sz="1250" dirty="0"/>
          </a:p>
        </p:txBody>
      </p:sp>
      <p:sp>
        <p:nvSpPr>
          <p:cNvPr id="20" name="Text 18"/>
          <p:cNvSpPr/>
          <p:nvPr/>
        </p:nvSpPr>
        <p:spPr>
          <a:xfrm>
            <a:off x="8037576" y="1664208"/>
            <a:ext cx="2011680" cy="128016"/>
          </a:xfrm>
          <a:prstGeom prst="rect">
            <a:avLst/>
          </a:prstGeom>
          <a:noFill/>
          <a:ln/>
        </p:spPr>
        <p:txBody>
          <a:bodyPr wrap="square" lIns="0" tIns="0" rIns="0" bIns="0" rtlCol="0" anchor="ctr">
            <a:normAutofit/>
          </a:bodyPr>
          <a:lstStyle/>
          <a:p>
            <a:pPr marL="0" indent="0">
              <a:buNone/>
            </a:pPr>
            <a:r>
              <a:rPr lang="en-US" sz="1050" dirty="0">
                <a:solidFill>
                  <a:srgbClr val="5F6B6D"/>
                </a:solidFill>
                <a:latin typeface="Meiryo" pitchFamily="34" charset="0"/>
                <a:ea typeface="Meiryo" pitchFamily="34" charset="-122"/>
                <a:cs typeface="Meiryo" pitchFamily="34" charset="-120"/>
              </a:rPr>
              <a:t>1,000 samples per class</a:t>
            </a:r>
            <a:endParaRPr lang="en-US" sz="1050" dirty="0"/>
          </a:p>
        </p:txBody>
      </p:sp>
      <p:sp>
        <p:nvSpPr>
          <p:cNvPr id="21" name="Shape 19"/>
          <p:cNvSpPr/>
          <p:nvPr/>
        </p:nvSpPr>
        <p:spPr>
          <a:xfrm>
            <a:off x="658368" y="2240280"/>
            <a:ext cx="5257800" cy="3611880"/>
          </a:xfrm>
          <a:prstGeom prst="roundRect">
            <a:avLst>
              <a:gd name="adj" fmla="val 1519"/>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22" name="Text 20"/>
          <p:cNvSpPr/>
          <p:nvPr/>
        </p:nvSpPr>
        <p:spPr>
          <a:xfrm>
            <a:off x="786384" y="2313432"/>
            <a:ext cx="5001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サイズ分布メタデータ</a:t>
            </a:r>
            <a:endParaRPr lang="en-US" sz="1400" dirty="0"/>
          </a:p>
        </p:txBody>
      </p:sp>
      <p:sp>
        <p:nvSpPr>
          <p:cNvPr id="23" name="Text 21"/>
          <p:cNvSpPr/>
          <p:nvPr/>
        </p:nvSpPr>
        <p:spPr>
          <a:xfrm>
            <a:off x="914400" y="2724912"/>
            <a:ext cx="1271016" cy="368808"/>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Meiryo" pitchFamily="34" charset="0"/>
                <a:ea typeface="Meiryo" pitchFamily="34" charset="-122"/>
                <a:cs typeface="Meiryo" pitchFamily="34" charset="-120"/>
              </a:rPr>
              <a:t>ln_narrow</a:t>
            </a:r>
            <a:endParaRPr lang="en-US" sz="1300" dirty="0"/>
          </a:p>
        </p:txBody>
      </p:sp>
      <p:sp>
        <p:nvSpPr>
          <p:cNvPr id="24" name="Shape 22"/>
          <p:cNvSpPr/>
          <p:nvPr/>
        </p:nvSpPr>
        <p:spPr>
          <a:xfrm>
            <a:off x="2240280" y="2752344"/>
            <a:ext cx="2468880" cy="313944"/>
          </a:xfrm>
          <a:prstGeom prst="roundRect">
            <a:avLst>
              <a:gd name="adj" fmla="val 8738"/>
            </a:avLst>
          </a:prstGeom>
          <a:solidFill>
            <a:srgbClr val="ECF2F6"/>
          </a:solidFill>
          <a:ln w="12700">
            <a:solidFill>
              <a:srgbClr val="ECF2F6"/>
            </a:solidFill>
            <a:prstDash val="solid"/>
          </a:ln>
        </p:spPr>
      </p:sp>
      <p:sp>
        <p:nvSpPr>
          <p:cNvPr id="25" name="Shape 23"/>
          <p:cNvSpPr/>
          <p:nvPr/>
        </p:nvSpPr>
        <p:spPr>
          <a:xfrm>
            <a:off x="2240280" y="2752344"/>
            <a:ext cx="2468880" cy="313944"/>
          </a:xfrm>
          <a:prstGeom prst="roundRect">
            <a:avLst>
              <a:gd name="adj" fmla="val 8738"/>
            </a:avLst>
          </a:prstGeom>
          <a:solidFill>
            <a:srgbClr val="4FC3F7"/>
          </a:solidFill>
          <a:ln w="12700">
            <a:solidFill>
              <a:srgbClr val="4FC3F7"/>
            </a:solidFill>
            <a:prstDash val="solid"/>
          </a:ln>
        </p:spPr>
      </p:sp>
      <p:sp>
        <p:nvSpPr>
          <p:cNvPr id="26" name="Text 24"/>
          <p:cNvSpPr/>
          <p:nvPr/>
        </p:nvSpPr>
        <p:spPr>
          <a:xfrm>
            <a:off x="4800600" y="2724912"/>
            <a:ext cx="548640" cy="368808"/>
          </a:xfrm>
          <a:prstGeom prst="rect">
            <a:avLst/>
          </a:prstGeom>
          <a:noFill/>
          <a:ln/>
        </p:spPr>
        <p:txBody>
          <a:bodyPr wrap="square" lIns="0" tIns="0" rIns="0" bIns="0" rtlCol="0" anchor="ctr"/>
          <a:lstStyle/>
          <a:p>
            <a:pPr marL="0" indent="0" algn="r">
              <a:buNone/>
            </a:pPr>
            <a:r>
              <a:rPr lang="en-US" sz="1300" dirty="0">
                <a:solidFill>
                  <a:srgbClr val="5F6B6D"/>
                </a:solidFill>
                <a:latin typeface="Meiryo" pitchFamily="34" charset="0"/>
                <a:ea typeface="Meiryo" pitchFamily="34" charset="-122"/>
                <a:cs typeface="Meiryo" pitchFamily="34" charset="-120"/>
              </a:rPr>
              <a:t>6750</a:t>
            </a:r>
            <a:endParaRPr lang="en-US" sz="1300" dirty="0"/>
          </a:p>
        </p:txBody>
      </p:sp>
      <p:sp>
        <p:nvSpPr>
          <p:cNvPr id="27" name="Text 25"/>
          <p:cNvSpPr/>
          <p:nvPr/>
        </p:nvSpPr>
        <p:spPr>
          <a:xfrm>
            <a:off x="914400" y="3221736"/>
            <a:ext cx="1271016" cy="368808"/>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Meiryo" pitchFamily="34" charset="0"/>
                <a:ea typeface="Meiryo" pitchFamily="34" charset="-122"/>
                <a:cs typeface="Meiryo" pitchFamily="34" charset="-120"/>
              </a:rPr>
              <a:t>ln_mid</a:t>
            </a:r>
            <a:endParaRPr lang="en-US" sz="1300" dirty="0"/>
          </a:p>
        </p:txBody>
      </p:sp>
      <p:sp>
        <p:nvSpPr>
          <p:cNvPr id="28" name="Shape 26"/>
          <p:cNvSpPr/>
          <p:nvPr/>
        </p:nvSpPr>
        <p:spPr>
          <a:xfrm>
            <a:off x="2240280" y="3249168"/>
            <a:ext cx="2468880" cy="313944"/>
          </a:xfrm>
          <a:prstGeom prst="roundRect">
            <a:avLst>
              <a:gd name="adj" fmla="val 8738"/>
            </a:avLst>
          </a:prstGeom>
          <a:solidFill>
            <a:srgbClr val="ECF2F6"/>
          </a:solidFill>
          <a:ln w="12700">
            <a:solidFill>
              <a:srgbClr val="ECF2F6"/>
            </a:solidFill>
            <a:prstDash val="solid"/>
          </a:ln>
        </p:spPr>
      </p:sp>
      <p:sp>
        <p:nvSpPr>
          <p:cNvPr id="29" name="Shape 27"/>
          <p:cNvSpPr/>
          <p:nvPr/>
        </p:nvSpPr>
        <p:spPr>
          <a:xfrm>
            <a:off x="2240280" y="3249168"/>
            <a:ext cx="1920240" cy="313944"/>
          </a:xfrm>
          <a:prstGeom prst="roundRect">
            <a:avLst>
              <a:gd name="adj" fmla="val 8738"/>
            </a:avLst>
          </a:prstGeom>
          <a:solidFill>
            <a:srgbClr val="F4A261"/>
          </a:solidFill>
          <a:ln w="12700">
            <a:solidFill>
              <a:srgbClr val="F4A261"/>
            </a:solidFill>
            <a:prstDash val="solid"/>
          </a:ln>
        </p:spPr>
      </p:sp>
      <p:sp>
        <p:nvSpPr>
          <p:cNvPr id="30" name="Text 28"/>
          <p:cNvSpPr/>
          <p:nvPr/>
        </p:nvSpPr>
        <p:spPr>
          <a:xfrm>
            <a:off x="4800600" y="3221736"/>
            <a:ext cx="548640" cy="368808"/>
          </a:xfrm>
          <a:prstGeom prst="rect">
            <a:avLst/>
          </a:prstGeom>
          <a:noFill/>
          <a:ln/>
        </p:spPr>
        <p:txBody>
          <a:bodyPr wrap="square" lIns="0" tIns="0" rIns="0" bIns="0" rtlCol="0" anchor="ctr"/>
          <a:lstStyle/>
          <a:p>
            <a:pPr marL="0" indent="0" algn="r">
              <a:buNone/>
            </a:pPr>
            <a:r>
              <a:rPr lang="en-US" sz="1300" dirty="0">
                <a:solidFill>
                  <a:srgbClr val="5F6B6D"/>
                </a:solidFill>
                <a:latin typeface="Meiryo" pitchFamily="34" charset="0"/>
                <a:ea typeface="Meiryo" pitchFamily="34" charset="-122"/>
                <a:cs typeface="Meiryo" pitchFamily="34" charset="-120"/>
              </a:rPr>
              <a:t>5250</a:t>
            </a:r>
            <a:endParaRPr lang="en-US" sz="1300" dirty="0"/>
          </a:p>
        </p:txBody>
      </p:sp>
      <p:sp>
        <p:nvSpPr>
          <p:cNvPr id="31" name="Text 29"/>
          <p:cNvSpPr/>
          <p:nvPr/>
        </p:nvSpPr>
        <p:spPr>
          <a:xfrm>
            <a:off x="914400" y="3718560"/>
            <a:ext cx="1271016" cy="368808"/>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Meiryo" pitchFamily="34" charset="0"/>
                <a:ea typeface="Meiryo" pitchFamily="34" charset="-122"/>
                <a:cs typeface="Meiryo" pitchFamily="34" charset="-120"/>
              </a:rPr>
              <a:t>mix_tail</a:t>
            </a:r>
            <a:endParaRPr lang="en-US" sz="1300" dirty="0"/>
          </a:p>
        </p:txBody>
      </p:sp>
      <p:sp>
        <p:nvSpPr>
          <p:cNvPr id="32" name="Shape 30"/>
          <p:cNvSpPr/>
          <p:nvPr/>
        </p:nvSpPr>
        <p:spPr>
          <a:xfrm>
            <a:off x="2240280" y="3745992"/>
            <a:ext cx="2468880" cy="313944"/>
          </a:xfrm>
          <a:prstGeom prst="roundRect">
            <a:avLst>
              <a:gd name="adj" fmla="val 8738"/>
            </a:avLst>
          </a:prstGeom>
          <a:solidFill>
            <a:srgbClr val="ECF2F6"/>
          </a:solidFill>
          <a:ln w="12700">
            <a:solidFill>
              <a:srgbClr val="ECF2F6"/>
            </a:solidFill>
            <a:prstDash val="solid"/>
          </a:ln>
        </p:spPr>
      </p:sp>
      <p:sp>
        <p:nvSpPr>
          <p:cNvPr id="33" name="Shape 31"/>
          <p:cNvSpPr/>
          <p:nvPr/>
        </p:nvSpPr>
        <p:spPr>
          <a:xfrm>
            <a:off x="2240280" y="3745992"/>
            <a:ext cx="1097280" cy="313944"/>
          </a:xfrm>
          <a:prstGeom prst="roundRect">
            <a:avLst>
              <a:gd name="adj" fmla="val 8738"/>
            </a:avLst>
          </a:prstGeom>
          <a:solidFill>
            <a:srgbClr val="2A9D8F"/>
          </a:solidFill>
          <a:ln w="12700">
            <a:solidFill>
              <a:srgbClr val="2A9D8F"/>
            </a:solidFill>
            <a:prstDash val="solid"/>
          </a:ln>
        </p:spPr>
      </p:sp>
      <p:sp>
        <p:nvSpPr>
          <p:cNvPr id="34" name="Text 32"/>
          <p:cNvSpPr/>
          <p:nvPr/>
        </p:nvSpPr>
        <p:spPr>
          <a:xfrm>
            <a:off x="4800600" y="3718560"/>
            <a:ext cx="548640" cy="368808"/>
          </a:xfrm>
          <a:prstGeom prst="rect">
            <a:avLst/>
          </a:prstGeom>
          <a:noFill/>
          <a:ln/>
        </p:spPr>
        <p:txBody>
          <a:bodyPr wrap="square" lIns="0" tIns="0" rIns="0" bIns="0" rtlCol="0" anchor="ctr"/>
          <a:lstStyle/>
          <a:p>
            <a:pPr marL="0" indent="0" algn="r">
              <a:buNone/>
            </a:pPr>
            <a:r>
              <a:rPr lang="en-US" sz="1300" dirty="0">
                <a:solidFill>
                  <a:srgbClr val="5F6B6D"/>
                </a:solidFill>
                <a:latin typeface="Meiryo" pitchFamily="34" charset="0"/>
                <a:ea typeface="Meiryo" pitchFamily="34" charset="-122"/>
                <a:cs typeface="Meiryo" pitchFamily="34" charset="-120"/>
              </a:rPr>
              <a:t>3000</a:t>
            </a:r>
            <a:endParaRPr lang="en-US" sz="1300" dirty="0"/>
          </a:p>
        </p:txBody>
      </p:sp>
      <p:sp>
        <p:nvSpPr>
          <p:cNvPr id="35" name="Text 33"/>
          <p:cNvSpPr/>
          <p:nvPr/>
        </p:nvSpPr>
        <p:spPr>
          <a:xfrm>
            <a:off x="914400" y="2487168"/>
            <a:ext cx="1005840" cy="164592"/>
          </a:xfrm>
          <a:prstGeom prst="rect">
            <a:avLst/>
          </a:prstGeom>
          <a:noFill/>
          <a:ln/>
        </p:spPr>
        <p:txBody>
          <a:bodyPr wrap="square" lIns="0" tIns="0" rIns="0" bIns="0" rtlCol="0" anchor="ctr"/>
          <a:lstStyle/>
          <a:p>
            <a:pPr marL="0" indent="0">
              <a:buNone/>
            </a:pPr>
            <a:r>
              <a:rPr lang="en-US" sz="1200" dirty="0">
                <a:solidFill>
                  <a:srgbClr val="5F6B6D"/>
                </a:solidFill>
                <a:latin typeface="Meiryo" pitchFamily="34" charset="0"/>
                <a:ea typeface="Meiryo" pitchFamily="34" charset="-122"/>
                <a:cs typeface="Meiryo" pitchFamily="34" charset="-120"/>
              </a:rPr>
              <a:t>size profile</a:t>
            </a:r>
            <a:endParaRPr lang="en-US" sz="1200" dirty="0"/>
          </a:p>
        </p:txBody>
      </p:sp>
      <p:sp>
        <p:nvSpPr>
          <p:cNvPr id="36" name="Text 34"/>
          <p:cNvSpPr/>
          <p:nvPr/>
        </p:nvSpPr>
        <p:spPr>
          <a:xfrm>
            <a:off x="914400" y="4398264"/>
            <a:ext cx="1271016" cy="34290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Meiryo" pitchFamily="34" charset="0"/>
                <a:ea typeface="Meiryo" pitchFamily="34" charset="-122"/>
                <a:cs typeface="Meiryo" pitchFamily="34" charset="-120"/>
              </a:rPr>
              <a:t>lognormal</a:t>
            </a:r>
            <a:endParaRPr lang="en-US" sz="1300" dirty="0"/>
          </a:p>
        </p:txBody>
      </p:sp>
      <p:sp>
        <p:nvSpPr>
          <p:cNvPr id="37" name="Shape 35"/>
          <p:cNvSpPr/>
          <p:nvPr/>
        </p:nvSpPr>
        <p:spPr>
          <a:xfrm>
            <a:off x="2240280" y="4425696"/>
            <a:ext cx="2468880" cy="288036"/>
          </a:xfrm>
          <a:prstGeom prst="roundRect">
            <a:avLst>
              <a:gd name="adj" fmla="val 9524"/>
            </a:avLst>
          </a:prstGeom>
          <a:solidFill>
            <a:srgbClr val="ECF2F6"/>
          </a:solidFill>
          <a:ln w="12700">
            <a:solidFill>
              <a:srgbClr val="ECF2F6"/>
            </a:solidFill>
            <a:prstDash val="solid"/>
          </a:ln>
        </p:spPr>
      </p:sp>
      <p:sp>
        <p:nvSpPr>
          <p:cNvPr id="38" name="Shape 36"/>
          <p:cNvSpPr/>
          <p:nvPr/>
        </p:nvSpPr>
        <p:spPr>
          <a:xfrm>
            <a:off x="2240280" y="4425696"/>
            <a:ext cx="2468880" cy="288036"/>
          </a:xfrm>
          <a:prstGeom prst="roundRect">
            <a:avLst>
              <a:gd name="adj" fmla="val 9524"/>
            </a:avLst>
          </a:prstGeom>
          <a:solidFill>
            <a:srgbClr val="0B3C5D"/>
          </a:solidFill>
          <a:ln w="12700">
            <a:solidFill>
              <a:srgbClr val="0B3C5D"/>
            </a:solidFill>
            <a:prstDash val="solid"/>
          </a:ln>
        </p:spPr>
      </p:sp>
      <p:sp>
        <p:nvSpPr>
          <p:cNvPr id="39" name="Text 37"/>
          <p:cNvSpPr/>
          <p:nvPr/>
        </p:nvSpPr>
        <p:spPr>
          <a:xfrm>
            <a:off x="4800600" y="4398264"/>
            <a:ext cx="548640" cy="342900"/>
          </a:xfrm>
          <a:prstGeom prst="rect">
            <a:avLst/>
          </a:prstGeom>
          <a:noFill/>
          <a:ln/>
        </p:spPr>
        <p:txBody>
          <a:bodyPr wrap="square" lIns="0" tIns="0" rIns="0" bIns="0" rtlCol="0" anchor="ctr"/>
          <a:lstStyle/>
          <a:p>
            <a:pPr marL="0" indent="0" algn="r">
              <a:buNone/>
            </a:pPr>
            <a:r>
              <a:rPr lang="en-US" sz="1300" dirty="0">
                <a:solidFill>
                  <a:srgbClr val="5F6B6D"/>
                </a:solidFill>
                <a:latin typeface="Meiryo" pitchFamily="34" charset="0"/>
                <a:ea typeface="Meiryo" pitchFamily="34" charset="-122"/>
                <a:cs typeface="Meiryo" pitchFamily="34" charset="-120"/>
              </a:rPr>
              <a:t>12000</a:t>
            </a:r>
            <a:endParaRPr lang="en-US" sz="1300" dirty="0"/>
          </a:p>
        </p:txBody>
      </p:sp>
      <p:sp>
        <p:nvSpPr>
          <p:cNvPr id="40" name="Text 38"/>
          <p:cNvSpPr/>
          <p:nvPr/>
        </p:nvSpPr>
        <p:spPr>
          <a:xfrm>
            <a:off x="914400" y="4869180"/>
            <a:ext cx="1271016" cy="34290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Meiryo" pitchFamily="34" charset="0"/>
                <a:ea typeface="Meiryo" pitchFamily="34" charset="-122"/>
                <a:cs typeface="Meiryo" pitchFamily="34" charset="-120"/>
              </a:rPr>
              <a:t>mixture</a:t>
            </a:r>
            <a:endParaRPr lang="en-US" sz="1300" dirty="0"/>
          </a:p>
        </p:txBody>
      </p:sp>
      <p:sp>
        <p:nvSpPr>
          <p:cNvPr id="41" name="Shape 39"/>
          <p:cNvSpPr/>
          <p:nvPr/>
        </p:nvSpPr>
        <p:spPr>
          <a:xfrm>
            <a:off x="2240280" y="4896612"/>
            <a:ext cx="2468880" cy="288036"/>
          </a:xfrm>
          <a:prstGeom prst="roundRect">
            <a:avLst>
              <a:gd name="adj" fmla="val 9524"/>
            </a:avLst>
          </a:prstGeom>
          <a:solidFill>
            <a:srgbClr val="ECF2F6"/>
          </a:solidFill>
          <a:ln w="12700">
            <a:solidFill>
              <a:srgbClr val="ECF2F6"/>
            </a:solidFill>
            <a:prstDash val="solid"/>
          </a:ln>
        </p:spPr>
      </p:sp>
      <p:sp>
        <p:nvSpPr>
          <p:cNvPr id="42" name="Shape 40"/>
          <p:cNvSpPr/>
          <p:nvPr/>
        </p:nvSpPr>
        <p:spPr>
          <a:xfrm>
            <a:off x="2240280" y="4896612"/>
            <a:ext cx="617220" cy="288036"/>
          </a:xfrm>
          <a:prstGeom prst="roundRect">
            <a:avLst>
              <a:gd name="adj" fmla="val 9524"/>
            </a:avLst>
          </a:prstGeom>
          <a:solidFill>
            <a:srgbClr val="E9C46A"/>
          </a:solidFill>
          <a:ln w="12700">
            <a:solidFill>
              <a:srgbClr val="E9C46A"/>
            </a:solidFill>
            <a:prstDash val="solid"/>
          </a:ln>
        </p:spPr>
      </p:sp>
      <p:sp>
        <p:nvSpPr>
          <p:cNvPr id="43" name="Text 41"/>
          <p:cNvSpPr/>
          <p:nvPr/>
        </p:nvSpPr>
        <p:spPr>
          <a:xfrm>
            <a:off x="4800600" y="4869180"/>
            <a:ext cx="548640" cy="342900"/>
          </a:xfrm>
          <a:prstGeom prst="rect">
            <a:avLst/>
          </a:prstGeom>
          <a:noFill/>
          <a:ln/>
        </p:spPr>
        <p:txBody>
          <a:bodyPr wrap="square" lIns="0" tIns="0" rIns="0" bIns="0" rtlCol="0" anchor="ctr"/>
          <a:lstStyle/>
          <a:p>
            <a:pPr marL="0" indent="0" algn="r">
              <a:buNone/>
            </a:pPr>
            <a:r>
              <a:rPr lang="en-US" sz="1300" dirty="0">
                <a:solidFill>
                  <a:srgbClr val="5F6B6D"/>
                </a:solidFill>
                <a:latin typeface="Meiryo" pitchFamily="34" charset="0"/>
                <a:ea typeface="Meiryo" pitchFamily="34" charset="-122"/>
                <a:cs typeface="Meiryo" pitchFamily="34" charset="-120"/>
              </a:rPr>
              <a:t>3000</a:t>
            </a:r>
            <a:endParaRPr lang="en-US" sz="1300" dirty="0"/>
          </a:p>
        </p:txBody>
      </p:sp>
      <p:sp>
        <p:nvSpPr>
          <p:cNvPr id="44" name="Text 42"/>
          <p:cNvSpPr/>
          <p:nvPr/>
        </p:nvSpPr>
        <p:spPr>
          <a:xfrm>
            <a:off x="914400" y="4160520"/>
            <a:ext cx="1005840" cy="164592"/>
          </a:xfrm>
          <a:prstGeom prst="rect">
            <a:avLst/>
          </a:prstGeom>
          <a:noFill/>
          <a:ln/>
        </p:spPr>
        <p:txBody>
          <a:bodyPr wrap="square" lIns="0" tIns="0" rIns="0" bIns="0" rtlCol="0" anchor="ctr"/>
          <a:lstStyle/>
          <a:p>
            <a:pPr marL="0" indent="0">
              <a:buNone/>
            </a:pPr>
            <a:r>
              <a:rPr lang="en-US" sz="1200" dirty="0">
                <a:solidFill>
                  <a:srgbClr val="5F6B6D"/>
                </a:solidFill>
                <a:latin typeface="Meiryo" pitchFamily="34" charset="0"/>
                <a:ea typeface="Meiryo" pitchFamily="34" charset="-122"/>
                <a:cs typeface="Meiryo" pitchFamily="34" charset="-120"/>
              </a:rPr>
              <a:t>size model</a:t>
            </a:r>
            <a:endParaRPr lang="en-US" sz="1200" dirty="0"/>
          </a:p>
        </p:txBody>
      </p:sp>
      <p:sp>
        <p:nvSpPr>
          <p:cNvPr id="45" name="Text 43"/>
          <p:cNvSpPr/>
          <p:nvPr/>
        </p:nvSpPr>
        <p:spPr>
          <a:xfrm>
            <a:off x="914400" y="5440680"/>
            <a:ext cx="4663440" cy="64008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現添付CSVでは size_assignment_scope=sample。</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size_coupling_policy=independent であり、空間局所×サイズ要因の完全混合教師は将来拡張。</a:t>
            </a:r>
            <a:endParaRPr lang="en-US" sz="1420" dirty="0"/>
          </a:p>
        </p:txBody>
      </p:sp>
      <p:sp>
        <p:nvSpPr>
          <p:cNvPr id="46" name="Shape 44"/>
          <p:cNvSpPr/>
          <p:nvPr/>
        </p:nvSpPr>
        <p:spPr>
          <a:xfrm>
            <a:off x="6144768" y="2240280"/>
            <a:ext cx="5394960" cy="3611880"/>
          </a:xfrm>
          <a:prstGeom prst="roundRect">
            <a:avLst>
              <a:gd name="adj" fmla="val 1519"/>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47" name="Text 45"/>
          <p:cNvSpPr/>
          <p:nvPr/>
        </p:nvSpPr>
        <p:spPr>
          <a:xfrm>
            <a:off x="6272784" y="2313432"/>
            <a:ext cx="51389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粒子数分布の疎性</a:t>
            </a:r>
            <a:endParaRPr lang="en-US" sz="1400" dirty="0"/>
          </a:p>
        </p:txBody>
      </p:sp>
      <p:sp>
        <p:nvSpPr>
          <p:cNvPr id="48" name="Shape 46"/>
          <p:cNvSpPr/>
          <p:nvPr/>
        </p:nvSpPr>
        <p:spPr>
          <a:xfrm>
            <a:off x="6537960" y="4599432"/>
            <a:ext cx="4663440" cy="0"/>
          </a:xfrm>
          <a:prstGeom prst="line">
            <a:avLst/>
          </a:prstGeom>
          <a:noFill/>
          <a:ln w="12700">
            <a:solidFill>
              <a:srgbClr val="D7E3EA"/>
            </a:solidFill>
            <a:prstDash val="solid"/>
          </a:ln>
        </p:spPr>
      </p:sp>
      <p:sp>
        <p:nvSpPr>
          <p:cNvPr id="49" name="Shape 47"/>
          <p:cNvSpPr/>
          <p:nvPr/>
        </p:nvSpPr>
        <p:spPr>
          <a:xfrm>
            <a:off x="6537960" y="3063768"/>
            <a:ext cx="701040" cy="1535664"/>
          </a:xfrm>
          <a:prstGeom prst="roundRect">
            <a:avLst>
              <a:gd name="adj" fmla="val 3913"/>
            </a:avLst>
          </a:prstGeom>
          <a:solidFill>
            <a:srgbClr val="F4A261"/>
          </a:solidFill>
          <a:ln w="12700">
            <a:solidFill>
              <a:srgbClr val="F4A261"/>
            </a:solidFill>
            <a:prstDash val="solid"/>
          </a:ln>
        </p:spPr>
      </p:sp>
      <p:sp>
        <p:nvSpPr>
          <p:cNvPr id="50" name="Text 48"/>
          <p:cNvSpPr/>
          <p:nvPr/>
        </p:nvSpPr>
        <p:spPr>
          <a:xfrm>
            <a:off x="6492240" y="466344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20-49</a:t>
            </a:r>
            <a:endParaRPr lang="en-US" sz="950" dirty="0"/>
          </a:p>
        </p:txBody>
      </p:sp>
      <p:sp>
        <p:nvSpPr>
          <p:cNvPr id="51" name="Text 49"/>
          <p:cNvSpPr/>
          <p:nvPr/>
        </p:nvSpPr>
        <p:spPr>
          <a:xfrm>
            <a:off x="6519672" y="3008904"/>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2530</a:t>
            </a:r>
            <a:endParaRPr lang="en-US" sz="1000" dirty="0"/>
          </a:p>
        </p:txBody>
      </p:sp>
      <p:sp>
        <p:nvSpPr>
          <p:cNvPr id="52" name="Shape 50"/>
          <p:cNvSpPr/>
          <p:nvPr/>
        </p:nvSpPr>
        <p:spPr>
          <a:xfrm>
            <a:off x="7330440" y="3044952"/>
            <a:ext cx="701040" cy="1554480"/>
          </a:xfrm>
          <a:prstGeom prst="roundRect">
            <a:avLst>
              <a:gd name="adj" fmla="val 3913"/>
            </a:avLst>
          </a:prstGeom>
          <a:solidFill>
            <a:srgbClr val="F4A261"/>
          </a:solidFill>
          <a:ln w="12700">
            <a:solidFill>
              <a:srgbClr val="F4A261"/>
            </a:solidFill>
            <a:prstDash val="solid"/>
          </a:ln>
        </p:spPr>
      </p:sp>
      <p:sp>
        <p:nvSpPr>
          <p:cNvPr id="53" name="Text 51"/>
          <p:cNvSpPr/>
          <p:nvPr/>
        </p:nvSpPr>
        <p:spPr>
          <a:xfrm>
            <a:off x="7284720" y="466344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50-79</a:t>
            </a:r>
            <a:endParaRPr lang="en-US" sz="950" dirty="0"/>
          </a:p>
        </p:txBody>
      </p:sp>
      <p:sp>
        <p:nvSpPr>
          <p:cNvPr id="54" name="Text 52"/>
          <p:cNvSpPr/>
          <p:nvPr/>
        </p:nvSpPr>
        <p:spPr>
          <a:xfrm>
            <a:off x="7312152" y="2990088"/>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2561</a:t>
            </a:r>
            <a:endParaRPr lang="en-US" sz="1000" dirty="0"/>
          </a:p>
        </p:txBody>
      </p:sp>
      <p:sp>
        <p:nvSpPr>
          <p:cNvPr id="55" name="Shape 53"/>
          <p:cNvSpPr/>
          <p:nvPr/>
        </p:nvSpPr>
        <p:spPr>
          <a:xfrm>
            <a:off x="8122920" y="3114755"/>
            <a:ext cx="701040" cy="1484677"/>
          </a:xfrm>
          <a:prstGeom prst="roundRect">
            <a:avLst>
              <a:gd name="adj" fmla="val 3913"/>
            </a:avLst>
          </a:prstGeom>
          <a:solidFill>
            <a:srgbClr val="4FC3F7"/>
          </a:solidFill>
          <a:ln w="12700">
            <a:solidFill>
              <a:srgbClr val="4FC3F7"/>
            </a:solidFill>
            <a:prstDash val="solid"/>
          </a:ln>
        </p:spPr>
      </p:sp>
      <p:sp>
        <p:nvSpPr>
          <p:cNvPr id="56" name="Text 54"/>
          <p:cNvSpPr/>
          <p:nvPr/>
        </p:nvSpPr>
        <p:spPr>
          <a:xfrm>
            <a:off x="8077200" y="466344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80-109</a:t>
            </a:r>
            <a:endParaRPr lang="en-US" sz="950" dirty="0"/>
          </a:p>
        </p:txBody>
      </p:sp>
      <p:sp>
        <p:nvSpPr>
          <p:cNvPr id="57" name="Text 55"/>
          <p:cNvSpPr/>
          <p:nvPr/>
        </p:nvSpPr>
        <p:spPr>
          <a:xfrm>
            <a:off x="8104632" y="3059891"/>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2446</a:t>
            </a:r>
            <a:endParaRPr lang="en-US" sz="1000" dirty="0"/>
          </a:p>
        </p:txBody>
      </p:sp>
      <p:sp>
        <p:nvSpPr>
          <p:cNvPr id="58" name="Shape 56"/>
          <p:cNvSpPr/>
          <p:nvPr/>
        </p:nvSpPr>
        <p:spPr>
          <a:xfrm>
            <a:off x="8915400" y="3126895"/>
            <a:ext cx="701040" cy="1472537"/>
          </a:xfrm>
          <a:prstGeom prst="roundRect">
            <a:avLst>
              <a:gd name="adj" fmla="val 3913"/>
            </a:avLst>
          </a:prstGeom>
          <a:solidFill>
            <a:srgbClr val="4FC3F7"/>
          </a:solidFill>
          <a:ln w="12700">
            <a:solidFill>
              <a:srgbClr val="4FC3F7"/>
            </a:solidFill>
            <a:prstDash val="solid"/>
          </a:ln>
        </p:spPr>
      </p:sp>
      <p:sp>
        <p:nvSpPr>
          <p:cNvPr id="59" name="Text 57"/>
          <p:cNvSpPr/>
          <p:nvPr/>
        </p:nvSpPr>
        <p:spPr>
          <a:xfrm>
            <a:off x="8869680" y="466344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110-139</a:t>
            </a:r>
            <a:endParaRPr lang="en-US" sz="950" dirty="0"/>
          </a:p>
        </p:txBody>
      </p:sp>
      <p:sp>
        <p:nvSpPr>
          <p:cNvPr id="60" name="Text 58"/>
          <p:cNvSpPr/>
          <p:nvPr/>
        </p:nvSpPr>
        <p:spPr>
          <a:xfrm>
            <a:off x="8897112" y="3072031"/>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2426</a:t>
            </a:r>
            <a:endParaRPr lang="en-US" sz="1000" dirty="0"/>
          </a:p>
        </p:txBody>
      </p:sp>
      <p:sp>
        <p:nvSpPr>
          <p:cNvPr id="61" name="Shape 59"/>
          <p:cNvSpPr/>
          <p:nvPr/>
        </p:nvSpPr>
        <p:spPr>
          <a:xfrm>
            <a:off x="9707880" y="3071052"/>
            <a:ext cx="701040" cy="1528380"/>
          </a:xfrm>
          <a:prstGeom prst="roundRect">
            <a:avLst>
              <a:gd name="adj" fmla="val 3913"/>
            </a:avLst>
          </a:prstGeom>
          <a:solidFill>
            <a:srgbClr val="2A9D8F"/>
          </a:solidFill>
          <a:ln w="12700">
            <a:solidFill>
              <a:srgbClr val="2A9D8F"/>
            </a:solidFill>
            <a:prstDash val="solid"/>
          </a:ln>
        </p:spPr>
      </p:sp>
      <p:sp>
        <p:nvSpPr>
          <p:cNvPr id="62" name="Text 60"/>
          <p:cNvSpPr/>
          <p:nvPr/>
        </p:nvSpPr>
        <p:spPr>
          <a:xfrm>
            <a:off x="9662160" y="466344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140-169</a:t>
            </a:r>
            <a:endParaRPr lang="en-US" sz="950" dirty="0"/>
          </a:p>
        </p:txBody>
      </p:sp>
      <p:sp>
        <p:nvSpPr>
          <p:cNvPr id="63" name="Text 61"/>
          <p:cNvSpPr/>
          <p:nvPr/>
        </p:nvSpPr>
        <p:spPr>
          <a:xfrm>
            <a:off x="9689592" y="3016188"/>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2518</a:t>
            </a:r>
            <a:endParaRPr lang="en-US" sz="1000" dirty="0"/>
          </a:p>
        </p:txBody>
      </p:sp>
      <p:sp>
        <p:nvSpPr>
          <p:cNvPr id="64" name="Shape 62"/>
          <p:cNvSpPr/>
          <p:nvPr/>
        </p:nvSpPr>
        <p:spPr>
          <a:xfrm>
            <a:off x="10500360" y="3070445"/>
            <a:ext cx="701040" cy="1528987"/>
          </a:xfrm>
          <a:prstGeom prst="roundRect">
            <a:avLst>
              <a:gd name="adj" fmla="val 3913"/>
            </a:avLst>
          </a:prstGeom>
          <a:solidFill>
            <a:srgbClr val="2A9D8F"/>
          </a:solidFill>
          <a:ln w="12700">
            <a:solidFill>
              <a:srgbClr val="2A9D8F"/>
            </a:solidFill>
            <a:prstDash val="solid"/>
          </a:ln>
        </p:spPr>
      </p:sp>
      <p:sp>
        <p:nvSpPr>
          <p:cNvPr id="65" name="Text 63"/>
          <p:cNvSpPr/>
          <p:nvPr/>
        </p:nvSpPr>
        <p:spPr>
          <a:xfrm>
            <a:off x="10454640" y="466344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170-200</a:t>
            </a:r>
            <a:endParaRPr lang="en-US" sz="950" dirty="0"/>
          </a:p>
        </p:txBody>
      </p:sp>
      <p:sp>
        <p:nvSpPr>
          <p:cNvPr id="66" name="Text 64"/>
          <p:cNvSpPr/>
          <p:nvPr/>
        </p:nvSpPr>
        <p:spPr>
          <a:xfrm>
            <a:off x="10482072" y="3015581"/>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2519</a:t>
            </a:r>
            <a:endParaRPr lang="en-US" sz="1000" dirty="0"/>
          </a:p>
        </p:txBody>
      </p:sp>
      <p:sp>
        <p:nvSpPr>
          <p:cNvPr id="67" name="Text 65"/>
          <p:cNvSpPr/>
          <p:nvPr/>
        </p:nvSpPr>
        <p:spPr>
          <a:xfrm>
            <a:off x="6446520" y="5074920"/>
            <a:ext cx="4754880" cy="77724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低粒子数ウェハが一定割合存在し、単純ラスタ画像では信号が薄い。</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この疎性が「空間×サイズ因子化」や不確かさ推定の必要性を高める。</a:t>
            </a:r>
            <a:endParaRPr lang="en-US" sz="1420" dirty="0"/>
          </a:p>
        </p:txBody>
      </p:sp>
      <p:sp>
        <p:nvSpPr>
          <p:cNvPr id="68" name="Text 66"/>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03</a:t>
            </a:r>
            <a:endParaRPr lang="en-US" sz="1000" dirty="0"/>
          </a:p>
        </p:txBody>
      </p:sp>
      <p:sp>
        <p:nvSpPr>
          <p:cNvPr id="69" name="Text 67"/>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対象パターンファミリ一覧</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Canonical Families</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Text 3"/>
          <p:cNvSpPr/>
          <p:nvPr/>
        </p:nvSpPr>
        <p:spPr>
          <a:xfrm>
            <a:off x="658368" y="896112"/>
            <a:ext cx="7863840" cy="274320"/>
          </a:xfrm>
          <a:prstGeom prst="rect">
            <a:avLst/>
          </a:prstGeom>
          <a:noFill/>
          <a:ln/>
        </p:spPr>
        <p:txBody>
          <a:bodyPr wrap="square" lIns="0" tIns="0" rIns="0" bIns="0" rtlCol="0" anchor="ctr"/>
          <a:lstStyle/>
          <a:p>
            <a:pPr marL="0" indent="0">
              <a:buNone/>
            </a:pPr>
            <a:r>
              <a:rPr lang="en-US" sz="1600" dirty="0">
                <a:solidFill>
                  <a:srgbClr val="111111"/>
                </a:solidFill>
                <a:latin typeface="Meiryo" pitchFamily="34" charset="0"/>
                <a:ea typeface="Meiryo" pitchFamily="34" charset="-122"/>
                <a:cs typeface="Meiryo" pitchFamily="34" charset="-120"/>
              </a:rPr>
              <a:t>発明は単一画像ラベルではなく、以下の family を「空間分布」と「サイズ分布」の両面から扱う。</a:t>
            </a:r>
            <a:endParaRPr lang="en-US" sz="1600" dirty="0"/>
          </a:p>
        </p:txBody>
      </p:sp>
      <p:sp>
        <p:nvSpPr>
          <p:cNvPr id="6" name="Shape 4"/>
          <p:cNvSpPr/>
          <p:nvPr/>
        </p:nvSpPr>
        <p:spPr>
          <a:xfrm>
            <a:off x="658368" y="1325880"/>
            <a:ext cx="2148840" cy="1572768"/>
          </a:xfrm>
          <a:prstGeom prst="roundRect">
            <a:avLst>
              <a:gd name="adj" fmla="val 3488"/>
            </a:avLst>
          </a:prstGeom>
          <a:solidFill>
            <a:srgbClr val="FFFFFF"/>
          </a:solidFill>
          <a:ln w="12700">
            <a:solidFill>
              <a:srgbClr val="CAD8E0"/>
            </a:solidFill>
            <a:prstDash val="solid"/>
          </a:ln>
        </p:spPr>
      </p:sp>
      <p:sp>
        <p:nvSpPr>
          <p:cNvPr id="7" name="Shape 5"/>
          <p:cNvSpPr/>
          <p:nvPr/>
        </p:nvSpPr>
        <p:spPr>
          <a:xfrm>
            <a:off x="804672" y="1490472"/>
            <a:ext cx="841248" cy="841248"/>
          </a:xfrm>
          <a:prstGeom prst="ellipse">
            <a:avLst/>
          </a:prstGeom>
          <a:solidFill>
            <a:srgbClr val="FFFFFF"/>
          </a:solidFill>
          <a:ln w="12700">
            <a:solidFill>
              <a:srgbClr val="BBC9D1"/>
            </a:solidFill>
            <a:prstDash val="solid"/>
          </a:ln>
        </p:spPr>
      </p:sp>
      <p:sp>
        <p:nvSpPr>
          <p:cNvPr id="8" name="Shape 6"/>
          <p:cNvSpPr/>
          <p:nvPr/>
        </p:nvSpPr>
        <p:spPr>
          <a:xfrm>
            <a:off x="888797" y="1574597"/>
            <a:ext cx="672998" cy="672998"/>
          </a:xfrm>
          <a:prstGeom prst="ellipse">
            <a:avLst/>
          </a:prstGeom>
          <a:solidFill>
            <a:srgbClr val="EAF5FB"/>
          </a:solidFill>
          <a:ln w="12700">
            <a:solidFill>
              <a:srgbClr val="EAF5FB"/>
            </a:solidFill>
            <a:prstDash val="solid"/>
          </a:ln>
        </p:spPr>
      </p:sp>
      <p:sp>
        <p:nvSpPr>
          <p:cNvPr id="9" name="Text 7"/>
          <p:cNvSpPr/>
          <p:nvPr/>
        </p:nvSpPr>
        <p:spPr>
          <a:xfrm>
            <a:off x="1719072" y="1581912"/>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C01_Uniform</a:t>
            </a:r>
            <a:endParaRPr lang="en-US" sz="1220" dirty="0"/>
          </a:p>
        </p:txBody>
      </p:sp>
      <p:sp>
        <p:nvSpPr>
          <p:cNvPr id="10" name="Text 8"/>
          <p:cNvSpPr/>
          <p:nvPr/>
        </p:nvSpPr>
        <p:spPr>
          <a:xfrm>
            <a:off x="1719072" y="1947672"/>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全面均一</a:t>
            </a:r>
            <a:endParaRPr lang="en-US" sz="1200" dirty="0"/>
          </a:p>
        </p:txBody>
      </p:sp>
      <p:sp>
        <p:nvSpPr>
          <p:cNvPr id="11" name="Shape 9"/>
          <p:cNvSpPr/>
          <p:nvPr/>
        </p:nvSpPr>
        <p:spPr>
          <a:xfrm>
            <a:off x="1719072" y="2359152"/>
            <a:ext cx="841248" cy="237744"/>
          </a:xfrm>
          <a:prstGeom prst="roundRect">
            <a:avLst>
              <a:gd name="adj" fmla="val 30769"/>
            </a:avLst>
          </a:prstGeom>
          <a:solidFill>
            <a:srgbClr val="A0AEC0"/>
          </a:solidFill>
          <a:ln w="12700">
            <a:solidFill>
              <a:srgbClr val="A0AEC0"/>
            </a:solidFill>
            <a:prstDash val="solid"/>
          </a:ln>
        </p:spPr>
      </p:sp>
      <p:sp>
        <p:nvSpPr>
          <p:cNvPr id="12" name="Text 10"/>
          <p:cNvSpPr/>
          <p:nvPr/>
        </p:nvSpPr>
        <p:spPr>
          <a:xfrm>
            <a:off x="1719072" y="2386584"/>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13" name="Shape 11"/>
          <p:cNvSpPr/>
          <p:nvPr/>
        </p:nvSpPr>
        <p:spPr>
          <a:xfrm>
            <a:off x="2971800" y="1325880"/>
            <a:ext cx="2148840" cy="1572768"/>
          </a:xfrm>
          <a:prstGeom prst="roundRect">
            <a:avLst>
              <a:gd name="adj" fmla="val 3488"/>
            </a:avLst>
          </a:prstGeom>
          <a:solidFill>
            <a:srgbClr val="FFFFFF"/>
          </a:solidFill>
          <a:ln w="12700">
            <a:solidFill>
              <a:srgbClr val="CAD8E0"/>
            </a:solidFill>
            <a:prstDash val="solid"/>
          </a:ln>
        </p:spPr>
      </p:sp>
      <p:sp>
        <p:nvSpPr>
          <p:cNvPr id="14" name="Shape 12"/>
          <p:cNvSpPr/>
          <p:nvPr/>
        </p:nvSpPr>
        <p:spPr>
          <a:xfrm>
            <a:off x="3118104" y="1490472"/>
            <a:ext cx="841248" cy="841248"/>
          </a:xfrm>
          <a:prstGeom prst="ellipse">
            <a:avLst/>
          </a:prstGeom>
          <a:solidFill>
            <a:srgbClr val="FFFFFF"/>
          </a:solidFill>
          <a:ln w="12700">
            <a:solidFill>
              <a:srgbClr val="BBC9D1"/>
            </a:solidFill>
            <a:prstDash val="solid"/>
          </a:ln>
        </p:spPr>
      </p:sp>
      <p:sp>
        <p:nvSpPr>
          <p:cNvPr id="15" name="Shape 13"/>
          <p:cNvSpPr/>
          <p:nvPr/>
        </p:nvSpPr>
        <p:spPr>
          <a:xfrm>
            <a:off x="3185404" y="1557772"/>
            <a:ext cx="706648" cy="706648"/>
          </a:xfrm>
          <a:prstGeom prst="donut">
            <a:avLst/>
          </a:prstGeom>
          <a:solidFill>
            <a:srgbClr val="F4A261">
              <a:alpha val="55000"/>
            </a:srgbClr>
          </a:solidFill>
          <a:ln w="12700">
            <a:solidFill>
              <a:srgbClr val="F4A261"/>
            </a:solidFill>
            <a:prstDash val="solid"/>
          </a:ln>
        </p:spPr>
      </p:sp>
      <p:sp>
        <p:nvSpPr>
          <p:cNvPr id="16" name="Text 14"/>
          <p:cNvSpPr/>
          <p:nvPr/>
        </p:nvSpPr>
        <p:spPr>
          <a:xfrm>
            <a:off x="4032504" y="1581912"/>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C02_EdgeBiased</a:t>
            </a:r>
            <a:endParaRPr lang="en-US" sz="1220" dirty="0"/>
          </a:p>
        </p:txBody>
      </p:sp>
      <p:sp>
        <p:nvSpPr>
          <p:cNvPr id="17" name="Text 15"/>
          <p:cNvSpPr/>
          <p:nvPr/>
        </p:nvSpPr>
        <p:spPr>
          <a:xfrm>
            <a:off x="4032504" y="1947672"/>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外周偏在</a:t>
            </a:r>
            <a:endParaRPr lang="en-US" sz="1200" dirty="0"/>
          </a:p>
        </p:txBody>
      </p:sp>
      <p:sp>
        <p:nvSpPr>
          <p:cNvPr id="18" name="Shape 16"/>
          <p:cNvSpPr/>
          <p:nvPr/>
        </p:nvSpPr>
        <p:spPr>
          <a:xfrm>
            <a:off x="4032504" y="2359152"/>
            <a:ext cx="841248" cy="237744"/>
          </a:xfrm>
          <a:prstGeom prst="roundRect">
            <a:avLst>
              <a:gd name="adj" fmla="val 30769"/>
            </a:avLst>
          </a:prstGeom>
          <a:solidFill>
            <a:srgbClr val="F4A261"/>
          </a:solidFill>
          <a:ln w="12700">
            <a:solidFill>
              <a:srgbClr val="F4A261"/>
            </a:solidFill>
            <a:prstDash val="solid"/>
          </a:ln>
        </p:spPr>
      </p:sp>
      <p:sp>
        <p:nvSpPr>
          <p:cNvPr id="19" name="Text 17"/>
          <p:cNvSpPr/>
          <p:nvPr/>
        </p:nvSpPr>
        <p:spPr>
          <a:xfrm>
            <a:off x="4032504" y="2386584"/>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20" name="Shape 18"/>
          <p:cNvSpPr/>
          <p:nvPr/>
        </p:nvSpPr>
        <p:spPr>
          <a:xfrm>
            <a:off x="5285232" y="1325880"/>
            <a:ext cx="2148840" cy="1572768"/>
          </a:xfrm>
          <a:prstGeom prst="roundRect">
            <a:avLst>
              <a:gd name="adj" fmla="val 3488"/>
            </a:avLst>
          </a:prstGeom>
          <a:solidFill>
            <a:srgbClr val="FFFFFF"/>
          </a:solidFill>
          <a:ln w="12700">
            <a:solidFill>
              <a:srgbClr val="CAD8E0"/>
            </a:solidFill>
            <a:prstDash val="solid"/>
          </a:ln>
        </p:spPr>
      </p:sp>
      <p:sp>
        <p:nvSpPr>
          <p:cNvPr id="21" name="Shape 19"/>
          <p:cNvSpPr/>
          <p:nvPr/>
        </p:nvSpPr>
        <p:spPr>
          <a:xfrm>
            <a:off x="5431536" y="1490472"/>
            <a:ext cx="841248" cy="841248"/>
          </a:xfrm>
          <a:prstGeom prst="ellipse">
            <a:avLst/>
          </a:prstGeom>
          <a:solidFill>
            <a:srgbClr val="FFFFFF"/>
          </a:solidFill>
          <a:ln w="12700">
            <a:solidFill>
              <a:srgbClr val="BBC9D1"/>
            </a:solidFill>
            <a:prstDash val="solid"/>
          </a:ln>
        </p:spPr>
      </p:sp>
      <p:sp>
        <p:nvSpPr>
          <p:cNvPr id="22" name="Shape 20"/>
          <p:cNvSpPr/>
          <p:nvPr/>
        </p:nvSpPr>
        <p:spPr>
          <a:xfrm>
            <a:off x="5599786" y="1658722"/>
            <a:ext cx="504749" cy="504749"/>
          </a:xfrm>
          <a:prstGeom prst="donut">
            <a:avLst/>
          </a:prstGeom>
          <a:solidFill>
            <a:srgbClr val="4FC3F7">
              <a:alpha val="65000"/>
            </a:srgbClr>
          </a:solidFill>
          <a:ln w="12700">
            <a:solidFill>
              <a:srgbClr val="4FC3F7"/>
            </a:solidFill>
            <a:prstDash val="solid"/>
          </a:ln>
        </p:spPr>
      </p:sp>
      <p:sp>
        <p:nvSpPr>
          <p:cNvPr id="23" name="Text 21"/>
          <p:cNvSpPr/>
          <p:nvPr/>
        </p:nvSpPr>
        <p:spPr>
          <a:xfrm>
            <a:off x="6345936" y="1581912"/>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C03_Ring</a:t>
            </a:r>
            <a:endParaRPr lang="en-US" sz="1220" dirty="0"/>
          </a:p>
        </p:txBody>
      </p:sp>
      <p:sp>
        <p:nvSpPr>
          <p:cNvPr id="24" name="Text 22"/>
          <p:cNvSpPr/>
          <p:nvPr/>
        </p:nvSpPr>
        <p:spPr>
          <a:xfrm>
            <a:off x="6345936" y="1947672"/>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同心リング</a:t>
            </a:r>
            <a:endParaRPr lang="en-US" sz="1200" dirty="0"/>
          </a:p>
        </p:txBody>
      </p:sp>
      <p:sp>
        <p:nvSpPr>
          <p:cNvPr id="25" name="Shape 23"/>
          <p:cNvSpPr/>
          <p:nvPr/>
        </p:nvSpPr>
        <p:spPr>
          <a:xfrm>
            <a:off x="6345936" y="2359152"/>
            <a:ext cx="841248" cy="237744"/>
          </a:xfrm>
          <a:prstGeom prst="roundRect">
            <a:avLst>
              <a:gd name="adj" fmla="val 30769"/>
            </a:avLst>
          </a:prstGeom>
          <a:solidFill>
            <a:srgbClr val="4FC3F7"/>
          </a:solidFill>
          <a:ln w="12700">
            <a:solidFill>
              <a:srgbClr val="4FC3F7"/>
            </a:solidFill>
            <a:prstDash val="solid"/>
          </a:ln>
        </p:spPr>
      </p:sp>
      <p:sp>
        <p:nvSpPr>
          <p:cNvPr id="26" name="Text 24"/>
          <p:cNvSpPr/>
          <p:nvPr/>
        </p:nvSpPr>
        <p:spPr>
          <a:xfrm>
            <a:off x="6345936" y="2386584"/>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27" name="Shape 25"/>
          <p:cNvSpPr/>
          <p:nvPr/>
        </p:nvSpPr>
        <p:spPr>
          <a:xfrm>
            <a:off x="7598664" y="1325880"/>
            <a:ext cx="2148840" cy="1572768"/>
          </a:xfrm>
          <a:prstGeom prst="roundRect">
            <a:avLst>
              <a:gd name="adj" fmla="val 3488"/>
            </a:avLst>
          </a:prstGeom>
          <a:solidFill>
            <a:srgbClr val="FFFFFF"/>
          </a:solidFill>
          <a:ln w="12700">
            <a:solidFill>
              <a:srgbClr val="CAD8E0"/>
            </a:solidFill>
            <a:prstDash val="solid"/>
          </a:ln>
        </p:spPr>
      </p:sp>
      <p:sp>
        <p:nvSpPr>
          <p:cNvPr id="28" name="Shape 26"/>
          <p:cNvSpPr/>
          <p:nvPr/>
        </p:nvSpPr>
        <p:spPr>
          <a:xfrm>
            <a:off x="7744968" y="1490472"/>
            <a:ext cx="841248" cy="841248"/>
          </a:xfrm>
          <a:prstGeom prst="ellipse">
            <a:avLst/>
          </a:prstGeom>
          <a:solidFill>
            <a:srgbClr val="FFFFFF"/>
          </a:solidFill>
          <a:ln w="12700">
            <a:solidFill>
              <a:srgbClr val="BBC9D1"/>
            </a:solidFill>
            <a:prstDash val="solid"/>
          </a:ln>
        </p:spPr>
      </p:sp>
      <p:sp>
        <p:nvSpPr>
          <p:cNvPr id="29" name="Shape 27"/>
          <p:cNvSpPr/>
          <p:nvPr/>
        </p:nvSpPr>
        <p:spPr>
          <a:xfrm rot="1200000">
            <a:off x="8148767" y="1591422"/>
            <a:ext cx="302849" cy="471099"/>
          </a:xfrm>
          <a:prstGeom prst="pieWedge">
            <a:avLst/>
          </a:prstGeom>
          <a:solidFill>
            <a:srgbClr val="F4A261">
              <a:alpha val="75000"/>
            </a:srgbClr>
          </a:solidFill>
          <a:ln w="12700">
            <a:solidFill>
              <a:srgbClr val="F4A261"/>
            </a:solidFill>
            <a:prstDash val="solid"/>
          </a:ln>
        </p:spPr>
      </p:sp>
      <p:sp>
        <p:nvSpPr>
          <p:cNvPr id="30" name="Text 28"/>
          <p:cNvSpPr/>
          <p:nvPr/>
        </p:nvSpPr>
        <p:spPr>
          <a:xfrm>
            <a:off x="8659368" y="1581912"/>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C04_Sector_Edge</a:t>
            </a:r>
            <a:endParaRPr lang="en-US" sz="1220" dirty="0"/>
          </a:p>
        </p:txBody>
      </p:sp>
      <p:sp>
        <p:nvSpPr>
          <p:cNvPr id="31" name="Text 29"/>
          <p:cNvSpPr/>
          <p:nvPr/>
        </p:nvSpPr>
        <p:spPr>
          <a:xfrm>
            <a:off x="8659368" y="1947672"/>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外周セクタ</a:t>
            </a:r>
            <a:endParaRPr lang="en-US" sz="1200" dirty="0"/>
          </a:p>
        </p:txBody>
      </p:sp>
      <p:sp>
        <p:nvSpPr>
          <p:cNvPr id="32" name="Shape 30"/>
          <p:cNvSpPr/>
          <p:nvPr/>
        </p:nvSpPr>
        <p:spPr>
          <a:xfrm>
            <a:off x="8659368" y="2359152"/>
            <a:ext cx="841248" cy="237744"/>
          </a:xfrm>
          <a:prstGeom prst="roundRect">
            <a:avLst>
              <a:gd name="adj" fmla="val 30769"/>
            </a:avLst>
          </a:prstGeom>
          <a:solidFill>
            <a:srgbClr val="F4A261"/>
          </a:solidFill>
          <a:ln w="12700">
            <a:solidFill>
              <a:srgbClr val="F4A261"/>
            </a:solidFill>
            <a:prstDash val="solid"/>
          </a:ln>
        </p:spPr>
      </p:sp>
      <p:sp>
        <p:nvSpPr>
          <p:cNvPr id="33" name="Text 31"/>
          <p:cNvSpPr/>
          <p:nvPr/>
        </p:nvSpPr>
        <p:spPr>
          <a:xfrm>
            <a:off x="8659368" y="2386584"/>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34" name="Shape 32"/>
          <p:cNvSpPr/>
          <p:nvPr/>
        </p:nvSpPr>
        <p:spPr>
          <a:xfrm>
            <a:off x="9912096" y="1325880"/>
            <a:ext cx="2148840" cy="1572768"/>
          </a:xfrm>
          <a:prstGeom prst="roundRect">
            <a:avLst>
              <a:gd name="adj" fmla="val 3488"/>
            </a:avLst>
          </a:prstGeom>
          <a:solidFill>
            <a:srgbClr val="FFFFFF"/>
          </a:solidFill>
          <a:ln w="12700">
            <a:solidFill>
              <a:srgbClr val="CAD8E0"/>
            </a:solidFill>
            <a:prstDash val="solid"/>
          </a:ln>
        </p:spPr>
      </p:sp>
      <p:sp>
        <p:nvSpPr>
          <p:cNvPr id="35" name="Shape 33"/>
          <p:cNvSpPr/>
          <p:nvPr/>
        </p:nvSpPr>
        <p:spPr>
          <a:xfrm>
            <a:off x="10058400" y="1490472"/>
            <a:ext cx="841248" cy="841248"/>
          </a:xfrm>
          <a:prstGeom prst="ellipse">
            <a:avLst/>
          </a:prstGeom>
          <a:solidFill>
            <a:srgbClr val="FFFFFF"/>
          </a:solidFill>
          <a:ln w="12700">
            <a:solidFill>
              <a:srgbClr val="BBC9D1"/>
            </a:solidFill>
            <a:prstDash val="solid"/>
          </a:ln>
        </p:spPr>
      </p:sp>
      <p:sp>
        <p:nvSpPr>
          <p:cNvPr id="36" name="Shape 34"/>
          <p:cNvSpPr/>
          <p:nvPr/>
        </p:nvSpPr>
        <p:spPr>
          <a:xfrm rot="18000000">
            <a:off x="10344424" y="1675547"/>
            <a:ext cx="269199" cy="353324"/>
          </a:xfrm>
          <a:prstGeom prst="pieWedge">
            <a:avLst/>
          </a:prstGeom>
          <a:solidFill>
            <a:srgbClr val="4FC3F7">
              <a:alpha val="75000"/>
            </a:srgbClr>
          </a:solidFill>
          <a:ln w="12700">
            <a:solidFill>
              <a:srgbClr val="4FC3F7"/>
            </a:solidFill>
            <a:prstDash val="solid"/>
          </a:ln>
        </p:spPr>
      </p:sp>
      <p:sp>
        <p:nvSpPr>
          <p:cNvPr id="37" name="Text 35"/>
          <p:cNvSpPr/>
          <p:nvPr/>
        </p:nvSpPr>
        <p:spPr>
          <a:xfrm>
            <a:off x="10972800" y="1581912"/>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C05_Sector_Internal</a:t>
            </a:r>
            <a:endParaRPr lang="en-US" sz="1220" dirty="0"/>
          </a:p>
        </p:txBody>
      </p:sp>
      <p:sp>
        <p:nvSpPr>
          <p:cNvPr id="38" name="Text 36"/>
          <p:cNvSpPr/>
          <p:nvPr/>
        </p:nvSpPr>
        <p:spPr>
          <a:xfrm>
            <a:off x="10972800" y="1947672"/>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内部セクタ</a:t>
            </a:r>
            <a:endParaRPr lang="en-US" sz="1200" dirty="0"/>
          </a:p>
        </p:txBody>
      </p:sp>
      <p:sp>
        <p:nvSpPr>
          <p:cNvPr id="39" name="Shape 37"/>
          <p:cNvSpPr/>
          <p:nvPr/>
        </p:nvSpPr>
        <p:spPr>
          <a:xfrm>
            <a:off x="10972800" y="2359152"/>
            <a:ext cx="841248" cy="237744"/>
          </a:xfrm>
          <a:prstGeom prst="roundRect">
            <a:avLst>
              <a:gd name="adj" fmla="val 30769"/>
            </a:avLst>
          </a:prstGeom>
          <a:solidFill>
            <a:srgbClr val="4FC3F7"/>
          </a:solidFill>
          <a:ln w="12700">
            <a:solidFill>
              <a:srgbClr val="4FC3F7"/>
            </a:solidFill>
            <a:prstDash val="solid"/>
          </a:ln>
        </p:spPr>
      </p:sp>
      <p:sp>
        <p:nvSpPr>
          <p:cNvPr id="40" name="Text 38"/>
          <p:cNvSpPr/>
          <p:nvPr/>
        </p:nvSpPr>
        <p:spPr>
          <a:xfrm>
            <a:off x="10972800" y="2386584"/>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幾何系</a:t>
            </a:r>
            <a:endParaRPr lang="en-US" sz="1050" dirty="0"/>
          </a:p>
        </p:txBody>
      </p:sp>
      <p:sp>
        <p:nvSpPr>
          <p:cNvPr id="41" name="Shape 39"/>
          <p:cNvSpPr/>
          <p:nvPr/>
        </p:nvSpPr>
        <p:spPr>
          <a:xfrm>
            <a:off x="658368" y="3099816"/>
            <a:ext cx="2148840" cy="1572768"/>
          </a:xfrm>
          <a:prstGeom prst="roundRect">
            <a:avLst>
              <a:gd name="adj" fmla="val 3488"/>
            </a:avLst>
          </a:prstGeom>
          <a:solidFill>
            <a:srgbClr val="FFFFFF"/>
          </a:solidFill>
          <a:ln w="12700">
            <a:solidFill>
              <a:srgbClr val="CAD8E0"/>
            </a:solidFill>
            <a:prstDash val="solid"/>
          </a:ln>
        </p:spPr>
      </p:sp>
      <p:sp>
        <p:nvSpPr>
          <p:cNvPr id="42" name="Shape 40"/>
          <p:cNvSpPr/>
          <p:nvPr/>
        </p:nvSpPr>
        <p:spPr>
          <a:xfrm>
            <a:off x="804672" y="3264408"/>
            <a:ext cx="841248" cy="841248"/>
          </a:xfrm>
          <a:prstGeom prst="ellipse">
            <a:avLst/>
          </a:prstGeom>
          <a:solidFill>
            <a:srgbClr val="FFFFFF"/>
          </a:solidFill>
          <a:ln w="12700">
            <a:solidFill>
              <a:srgbClr val="BBC9D1"/>
            </a:solidFill>
            <a:prstDash val="solid"/>
          </a:ln>
        </p:spPr>
      </p:sp>
      <p:sp>
        <p:nvSpPr>
          <p:cNvPr id="43" name="Shape 41"/>
          <p:cNvSpPr/>
          <p:nvPr/>
        </p:nvSpPr>
        <p:spPr>
          <a:xfrm>
            <a:off x="1225296" y="3390595"/>
            <a:ext cx="0" cy="588874"/>
          </a:xfrm>
          <a:prstGeom prst="line">
            <a:avLst/>
          </a:prstGeom>
          <a:noFill/>
          <a:ln w="12700">
            <a:solidFill>
              <a:srgbClr val="0B3C5D"/>
            </a:solidFill>
            <a:prstDash val="solid"/>
          </a:ln>
        </p:spPr>
      </p:sp>
      <p:sp>
        <p:nvSpPr>
          <p:cNvPr id="44" name="Shape 42"/>
          <p:cNvSpPr/>
          <p:nvPr/>
        </p:nvSpPr>
        <p:spPr>
          <a:xfrm>
            <a:off x="1014984" y="3449483"/>
            <a:ext cx="403799" cy="403799"/>
          </a:xfrm>
          <a:prstGeom prst="line">
            <a:avLst/>
          </a:prstGeom>
          <a:noFill/>
          <a:ln w="12700">
            <a:solidFill>
              <a:srgbClr val="0B3C5D"/>
            </a:solidFill>
            <a:prstDash val="solid"/>
          </a:ln>
        </p:spPr>
      </p:sp>
      <p:sp>
        <p:nvSpPr>
          <p:cNvPr id="45" name="Shape 43"/>
          <p:cNvSpPr/>
          <p:nvPr/>
        </p:nvSpPr>
        <p:spPr>
          <a:xfrm>
            <a:off x="1014984" y="3836457"/>
            <a:ext cx="403799" cy="0"/>
          </a:xfrm>
          <a:prstGeom prst="line">
            <a:avLst/>
          </a:prstGeom>
          <a:noFill/>
          <a:ln w="12700">
            <a:solidFill>
              <a:srgbClr val="0B3C5D"/>
            </a:solidFill>
            <a:prstDash val="solid"/>
          </a:ln>
        </p:spPr>
      </p:sp>
      <p:sp>
        <p:nvSpPr>
          <p:cNvPr id="46" name="Text 44"/>
          <p:cNvSpPr/>
          <p:nvPr/>
        </p:nvSpPr>
        <p:spPr>
          <a:xfrm>
            <a:off x="1719072" y="3355848"/>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C06_RadialLines</a:t>
            </a:r>
            <a:endParaRPr lang="en-US" sz="1220" dirty="0"/>
          </a:p>
        </p:txBody>
      </p:sp>
      <p:sp>
        <p:nvSpPr>
          <p:cNvPr id="47" name="Text 45"/>
          <p:cNvSpPr/>
          <p:nvPr/>
        </p:nvSpPr>
        <p:spPr>
          <a:xfrm>
            <a:off x="1719072" y="3721608"/>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放射ライン</a:t>
            </a:r>
            <a:endParaRPr lang="en-US" sz="1200" dirty="0"/>
          </a:p>
        </p:txBody>
      </p:sp>
      <p:sp>
        <p:nvSpPr>
          <p:cNvPr id="48" name="Shape 46"/>
          <p:cNvSpPr/>
          <p:nvPr/>
        </p:nvSpPr>
        <p:spPr>
          <a:xfrm>
            <a:off x="1719072" y="4133088"/>
            <a:ext cx="841248" cy="237744"/>
          </a:xfrm>
          <a:prstGeom prst="roundRect">
            <a:avLst>
              <a:gd name="adj" fmla="val 30769"/>
            </a:avLst>
          </a:prstGeom>
          <a:solidFill>
            <a:srgbClr val="0B3C5D"/>
          </a:solidFill>
          <a:ln w="12700">
            <a:solidFill>
              <a:srgbClr val="0B3C5D"/>
            </a:solidFill>
            <a:prstDash val="solid"/>
          </a:ln>
        </p:spPr>
      </p:sp>
      <p:sp>
        <p:nvSpPr>
          <p:cNvPr id="49" name="Text 47"/>
          <p:cNvSpPr/>
          <p:nvPr/>
        </p:nvSpPr>
        <p:spPr>
          <a:xfrm>
            <a:off x="1719072" y="4160520"/>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50" name="Shape 48"/>
          <p:cNvSpPr/>
          <p:nvPr/>
        </p:nvSpPr>
        <p:spPr>
          <a:xfrm>
            <a:off x="2971800" y="3099816"/>
            <a:ext cx="2148840" cy="1572768"/>
          </a:xfrm>
          <a:prstGeom prst="roundRect">
            <a:avLst>
              <a:gd name="adj" fmla="val 3488"/>
            </a:avLst>
          </a:prstGeom>
          <a:solidFill>
            <a:srgbClr val="FFFFFF"/>
          </a:solidFill>
          <a:ln w="12700">
            <a:solidFill>
              <a:srgbClr val="CAD8E0"/>
            </a:solidFill>
            <a:prstDash val="solid"/>
          </a:ln>
        </p:spPr>
      </p:sp>
      <p:sp>
        <p:nvSpPr>
          <p:cNvPr id="51" name="Shape 49"/>
          <p:cNvSpPr/>
          <p:nvPr/>
        </p:nvSpPr>
        <p:spPr>
          <a:xfrm>
            <a:off x="3118104" y="3264408"/>
            <a:ext cx="841248" cy="841248"/>
          </a:xfrm>
          <a:prstGeom prst="ellipse">
            <a:avLst/>
          </a:prstGeom>
          <a:solidFill>
            <a:srgbClr val="FFFFFF"/>
          </a:solidFill>
          <a:ln w="12700">
            <a:solidFill>
              <a:srgbClr val="BBC9D1"/>
            </a:solidFill>
            <a:prstDash val="solid"/>
          </a:ln>
        </p:spPr>
      </p:sp>
      <p:sp>
        <p:nvSpPr>
          <p:cNvPr id="52" name="Shape 50"/>
          <p:cNvSpPr/>
          <p:nvPr/>
        </p:nvSpPr>
        <p:spPr>
          <a:xfrm>
            <a:off x="3286354" y="3895344"/>
            <a:ext cx="504749" cy="0"/>
          </a:xfrm>
          <a:prstGeom prst="line">
            <a:avLst/>
          </a:prstGeom>
          <a:noFill/>
          <a:ln w="12700">
            <a:solidFill>
              <a:srgbClr val="2A9D8F"/>
            </a:solidFill>
            <a:prstDash val="solid"/>
          </a:ln>
        </p:spPr>
      </p:sp>
      <p:sp>
        <p:nvSpPr>
          <p:cNvPr id="53" name="Text 51"/>
          <p:cNvSpPr/>
          <p:nvPr/>
        </p:nvSpPr>
        <p:spPr>
          <a:xfrm>
            <a:off x="4032504" y="3355848"/>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C07_StraightLine</a:t>
            </a:r>
            <a:endParaRPr lang="en-US" sz="1220" dirty="0"/>
          </a:p>
        </p:txBody>
      </p:sp>
      <p:sp>
        <p:nvSpPr>
          <p:cNvPr id="54" name="Text 52"/>
          <p:cNvSpPr/>
          <p:nvPr/>
        </p:nvSpPr>
        <p:spPr>
          <a:xfrm>
            <a:off x="4032504" y="3721608"/>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直線傷</a:t>
            </a:r>
            <a:endParaRPr lang="en-US" sz="1200" dirty="0"/>
          </a:p>
        </p:txBody>
      </p:sp>
      <p:sp>
        <p:nvSpPr>
          <p:cNvPr id="55" name="Shape 53"/>
          <p:cNvSpPr/>
          <p:nvPr/>
        </p:nvSpPr>
        <p:spPr>
          <a:xfrm>
            <a:off x="4032504" y="4133088"/>
            <a:ext cx="841248" cy="237744"/>
          </a:xfrm>
          <a:prstGeom prst="roundRect">
            <a:avLst>
              <a:gd name="adj" fmla="val 30769"/>
            </a:avLst>
          </a:prstGeom>
          <a:solidFill>
            <a:srgbClr val="2A9D8F"/>
          </a:solidFill>
          <a:ln w="12700">
            <a:solidFill>
              <a:srgbClr val="2A9D8F"/>
            </a:solidFill>
            <a:prstDash val="solid"/>
          </a:ln>
        </p:spPr>
      </p:sp>
      <p:sp>
        <p:nvSpPr>
          <p:cNvPr id="56" name="Text 54"/>
          <p:cNvSpPr/>
          <p:nvPr/>
        </p:nvSpPr>
        <p:spPr>
          <a:xfrm>
            <a:off x="4032504" y="4160520"/>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57" name="Shape 55"/>
          <p:cNvSpPr/>
          <p:nvPr/>
        </p:nvSpPr>
        <p:spPr>
          <a:xfrm>
            <a:off x="5285232" y="3099816"/>
            <a:ext cx="2148840" cy="1572768"/>
          </a:xfrm>
          <a:prstGeom prst="roundRect">
            <a:avLst>
              <a:gd name="adj" fmla="val 3488"/>
            </a:avLst>
          </a:prstGeom>
          <a:solidFill>
            <a:srgbClr val="FFFFFF"/>
          </a:solidFill>
          <a:ln w="12700">
            <a:solidFill>
              <a:srgbClr val="CAD8E0"/>
            </a:solidFill>
            <a:prstDash val="solid"/>
          </a:ln>
        </p:spPr>
      </p:sp>
      <p:sp>
        <p:nvSpPr>
          <p:cNvPr id="58" name="Shape 56"/>
          <p:cNvSpPr/>
          <p:nvPr/>
        </p:nvSpPr>
        <p:spPr>
          <a:xfrm>
            <a:off x="5431536" y="3264408"/>
            <a:ext cx="841248" cy="841248"/>
          </a:xfrm>
          <a:prstGeom prst="ellipse">
            <a:avLst/>
          </a:prstGeom>
          <a:solidFill>
            <a:srgbClr val="FFFFFF"/>
          </a:solidFill>
          <a:ln w="12700">
            <a:solidFill>
              <a:srgbClr val="BBC9D1"/>
            </a:solidFill>
            <a:prstDash val="solid"/>
          </a:ln>
        </p:spPr>
      </p:sp>
      <p:sp>
        <p:nvSpPr>
          <p:cNvPr id="59" name="Shape 57"/>
          <p:cNvSpPr/>
          <p:nvPr/>
        </p:nvSpPr>
        <p:spPr>
          <a:xfrm rot="600000">
            <a:off x="5582961" y="3432658"/>
            <a:ext cx="504749" cy="378562"/>
          </a:xfrm>
          <a:prstGeom prst="arc">
            <a:avLst/>
          </a:prstGeom>
          <a:noFill/>
          <a:ln w="12700">
            <a:solidFill>
              <a:srgbClr val="E76F51"/>
            </a:solidFill>
            <a:prstDash val="solid"/>
          </a:ln>
        </p:spPr>
      </p:sp>
      <p:sp>
        <p:nvSpPr>
          <p:cNvPr id="60" name="Text 58"/>
          <p:cNvSpPr/>
          <p:nvPr/>
        </p:nvSpPr>
        <p:spPr>
          <a:xfrm>
            <a:off x="6345936" y="3355848"/>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C08_CurvedScratch</a:t>
            </a:r>
            <a:endParaRPr lang="en-US" sz="1220" dirty="0"/>
          </a:p>
        </p:txBody>
      </p:sp>
      <p:sp>
        <p:nvSpPr>
          <p:cNvPr id="61" name="Text 59"/>
          <p:cNvSpPr/>
          <p:nvPr/>
        </p:nvSpPr>
        <p:spPr>
          <a:xfrm>
            <a:off x="6345936" y="3721608"/>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曲線傷</a:t>
            </a:r>
            <a:endParaRPr lang="en-US" sz="1200" dirty="0"/>
          </a:p>
        </p:txBody>
      </p:sp>
      <p:sp>
        <p:nvSpPr>
          <p:cNvPr id="62" name="Shape 60"/>
          <p:cNvSpPr/>
          <p:nvPr/>
        </p:nvSpPr>
        <p:spPr>
          <a:xfrm>
            <a:off x="6345936" y="4133088"/>
            <a:ext cx="841248" cy="237744"/>
          </a:xfrm>
          <a:prstGeom prst="roundRect">
            <a:avLst>
              <a:gd name="adj" fmla="val 30769"/>
            </a:avLst>
          </a:prstGeom>
          <a:solidFill>
            <a:srgbClr val="E76F51"/>
          </a:solidFill>
          <a:ln w="12700">
            <a:solidFill>
              <a:srgbClr val="E76F51"/>
            </a:solidFill>
            <a:prstDash val="solid"/>
          </a:ln>
        </p:spPr>
      </p:sp>
      <p:sp>
        <p:nvSpPr>
          <p:cNvPr id="63" name="Text 61"/>
          <p:cNvSpPr/>
          <p:nvPr/>
        </p:nvSpPr>
        <p:spPr>
          <a:xfrm>
            <a:off x="6345936" y="4160520"/>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64" name="Shape 62"/>
          <p:cNvSpPr/>
          <p:nvPr/>
        </p:nvSpPr>
        <p:spPr>
          <a:xfrm>
            <a:off x="7598664" y="3099816"/>
            <a:ext cx="2148840" cy="1572768"/>
          </a:xfrm>
          <a:prstGeom prst="roundRect">
            <a:avLst>
              <a:gd name="adj" fmla="val 3488"/>
            </a:avLst>
          </a:prstGeom>
          <a:solidFill>
            <a:srgbClr val="FFFFFF"/>
          </a:solidFill>
          <a:ln w="12700">
            <a:solidFill>
              <a:srgbClr val="CAD8E0"/>
            </a:solidFill>
            <a:prstDash val="solid"/>
          </a:ln>
        </p:spPr>
      </p:sp>
      <p:sp>
        <p:nvSpPr>
          <p:cNvPr id="65" name="Shape 63"/>
          <p:cNvSpPr/>
          <p:nvPr/>
        </p:nvSpPr>
        <p:spPr>
          <a:xfrm>
            <a:off x="7744968" y="3264408"/>
            <a:ext cx="841248" cy="841248"/>
          </a:xfrm>
          <a:prstGeom prst="ellipse">
            <a:avLst/>
          </a:prstGeom>
          <a:solidFill>
            <a:srgbClr val="FFFFFF"/>
          </a:solidFill>
          <a:ln w="12700">
            <a:solidFill>
              <a:srgbClr val="BBC9D1"/>
            </a:solidFill>
            <a:prstDash val="solid"/>
          </a:ln>
        </p:spPr>
      </p:sp>
      <p:sp>
        <p:nvSpPr>
          <p:cNvPr id="66" name="Shape 64"/>
          <p:cNvSpPr/>
          <p:nvPr/>
        </p:nvSpPr>
        <p:spPr>
          <a:xfrm rot="900000">
            <a:off x="7930043" y="3432658"/>
            <a:ext cx="437449" cy="437449"/>
          </a:xfrm>
          <a:prstGeom prst="circularArrow">
            <a:avLst/>
          </a:prstGeom>
          <a:solidFill>
            <a:srgbClr val="8E7DBE">
              <a:alpha val="65000"/>
            </a:srgbClr>
          </a:solidFill>
          <a:ln w="12700">
            <a:solidFill>
              <a:srgbClr val="8E7DBE"/>
            </a:solidFill>
            <a:prstDash val="solid"/>
          </a:ln>
        </p:spPr>
      </p:sp>
      <p:sp>
        <p:nvSpPr>
          <p:cNvPr id="67" name="Text 65"/>
          <p:cNvSpPr/>
          <p:nvPr/>
        </p:nvSpPr>
        <p:spPr>
          <a:xfrm>
            <a:off x="8659368" y="3355848"/>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C09_Spiral</a:t>
            </a:r>
            <a:endParaRPr lang="en-US" sz="1220" dirty="0"/>
          </a:p>
        </p:txBody>
      </p:sp>
      <p:sp>
        <p:nvSpPr>
          <p:cNvPr id="68" name="Text 66"/>
          <p:cNvSpPr/>
          <p:nvPr/>
        </p:nvSpPr>
        <p:spPr>
          <a:xfrm>
            <a:off x="8659368" y="3721608"/>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スパイラル</a:t>
            </a:r>
            <a:endParaRPr lang="en-US" sz="1200" dirty="0"/>
          </a:p>
        </p:txBody>
      </p:sp>
      <p:sp>
        <p:nvSpPr>
          <p:cNvPr id="69" name="Shape 67"/>
          <p:cNvSpPr/>
          <p:nvPr/>
        </p:nvSpPr>
        <p:spPr>
          <a:xfrm>
            <a:off x="8659368" y="4133088"/>
            <a:ext cx="841248" cy="237744"/>
          </a:xfrm>
          <a:prstGeom prst="roundRect">
            <a:avLst>
              <a:gd name="adj" fmla="val 30769"/>
            </a:avLst>
          </a:prstGeom>
          <a:solidFill>
            <a:srgbClr val="8E7DBE"/>
          </a:solidFill>
          <a:ln w="12700">
            <a:solidFill>
              <a:srgbClr val="8E7DBE"/>
            </a:solidFill>
            <a:prstDash val="solid"/>
          </a:ln>
        </p:spPr>
      </p:sp>
      <p:sp>
        <p:nvSpPr>
          <p:cNvPr id="70" name="Text 68"/>
          <p:cNvSpPr/>
          <p:nvPr/>
        </p:nvSpPr>
        <p:spPr>
          <a:xfrm>
            <a:off x="8659368" y="4160520"/>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71" name="Shape 69"/>
          <p:cNvSpPr/>
          <p:nvPr/>
        </p:nvSpPr>
        <p:spPr>
          <a:xfrm>
            <a:off x="9912096" y="3099816"/>
            <a:ext cx="2148840" cy="1572768"/>
          </a:xfrm>
          <a:prstGeom prst="roundRect">
            <a:avLst>
              <a:gd name="adj" fmla="val 3488"/>
            </a:avLst>
          </a:prstGeom>
          <a:solidFill>
            <a:srgbClr val="FFFFFF"/>
          </a:solidFill>
          <a:ln w="12700">
            <a:solidFill>
              <a:srgbClr val="CAD8E0"/>
            </a:solidFill>
            <a:prstDash val="solid"/>
          </a:ln>
        </p:spPr>
      </p:sp>
      <p:sp>
        <p:nvSpPr>
          <p:cNvPr id="72" name="Shape 70"/>
          <p:cNvSpPr/>
          <p:nvPr/>
        </p:nvSpPr>
        <p:spPr>
          <a:xfrm>
            <a:off x="10058400" y="3264408"/>
            <a:ext cx="841248" cy="841248"/>
          </a:xfrm>
          <a:prstGeom prst="ellipse">
            <a:avLst/>
          </a:prstGeom>
          <a:solidFill>
            <a:srgbClr val="FFFFFF"/>
          </a:solidFill>
          <a:ln w="12700">
            <a:solidFill>
              <a:srgbClr val="BBC9D1"/>
            </a:solidFill>
            <a:prstDash val="solid"/>
          </a:ln>
        </p:spPr>
      </p:sp>
      <p:sp>
        <p:nvSpPr>
          <p:cNvPr id="73" name="Shape 71"/>
          <p:cNvSpPr/>
          <p:nvPr/>
        </p:nvSpPr>
        <p:spPr>
          <a:xfrm>
            <a:off x="10378074" y="3584082"/>
            <a:ext cx="201900" cy="201900"/>
          </a:xfrm>
          <a:prstGeom prst="ellipse">
            <a:avLst/>
          </a:prstGeom>
          <a:solidFill>
            <a:srgbClr val="D9534F">
              <a:alpha val="85000"/>
            </a:srgbClr>
          </a:solidFill>
          <a:ln w="12700">
            <a:solidFill>
              <a:srgbClr val="D9534F"/>
            </a:solidFill>
            <a:prstDash val="solid"/>
          </a:ln>
        </p:spPr>
      </p:sp>
      <p:sp>
        <p:nvSpPr>
          <p:cNvPr id="74" name="Text 72"/>
          <p:cNvSpPr/>
          <p:nvPr/>
        </p:nvSpPr>
        <p:spPr>
          <a:xfrm>
            <a:off x="10972800" y="3355848"/>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C10_Hotspot_Iso</a:t>
            </a:r>
            <a:endParaRPr lang="en-US" sz="1220" dirty="0"/>
          </a:p>
        </p:txBody>
      </p:sp>
      <p:sp>
        <p:nvSpPr>
          <p:cNvPr id="75" name="Text 73"/>
          <p:cNvSpPr/>
          <p:nvPr/>
        </p:nvSpPr>
        <p:spPr>
          <a:xfrm>
            <a:off x="10972800" y="3721608"/>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等方ホットスポット</a:t>
            </a:r>
            <a:endParaRPr lang="en-US" sz="1200" dirty="0"/>
          </a:p>
        </p:txBody>
      </p:sp>
      <p:sp>
        <p:nvSpPr>
          <p:cNvPr id="76" name="Shape 74"/>
          <p:cNvSpPr/>
          <p:nvPr/>
        </p:nvSpPr>
        <p:spPr>
          <a:xfrm>
            <a:off x="10972800" y="4133088"/>
            <a:ext cx="841248" cy="237744"/>
          </a:xfrm>
          <a:prstGeom prst="roundRect">
            <a:avLst>
              <a:gd name="adj" fmla="val 30769"/>
            </a:avLst>
          </a:prstGeom>
          <a:solidFill>
            <a:srgbClr val="D9534F"/>
          </a:solidFill>
          <a:ln w="12700">
            <a:solidFill>
              <a:srgbClr val="D9534F"/>
            </a:solidFill>
            <a:prstDash val="solid"/>
          </a:ln>
        </p:spPr>
      </p:sp>
      <p:sp>
        <p:nvSpPr>
          <p:cNvPr id="77" name="Text 75"/>
          <p:cNvSpPr/>
          <p:nvPr/>
        </p:nvSpPr>
        <p:spPr>
          <a:xfrm>
            <a:off x="10972800" y="4160520"/>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線/局在系</a:t>
            </a:r>
            <a:endParaRPr lang="en-US" sz="1050" dirty="0"/>
          </a:p>
        </p:txBody>
      </p:sp>
      <p:sp>
        <p:nvSpPr>
          <p:cNvPr id="78" name="Shape 76"/>
          <p:cNvSpPr/>
          <p:nvPr/>
        </p:nvSpPr>
        <p:spPr>
          <a:xfrm>
            <a:off x="658368" y="4873752"/>
            <a:ext cx="2148840" cy="1572768"/>
          </a:xfrm>
          <a:prstGeom prst="roundRect">
            <a:avLst>
              <a:gd name="adj" fmla="val 3488"/>
            </a:avLst>
          </a:prstGeom>
          <a:solidFill>
            <a:srgbClr val="FFFFFF"/>
          </a:solidFill>
          <a:ln w="12700">
            <a:solidFill>
              <a:srgbClr val="CAD8E0"/>
            </a:solidFill>
            <a:prstDash val="solid"/>
          </a:ln>
        </p:spPr>
      </p:sp>
      <p:sp>
        <p:nvSpPr>
          <p:cNvPr id="79" name="Shape 77"/>
          <p:cNvSpPr/>
          <p:nvPr/>
        </p:nvSpPr>
        <p:spPr>
          <a:xfrm>
            <a:off x="804672" y="5038344"/>
            <a:ext cx="841248" cy="841248"/>
          </a:xfrm>
          <a:prstGeom prst="ellipse">
            <a:avLst/>
          </a:prstGeom>
          <a:solidFill>
            <a:srgbClr val="FFFFFF"/>
          </a:solidFill>
          <a:ln w="12700">
            <a:solidFill>
              <a:srgbClr val="BBC9D1"/>
            </a:solidFill>
            <a:prstDash val="solid"/>
          </a:ln>
        </p:spPr>
      </p:sp>
      <p:sp>
        <p:nvSpPr>
          <p:cNvPr id="80" name="Shape 78"/>
          <p:cNvSpPr/>
          <p:nvPr/>
        </p:nvSpPr>
        <p:spPr>
          <a:xfrm rot="-1500000">
            <a:off x="1040221" y="5374843"/>
            <a:ext cx="336499" cy="134600"/>
          </a:xfrm>
          <a:prstGeom prst="ellipse">
            <a:avLst/>
          </a:prstGeom>
          <a:solidFill>
            <a:srgbClr val="D9534F">
              <a:alpha val="85000"/>
            </a:srgbClr>
          </a:solidFill>
          <a:ln w="12700">
            <a:solidFill>
              <a:srgbClr val="D9534F"/>
            </a:solidFill>
            <a:prstDash val="solid"/>
          </a:ln>
        </p:spPr>
      </p:sp>
      <p:sp>
        <p:nvSpPr>
          <p:cNvPr id="81" name="Text 79"/>
          <p:cNvSpPr/>
          <p:nvPr/>
        </p:nvSpPr>
        <p:spPr>
          <a:xfrm>
            <a:off x="1719072" y="5129784"/>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C11_Hotspot_Elliptic</a:t>
            </a:r>
            <a:endParaRPr lang="en-US" sz="1220" dirty="0"/>
          </a:p>
        </p:txBody>
      </p:sp>
      <p:sp>
        <p:nvSpPr>
          <p:cNvPr id="82" name="Text 80"/>
          <p:cNvSpPr/>
          <p:nvPr/>
        </p:nvSpPr>
        <p:spPr>
          <a:xfrm>
            <a:off x="1719072" y="5495544"/>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楕円ホットスポット</a:t>
            </a:r>
            <a:endParaRPr lang="en-US" sz="1200" dirty="0"/>
          </a:p>
        </p:txBody>
      </p:sp>
      <p:sp>
        <p:nvSpPr>
          <p:cNvPr id="83" name="Shape 81"/>
          <p:cNvSpPr/>
          <p:nvPr/>
        </p:nvSpPr>
        <p:spPr>
          <a:xfrm>
            <a:off x="1719072" y="5907024"/>
            <a:ext cx="841248" cy="237744"/>
          </a:xfrm>
          <a:prstGeom prst="roundRect">
            <a:avLst>
              <a:gd name="adj" fmla="val 30769"/>
            </a:avLst>
          </a:prstGeom>
          <a:solidFill>
            <a:srgbClr val="D9534F"/>
          </a:solidFill>
          <a:ln w="12700">
            <a:solidFill>
              <a:srgbClr val="D9534F"/>
            </a:solidFill>
            <a:prstDash val="solid"/>
          </a:ln>
        </p:spPr>
      </p:sp>
      <p:sp>
        <p:nvSpPr>
          <p:cNvPr id="84" name="Text 82"/>
          <p:cNvSpPr/>
          <p:nvPr/>
        </p:nvSpPr>
        <p:spPr>
          <a:xfrm>
            <a:off x="1719072" y="5934456"/>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複合境界系</a:t>
            </a:r>
            <a:endParaRPr lang="en-US" sz="1050" dirty="0"/>
          </a:p>
        </p:txBody>
      </p:sp>
      <p:sp>
        <p:nvSpPr>
          <p:cNvPr id="85" name="Shape 83"/>
          <p:cNvSpPr/>
          <p:nvPr/>
        </p:nvSpPr>
        <p:spPr>
          <a:xfrm>
            <a:off x="2971800" y="4873752"/>
            <a:ext cx="2148840" cy="1572768"/>
          </a:xfrm>
          <a:prstGeom prst="roundRect">
            <a:avLst>
              <a:gd name="adj" fmla="val 3488"/>
            </a:avLst>
          </a:prstGeom>
          <a:solidFill>
            <a:srgbClr val="FFFFFF"/>
          </a:solidFill>
          <a:ln w="12700">
            <a:solidFill>
              <a:srgbClr val="CAD8E0"/>
            </a:solidFill>
            <a:prstDash val="solid"/>
          </a:ln>
        </p:spPr>
      </p:sp>
      <p:sp>
        <p:nvSpPr>
          <p:cNvPr id="86" name="Shape 84"/>
          <p:cNvSpPr/>
          <p:nvPr/>
        </p:nvSpPr>
        <p:spPr>
          <a:xfrm>
            <a:off x="3118104" y="5038344"/>
            <a:ext cx="841248" cy="841248"/>
          </a:xfrm>
          <a:prstGeom prst="ellipse">
            <a:avLst/>
          </a:prstGeom>
          <a:solidFill>
            <a:srgbClr val="FFFFFF"/>
          </a:solidFill>
          <a:ln w="12700">
            <a:solidFill>
              <a:srgbClr val="BBC9D1"/>
            </a:solidFill>
            <a:prstDash val="solid"/>
          </a:ln>
        </p:spPr>
      </p:sp>
      <p:sp>
        <p:nvSpPr>
          <p:cNvPr id="87" name="Shape 85"/>
          <p:cNvSpPr/>
          <p:nvPr/>
        </p:nvSpPr>
        <p:spPr>
          <a:xfrm rot="1200000">
            <a:off x="3387303" y="5156119"/>
            <a:ext cx="353324" cy="353324"/>
          </a:xfrm>
          <a:prstGeom prst="moon">
            <a:avLst/>
          </a:prstGeom>
          <a:solidFill>
            <a:srgbClr val="E9C46A">
              <a:alpha val="85000"/>
            </a:srgbClr>
          </a:solidFill>
          <a:ln w="12700">
            <a:solidFill>
              <a:srgbClr val="E9C46A"/>
            </a:solidFill>
            <a:prstDash val="solid"/>
          </a:ln>
        </p:spPr>
      </p:sp>
      <p:sp>
        <p:nvSpPr>
          <p:cNvPr id="88" name="Text 86"/>
          <p:cNvSpPr/>
          <p:nvPr/>
        </p:nvSpPr>
        <p:spPr>
          <a:xfrm>
            <a:off x="4032504" y="5129784"/>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C12_Crescent_Edge</a:t>
            </a:r>
            <a:endParaRPr lang="en-US" sz="1220" dirty="0"/>
          </a:p>
        </p:txBody>
      </p:sp>
      <p:sp>
        <p:nvSpPr>
          <p:cNvPr id="89" name="Text 87"/>
          <p:cNvSpPr/>
          <p:nvPr/>
        </p:nvSpPr>
        <p:spPr>
          <a:xfrm>
            <a:off x="4032504" y="5495544"/>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外周クレセント</a:t>
            </a:r>
            <a:endParaRPr lang="en-US" sz="1200" dirty="0"/>
          </a:p>
        </p:txBody>
      </p:sp>
      <p:sp>
        <p:nvSpPr>
          <p:cNvPr id="90" name="Shape 88"/>
          <p:cNvSpPr/>
          <p:nvPr/>
        </p:nvSpPr>
        <p:spPr>
          <a:xfrm>
            <a:off x="4032504" y="5907024"/>
            <a:ext cx="841248" cy="237744"/>
          </a:xfrm>
          <a:prstGeom prst="roundRect">
            <a:avLst>
              <a:gd name="adj" fmla="val 30769"/>
            </a:avLst>
          </a:prstGeom>
          <a:solidFill>
            <a:srgbClr val="E9C46A"/>
          </a:solidFill>
          <a:ln w="12700">
            <a:solidFill>
              <a:srgbClr val="E9C46A"/>
            </a:solidFill>
            <a:prstDash val="solid"/>
          </a:ln>
        </p:spPr>
      </p:sp>
      <p:sp>
        <p:nvSpPr>
          <p:cNvPr id="91" name="Text 89"/>
          <p:cNvSpPr/>
          <p:nvPr/>
        </p:nvSpPr>
        <p:spPr>
          <a:xfrm>
            <a:off x="4032504" y="5934456"/>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0B3C5D"/>
                </a:solidFill>
                <a:latin typeface="Meiryo" pitchFamily="34" charset="0"/>
                <a:ea typeface="Meiryo" pitchFamily="34" charset="-122"/>
                <a:cs typeface="Meiryo" pitchFamily="34" charset="-120"/>
              </a:rPr>
              <a:t>複合境界系</a:t>
            </a:r>
            <a:endParaRPr lang="en-US" sz="1050" dirty="0"/>
          </a:p>
        </p:txBody>
      </p:sp>
      <p:sp>
        <p:nvSpPr>
          <p:cNvPr id="92" name="Shape 90"/>
          <p:cNvSpPr/>
          <p:nvPr/>
        </p:nvSpPr>
        <p:spPr>
          <a:xfrm>
            <a:off x="5285232" y="4873752"/>
            <a:ext cx="2148840" cy="1572768"/>
          </a:xfrm>
          <a:prstGeom prst="roundRect">
            <a:avLst>
              <a:gd name="adj" fmla="val 3488"/>
            </a:avLst>
          </a:prstGeom>
          <a:solidFill>
            <a:srgbClr val="FFFFFF"/>
          </a:solidFill>
          <a:ln w="12700">
            <a:solidFill>
              <a:srgbClr val="CAD8E0"/>
            </a:solidFill>
            <a:prstDash val="solid"/>
          </a:ln>
        </p:spPr>
      </p:sp>
      <p:sp>
        <p:nvSpPr>
          <p:cNvPr id="93" name="Shape 91"/>
          <p:cNvSpPr/>
          <p:nvPr/>
        </p:nvSpPr>
        <p:spPr>
          <a:xfrm>
            <a:off x="5431536" y="5038344"/>
            <a:ext cx="841248" cy="841248"/>
          </a:xfrm>
          <a:prstGeom prst="ellipse">
            <a:avLst/>
          </a:prstGeom>
          <a:solidFill>
            <a:srgbClr val="FFFFFF"/>
          </a:solidFill>
          <a:ln w="12700">
            <a:solidFill>
              <a:srgbClr val="BBC9D1"/>
            </a:solidFill>
            <a:prstDash val="solid"/>
          </a:ln>
        </p:spPr>
      </p:sp>
      <p:sp>
        <p:nvSpPr>
          <p:cNvPr id="94" name="Shape 92"/>
          <p:cNvSpPr/>
          <p:nvPr/>
        </p:nvSpPr>
        <p:spPr>
          <a:xfrm rot="19800000">
            <a:off x="5650260" y="5240244"/>
            <a:ext cx="269199" cy="269199"/>
          </a:xfrm>
          <a:prstGeom prst="moon">
            <a:avLst/>
          </a:prstGeom>
          <a:solidFill>
            <a:srgbClr val="E9C46A">
              <a:alpha val="85000"/>
            </a:srgbClr>
          </a:solidFill>
          <a:ln w="12700">
            <a:solidFill>
              <a:srgbClr val="E9C46A"/>
            </a:solidFill>
            <a:prstDash val="solid"/>
          </a:ln>
        </p:spPr>
      </p:sp>
      <p:sp>
        <p:nvSpPr>
          <p:cNvPr id="95" name="Text 93"/>
          <p:cNvSpPr/>
          <p:nvPr/>
        </p:nvSpPr>
        <p:spPr>
          <a:xfrm>
            <a:off x="6345936" y="5129784"/>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C13_Crescent_Internal</a:t>
            </a:r>
            <a:endParaRPr lang="en-US" sz="1220" dirty="0"/>
          </a:p>
        </p:txBody>
      </p:sp>
      <p:sp>
        <p:nvSpPr>
          <p:cNvPr id="96" name="Text 94"/>
          <p:cNvSpPr/>
          <p:nvPr/>
        </p:nvSpPr>
        <p:spPr>
          <a:xfrm>
            <a:off x="6345936" y="5495544"/>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内部クレセント</a:t>
            </a:r>
            <a:endParaRPr lang="en-US" sz="1200" dirty="0"/>
          </a:p>
        </p:txBody>
      </p:sp>
      <p:sp>
        <p:nvSpPr>
          <p:cNvPr id="97" name="Shape 95"/>
          <p:cNvSpPr/>
          <p:nvPr/>
        </p:nvSpPr>
        <p:spPr>
          <a:xfrm>
            <a:off x="6345936" y="5907024"/>
            <a:ext cx="841248" cy="237744"/>
          </a:xfrm>
          <a:prstGeom prst="roundRect">
            <a:avLst>
              <a:gd name="adj" fmla="val 30769"/>
            </a:avLst>
          </a:prstGeom>
          <a:solidFill>
            <a:srgbClr val="E9C46A"/>
          </a:solidFill>
          <a:ln w="12700">
            <a:solidFill>
              <a:srgbClr val="E9C46A"/>
            </a:solidFill>
            <a:prstDash val="solid"/>
          </a:ln>
        </p:spPr>
      </p:sp>
      <p:sp>
        <p:nvSpPr>
          <p:cNvPr id="98" name="Text 96"/>
          <p:cNvSpPr/>
          <p:nvPr/>
        </p:nvSpPr>
        <p:spPr>
          <a:xfrm>
            <a:off x="6345936" y="5934456"/>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0B3C5D"/>
                </a:solidFill>
                <a:latin typeface="Meiryo" pitchFamily="34" charset="0"/>
                <a:ea typeface="Meiryo" pitchFamily="34" charset="-122"/>
                <a:cs typeface="Meiryo" pitchFamily="34" charset="-120"/>
              </a:rPr>
              <a:t>複合境界系</a:t>
            </a:r>
            <a:endParaRPr lang="en-US" sz="1050" dirty="0"/>
          </a:p>
        </p:txBody>
      </p:sp>
      <p:sp>
        <p:nvSpPr>
          <p:cNvPr id="99" name="Shape 97"/>
          <p:cNvSpPr/>
          <p:nvPr/>
        </p:nvSpPr>
        <p:spPr>
          <a:xfrm>
            <a:off x="7598664" y="4873752"/>
            <a:ext cx="2148840" cy="1572768"/>
          </a:xfrm>
          <a:prstGeom prst="roundRect">
            <a:avLst>
              <a:gd name="adj" fmla="val 3488"/>
            </a:avLst>
          </a:prstGeom>
          <a:solidFill>
            <a:srgbClr val="FFFFFF"/>
          </a:solidFill>
          <a:ln w="12700">
            <a:solidFill>
              <a:srgbClr val="CAD8E0"/>
            </a:solidFill>
            <a:prstDash val="solid"/>
          </a:ln>
        </p:spPr>
      </p:sp>
      <p:sp>
        <p:nvSpPr>
          <p:cNvPr id="100" name="Shape 98"/>
          <p:cNvSpPr/>
          <p:nvPr/>
        </p:nvSpPr>
        <p:spPr>
          <a:xfrm>
            <a:off x="7744968" y="5038344"/>
            <a:ext cx="841248" cy="841248"/>
          </a:xfrm>
          <a:prstGeom prst="ellipse">
            <a:avLst/>
          </a:prstGeom>
          <a:solidFill>
            <a:srgbClr val="FFFFFF"/>
          </a:solidFill>
          <a:ln w="12700">
            <a:solidFill>
              <a:srgbClr val="BBC9D1"/>
            </a:solidFill>
            <a:prstDash val="solid"/>
          </a:ln>
        </p:spPr>
      </p:sp>
      <p:sp>
        <p:nvSpPr>
          <p:cNvPr id="101" name="Shape 99"/>
          <p:cNvSpPr/>
          <p:nvPr/>
        </p:nvSpPr>
        <p:spPr>
          <a:xfrm>
            <a:off x="8434791" y="5189769"/>
            <a:ext cx="0" cy="235549"/>
          </a:xfrm>
          <a:prstGeom prst="line">
            <a:avLst/>
          </a:prstGeom>
          <a:noFill/>
          <a:ln w="12700">
            <a:solidFill>
              <a:srgbClr val="2A9D8F"/>
            </a:solidFill>
            <a:prstDash val="solid"/>
          </a:ln>
        </p:spPr>
      </p:sp>
      <p:sp>
        <p:nvSpPr>
          <p:cNvPr id="102" name="Shape 100"/>
          <p:cNvSpPr/>
          <p:nvPr/>
        </p:nvSpPr>
        <p:spPr>
          <a:xfrm>
            <a:off x="8434791" y="5240244"/>
            <a:ext cx="0" cy="117775"/>
          </a:xfrm>
          <a:prstGeom prst="line">
            <a:avLst/>
          </a:prstGeom>
          <a:noFill/>
          <a:ln w="12700">
            <a:solidFill>
              <a:srgbClr val="2A9D8F"/>
            </a:solidFill>
            <a:prstDash val="solid"/>
          </a:ln>
        </p:spPr>
      </p:sp>
      <p:sp>
        <p:nvSpPr>
          <p:cNvPr id="103" name="Shape 101"/>
          <p:cNvSpPr/>
          <p:nvPr/>
        </p:nvSpPr>
        <p:spPr>
          <a:xfrm>
            <a:off x="8434791" y="5290718"/>
            <a:ext cx="0" cy="0"/>
          </a:xfrm>
          <a:prstGeom prst="line">
            <a:avLst/>
          </a:prstGeom>
          <a:noFill/>
          <a:ln w="12700">
            <a:solidFill>
              <a:srgbClr val="2A9D8F"/>
            </a:solidFill>
            <a:prstDash val="solid"/>
          </a:ln>
        </p:spPr>
      </p:sp>
      <p:sp>
        <p:nvSpPr>
          <p:cNvPr id="104" name="Text 102"/>
          <p:cNvSpPr/>
          <p:nvPr/>
        </p:nvSpPr>
        <p:spPr>
          <a:xfrm>
            <a:off x="8659368" y="5129784"/>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C14_EdgeOrigin_InwardSpray</a:t>
            </a:r>
            <a:endParaRPr lang="en-US" sz="1220" dirty="0"/>
          </a:p>
        </p:txBody>
      </p:sp>
      <p:sp>
        <p:nvSpPr>
          <p:cNvPr id="105" name="Text 103"/>
          <p:cNvSpPr/>
          <p:nvPr/>
        </p:nvSpPr>
        <p:spPr>
          <a:xfrm>
            <a:off x="8659368" y="5495544"/>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端部起点スプレー</a:t>
            </a:r>
            <a:endParaRPr lang="en-US" sz="1200" dirty="0"/>
          </a:p>
        </p:txBody>
      </p:sp>
      <p:sp>
        <p:nvSpPr>
          <p:cNvPr id="106" name="Shape 104"/>
          <p:cNvSpPr/>
          <p:nvPr/>
        </p:nvSpPr>
        <p:spPr>
          <a:xfrm>
            <a:off x="8659368" y="5907024"/>
            <a:ext cx="841248" cy="237744"/>
          </a:xfrm>
          <a:prstGeom prst="roundRect">
            <a:avLst>
              <a:gd name="adj" fmla="val 30769"/>
            </a:avLst>
          </a:prstGeom>
          <a:solidFill>
            <a:srgbClr val="2A9D8F"/>
          </a:solidFill>
          <a:ln w="12700">
            <a:solidFill>
              <a:srgbClr val="2A9D8F"/>
            </a:solidFill>
            <a:prstDash val="solid"/>
          </a:ln>
        </p:spPr>
      </p:sp>
      <p:sp>
        <p:nvSpPr>
          <p:cNvPr id="107" name="Text 105"/>
          <p:cNvSpPr/>
          <p:nvPr/>
        </p:nvSpPr>
        <p:spPr>
          <a:xfrm>
            <a:off x="8659368" y="5934456"/>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複合境界系</a:t>
            </a:r>
            <a:endParaRPr lang="en-US" sz="1050" dirty="0"/>
          </a:p>
        </p:txBody>
      </p:sp>
      <p:sp>
        <p:nvSpPr>
          <p:cNvPr id="108" name="Shape 106"/>
          <p:cNvSpPr/>
          <p:nvPr/>
        </p:nvSpPr>
        <p:spPr>
          <a:xfrm>
            <a:off x="9912096" y="4873752"/>
            <a:ext cx="2148840" cy="1572768"/>
          </a:xfrm>
          <a:prstGeom prst="roundRect">
            <a:avLst>
              <a:gd name="adj" fmla="val 3488"/>
            </a:avLst>
          </a:prstGeom>
          <a:solidFill>
            <a:srgbClr val="FFFFFF"/>
          </a:solidFill>
          <a:ln w="12700">
            <a:solidFill>
              <a:srgbClr val="CAD8E0"/>
            </a:solidFill>
            <a:prstDash val="solid"/>
          </a:ln>
        </p:spPr>
      </p:sp>
      <p:sp>
        <p:nvSpPr>
          <p:cNvPr id="109" name="Shape 107"/>
          <p:cNvSpPr/>
          <p:nvPr/>
        </p:nvSpPr>
        <p:spPr>
          <a:xfrm>
            <a:off x="10058400" y="5038344"/>
            <a:ext cx="841248" cy="841248"/>
          </a:xfrm>
          <a:prstGeom prst="ellipse">
            <a:avLst/>
          </a:prstGeom>
          <a:solidFill>
            <a:srgbClr val="FFFFFF"/>
          </a:solidFill>
          <a:ln w="12700">
            <a:solidFill>
              <a:srgbClr val="BBC9D1"/>
            </a:solidFill>
            <a:prstDash val="solid"/>
          </a:ln>
        </p:spPr>
      </p:sp>
      <p:sp>
        <p:nvSpPr>
          <p:cNvPr id="110" name="Shape 108"/>
          <p:cNvSpPr/>
          <p:nvPr/>
        </p:nvSpPr>
        <p:spPr>
          <a:xfrm>
            <a:off x="10664099" y="5189769"/>
            <a:ext cx="100950" cy="100950"/>
          </a:xfrm>
          <a:prstGeom prst="ellipse">
            <a:avLst/>
          </a:prstGeom>
          <a:solidFill>
            <a:srgbClr val="2A9D8F">
              <a:alpha val="85000"/>
            </a:srgbClr>
          </a:solidFill>
          <a:ln w="12700">
            <a:solidFill>
              <a:srgbClr val="2A9D8F"/>
            </a:solidFill>
            <a:prstDash val="solid"/>
          </a:ln>
        </p:spPr>
      </p:sp>
      <p:sp>
        <p:nvSpPr>
          <p:cNvPr id="111" name="Shape 109"/>
          <p:cNvSpPr/>
          <p:nvPr/>
        </p:nvSpPr>
        <p:spPr>
          <a:xfrm>
            <a:off x="10714573" y="5240244"/>
            <a:ext cx="0" cy="201900"/>
          </a:xfrm>
          <a:prstGeom prst="line">
            <a:avLst/>
          </a:prstGeom>
          <a:noFill/>
          <a:ln w="12700">
            <a:solidFill>
              <a:srgbClr val="2A9D8F"/>
            </a:solidFill>
            <a:prstDash val="solid"/>
          </a:ln>
        </p:spPr>
      </p:sp>
      <p:sp>
        <p:nvSpPr>
          <p:cNvPr id="112" name="Shape 110"/>
          <p:cNvSpPr/>
          <p:nvPr/>
        </p:nvSpPr>
        <p:spPr>
          <a:xfrm>
            <a:off x="10714573" y="5240244"/>
            <a:ext cx="0" cy="84125"/>
          </a:xfrm>
          <a:prstGeom prst="line">
            <a:avLst/>
          </a:prstGeom>
          <a:noFill/>
          <a:ln w="12700">
            <a:solidFill>
              <a:srgbClr val="2A9D8F"/>
            </a:solidFill>
            <a:prstDash val="solid"/>
          </a:ln>
        </p:spPr>
      </p:sp>
      <p:sp>
        <p:nvSpPr>
          <p:cNvPr id="113" name="Shape 111"/>
          <p:cNvSpPr/>
          <p:nvPr/>
        </p:nvSpPr>
        <p:spPr>
          <a:xfrm>
            <a:off x="10714573" y="5240244"/>
            <a:ext cx="0" cy="0"/>
          </a:xfrm>
          <a:prstGeom prst="line">
            <a:avLst/>
          </a:prstGeom>
          <a:noFill/>
          <a:ln w="12700">
            <a:solidFill>
              <a:srgbClr val="2A9D8F"/>
            </a:solidFill>
            <a:prstDash val="solid"/>
          </a:ln>
        </p:spPr>
      </p:sp>
      <p:sp>
        <p:nvSpPr>
          <p:cNvPr id="114" name="Text 112"/>
          <p:cNvSpPr/>
          <p:nvPr/>
        </p:nvSpPr>
        <p:spPr>
          <a:xfrm>
            <a:off x="10972800" y="5129784"/>
            <a:ext cx="960120" cy="310896"/>
          </a:xfrm>
          <a:prstGeom prst="rect">
            <a:avLst/>
          </a:prstGeom>
          <a:noFill/>
          <a:ln/>
        </p:spPr>
        <p:txBody>
          <a:bodyPr wrap="square" lIns="0" tIns="0" rIns="0" bIns="0" rtlCol="0" anchor="ctr">
            <a:normAutofit/>
          </a:bodyPr>
          <a:lstStyle/>
          <a:p>
            <a:pPr marL="0" indent="0">
              <a:buNone/>
            </a:pPr>
            <a:r>
              <a:rPr lang="en-US" sz="1220" b="1" dirty="0">
                <a:solidFill>
                  <a:srgbClr val="0B3C5D"/>
                </a:solidFill>
                <a:latin typeface="Meiryo" pitchFamily="34" charset="0"/>
                <a:ea typeface="Meiryo" pitchFamily="34" charset="-122"/>
                <a:cs typeface="Meiryo" pitchFamily="34" charset="-120"/>
              </a:rPr>
              <a:t>C15_EdgeSource_Bursty</a:t>
            </a:r>
            <a:endParaRPr lang="en-US" sz="1220" dirty="0"/>
          </a:p>
        </p:txBody>
      </p:sp>
      <p:sp>
        <p:nvSpPr>
          <p:cNvPr id="115" name="Text 113"/>
          <p:cNvSpPr/>
          <p:nvPr/>
        </p:nvSpPr>
        <p:spPr>
          <a:xfrm>
            <a:off x="10972800" y="5495544"/>
            <a:ext cx="914400" cy="256032"/>
          </a:xfrm>
          <a:prstGeom prst="rect">
            <a:avLst/>
          </a:prstGeom>
          <a:noFill/>
          <a:ln/>
        </p:spPr>
        <p:txBody>
          <a:bodyPr wrap="square" lIns="0" tIns="0" rIns="0" bIns="0" rtlCol="0" anchor="ctr">
            <a:normAutofit/>
          </a:bodyPr>
          <a:lstStyle/>
          <a:p>
            <a:pPr marL="0" indent="0">
              <a:buNone/>
            </a:pPr>
            <a:r>
              <a:rPr lang="en-US" sz="1200" dirty="0">
                <a:solidFill>
                  <a:srgbClr val="5F6B6D"/>
                </a:solidFill>
                <a:latin typeface="Meiryo" pitchFamily="34" charset="0"/>
                <a:ea typeface="Meiryo" pitchFamily="34" charset="-122"/>
                <a:cs typeface="Meiryo" pitchFamily="34" charset="-120"/>
              </a:rPr>
              <a:t>端部バースト</a:t>
            </a:r>
            <a:endParaRPr lang="en-US" sz="1200" dirty="0"/>
          </a:p>
        </p:txBody>
      </p:sp>
      <p:sp>
        <p:nvSpPr>
          <p:cNvPr id="116" name="Shape 114"/>
          <p:cNvSpPr/>
          <p:nvPr/>
        </p:nvSpPr>
        <p:spPr>
          <a:xfrm>
            <a:off x="10972800" y="5907024"/>
            <a:ext cx="841248" cy="237744"/>
          </a:xfrm>
          <a:prstGeom prst="roundRect">
            <a:avLst>
              <a:gd name="adj" fmla="val 30769"/>
            </a:avLst>
          </a:prstGeom>
          <a:solidFill>
            <a:srgbClr val="2A9D8F"/>
          </a:solidFill>
          <a:ln w="12700">
            <a:solidFill>
              <a:srgbClr val="2A9D8F"/>
            </a:solidFill>
            <a:prstDash val="solid"/>
          </a:ln>
        </p:spPr>
      </p:sp>
      <p:sp>
        <p:nvSpPr>
          <p:cNvPr id="117" name="Text 115"/>
          <p:cNvSpPr/>
          <p:nvPr/>
        </p:nvSpPr>
        <p:spPr>
          <a:xfrm>
            <a:off x="10972800" y="5934456"/>
            <a:ext cx="841248"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複合境界系</a:t>
            </a:r>
            <a:endParaRPr lang="en-US" sz="1050" dirty="0"/>
          </a:p>
        </p:txBody>
      </p:sp>
      <p:sp>
        <p:nvSpPr>
          <p:cNvPr id="118" name="Text 116"/>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04</a:t>
            </a:r>
            <a:endParaRPr lang="en-US" sz="1000" dirty="0"/>
          </a:p>
        </p:txBody>
      </p:sp>
      <p:sp>
        <p:nvSpPr>
          <p:cNvPr id="119" name="Text 117"/>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4象限でみる特許開示の要点</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Quadrant Summary</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05840"/>
            <a:ext cx="5303520" cy="2331720"/>
          </a:xfrm>
          <a:prstGeom prst="roundRect">
            <a:avLst>
              <a:gd name="adj" fmla="val 2353"/>
            </a:avLst>
          </a:prstGeom>
          <a:solidFill>
            <a:srgbClr val="FFFFFF"/>
          </a:solidFill>
          <a:ln w="12700">
            <a:solidFill>
              <a:srgbClr val="A0AEC0"/>
            </a:solidFill>
            <a:prstDash val="solid"/>
          </a:ln>
          <a:effectLst>
            <a:outerShdw blurRad="19050" dist="12700" dir="2700000" algn="bl" rotWithShape="0">
              <a:srgbClr val="000000">
                <a:alpha val="8000"/>
              </a:srgbClr>
            </a:outerShdw>
          </a:effectLst>
        </p:spPr>
      </p:sp>
      <p:sp>
        <p:nvSpPr>
          <p:cNvPr id="6" name="Shape 4"/>
          <p:cNvSpPr/>
          <p:nvPr/>
        </p:nvSpPr>
        <p:spPr>
          <a:xfrm>
            <a:off x="658368" y="1005840"/>
            <a:ext cx="5303520" cy="329184"/>
          </a:xfrm>
          <a:prstGeom prst="rect">
            <a:avLst/>
          </a:prstGeom>
          <a:solidFill>
            <a:srgbClr val="A0AEC0">
              <a:alpha val="92000"/>
            </a:srgbClr>
          </a:solidFill>
          <a:ln w="12700">
            <a:solidFill>
              <a:srgbClr val="A0AEC0"/>
            </a:solidFill>
            <a:prstDash val="solid"/>
          </a:ln>
        </p:spPr>
      </p:sp>
      <p:sp>
        <p:nvSpPr>
          <p:cNvPr id="7" name="Text 5"/>
          <p:cNvSpPr/>
          <p:nvPr/>
        </p:nvSpPr>
        <p:spPr>
          <a:xfrm>
            <a:off x="768096" y="1069848"/>
            <a:ext cx="5084064" cy="182880"/>
          </a:xfrm>
          <a:prstGeom prst="rect">
            <a:avLst/>
          </a:prstGeom>
          <a:noFill/>
          <a:ln/>
        </p:spPr>
        <p:txBody>
          <a:bodyPr wrap="square" lIns="0" tIns="0" rIns="0" bIns="0" rtlCol="0" anchor="ctr">
            <a:normAutofit/>
          </a:bodyPr>
          <a:lstStyle/>
          <a:p>
            <a:pPr marL="0" indent="0">
              <a:buNone/>
            </a:pPr>
            <a:r>
              <a:rPr lang="en-US" sz="1550" b="1" dirty="0">
                <a:solidFill>
                  <a:srgbClr val="0B3C5D"/>
                </a:solidFill>
                <a:latin typeface="Meiryo" pitchFamily="34" charset="0"/>
                <a:ea typeface="Meiryo" pitchFamily="34" charset="-122"/>
                <a:cs typeface="Meiryo" pitchFamily="34" charset="-120"/>
              </a:rPr>
              <a:t>① 従来技術（背景）と先行技術カテゴリ</a:t>
            </a:r>
            <a:endParaRPr lang="en-US" sz="1550" dirty="0"/>
          </a:p>
        </p:txBody>
      </p:sp>
      <p:sp>
        <p:nvSpPr>
          <p:cNvPr id="8" name="Text 6"/>
          <p:cNvSpPr/>
          <p:nvPr/>
        </p:nvSpPr>
        <p:spPr>
          <a:xfrm>
            <a:off x="804672" y="1508760"/>
            <a:ext cx="5029200" cy="1600200"/>
          </a:xfrm>
          <a:prstGeom prst="rect">
            <a:avLst/>
          </a:prstGeom>
          <a:noFill/>
          <a:ln/>
        </p:spPr>
        <p:txBody>
          <a:bodyPr wrap="square" lIns="508" tIns="508" rIns="508" bIns="508" rtlCol="0" anchor="t">
            <a:normAutofit/>
          </a:bodyPr>
          <a:lstStyle/>
          <a:p>
            <a:pPr marL="0" indent="0" algn="l">
              <a:buNone/>
            </a:pPr>
            <a:r>
              <a:rPr lang="en-US" sz="1520" dirty="0">
                <a:solidFill>
                  <a:srgbClr val="111111"/>
                </a:solidFill>
                <a:latin typeface="Meiryo" pitchFamily="34" charset="0"/>
                <a:ea typeface="Meiryo" pitchFamily="34" charset="-122"/>
                <a:cs typeface="Meiryo" pitchFamily="34" charset="-120"/>
              </a:rPr>
              <a:t>• ウェハマップ画像分類、点群/GNN、統計ルール、運用ルールが個別に発展。</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空間情報、粒径情報、説明性、製造アクション接続が分断されやすい。</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多くは単一ラベルや単純異常スコアに留まりやすい。</a:t>
            </a:r>
            <a:endParaRPr lang="en-US" sz="1520" dirty="0"/>
          </a:p>
        </p:txBody>
      </p:sp>
      <p:sp>
        <p:nvSpPr>
          <p:cNvPr id="9" name="Shape 7"/>
          <p:cNvSpPr/>
          <p:nvPr/>
        </p:nvSpPr>
        <p:spPr>
          <a:xfrm>
            <a:off x="6236208" y="1005840"/>
            <a:ext cx="5303520" cy="2331720"/>
          </a:xfrm>
          <a:prstGeom prst="roundRect">
            <a:avLst>
              <a:gd name="adj" fmla="val 2353"/>
            </a:avLst>
          </a:prstGeom>
          <a:solidFill>
            <a:srgbClr val="FFFFFF"/>
          </a:solidFill>
          <a:ln w="12700">
            <a:solidFill>
              <a:srgbClr val="F4A261"/>
            </a:solidFill>
            <a:prstDash val="solid"/>
          </a:ln>
          <a:effectLst>
            <a:outerShdw blurRad="19050" dist="12700" dir="2700000" algn="bl" rotWithShape="0">
              <a:srgbClr val="000000">
                <a:alpha val="8000"/>
              </a:srgbClr>
            </a:outerShdw>
          </a:effectLst>
        </p:spPr>
      </p:sp>
      <p:sp>
        <p:nvSpPr>
          <p:cNvPr id="10" name="Shape 8"/>
          <p:cNvSpPr/>
          <p:nvPr/>
        </p:nvSpPr>
        <p:spPr>
          <a:xfrm>
            <a:off x="6236208" y="1005840"/>
            <a:ext cx="5303520" cy="329184"/>
          </a:xfrm>
          <a:prstGeom prst="rect">
            <a:avLst/>
          </a:prstGeom>
          <a:solidFill>
            <a:srgbClr val="F4A261">
              <a:alpha val="92000"/>
            </a:srgbClr>
          </a:solidFill>
          <a:ln w="12700">
            <a:solidFill>
              <a:srgbClr val="F4A261"/>
            </a:solidFill>
            <a:prstDash val="solid"/>
          </a:ln>
        </p:spPr>
      </p:sp>
      <p:sp>
        <p:nvSpPr>
          <p:cNvPr id="11" name="Text 9"/>
          <p:cNvSpPr/>
          <p:nvPr/>
        </p:nvSpPr>
        <p:spPr>
          <a:xfrm>
            <a:off x="6345936" y="1069848"/>
            <a:ext cx="5084064" cy="182880"/>
          </a:xfrm>
          <a:prstGeom prst="rect">
            <a:avLst/>
          </a:prstGeom>
          <a:noFill/>
          <a:ln/>
        </p:spPr>
        <p:txBody>
          <a:bodyPr wrap="square" lIns="0" tIns="0" rIns="0" bIns="0" rtlCol="0" anchor="ctr">
            <a:normAutofit/>
          </a:bodyPr>
          <a:lstStyle/>
          <a:p>
            <a:pPr marL="0" indent="0">
              <a:buNone/>
            </a:pPr>
            <a:r>
              <a:rPr lang="en-US" sz="1550" b="1" dirty="0">
                <a:solidFill>
                  <a:srgbClr val="0B3C5D"/>
                </a:solidFill>
                <a:latin typeface="Meiryo" pitchFamily="34" charset="0"/>
                <a:ea typeface="Meiryo" pitchFamily="34" charset="-122"/>
                <a:cs typeface="Meiryo" pitchFamily="34" charset="-120"/>
              </a:rPr>
              <a:t>② 従来の課題</a:t>
            </a:r>
            <a:endParaRPr lang="en-US" sz="1550" dirty="0"/>
          </a:p>
        </p:txBody>
      </p:sp>
      <p:sp>
        <p:nvSpPr>
          <p:cNvPr id="12" name="Text 10"/>
          <p:cNvSpPr/>
          <p:nvPr/>
        </p:nvSpPr>
        <p:spPr>
          <a:xfrm>
            <a:off x="6382512" y="1508760"/>
            <a:ext cx="5029200" cy="1600200"/>
          </a:xfrm>
          <a:prstGeom prst="rect">
            <a:avLst/>
          </a:prstGeom>
          <a:noFill/>
          <a:ln/>
        </p:spPr>
        <p:txBody>
          <a:bodyPr wrap="square" lIns="508" tIns="508" rIns="508" bIns="508" rtlCol="0" anchor="t">
            <a:normAutofit/>
          </a:bodyPr>
          <a:lstStyle/>
          <a:p>
            <a:pPr marL="0" indent="0" algn="l">
              <a:buNone/>
            </a:pPr>
            <a:r>
              <a:rPr lang="en-US" sz="1520" dirty="0">
                <a:solidFill>
                  <a:srgbClr val="111111"/>
                </a:solidFill>
                <a:latin typeface="Meiryo" pitchFamily="34" charset="0"/>
                <a:ea typeface="Meiryo" pitchFamily="34" charset="-122"/>
                <a:cs typeface="Meiryo" pitchFamily="34" charset="-120"/>
              </a:rPr>
              <a:t>• 低粒子数ではラスタ画像が疎になり、誤差や量子化に弱い。</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同じ位置でも粒径分布が違うと原因が違う可能性がある。</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混合要因・不確かさ・運用分岐の表現が弱い。</a:t>
            </a:r>
            <a:endParaRPr lang="en-US" sz="1520" dirty="0"/>
          </a:p>
        </p:txBody>
      </p:sp>
      <p:sp>
        <p:nvSpPr>
          <p:cNvPr id="13" name="Shape 11"/>
          <p:cNvSpPr/>
          <p:nvPr/>
        </p:nvSpPr>
        <p:spPr>
          <a:xfrm>
            <a:off x="658368" y="3639312"/>
            <a:ext cx="5303520" cy="2331720"/>
          </a:xfrm>
          <a:prstGeom prst="roundRect">
            <a:avLst>
              <a:gd name="adj" fmla="val 2353"/>
            </a:avLst>
          </a:prstGeom>
          <a:solidFill>
            <a:srgbClr val="FFFFFF"/>
          </a:solidFill>
          <a:ln w="12700">
            <a:solidFill>
              <a:srgbClr val="4FC3F7"/>
            </a:solidFill>
            <a:prstDash val="solid"/>
          </a:ln>
          <a:effectLst>
            <a:outerShdw blurRad="19050" dist="12700" dir="2700000" algn="bl" rotWithShape="0">
              <a:srgbClr val="000000">
                <a:alpha val="8000"/>
              </a:srgbClr>
            </a:outerShdw>
          </a:effectLst>
        </p:spPr>
      </p:sp>
      <p:sp>
        <p:nvSpPr>
          <p:cNvPr id="14" name="Shape 12"/>
          <p:cNvSpPr/>
          <p:nvPr/>
        </p:nvSpPr>
        <p:spPr>
          <a:xfrm>
            <a:off x="658368" y="3639312"/>
            <a:ext cx="5303520" cy="329184"/>
          </a:xfrm>
          <a:prstGeom prst="rect">
            <a:avLst/>
          </a:prstGeom>
          <a:solidFill>
            <a:srgbClr val="4FC3F7">
              <a:alpha val="92000"/>
            </a:srgbClr>
          </a:solidFill>
          <a:ln w="12700">
            <a:solidFill>
              <a:srgbClr val="4FC3F7"/>
            </a:solidFill>
            <a:prstDash val="solid"/>
          </a:ln>
        </p:spPr>
      </p:sp>
      <p:sp>
        <p:nvSpPr>
          <p:cNvPr id="15" name="Text 13"/>
          <p:cNvSpPr/>
          <p:nvPr/>
        </p:nvSpPr>
        <p:spPr>
          <a:xfrm>
            <a:off x="768096" y="3703320"/>
            <a:ext cx="5084064" cy="182880"/>
          </a:xfrm>
          <a:prstGeom prst="rect">
            <a:avLst/>
          </a:prstGeom>
          <a:noFill/>
          <a:ln/>
        </p:spPr>
        <p:txBody>
          <a:bodyPr wrap="square" lIns="0" tIns="0" rIns="0" bIns="0" rtlCol="0" anchor="ctr">
            <a:normAutofit/>
          </a:bodyPr>
          <a:lstStyle/>
          <a:p>
            <a:pPr marL="0" indent="0">
              <a:buNone/>
            </a:pPr>
            <a:r>
              <a:rPr lang="en-US" sz="1550" b="1" dirty="0">
                <a:solidFill>
                  <a:srgbClr val="0B3C5D"/>
                </a:solidFill>
                <a:latin typeface="Meiryo" pitchFamily="34" charset="0"/>
                <a:ea typeface="Meiryo" pitchFamily="34" charset="-122"/>
                <a:cs typeface="Meiryo" pitchFamily="34" charset="-120"/>
              </a:rPr>
              <a:t>③ 提案手法</a:t>
            </a:r>
            <a:endParaRPr lang="en-US" sz="1550" dirty="0"/>
          </a:p>
        </p:txBody>
      </p:sp>
      <p:sp>
        <p:nvSpPr>
          <p:cNvPr id="16" name="Text 14"/>
          <p:cNvSpPr/>
          <p:nvPr/>
        </p:nvSpPr>
        <p:spPr>
          <a:xfrm>
            <a:off x="804672" y="4142232"/>
            <a:ext cx="5029200" cy="1600200"/>
          </a:xfrm>
          <a:prstGeom prst="rect">
            <a:avLst/>
          </a:prstGeom>
          <a:noFill/>
          <a:ln/>
        </p:spPr>
        <p:txBody>
          <a:bodyPr wrap="square" lIns="508" tIns="508" rIns="508" bIns="508" rtlCol="0" anchor="t">
            <a:normAutofit/>
          </a:bodyPr>
          <a:lstStyle/>
          <a:p>
            <a:pPr marL="0" indent="0" algn="l">
              <a:buNone/>
            </a:pPr>
            <a:r>
              <a:rPr lang="en-US" sz="1520" dirty="0">
                <a:solidFill>
                  <a:srgbClr val="111111"/>
                </a:solidFill>
                <a:latin typeface="Meiryo" pitchFamily="34" charset="0"/>
                <a:ea typeface="Meiryo" pitchFamily="34" charset="-122"/>
                <a:cs typeface="Meiryo" pitchFamily="34" charset="-120"/>
              </a:rPr>
              <a:t>• 粒子テーブルから x-y と r-theta の dual-grid を生成。</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HSSFNet-v2 が空間強度と粒径分布を因子分解して推定。</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MarkedMixture が geometry/size parameter と粒子責務へ説明分解。</a:t>
            </a:r>
            <a:endParaRPr lang="en-US" sz="1520" dirty="0"/>
          </a:p>
        </p:txBody>
      </p:sp>
      <p:sp>
        <p:nvSpPr>
          <p:cNvPr id="17" name="Shape 15"/>
          <p:cNvSpPr/>
          <p:nvPr/>
        </p:nvSpPr>
        <p:spPr>
          <a:xfrm>
            <a:off x="6236208" y="3639312"/>
            <a:ext cx="5303520" cy="2331720"/>
          </a:xfrm>
          <a:prstGeom prst="roundRect">
            <a:avLst>
              <a:gd name="adj" fmla="val 2353"/>
            </a:avLst>
          </a:prstGeom>
          <a:solidFill>
            <a:srgbClr val="FFFFFF"/>
          </a:solidFill>
          <a:ln w="12700">
            <a:solidFill>
              <a:srgbClr val="2A9D8F"/>
            </a:solidFill>
            <a:prstDash val="solid"/>
          </a:ln>
          <a:effectLst>
            <a:outerShdw blurRad="19050" dist="12700" dir="2700000" algn="bl" rotWithShape="0">
              <a:srgbClr val="000000">
                <a:alpha val="8000"/>
              </a:srgbClr>
            </a:outerShdw>
          </a:effectLst>
        </p:spPr>
      </p:sp>
      <p:sp>
        <p:nvSpPr>
          <p:cNvPr id="18" name="Shape 16"/>
          <p:cNvSpPr/>
          <p:nvPr/>
        </p:nvSpPr>
        <p:spPr>
          <a:xfrm>
            <a:off x="6236208" y="3639312"/>
            <a:ext cx="5303520" cy="329184"/>
          </a:xfrm>
          <a:prstGeom prst="rect">
            <a:avLst/>
          </a:prstGeom>
          <a:solidFill>
            <a:srgbClr val="2A9D8F">
              <a:alpha val="92000"/>
            </a:srgbClr>
          </a:solidFill>
          <a:ln w="12700">
            <a:solidFill>
              <a:srgbClr val="2A9D8F"/>
            </a:solidFill>
            <a:prstDash val="solid"/>
          </a:ln>
        </p:spPr>
      </p:sp>
      <p:sp>
        <p:nvSpPr>
          <p:cNvPr id="19" name="Text 17"/>
          <p:cNvSpPr/>
          <p:nvPr/>
        </p:nvSpPr>
        <p:spPr>
          <a:xfrm>
            <a:off x="6345936" y="3703320"/>
            <a:ext cx="5084064" cy="182880"/>
          </a:xfrm>
          <a:prstGeom prst="rect">
            <a:avLst/>
          </a:prstGeom>
          <a:noFill/>
          <a:ln/>
        </p:spPr>
        <p:txBody>
          <a:bodyPr wrap="square" lIns="0" tIns="0" rIns="0" bIns="0" rtlCol="0" anchor="ctr">
            <a:normAutofit/>
          </a:bodyPr>
          <a:lstStyle/>
          <a:p>
            <a:pPr marL="0" indent="0">
              <a:buNone/>
            </a:pPr>
            <a:r>
              <a:rPr lang="en-US" sz="1550" b="1" dirty="0">
                <a:solidFill>
                  <a:srgbClr val="0B3C5D"/>
                </a:solidFill>
                <a:latin typeface="Meiryo" pitchFamily="34" charset="0"/>
                <a:ea typeface="Meiryo" pitchFamily="34" charset="-122"/>
                <a:cs typeface="Meiryo" pitchFamily="34" charset="-120"/>
              </a:rPr>
              <a:t>④ 提案技術による効果</a:t>
            </a:r>
            <a:endParaRPr lang="en-US" sz="1550" dirty="0"/>
          </a:p>
        </p:txBody>
      </p:sp>
      <p:sp>
        <p:nvSpPr>
          <p:cNvPr id="20" name="Text 18"/>
          <p:cNvSpPr/>
          <p:nvPr/>
        </p:nvSpPr>
        <p:spPr>
          <a:xfrm>
            <a:off x="6382512" y="4142232"/>
            <a:ext cx="5029200" cy="1600200"/>
          </a:xfrm>
          <a:prstGeom prst="rect">
            <a:avLst/>
          </a:prstGeom>
          <a:noFill/>
          <a:ln/>
        </p:spPr>
        <p:txBody>
          <a:bodyPr wrap="square" lIns="508" tIns="508" rIns="508" bIns="508" rtlCol="0" anchor="t">
            <a:normAutofit/>
          </a:bodyPr>
          <a:lstStyle/>
          <a:p>
            <a:pPr marL="0" indent="0" algn="l">
              <a:buNone/>
            </a:pPr>
            <a:r>
              <a:rPr lang="en-US" sz="1520" dirty="0">
                <a:solidFill>
                  <a:srgbClr val="111111"/>
                </a:solidFill>
                <a:latin typeface="Meiryo" pitchFamily="34" charset="0"/>
                <a:ea typeface="Meiryo" pitchFamily="34" charset="-122"/>
                <a:cs typeface="Meiryo" pitchFamily="34" charset="-120"/>
              </a:rPr>
              <a:t>• 低粒子数でも cause map を安定化しやすい。</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サイズ込みの要因切り分けと説明性を両立。</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不確かさつきで装置点検、追加計測、設計FBへ接続。</a:t>
            </a:r>
            <a:endParaRPr lang="en-US" sz="1520" dirty="0"/>
          </a:p>
        </p:txBody>
      </p:sp>
      <p:sp>
        <p:nvSpPr>
          <p:cNvPr id="21" name="Text 19"/>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05</a:t>
            </a:r>
            <a:endParaRPr lang="en-US" sz="1000" dirty="0"/>
          </a:p>
        </p:txBody>
      </p:sp>
      <p:sp>
        <p:nvSpPr>
          <p:cNvPr id="22" name="Text 20"/>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従来技術カテゴリ① 画像ベースのウェハマップ分類</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Prior Art 1</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5212080" cy="4800600"/>
          </a:xfrm>
          <a:prstGeom prst="roundRect">
            <a:avLst>
              <a:gd name="adj" fmla="val 1143"/>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124712"/>
            <a:ext cx="49560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典型的な処理イメージ</a:t>
            </a:r>
            <a:endParaRPr lang="en-US" sz="1400" dirty="0"/>
          </a:p>
        </p:txBody>
      </p:sp>
      <p:sp>
        <p:nvSpPr>
          <p:cNvPr id="7" name="Shape 5"/>
          <p:cNvSpPr/>
          <p:nvPr/>
        </p:nvSpPr>
        <p:spPr>
          <a:xfrm>
            <a:off x="914400" y="1828800"/>
            <a:ext cx="1234440" cy="1234440"/>
          </a:xfrm>
          <a:prstGeom prst="ellipse">
            <a:avLst/>
          </a:prstGeom>
          <a:solidFill>
            <a:srgbClr val="FFFFFF"/>
          </a:solidFill>
          <a:ln w="12700">
            <a:solidFill>
              <a:srgbClr val="BBC9D1"/>
            </a:solidFill>
            <a:prstDash val="solid"/>
          </a:ln>
        </p:spPr>
      </p:sp>
      <p:sp>
        <p:nvSpPr>
          <p:cNvPr id="8" name="Shape 6"/>
          <p:cNvSpPr/>
          <p:nvPr/>
        </p:nvSpPr>
        <p:spPr>
          <a:xfrm>
            <a:off x="1136599" y="2050999"/>
            <a:ext cx="790042" cy="790042"/>
          </a:xfrm>
          <a:prstGeom prst="donut">
            <a:avLst/>
          </a:prstGeom>
          <a:solidFill>
            <a:srgbClr val="4FC3F7">
              <a:alpha val="45000"/>
            </a:srgbClr>
          </a:solidFill>
          <a:ln w="12700">
            <a:solidFill>
              <a:srgbClr val="4FC3F7"/>
            </a:solidFill>
            <a:prstDash val="solid"/>
          </a:ln>
        </p:spPr>
      </p:sp>
      <p:sp>
        <p:nvSpPr>
          <p:cNvPr id="9" name="Shape 7"/>
          <p:cNvSpPr/>
          <p:nvPr/>
        </p:nvSpPr>
        <p:spPr>
          <a:xfrm>
            <a:off x="1655064" y="2174443"/>
            <a:ext cx="222199" cy="222199"/>
          </a:xfrm>
          <a:prstGeom prst="ellipse">
            <a:avLst/>
          </a:prstGeom>
          <a:solidFill>
            <a:srgbClr val="E76F51">
              <a:alpha val="90000"/>
            </a:srgbClr>
          </a:solidFill>
          <a:ln w="12700">
            <a:solidFill>
              <a:srgbClr val="E76F51"/>
            </a:solidFill>
            <a:prstDash val="solid"/>
          </a:ln>
        </p:spPr>
      </p:sp>
      <p:sp>
        <p:nvSpPr>
          <p:cNvPr id="10" name="Text 8"/>
          <p:cNvSpPr/>
          <p:nvPr/>
        </p:nvSpPr>
        <p:spPr>
          <a:xfrm>
            <a:off x="841248" y="3182112"/>
            <a:ext cx="1371600" cy="384048"/>
          </a:xfrm>
          <a:prstGeom prst="rect">
            <a:avLst/>
          </a:prstGeom>
          <a:noFill/>
          <a:ln/>
        </p:spPr>
        <p:txBody>
          <a:bodyPr wrap="square" lIns="0" tIns="0" rIns="0" bIns="0" rtlCol="0" anchor="ctr"/>
          <a:lstStyle/>
          <a:p>
            <a:pPr marL="0" indent="0" algn="ctr">
              <a:buNone/>
            </a:pPr>
            <a:r>
              <a:rPr lang="en-US" sz="1400" dirty="0">
                <a:solidFill>
                  <a:srgbClr val="111111"/>
                </a:solidFill>
                <a:latin typeface="Meiryo" pitchFamily="34" charset="0"/>
                <a:ea typeface="Meiryo" pitchFamily="34" charset="-122"/>
                <a:cs typeface="Meiryo" pitchFamily="34" charset="-120"/>
              </a:rPr>
              <a:t>粒子テーブル</a:t>
            </a:r>
            <a:endParaRPr lang="en-US" sz="1400" dirty="0"/>
          </a:p>
          <a:p>
            <a:pPr marL="0" indent="0" algn="ctr">
              <a:buNone/>
            </a:pPr>
            <a:r>
              <a:rPr lang="en-US" sz="1400" dirty="0">
                <a:solidFill>
                  <a:srgbClr val="111111"/>
                </a:solidFill>
                <a:latin typeface="Meiryo" pitchFamily="34" charset="0"/>
                <a:ea typeface="Meiryo" pitchFamily="34" charset="-122"/>
                <a:cs typeface="Meiryo" pitchFamily="34" charset="-120"/>
              </a:rPr>
              <a:t>または座標点群</a:t>
            </a:r>
            <a:endParaRPr lang="en-US" sz="1400" dirty="0"/>
          </a:p>
        </p:txBody>
      </p:sp>
      <p:sp>
        <p:nvSpPr>
          <p:cNvPr id="11" name="Shape 9"/>
          <p:cNvSpPr/>
          <p:nvPr/>
        </p:nvSpPr>
        <p:spPr>
          <a:xfrm>
            <a:off x="2286000" y="2331720"/>
            <a:ext cx="411480" cy="320040"/>
          </a:xfrm>
          <a:prstGeom prst="chevron">
            <a:avLst/>
          </a:prstGeom>
          <a:solidFill>
            <a:srgbClr val="D7E3EA"/>
          </a:solidFill>
          <a:ln w="12700">
            <a:solidFill>
              <a:srgbClr val="D7E3EA"/>
            </a:solidFill>
            <a:prstDash val="solid"/>
          </a:ln>
        </p:spPr>
      </p:sp>
      <p:sp>
        <p:nvSpPr>
          <p:cNvPr id="12" name="Shape 10"/>
          <p:cNvSpPr/>
          <p:nvPr/>
        </p:nvSpPr>
        <p:spPr>
          <a:xfrm>
            <a:off x="2788920" y="1783080"/>
            <a:ext cx="1325880" cy="1417320"/>
          </a:xfrm>
          <a:prstGeom prst="roundRect">
            <a:avLst>
              <a:gd name="adj" fmla="val 4138"/>
            </a:avLst>
          </a:prstGeom>
          <a:solidFill>
            <a:srgbClr val="F9FBFD"/>
          </a:solidFill>
          <a:ln w="12700">
            <a:solidFill>
              <a:srgbClr val="CAD8E0"/>
            </a:solidFill>
            <a:prstDash val="solid"/>
          </a:ln>
        </p:spPr>
      </p:sp>
      <p:sp>
        <p:nvSpPr>
          <p:cNvPr id="13" name="Shape 11"/>
          <p:cNvSpPr/>
          <p:nvPr/>
        </p:nvSpPr>
        <p:spPr>
          <a:xfrm>
            <a:off x="2926080" y="1920240"/>
            <a:ext cx="173736" cy="173736"/>
          </a:xfrm>
          <a:prstGeom prst="rect">
            <a:avLst/>
          </a:prstGeom>
          <a:solidFill>
            <a:srgbClr val="ECF2F6"/>
          </a:solidFill>
          <a:ln w="12700">
            <a:solidFill>
              <a:srgbClr val="FFFFFF"/>
            </a:solidFill>
            <a:prstDash val="solid"/>
          </a:ln>
        </p:spPr>
      </p:sp>
      <p:sp>
        <p:nvSpPr>
          <p:cNvPr id="14" name="Shape 12"/>
          <p:cNvSpPr/>
          <p:nvPr/>
        </p:nvSpPr>
        <p:spPr>
          <a:xfrm>
            <a:off x="3127248" y="1920240"/>
            <a:ext cx="173736" cy="173736"/>
          </a:xfrm>
          <a:prstGeom prst="rect">
            <a:avLst/>
          </a:prstGeom>
          <a:solidFill>
            <a:srgbClr val="ECF2F6"/>
          </a:solidFill>
          <a:ln w="12700">
            <a:solidFill>
              <a:srgbClr val="FFFFFF"/>
            </a:solidFill>
            <a:prstDash val="solid"/>
          </a:ln>
        </p:spPr>
      </p:sp>
      <p:sp>
        <p:nvSpPr>
          <p:cNvPr id="15" name="Shape 13"/>
          <p:cNvSpPr/>
          <p:nvPr/>
        </p:nvSpPr>
        <p:spPr>
          <a:xfrm>
            <a:off x="3328416" y="1920240"/>
            <a:ext cx="173736" cy="173736"/>
          </a:xfrm>
          <a:prstGeom prst="rect">
            <a:avLst/>
          </a:prstGeom>
          <a:solidFill>
            <a:srgbClr val="ECF2F6"/>
          </a:solidFill>
          <a:ln w="12700">
            <a:solidFill>
              <a:srgbClr val="FFFFFF"/>
            </a:solidFill>
            <a:prstDash val="solid"/>
          </a:ln>
        </p:spPr>
      </p:sp>
      <p:sp>
        <p:nvSpPr>
          <p:cNvPr id="16" name="Shape 14"/>
          <p:cNvSpPr/>
          <p:nvPr/>
        </p:nvSpPr>
        <p:spPr>
          <a:xfrm>
            <a:off x="3529584" y="1920240"/>
            <a:ext cx="173736" cy="173736"/>
          </a:xfrm>
          <a:prstGeom prst="rect">
            <a:avLst/>
          </a:prstGeom>
          <a:solidFill>
            <a:srgbClr val="ECF2F6"/>
          </a:solidFill>
          <a:ln w="12700">
            <a:solidFill>
              <a:srgbClr val="FFFFFF"/>
            </a:solidFill>
            <a:prstDash val="solid"/>
          </a:ln>
        </p:spPr>
      </p:sp>
      <p:sp>
        <p:nvSpPr>
          <p:cNvPr id="17" name="Shape 15"/>
          <p:cNvSpPr/>
          <p:nvPr/>
        </p:nvSpPr>
        <p:spPr>
          <a:xfrm>
            <a:off x="3730752" y="1920240"/>
            <a:ext cx="173736" cy="173736"/>
          </a:xfrm>
          <a:prstGeom prst="rect">
            <a:avLst/>
          </a:prstGeom>
          <a:solidFill>
            <a:srgbClr val="ECF2F6"/>
          </a:solidFill>
          <a:ln w="12700">
            <a:solidFill>
              <a:srgbClr val="FFFFFF"/>
            </a:solidFill>
            <a:prstDash val="solid"/>
          </a:ln>
        </p:spPr>
      </p:sp>
      <p:sp>
        <p:nvSpPr>
          <p:cNvPr id="18" name="Shape 16"/>
          <p:cNvSpPr/>
          <p:nvPr/>
        </p:nvSpPr>
        <p:spPr>
          <a:xfrm>
            <a:off x="2926080" y="2121408"/>
            <a:ext cx="173736" cy="173736"/>
          </a:xfrm>
          <a:prstGeom prst="rect">
            <a:avLst/>
          </a:prstGeom>
          <a:solidFill>
            <a:srgbClr val="ECF2F6"/>
          </a:solidFill>
          <a:ln w="12700">
            <a:solidFill>
              <a:srgbClr val="FFFFFF"/>
            </a:solidFill>
            <a:prstDash val="solid"/>
          </a:ln>
        </p:spPr>
      </p:sp>
      <p:sp>
        <p:nvSpPr>
          <p:cNvPr id="19" name="Shape 17"/>
          <p:cNvSpPr/>
          <p:nvPr/>
        </p:nvSpPr>
        <p:spPr>
          <a:xfrm>
            <a:off x="3127248" y="2121408"/>
            <a:ext cx="173736" cy="173736"/>
          </a:xfrm>
          <a:prstGeom prst="rect">
            <a:avLst/>
          </a:prstGeom>
          <a:solidFill>
            <a:srgbClr val="ECF2F6"/>
          </a:solidFill>
          <a:ln w="12700">
            <a:solidFill>
              <a:srgbClr val="FFFFFF"/>
            </a:solidFill>
            <a:prstDash val="solid"/>
          </a:ln>
        </p:spPr>
      </p:sp>
      <p:sp>
        <p:nvSpPr>
          <p:cNvPr id="20" name="Shape 18"/>
          <p:cNvSpPr/>
          <p:nvPr/>
        </p:nvSpPr>
        <p:spPr>
          <a:xfrm>
            <a:off x="3328416" y="2121408"/>
            <a:ext cx="173736" cy="173736"/>
          </a:xfrm>
          <a:prstGeom prst="rect">
            <a:avLst/>
          </a:prstGeom>
          <a:solidFill>
            <a:srgbClr val="ECF2F6"/>
          </a:solidFill>
          <a:ln w="12700">
            <a:solidFill>
              <a:srgbClr val="FFFFFF"/>
            </a:solidFill>
            <a:prstDash val="solid"/>
          </a:ln>
        </p:spPr>
      </p:sp>
      <p:sp>
        <p:nvSpPr>
          <p:cNvPr id="21" name="Shape 19"/>
          <p:cNvSpPr/>
          <p:nvPr/>
        </p:nvSpPr>
        <p:spPr>
          <a:xfrm>
            <a:off x="3529584" y="2121408"/>
            <a:ext cx="173736" cy="173736"/>
          </a:xfrm>
          <a:prstGeom prst="rect">
            <a:avLst/>
          </a:prstGeom>
          <a:solidFill>
            <a:srgbClr val="8BD3FF"/>
          </a:solidFill>
          <a:ln w="12700">
            <a:solidFill>
              <a:srgbClr val="FFFFFF"/>
            </a:solidFill>
            <a:prstDash val="solid"/>
          </a:ln>
        </p:spPr>
      </p:sp>
      <p:sp>
        <p:nvSpPr>
          <p:cNvPr id="22" name="Shape 20"/>
          <p:cNvSpPr/>
          <p:nvPr/>
        </p:nvSpPr>
        <p:spPr>
          <a:xfrm>
            <a:off x="3730752" y="2121408"/>
            <a:ext cx="173736" cy="173736"/>
          </a:xfrm>
          <a:prstGeom prst="rect">
            <a:avLst/>
          </a:prstGeom>
          <a:solidFill>
            <a:srgbClr val="ECF2F6"/>
          </a:solidFill>
          <a:ln w="12700">
            <a:solidFill>
              <a:srgbClr val="FFFFFF"/>
            </a:solidFill>
            <a:prstDash val="solid"/>
          </a:ln>
        </p:spPr>
      </p:sp>
      <p:sp>
        <p:nvSpPr>
          <p:cNvPr id="23" name="Shape 21"/>
          <p:cNvSpPr/>
          <p:nvPr/>
        </p:nvSpPr>
        <p:spPr>
          <a:xfrm>
            <a:off x="2926080" y="2322576"/>
            <a:ext cx="173736" cy="173736"/>
          </a:xfrm>
          <a:prstGeom prst="rect">
            <a:avLst/>
          </a:prstGeom>
          <a:solidFill>
            <a:srgbClr val="ECF2F6"/>
          </a:solidFill>
          <a:ln w="12700">
            <a:solidFill>
              <a:srgbClr val="FFFFFF"/>
            </a:solidFill>
            <a:prstDash val="solid"/>
          </a:ln>
        </p:spPr>
      </p:sp>
      <p:sp>
        <p:nvSpPr>
          <p:cNvPr id="24" name="Shape 22"/>
          <p:cNvSpPr/>
          <p:nvPr/>
        </p:nvSpPr>
        <p:spPr>
          <a:xfrm>
            <a:off x="3127248" y="2322576"/>
            <a:ext cx="173736" cy="173736"/>
          </a:xfrm>
          <a:prstGeom prst="rect">
            <a:avLst/>
          </a:prstGeom>
          <a:solidFill>
            <a:srgbClr val="ECF2F6"/>
          </a:solidFill>
          <a:ln w="12700">
            <a:solidFill>
              <a:srgbClr val="FFFFFF"/>
            </a:solidFill>
            <a:prstDash val="solid"/>
          </a:ln>
        </p:spPr>
      </p:sp>
      <p:sp>
        <p:nvSpPr>
          <p:cNvPr id="25" name="Shape 23"/>
          <p:cNvSpPr/>
          <p:nvPr/>
        </p:nvSpPr>
        <p:spPr>
          <a:xfrm>
            <a:off x="3328416" y="2322576"/>
            <a:ext cx="173736" cy="173736"/>
          </a:xfrm>
          <a:prstGeom prst="rect">
            <a:avLst/>
          </a:prstGeom>
          <a:solidFill>
            <a:srgbClr val="CFEFFF"/>
          </a:solidFill>
          <a:ln w="12700">
            <a:solidFill>
              <a:srgbClr val="FFFFFF"/>
            </a:solidFill>
            <a:prstDash val="solid"/>
          </a:ln>
        </p:spPr>
      </p:sp>
      <p:sp>
        <p:nvSpPr>
          <p:cNvPr id="26" name="Shape 24"/>
          <p:cNvSpPr/>
          <p:nvPr/>
        </p:nvSpPr>
        <p:spPr>
          <a:xfrm>
            <a:off x="3529584" y="2322576"/>
            <a:ext cx="173736" cy="173736"/>
          </a:xfrm>
          <a:prstGeom prst="rect">
            <a:avLst/>
          </a:prstGeom>
          <a:solidFill>
            <a:srgbClr val="ECF2F6"/>
          </a:solidFill>
          <a:ln w="12700">
            <a:solidFill>
              <a:srgbClr val="FFFFFF"/>
            </a:solidFill>
            <a:prstDash val="solid"/>
          </a:ln>
        </p:spPr>
      </p:sp>
      <p:sp>
        <p:nvSpPr>
          <p:cNvPr id="27" name="Shape 25"/>
          <p:cNvSpPr/>
          <p:nvPr/>
        </p:nvSpPr>
        <p:spPr>
          <a:xfrm>
            <a:off x="3730752" y="2322576"/>
            <a:ext cx="173736" cy="173736"/>
          </a:xfrm>
          <a:prstGeom prst="rect">
            <a:avLst/>
          </a:prstGeom>
          <a:solidFill>
            <a:srgbClr val="ECF2F6"/>
          </a:solidFill>
          <a:ln w="12700">
            <a:solidFill>
              <a:srgbClr val="FFFFFF"/>
            </a:solidFill>
            <a:prstDash val="solid"/>
          </a:ln>
        </p:spPr>
      </p:sp>
      <p:sp>
        <p:nvSpPr>
          <p:cNvPr id="28" name="Shape 26"/>
          <p:cNvSpPr/>
          <p:nvPr/>
        </p:nvSpPr>
        <p:spPr>
          <a:xfrm>
            <a:off x="2926080" y="2523744"/>
            <a:ext cx="173736" cy="173736"/>
          </a:xfrm>
          <a:prstGeom prst="rect">
            <a:avLst/>
          </a:prstGeom>
          <a:solidFill>
            <a:srgbClr val="ECF2F6"/>
          </a:solidFill>
          <a:ln w="12700">
            <a:solidFill>
              <a:srgbClr val="FFFFFF"/>
            </a:solidFill>
            <a:prstDash val="solid"/>
          </a:ln>
        </p:spPr>
      </p:sp>
      <p:sp>
        <p:nvSpPr>
          <p:cNvPr id="29" name="Shape 27"/>
          <p:cNvSpPr/>
          <p:nvPr/>
        </p:nvSpPr>
        <p:spPr>
          <a:xfrm>
            <a:off x="3127248" y="2523744"/>
            <a:ext cx="173736" cy="173736"/>
          </a:xfrm>
          <a:prstGeom prst="rect">
            <a:avLst/>
          </a:prstGeom>
          <a:solidFill>
            <a:srgbClr val="ECF2F6"/>
          </a:solidFill>
          <a:ln w="12700">
            <a:solidFill>
              <a:srgbClr val="FFFFFF"/>
            </a:solidFill>
            <a:prstDash val="solid"/>
          </a:ln>
        </p:spPr>
      </p:sp>
      <p:sp>
        <p:nvSpPr>
          <p:cNvPr id="30" name="Shape 28"/>
          <p:cNvSpPr/>
          <p:nvPr/>
        </p:nvSpPr>
        <p:spPr>
          <a:xfrm>
            <a:off x="3328416" y="2523744"/>
            <a:ext cx="173736" cy="173736"/>
          </a:xfrm>
          <a:prstGeom prst="rect">
            <a:avLst/>
          </a:prstGeom>
          <a:solidFill>
            <a:srgbClr val="ECF2F6"/>
          </a:solidFill>
          <a:ln w="12700">
            <a:solidFill>
              <a:srgbClr val="FFFFFF"/>
            </a:solidFill>
            <a:prstDash val="solid"/>
          </a:ln>
        </p:spPr>
      </p:sp>
      <p:sp>
        <p:nvSpPr>
          <p:cNvPr id="31" name="Shape 29"/>
          <p:cNvSpPr/>
          <p:nvPr/>
        </p:nvSpPr>
        <p:spPr>
          <a:xfrm>
            <a:off x="3529584" y="2523744"/>
            <a:ext cx="173736" cy="173736"/>
          </a:xfrm>
          <a:prstGeom prst="rect">
            <a:avLst/>
          </a:prstGeom>
          <a:solidFill>
            <a:srgbClr val="ECF2F6"/>
          </a:solidFill>
          <a:ln w="12700">
            <a:solidFill>
              <a:srgbClr val="FFFFFF"/>
            </a:solidFill>
            <a:prstDash val="solid"/>
          </a:ln>
        </p:spPr>
      </p:sp>
      <p:sp>
        <p:nvSpPr>
          <p:cNvPr id="32" name="Shape 30"/>
          <p:cNvSpPr/>
          <p:nvPr/>
        </p:nvSpPr>
        <p:spPr>
          <a:xfrm>
            <a:off x="3730752" y="2523744"/>
            <a:ext cx="173736" cy="173736"/>
          </a:xfrm>
          <a:prstGeom prst="rect">
            <a:avLst/>
          </a:prstGeom>
          <a:solidFill>
            <a:srgbClr val="ECF2F6"/>
          </a:solidFill>
          <a:ln w="12700">
            <a:solidFill>
              <a:srgbClr val="FFFFFF"/>
            </a:solidFill>
            <a:prstDash val="solid"/>
          </a:ln>
        </p:spPr>
      </p:sp>
      <p:sp>
        <p:nvSpPr>
          <p:cNvPr id="33" name="Shape 31"/>
          <p:cNvSpPr/>
          <p:nvPr/>
        </p:nvSpPr>
        <p:spPr>
          <a:xfrm>
            <a:off x="2926080" y="2724912"/>
            <a:ext cx="173736" cy="173736"/>
          </a:xfrm>
          <a:prstGeom prst="rect">
            <a:avLst/>
          </a:prstGeom>
          <a:solidFill>
            <a:srgbClr val="ECF2F6"/>
          </a:solidFill>
          <a:ln w="12700">
            <a:solidFill>
              <a:srgbClr val="FFFFFF"/>
            </a:solidFill>
            <a:prstDash val="solid"/>
          </a:ln>
        </p:spPr>
      </p:sp>
      <p:sp>
        <p:nvSpPr>
          <p:cNvPr id="34" name="Shape 32"/>
          <p:cNvSpPr/>
          <p:nvPr/>
        </p:nvSpPr>
        <p:spPr>
          <a:xfrm>
            <a:off x="3127248" y="2724912"/>
            <a:ext cx="173736" cy="173736"/>
          </a:xfrm>
          <a:prstGeom prst="rect">
            <a:avLst/>
          </a:prstGeom>
          <a:solidFill>
            <a:srgbClr val="ECF2F6"/>
          </a:solidFill>
          <a:ln w="12700">
            <a:solidFill>
              <a:srgbClr val="FFFFFF"/>
            </a:solidFill>
            <a:prstDash val="solid"/>
          </a:ln>
        </p:spPr>
      </p:sp>
      <p:sp>
        <p:nvSpPr>
          <p:cNvPr id="35" name="Shape 33"/>
          <p:cNvSpPr/>
          <p:nvPr/>
        </p:nvSpPr>
        <p:spPr>
          <a:xfrm>
            <a:off x="3328416" y="2724912"/>
            <a:ext cx="173736" cy="173736"/>
          </a:xfrm>
          <a:prstGeom prst="rect">
            <a:avLst/>
          </a:prstGeom>
          <a:solidFill>
            <a:srgbClr val="ECF2F6"/>
          </a:solidFill>
          <a:ln w="12700">
            <a:solidFill>
              <a:srgbClr val="FFFFFF"/>
            </a:solidFill>
            <a:prstDash val="solid"/>
          </a:ln>
        </p:spPr>
      </p:sp>
      <p:sp>
        <p:nvSpPr>
          <p:cNvPr id="36" name="Shape 34"/>
          <p:cNvSpPr/>
          <p:nvPr/>
        </p:nvSpPr>
        <p:spPr>
          <a:xfrm>
            <a:off x="3529584" y="2724912"/>
            <a:ext cx="173736" cy="173736"/>
          </a:xfrm>
          <a:prstGeom prst="rect">
            <a:avLst/>
          </a:prstGeom>
          <a:solidFill>
            <a:srgbClr val="ECF2F6"/>
          </a:solidFill>
          <a:ln w="12700">
            <a:solidFill>
              <a:srgbClr val="FFFFFF"/>
            </a:solidFill>
            <a:prstDash val="solid"/>
          </a:ln>
        </p:spPr>
      </p:sp>
      <p:sp>
        <p:nvSpPr>
          <p:cNvPr id="37" name="Shape 35"/>
          <p:cNvSpPr/>
          <p:nvPr/>
        </p:nvSpPr>
        <p:spPr>
          <a:xfrm>
            <a:off x="3730752" y="2724912"/>
            <a:ext cx="173736" cy="173736"/>
          </a:xfrm>
          <a:prstGeom prst="rect">
            <a:avLst/>
          </a:prstGeom>
          <a:solidFill>
            <a:srgbClr val="ECF2F6"/>
          </a:solidFill>
          <a:ln w="12700">
            <a:solidFill>
              <a:srgbClr val="FFFFFF"/>
            </a:solidFill>
            <a:prstDash val="solid"/>
          </a:ln>
        </p:spPr>
      </p:sp>
      <p:sp>
        <p:nvSpPr>
          <p:cNvPr id="38" name="Text 36"/>
          <p:cNvSpPr/>
          <p:nvPr/>
        </p:nvSpPr>
        <p:spPr>
          <a:xfrm>
            <a:off x="2907792" y="3273552"/>
            <a:ext cx="1097280" cy="182880"/>
          </a:xfrm>
          <a:prstGeom prst="rect">
            <a:avLst/>
          </a:prstGeom>
          <a:noFill/>
          <a:ln/>
        </p:spPr>
        <p:txBody>
          <a:bodyPr wrap="square" lIns="0" tIns="0" rIns="0" bIns="0" rtlCol="0" anchor="ctr"/>
          <a:lstStyle/>
          <a:p>
            <a:pPr marL="0" indent="0" algn="ctr">
              <a:buNone/>
            </a:pPr>
            <a:r>
              <a:rPr lang="en-US" sz="1400" dirty="0">
                <a:solidFill>
                  <a:srgbClr val="111111"/>
                </a:solidFill>
                <a:latin typeface="Meiryo" pitchFamily="34" charset="0"/>
                <a:ea typeface="Meiryo" pitchFamily="34" charset="-122"/>
                <a:cs typeface="Meiryo" pitchFamily="34" charset="-120"/>
              </a:rPr>
              <a:t>ラスタ画像化</a:t>
            </a:r>
            <a:endParaRPr lang="en-US" sz="1400" dirty="0"/>
          </a:p>
        </p:txBody>
      </p:sp>
      <p:sp>
        <p:nvSpPr>
          <p:cNvPr id="39" name="Shape 37"/>
          <p:cNvSpPr/>
          <p:nvPr/>
        </p:nvSpPr>
        <p:spPr>
          <a:xfrm>
            <a:off x="4251960" y="2331720"/>
            <a:ext cx="411480" cy="320040"/>
          </a:xfrm>
          <a:prstGeom prst="chevron">
            <a:avLst/>
          </a:prstGeom>
          <a:solidFill>
            <a:srgbClr val="D7E3EA"/>
          </a:solidFill>
          <a:ln w="12700">
            <a:solidFill>
              <a:srgbClr val="D7E3EA"/>
            </a:solidFill>
            <a:prstDash val="solid"/>
          </a:ln>
        </p:spPr>
      </p:sp>
      <p:sp>
        <p:nvSpPr>
          <p:cNvPr id="40" name="Shape 38"/>
          <p:cNvSpPr/>
          <p:nvPr/>
        </p:nvSpPr>
        <p:spPr>
          <a:xfrm>
            <a:off x="4736592" y="1783080"/>
            <a:ext cx="914400" cy="1417320"/>
          </a:xfrm>
          <a:prstGeom prst="roundRect">
            <a:avLst>
              <a:gd name="adj" fmla="val 6000"/>
            </a:avLst>
          </a:prstGeom>
          <a:solidFill>
            <a:srgbClr val="F9FBFD"/>
          </a:solidFill>
          <a:ln w="12700">
            <a:solidFill>
              <a:srgbClr val="CAD8E0"/>
            </a:solidFill>
            <a:prstDash val="solid"/>
          </a:ln>
        </p:spPr>
      </p:sp>
      <p:sp>
        <p:nvSpPr>
          <p:cNvPr id="41" name="Text 39"/>
          <p:cNvSpPr/>
          <p:nvPr/>
        </p:nvSpPr>
        <p:spPr>
          <a:xfrm>
            <a:off x="4992624" y="2240280"/>
            <a:ext cx="411480" cy="201168"/>
          </a:xfrm>
          <a:prstGeom prst="rect">
            <a:avLst/>
          </a:prstGeom>
          <a:noFill/>
          <a:ln/>
        </p:spPr>
        <p:txBody>
          <a:bodyPr wrap="square" lIns="0" tIns="0" rIns="0" bIns="0" rtlCol="0" anchor="ctr"/>
          <a:lstStyle/>
          <a:p>
            <a:pPr marL="0" indent="0" algn="ctr">
              <a:buNone/>
            </a:pPr>
            <a:r>
              <a:rPr lang="en-US" sz="1800" b="1" dirty="0">
                <a:solidFill>
                  <a:srgbClr val="0B3C5D"/>
                </a:solidFill>
                <a:latin typeface="Meiryo" pitchFamily="34" charset="0"/>
                <a:ea typeface="Meiryo" pitchFamily="34" charset="-122"/>
                <a:cs typeface="Meiryo" pitchFamily="34" charset="-120"/>
              </a:rPr>
              <a:t>CNN</a:t>
            </a:r>
            <a:endParaRPr lang="en-US" sz="1800" dirty="0"/>
          </a:p>
        </p:txBody>
      </p:sp>
      <p:sp>
        <p:nvSpPr>
          <p:cNvPr id="42" name="Text 40"/>
          <p:cNvSpPr/>
          <p:nvPr/>
        </p:nvSpPr>
        <p:spPr>
          <a:xfrm>
            <a:off x="4892040" y="2633472"/>
            <a:ext cx="594360" cy="164592"/>
          </a:xfrm>
          <a:prstGeom prst="rect">
            <a:avLst/>
          </a:prstGeom>
          <a:noFill/>
          <a:ln/>
        </p:spPr>
        <p:txBody>
          <a:bodyPr wrap="square" lIns="0" tIns="0" rIns="0" bIns="0" rtlCol="0" anchor="ctr"/>
          <a:lstStyle/>
          <a:p>
            <a:pPr marL="0" indent="0" algn="ctr">
              <a:buNone/>
            </a:pPr>
            <a:r>
              <a:rPr lang="en-US" sz="1300" dirty="0">
                <a:solidFill>
                  <a:srgbClr val="5F6B6D"/>
                </a:solidFill>
                <a:latin typeface="Meiryo" pitchFamily="34" charset="0"/>
                <a:ea typeface="Meiryo" pitchFamily="34" charset="-122"/>
                <a:cs typeface="Meiryo" pitchFamily="34" charset="-120"/>
              </a:rPr>
              <a:t>分類器</a:t>
            </a:r>
            <a:endParaRPr lang="en-US" sz="1300" dirty="0"/>
          </a:p>
        </p:txBody>
      </p:sp>
      <p:sp>
        <p:nvSpPr>
          <p:cNvPr id="43" name="Shape 41"/>
          <p:cNvSpPr/>
          <p:nvPr/>
        </p:nvSpPr>
        <p:spPr>
          <a:xfrm>
            <a:off x="5742432" y="2331720"/>
            <a:ext cx="411480" cy="320040"/>
          </a:xfrm>
          <a:prstGeom prst="chevron">
            <a:avLst/>
          </a:prstGeom>
          <a:solidFill>
            <a:srgbClr val="D7E3EA"/>
          </a:solidFill>
          <a:ln w="12700">
            <a:solidFill>
              <a:srgbClr val="D7E3EA"/>
            </a:solidFill>
            <a:prstDash val="solid"/>
          </a:ln>
        </p:spPr>
      </p:sp>
      <p:sp>
        <p:nvSpPr>
          <p:cNvPr id="44" name="Shape 42"/>
          <p:cNvSpPr/>
          <p:nvPr/>
        </p:nvSpPr>
        <p:spPr>
          <a:xfrm>
            <a:off x="6236208" y="1783080"/>
            <a:ext cx="1234440" cy="1417320"/>
          </a:xfrm>
          <a:prstGeom prst="roundRect">
            <a:avLst>
              <a:gd name="adj" fmla="val 4444"/>
            </a:avLst>
          </a:prstGeom>
          <a:solidFill>
            <a:srgbClr val="F9FBFD"/>
          </a:solidFill>
          <a:ln w="12700">
            <a:solidFill>
              <a:srgbClr val="CAD8E0"/>
            </a:solidFill>
            <a:prstDash val="solid"/>
          </a:ln>
        </p:spPr>
      </p:sp>
      <p:sp>
        <p:nvSpPr>
          <p:cNvPr id="45" name="Text 43"/>
          <p:cNvSpPr/>
          <p:nvPr/>
        </p:nvSpPr>
        <p:spPr>
          <a:xfrm>
            <a:off x="6355080" y="2176272"/>
            <a:ext cx="960120" cy="384048"/>
          </a:xfrm>
          <a:prstGeom prst="rect">
            <a:avLst/>
          </a:prstGeom>
          <a:noFill/>
          <a:ln/>
        </p:spPr>
        <p:txBody>
          <a:bodyPr wrap="square" lIns="0" tIns="0" rIns="0" bIns="0" rtlCol="0" anchor="ctr"/>
          <a:lstStyle/>
          <a:p>
            <a:pPr marL="0" indent="0" algn="ctr">
              <a:buNone/>
            </a:pPr>
            <a:r>
              <a:rPr lang="en-US" sz="1600" b="1" dirty="0">
                <a:solidFill>
                  <a:srgbClr val="0B3C5D"/>
                </a:solidFill>
                <a:latin typeface="Meiryo" pitchFamily="34" charset="0"/>
                <a:ea typeface="Meiryo" pitchFamily="34" charset="-122"/>
                <a:cs typeface="Meiryo" pitchFamily="34" charset="-120"/>
              </a:rPr>
              <a:t>単一ラベル</a:t>
            </a:r>
            <a:endParaRPr lang="en-US" sz="1600" dirty="0"/>
          </a:p>
          <a:p>
            <a:pPr marL="0" indent="0" algn="ctr">
              <a:buNone/>
            </a:pPr>
            <a:r>
              <a:rPr lang="en-US" sz="1600" b="1" dirty="0">
                <a:solidFill>
                  <a:srgbClr val="0B3C5D"/>
                </a:solidFill>
                <a:latin typeface="Meiryo" pitchFamily="34" charset="0"/>
                <a:ea typeface="Meiryo" pitchFamily="34" charset="-122"/>
                <a:cs typeface="Meiryo" pitchFamily="34" charset="-120"/>
              </a:rPr>
              <a:t>異常スコア</a:t>
            </a:r>
            <a:endParaRPr lang="en-US" sz="1600" dirty="0"/>
          </a:p>
        </p:txBody>
      </p:sp>
      <p:sp>
        <p:nvSpPr>
          <p:cNvPr id="46" name="Text 44"/>
          <p:cNvSpPr/>
          <p:nvPr/>
        </p:nvSpPr>
        <p:spPr>
          <a:xfrm>
            <a:off x="914400" y="3977640"/>
            <a:ext cx="1920240" cy="182880"/>
          </a:xfrm>
          <a:prstGeom prst="rect">
            <a:avLst/>
          </a:prstGeom>
          <a:noFill/>
          <a:ln/>
        </p:spPr>
        <p:txBody>
          <a:bodyPr wrap="square" lIns="0" tIns="0" rIns="0" bIns="0" rtlCol="0" anchor="ctr"/>
          <a:lstStyle/>
          <a:p>
            <a:pPr marL="0" indent="0">
              <a:buNone/>
            </a:pPr>
            <a:r>
              <a:rPr lang="en-US" sz="1400" b="1" dirty="0">
                <a:solidFill>
                  <a:srgbClr val="0B3C5D"/>
                </a:solidFill>
                <a:latin typeface="Meiryo" pitchFamily="34" charset="0"/>
                <a:ea typeface="Meiryo" pitchFamily="34" charset="-122"/>
                <a:cs typeface="Meiryo" pitchFamily="34" charset="-120"/>
              </a:rPr>
              <a:t>What it sees / loses</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914400" y="4251960"/>
          <a:ext cx="4480560" cy="1005840"/>
        </p:xfrm>
        <a:graphic>
          <a:graphicData uri="http://schemas.openxmlformats.org/drawingml/2006/table">
            <a:tbl>
              <a:tblPr/>
              <a:tblGrid>
                <a:gridCol w="10972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457200">
                <a:tc>
                  <a:txBody>
                    <a:bodyPr/>
                    <a:lstStyle/>
                    <a:p>
                      <a:pPr marL="0" indent="0">
                        <a:buNone/>
                      </a:pPr>
                      <a:r>
                        <a:rPr lang="en-US" sz="1350" dirty="0">
                          <a:solidFill>
                            <a:srgbClr val="111111"/>
                          </a:solidFill>
                          <a:latin typeface="Meiryo" pitchFamily="34" charset="0"/>
                          <a:ea typeface="Meiryo" pitchFamily="34" charset="-122"/>
                          <a:cs typeface="Meiryo" pitchFamily="34" charset="-120"/>
                        </a:rPr>
                        <a:t>保持しやすい</a:t>
                      </a:r>
                      <a:endParaRPr lang="en-US" sz="135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50" dirty="0">
                          <a:solidFill>
                            <a:srgbClr val="111111"/>
                          </a:solidFill>
                          <a:latin typeface="Meiryo" pitchFamily="34" charset="0"/>
                          <a:ea typeface="Meiryo" pitchFamily="34" charset="-122"/>
                          <a:cs typeface="Meiryo" pitchFamily="34" charset="-120"/>
                        </a:rPr>
                        <a:t>全体形状の粗い違い</a:t>
                      </a:r>
                      <a:endParaRPr lang="en-US" sz="135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48640">
                <a:tc>
                  <a:txBody>
                    <a:bodyPr/>
                    <a:lstStyle/>
                    <a:p>
                      <a:pPr marL="0" indent="0">
                        <a:buNone/>
                      </a:pPr>
                      <a:r>
                        <a:rPr lang="en-US" sz="1350" dirty="0">
                          <a:solidFill>
                            <a:srgbClr val="111111"/>
                          </a:solidFill>
                          <a:latin typeface="Meiryo" pitchFamily="34" charset="0"/>
                          <a:ea typeface="Meiryo" pitchFamily="34" charset="-122"/>
                          <a:cs typeface="Meiryo" pitchFamily="34" charset="-120"/>
                        </a:rPr>
                        <a:t>失いやすい</a:t>
                      </a:r>
                      <a:endParaRPr lang="en-US" sz="135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50" dirty="0">
                          <a:solidFill>
                            <a:srgbClr val="111111"/>
                          </a:solidFill>
                          <a:latin typeface="Meiryo" pitchFamily="34" charset="0"/>
                          <a:ea typeface="Meiryo" pitchFamily="34" charset="-122"/>
                          <a:cs typeface="Meiryo" pitchFamily="34" charset="-120"/>
                        </a:rPr>
                        <a:t>粒径差、粒子責務、混合要因、局所起源</a:t>
                      </a:r>
                      <a:endParaRPr lang="en-US" sz="135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48" name="Shape 45"/>
          <p:cNvSpPr/>
          <p:nvPr/>
        </p:nvSpPr>
        <p:spPr>
          <a:xfrm>
            <a:off x="6172200" y="1051560"/>
            <a:ext cx="5303520" cy="4800600"/>
          </a:xfrm>
          <a:prstGeom prst="roundRect">
            <a:avLst>
              <a:gd name="adj" fmla="val 1143"/>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49" name="Text 46"/>
          <p:cNvSpPr/>
          <p:nvPr/>
        </p:nvSpPr>
        <p:spPr>
          <a:xfrm>
            <a:off x="6300216" y="1124712"/>
            <a:ext cx="50474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先行技術カテゴリとしての位置づけ</a:t>
            </a:r>
            <a:endParaRPr lang="en-US" sz="1400" dirty="0"/>
          </a:p>
        </p:txBody>
      </p:sp>
      <p:sp>
        <p:nvSpPr>
          <p:cNvPr id="50" name="Text 47"/>
          <p:cNvSpPr/>
          <p:nvPr/>
        </p:nvSpPr>
        <p:spPr>
          <a:xfrm>
            <a:off x="6355080" y="1508760"/>
            <a:ext cx="4800600" cy="2331720"/>
          </a:xfrm>
          <a:prstGeom prst="rect">
            <a:avLst/>
          </a:prstGeom>
          <a:noFill/>
          <a:ln/>
        </p:spPr>
        <p:txBody>
          <a:bodyPr wrap="square" lIns="508" tIns="508" rIns="508" bIns="508" rtlCol="0" anchor="t">
            <a:normAutofit/>
          </a:bodyPr>
          <a:lstStyle/>
          <a:p>
            <a:pPr marL="0" indent="0" algn="l">
              <a:buNone/>
            </a:pPr>
            <a:r>
              <a:rPr lang="en-US" sz="1520" dirty="0">
                <a:solidFill>
                  <a:srgbClr val="111111"/>
                </a:solidFill>
                <a:latin typeface="Meiryo" pitchFamily="34" charset="0"/>
                <a:ea typeface="Meiryo" pitchFamily="34" charset="-122"/>
                <a:cs typeface="Meiryo" pitchFamily="34" charset="-120"/>
              </a:rPr>
              <a:t>• ウェハマップを画像として扱うため、実装は比較的素直。</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ただし sparse 条件では空白セルが多く、信号対雑音比が下がりやすい。</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粒径は色・輝度に埋め込むと意味が混ざり、同じ位置でのサイズ起因差が見えにくい。</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出力が sample 全体ラベルに寄ると、二次原因や局所原因を落としやすい。</a:t>
            </a:r>
            <a:endParaRPr lang="en-US" sz="1520" dirty="0"/>
          </a:p>
        </p:txBody>
      </p:sp>
      <p:sp>
        <p:nvSpPr>
          <p:cNvPr id="51" name="Shape 48"/>
          <p:cNvSpPr/>
          <p:nvPr/>
        </p:nvSpPr>
        <p:spPr>
          <a:xfrm>
            <a:off x="6355080" y="4133088"/>
            <a:ext cx="4645152" cy="1143000"/>
          </a:xfrm>
          <a:prstGeom prst="roundRect">
            <a:avLst>
              <a:gd name="adj" fmla="val 4800"/>
            </a:avLst>
          </a:prstGeom>
          <a:solidFill>
            <a:srgbClr val="FFFFFF"/>
          </a:solidFill>
          <a:ln w="12700">
            <a:solidFill>
              <a:srgbClr val="CAD8E0"/>
            </a:solidFill>
            <a:prstDash val="solid"/>
          </a:ln>
        </p:spPr>
      </p:sp>
      <p:sp>
        <p:nvSpPr>
          <p:cNvPr id="52" name="Text 49"/>
          <p:cNvSpPr/>
          <p:nvPr/>
        </p:nvSpPr>
        <p:spPr>
          <a:xfrm>
            <a:off x="6483096" y="4206240"/>
            <a:ext cx="4389120"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本発明との対比点</a:t>
            </a:r>
            <a:endParaRPr lang="en-US" sz="1400" dirty="0"/>
          </a:p>
        </p:txBody>
      </p:sp>
      <p:sp>
        <p:nvSpPr>
          <p:cNvPr id="53" name="Text 50"/>
          <p:cNvSpPr/>
          <p:nvPr/>
        </p:nvSpPr>
        <p:spPr>
          <a:xfrm>
            <a:off x="6473952" y="4480560"/>
            <a:ext cx="4389120" cy="50292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本提案は画像化前に「粒子テーブル → dual-grid + size bins」へ変換し、空間情報と粒径情報の役割を分ける。</a:t>
            </a:r>
            <a:endParaRPr lang="en-US" sz="1420" dirty="0"/>
          </a:p>
        </p:txBody>
      </p:sp>
      <p:sp>
        <p:nvSpPr>
          <p:cNvPr id="54" name="Text 51"/>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06</a:t>
            </a:r>
            <a:endParaRPr lang="en-US" sz="1000" dirty="0"/>
          </a:p>
        </p:txBody>
      </p:sp>
      <p:sp>
        <p:nvSpPr>
          <p:cNvPr id="55" name="Text 52"/>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従来技術カテゴリ② 点群/GNN・統計ルール系</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Prior Art 2</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325880"/>
            <a:ext cx="3154680" cy="4526280"/>
          </a:xfrm>
          <a:prstGeom prst="roundRect">
            <a:avLst>
              <a:gd name="adj" fmla="val 1739"/>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Shape 4"/>
          <p:cNvSpPr/>
          <p:nvPr/>
        </p:nvSpPr>
        <p:spPr>
          <a:xfrm>
            <a:off x="822960" y="1572768"/>
            <a:ext cx="914400" cy="914400"/>
          </a:xfrm>
          <a:prstGeom prst="ellipse">
            <a:avLst/>
          </a:prstGeom>
          <a:solidFill>
            <a:srgbClr val="FFFFFF"/>
          </a:solidFill>
          <a:ln w="12700">
            <a:solidFill>
              <a:srgbClr val="BBC9D1"/>
            </a:solidFill>
            <a:prstDash val="solid"/>
          </a:ln>
        </p:spPr>
      </p:sp>
      <p:sp>
        <p:nvSpPr>
          <p:cNvPr id="7" name="Shape 5"/>
          <p:cNvSpPr/>
          <p:nvPr/>
        </p:nvSpPr>
        <p:spPr>
          <a:xfrm>
            <a:off x="1005840" y="2258568"/>
            <a:ext cx="548640" cy="0"/>
          </a:xfrm>
          <a:prstGeom prst="line">
            <a:avLst/>
          </a:prstGeom>
          <a:noFill/>
          <a:ln w="12700">
            <a:solidFill>
              <a:srgbClr val="4FC3F7"/>
            </a:solidFill>
            <a:prstDash val="solid"/>
          </a:ln>
        </p:spPr>
      </p:sp>
      <p:sp>
        <p:nvSpPr>
          <p:cNvPr id="8" name="Text 6"/>
          <p:cNvSpPr/>
          <p:nvPr/>
        </p:nvSpPr>
        <p:spPr>
          <a:xfrm>
            <a:off x="1828800" y="1755648"/>
            <a:ext cx="1783080" cy="228600"/>
          </a:xfrm>
          <a:prstGeom prst="rect">
            <a:avLst/>
          </a:prstGeom>
          <a:noFill/>
          <a:ln/>
        </p:spPr>
        <p:txBody>
          <a:bodyPr wrap="square" lIns="0" tIns="0" rIns="0" bIns="0" rtlCol="0" anchor="ctr"/>
          <a:lstStyle/>
          <a:p>
            <a:pPr marL="0" indent="0">
              <a:buNone/>
            </a:pPr>
            <a:r>
              <a:rPr lang="en-US" sz="1800" b="1" dirty="0">
                <a:solidFill>
                  <a:srgbClr val="0B3C5D"/>
                </a:solidFill>
                <a:latin typeface="Meiryo" pitchFamily="34" charset="0"/>
                <a:ea typeface="Meiryo" pitchFamily="34" charset="-122"/>
                <a:cs typeface="Meiryo" pitchFamily="34" charset="-120"/>
              </a:rPr>
              <a:t>点群 / Point系</a:t>
            </a:r>
            <a:endParaRPr lang="en-US" sz="1800" dirty="0"/>
          </a:p>
        </p:txBody>
      </p:sp>
      <p:sp>
        <p:nvSpPr>
          <p:cNvPr id="9" name="Text 7"/>
          <p:cNvSpPr/>
          <p:nvPr/>
        </p:nvSpPr>
        <p:spPr>
          <a:xfrm>
            <a:off x="822960" y="2514600"/>
            <a:ext cx="2788920" cy="2331720"/>
          </a:xfrm>
          <a:prstGeom prst="rect">
            <a:avLst/>
          </a:prstGeom>
          <a:noFill/>
          <a:ln/>
        </p:spPr>
        <p:txBody>
          <a:bodyPr wrap="square" lIns="508" tIns="508" rIns="508" bIns="508" rtlCol="0" anchor="t">
            <a:normAutofit/>
          </a:bodyPr>
          <a:lstStyle/>
          <a:p>
            <a:pPr marL="0" indent="0" algn="l">
              <a:buNone/>
            </a:pPr>
            <a:r>
              <a:rPr lang="en-US" sz="1470" dirty="0">
                <a:solidFill>
                  <a:srgbClr val="111111"/>
                </a:solidFill>
                <a:latin typeface="Meiryo" pitchFamily="34" charset="0"/>
                <a:ea typeface="Meiryo" pitchFamily="34" charset="-122"/>
                <a:cs typeface="Meiryo" pitchFamily="34" charset="-120"/>
              </a:rPr>
              <a:t>• 粒子座標を直接扱えるため量子化誤差が少ない。</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粒子単位ラベルとは相性が良い。</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一方で、cause map や製造向け説明資料へ落とす追加設計が要る。</a:t>
            </a:r>
            <a:endParaRPr lang="en-US" sz="1470" dirty="0"/>
          </a:p>
        </p:txBody>
      </p:sp>
      <p:sp>
        <p:nvSpPr>
          <p:cNvPr id="10" name="Shape 8"/>
          <p:cNvSpPr/>
          <p:nvPr/>
        </p:nvSpPr>
        <p:spPr>
          <a:xfrm>
            <a:off x="1527048" y="5321808"/>
            <a:ext cx="1417320" cy="237744"/>
          </a:xfrm>
          <a:prstGeom prst="roundRect">
            <a:avLst>
              <a:gd name="adj" fmla="val 30769"/>
            </a:avLst>
          </a:prstGeom>
          <a:solidFill>
            <a:srgbClr val="4FC3F7"/>
          </a:solidFill>
          <a:ln w="12700">
            <a:solidFill>
              <a:srgbClr val="4FC3F7"/>
            </a:solidFill>
            <a:prstDash val="solid"/>
          </a:ln>
        </p:spPr>
      </p:sp>
      <p:sp>
        <p:nvSpPr>
          <p:cNvPr id="11" name="Text 9"/>
          <p:cNvSpPr/>
          <p:nvPr/>
        </p:nvSpPr>
        <p:spPr>
          <a:xfrm>
            <a:off x="1527048" y="5349240"/>
            <a:ext cx="1417320"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長所あり / 単独では不足</a:t>
            </a:r>
            <a:endParaRPr lang="en-US" sz="1050" dirty="0"/>
          </a:p>
        </p:txBody>
      </p:sp>
      <p:sp>
        <p:nvSpPr>
          <p:cNvPr id="12" name="Shape 10"/>
          <p:cNvSpPr/>
          <p:nvPr/>
        </p:nvSpPr>
        <p:spPr>
          <a:xfrm>
            <a:off x="4160520" y="1325880"/>
            <a:ext cx="3154680" cy="4526280"/>
          </a:xfrm>
          <a:prstGeom prst="roundRect">
            <a:avLst>
              <a:gd name="adj" fmla="val 1739"/>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13" name="Shape 11"/>
          <p:cNvSpPr/>
          <p:nvPr/>
        </p:nvSpPr>
        <p:spPr>
          <a:xfrm>
            <a:off x="4325112" y="1572768"/>
            <a:ext cx="914400" cy="914400"/>
          </a:xfrm>
          <a:prstGeom prst="ellipse">
            <a:avLst/>
          </a:prstGeom>
          <a:solidFill>
            <a:srgbClr val="FFFFFF"/>
          </a:solidFill>
          <a:ln w="12700">
            <a:solidFill>
              <a:srgbClr val="BBC9D1"/>
            </a:solidFill>
            <a:prstDash val="solid"/>
          </a:ln>
        </p:spPr>
      </p:sp>
      <p:sp>
        <p:nvSpPr>
          <p:cNvPr id="14" name="Shape 12"/>
          <p:cNvSpPr/>
          <p:nvPr/>
        </p:nvSpPr>
        <p:spPr>
          <a:xfrm>
            <a:off x="4782312" y="1709928"/>
            <a:ext cx="0" cy="640080"/>
          </a:xfrm>
          <a:prstGeom prst="line">
            <a:avLst/>
          </a:prstGeom>
          <a:noFill/>
          <a:ln w="12700">
            <a:solidFill>
              <a:srgbClr val="F4A261"/>
            </a:solidFill>
            <a:prstDash val="solid"/>
          </a:ln>
        </p:spPr>
      </p:sp>
      <p:sp>
        <p:nvSpPr>
          <p:cNvPr id="15" name="Shape 13"/>
          <p:cNvSpPr/>
          <p:nvPr/>
        </p:nvSpPr>
        <p:spPr>
          <a:xfrm>
            <a:off x="4553712" y="1773936"/>
            <a:ext cx="438912" cy="438912"/>
          </a:xfrm>
          <a:prstGeom prst="line">
            <a:avLst/>
          </a:prstGeom>
          <a:noFill/>
          <a:ln w="12700">
            <a:solidFill>
              <a:srgbClr val="F4A261"/>
            </a:solidFill>
            <a:prstDash val="solid"/>
          </a:ln>
        </p:spPr>
      </p:sp>
      <p:sp>
        <p:nvSpPr>
          <p:cNvPr id="16" name="Shape 14"/>
          <p:cNvSpPr/>
          <p:nvPr/>
        </p:nvSpPr>
        <p:spPr>
          <a:xfrm>
            <a:off x="4553712" y="2194560"/>
            <a:ext cx="438912" cy="0"/>
          </a:xfrm>
          <a:prstGeom prst="line">
            <a:avLst/>
          </a:prstGeom>
          <a:noFill/>
          <a:ln w="12700">
            <a:solidFill>
              <a:srgbClr val="F4A261"/>
            </a:solidFill>
            <a:prstDash val="solid"/>
          </a:ln>
        </p:spPr>
      </p:sp>
      <p:sp>
        <p:nvSpPr>
          <p:cNvPr id="17" name="Text 15"/>
          <p:cNvSpPr/>
          <p:nvPr/>
        </p:nvSpPr>
        <p:spPr>
          <a:xfrm>
            <a:off x="5330952" y="1755648"/>
            <a:ext cx="1783080" cy="228600"/>
          </a:xfrm>
          <a:prstGeom prst="rect">
            <a:avLst/>
          </a:prstGeom>
          <a:noFill/>
          <a:ln/>
        </p:spPr>
        <p:txBody>
          <a:bodyPr wrap="square" lIns="0" tIns="0" rIns="0" bIns="0" rtlCol="0" anchor="ctr"/>
          <a:lstStyle/>
          <a:p>
            <a:pPr marL="0" indent="0">
              <a:buNone/>
            </a:pPr>
            <a:r>
              <a:rPr lang="en-US" sz="1800" b="1" dirty="0">
                <a:solidFill>
                  <a:srgbClr val="0B3C5D"/>
                </a:solidFill>
                <a:latin typeface="Meiryo" pitchFamily="34" charset="0"/>
                <a:ea typeface="Meiryo" pitchFamily="34" charset="-122"/>
                <a:cs typeface="Meiryo" pitchFamily="34" charset="-120"/>
              </a:rPr>
              <a:t>GNN / 近傍関係系</a:t>
            </a:r>
            <a:endParaRPr lang="en-US" sz="1800" dirty="0"/>
          </a:p>
        </p:txBody>
      </p:sp>
      <p:sp>
        <p:nvSpPr>
          <p:cNvPr id="18" name="Text 16"/>
          <p:cNvSpPr/>
          <p:nvPr/>
        </p:nvSpPr>
        <p:spPr>
          <a:xfrm>
            <a:off x="4325112" y="2514600"/>
            <a:ext cx="2788920" cy="2331720"/>
          </a:xfrm>
          <a:prstGeom prst="rect">
            <a:avLst/>
          </a:prstGeom>
          <a:noFill/>
          <a:ln/>
        </p:spPr>
        <p:txBody>
          <a:bodyPr wrap="square" lIns="508" tIns="508" rIns="508" bIns="508" rtlCol="0" anchor="t">
            <a:normAutofit/>
          </a:bodyPr>
          <a:lstStyle/>
          <a:p>
            <a:pPr marL="0" indent="0" algn="l">
              <a:buNone/>
            </a:pPr>
            <a:r>
              <a:rPr lang="en-US" sz="1470" dirty="0">
                <a:solidFill>
                  <a:srgbClr val="111111"/>
                </a:solidFill>
                <a:latin typeface="Meiryo" pitchFamily="34" charset="0"/>
                <a:ea typeface="Meiryo" pitchFamily="34" charset="-122"/>
                <a:cs typeface="Meiryo" pitchFamily="34" charset="-120"/>
              </a:rPr>
              <a:t>• 粒子間の相対関係や局所密度に強い。</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scratch, cluster, radial などの構造に効きやすい。</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ただし大域パターン・サイズ分布・運用分岐を同時に整理しにくい。</a:t>
            </a:r>
            <a:endParaRPr lang="en-US" sz="1470" dirty="0"/>
          </a:p>
        </p:txBody>
      </p:sp>
      <p:sp>
        <p:nvSpPr>
          <p:cNvPr id="19" name="Shape 17"/>
          <p:cNvSpPr/>
          <p:nvPr/>
        </p:nvSpPr>
        <p:spPr>
          <a:xfrm>
            <a:off x="5029200" y="5321808"/>
            <a:ext cx="1417320" cy="237744"/>
          </a:xfrm>
          <a:prstGeom prst="roundRect">
            <a:avLst>
              <a:gd name="adj" fmla="val 30769"/>
            </a:avLst>
          </a:prstGeom>
          <a:solidFill>
            <a:srgbClr val="F4A261"/>
          </a:solidFill>
          <a:ln w="12700">
            <a:solidFill>
              <a:srgbClr val="F4A261"/>
            </a:solidFill>
            <a:prstDash val="solid"/>
          </a:ln>
        </p:spPr>
      </p:sp>
      <p:sp>
        <p:nvSpPr>
          <p:cNvPr id="20" name="Text 18"/>
          <p:cNvSpPr/>
          <p:nvPr/>
        </p:nvSpPr>
        <p:spPr>
          <a:xfrm>
            <a:off x="5029200" y="5349240"/>
            <a:ext cx="1417320"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長所あり / 単独では不足</a:t>
            </a:r>
            <a:endParaRPr lang="en-US" sz="1050" dirty="0"/>
          </a:p>
        </p:txBody>
      </p:sp>
      <p:sp>
        <p:nvSpPr>
          <p:cNvPr id="21" name="Shape 19"/>
          <p:cNvSpPr/>
          <p:nvPr/>
        </p:nvSpPr>
        <p:spPr>
          <a:xfrm>
            <a:off x="7662672" y="1325880"/>
            <a:ext cx="3154680" cy="4526280"/>
          </a:xfrm>
          <a:prstGeom prst="roundRect">
            <a:avLst>
              <a:gd name="adj" fmla="val 1739"/>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22" name="Shape 20"/>
          <p:cNvSpPr/>
          <p:nvPr/>
        </p:nvSpPr>
        <p:spPr>
          <a:xfrm>
            <a:off x="7827264" y="1572768"/>
            <a:ext cx="914400" cy="914400"/>
          </a:xfrm>
          <a:prstGeom prst="ellipse">
            <a:avLst/>
          </a:prstGeom>
          <a:solidFill>
            <a:srgbClr val="FFFFFF"/>
          </a:solidFill>
          <a:ln w="12700">
            <a:solidFill>
              <a:srgbClr val="BBC9D1"/>
            </a:solidFill>
            <a:prstDash val="solid"/>
          </a:ln>
        </p:spPr>
      </p:sp>
      <p:sp>
        <p:nvSpPr>
          <p:cNvPr id="23" name="Shape 21"/>
          <p:cNvSpPr/>
          <p:nvPr/>
        </p:nvSpPr>
        <p:spPr>
          <a:xfrm>
            <a:off x="8010144" y="1755648"/>
            <a:ext cx="548640" cy="548640"/>
          </a:xfrm>
          <a:prstGeom prst="donut">
            <a:avLst/>
          </a:prstGeom>
          <a:solidFill>
            <a:srgbClr val="A0AEC0">
              <a:alpha val="65000"/>
            </a:srgbClr>
          </a:solidFill>
          <a:ln w="12700">
            <a:solidFill>
              <a:srgbClr val="A0AEC0"/>
            </a:solidFill>
            <a:prstDash val="solid"/>
          </a:ln>
        </p:spPr>
      </p:sp>
      <p:sp>
        <p:nvSpPr>
          <p:cNvPr id="24" name="Text 22"/>
          <p:cNvSpPr/>
          <p:nvPr/>
        </p:nvSpPr>
        <p:spPr>
          <a:xfrm>
            <a:off x="8833104" y="1755648"/>
            <a:ext cx="1783080" cy="228600"/>
          </a:xfrm>
          <a:prstGeom prst="rect">
            <a:avLst/>
          </a:prstGeom>
          <a:noFill/>
          <a:ln/>
        </p:spPr>
        <p:txBody>
          <a:bodyPr wrap="square" lIns="0" tIns="0" rIns="0" bIns="0" rtlCol="0" anchor="ctr"/>
          <a:lstStyle/>
          <a:p>
            <a:pPr marL="0" indent="0">
              <a:buNone/>
            </a:pPr>
            <a:r>
              <a:rPr lang="en-US" sz="1800" b="1" dirty="0">
                <a:solidFill>
                  <a:srgbClr val="0B3C5D"/>
                </a:solidFill>
                <a:latin typeface="Meiryo" pitchFamily="34" charset="0"/>
                <a:ea typeface="Meiryo" pitchFamily="34" charset="-122"/>
                <a:cs typeface="Meiryo" pitchFamily="34" charset="-120"/>
              </a:rPr>
              <a:t>統計ルール / SPC系</a:t>
            </a:r>
            <a:endParaRPr lang="en-US" sz="1800" dirty="0"/>
          </a:p>
        </p:txBody>
      </p:sp>
      <p:sp>
        <p:nvSpPr>
          <p:cNvPr id="25" name="Text 23"/>
          <p:cNvSpPr/>
          <p:nvPr/>
        </p:nvSpPr>
        <p:spPr>
          <a:xfrm>
            <a:off x="7827264" y="2514600"/>
            <a:ext cx="2788920" cy="2331720"/>
          </a:xfrm>
          <a:prstGeom prst="rect">
            <a:avLst/>
          </a:prstGeom>
          <a:noFill/>
          <a:ln/>
        </p:spPr>
        <p:txBody>
          <a:bodyPr wrap="square" lIns="508" tIns="508" rIns="508" bIns="508" rtlCol="0" anchor="t">
            <a:normAutofit/>
          </a:bodyPr>
          <a:lstStyle/>
          <a:p>
            <a:pPr marL="0" indent="0" algn="l">
              <a:buNone/>
            </a:pPr>
            <a:r>
              <a:rPr lang="en-US" sz="1470" dirty="0">
                <a:solidFill>
                  <a:srgbClr val="111111"/>
                </a:solidFill>
                <a:latin typeface="Meiryo" pitchFamily="34" charset="0"/>
                <a:ea typeface="Meiryo" pitchFamily="34" charset="-122"/>
                <a:cs typeface="Meiryo" pitchFamily="34" charset="-120"/>
              </a:rPr>
              <a:t>• 半径ヒストグラム、角度カバレッジ、密度などで判定しやすい。</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人に説明しやすい一方、混合要因や複雑形状に弱い。</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閾値管理だけでは未知パターンやサイズ起因差に限界がある。</a:t>
            </a:r>
            <a:endParaRPr lang="en-US" sz="1470" dirty="0"/>
          </a:p>
        </p:txBody>
      </p:sp>
      <p:sp>
        <p:nvSpPr>
          <p:cNvPr id="26" name="Shape 24"/>
          <p:cNvSpPr/>
          <p:nvPr/>
        </p:nvSpPr>
        <p:spPr>
          <a:xfrm>
            <a:off x="8531352" y="5321808"/>
            <a:ext cx="1417320" cy="237744"/>
          </a:xfrm>
          <a:prstGeom prst="roundRect">
            <a:avLst>
              <a:gd name="adj" fmla="val 30769"/>
            </a:avLst>
          </a:prstGeom>
          <a:solidFill>
            <a:srgbClr val="A0AEC0"/>
          </a:solidFill>
          <a:ln w="12700">
            <a:solidFill>
              <a:srgbClr val="A0AEC0"/>
            </a:solidFill>
            <a:prstDash val="solid"/>
          </a:ln>
        </p:spPr>
      </p:sp>
      <p:sp>
        <p:nvSpPr>
          <p:cNvPr id="27" name="Text 25"/>
          <p:cNvSpPr/>
          <p:nvPr/>
        </p:nvSpPr>
        <p:spPr>
          <a:xfrm>
            <a:off x="8531352" y="5349240"/>
            <a:ext cx="1417320" cy="146304"/>
          </a:xfrm>
          <a:prstGeom prst="rect">
            <a:avLst/>
          </a:prstGeom>
          <a:noFill/>
          <a:ln/>
        </p:spPr>
        <p:txBody>
          <a:bodyPr wrap="square" lIns="0" tIns="0" rIns="0" bIns="0" rtlCol="0" anchor="ctr">
            <a:normAutofit/>
          </a:bodyPr>
          <a:lstStyle/>
          <a:p>
            <a:pPr marL="0" indent="0" algn="ctr">
              <a:buNone/>
            </a:pPr>
            <a:r>
              <a:rPr lang="en-US" sz="1050" dirty="0">
                <a:solidFill>
                  <a:srgbClr val="0B3C5D"/>
                </a:solidFill>
                <a:latin typeface="Meiryo" pitchFamily="34" charset="0"/>
                <a:ea typeface="Meiryo" pitchFamily="34" charset="-122"/>
                <a:cs typeface="Meiryo" pitchFamily="34" charset="-120"/>
              </a:rPr>
              <a:t>長所あり / 単独では不足</a:t>
            </a:r>
            <a:endParaRPr lang="en-US" sz="1050" dirty="0"/>
          </a:p>
        </p:txBody>
      </p:sp>
      <p:sp>
        <p:nvSpPr>
          <p:cNvPr id="28" name="Shape 26"/>
          <p:cNvSpPr/>
          <p:nvPr/>
        </p:nvSpPr>
        <p:spPr>
          <a:xfrm>
            <a:off x="822960" y="5989320"/>
            <a:ext cx="10881360" cy="384048"/>
          </a:xfrm>
          <a:prstGeom prst="roundRect">
            <a:avLst>
              <a:gd name="adj" fmla="val 14286"/>
            </a:avLst>
          </a:prstGeom>
          <a:solidFill>
            <a:srgbClr val="EEF6FB"/>
          </a:solidFill>
          <a:ln w="12700">
            <a:solidFill>
              <a:srgbClr val="CAD8E0"/>
            </a:solidFill>
            <a:prstDash val="solid"/>
          </a:ln>
        </p:spPr>
      </p:sp>
      <p:sp>
        <p:nvSpPr>
          <p:cNvPr id="29" name="Text 27"/>
          <p:cNvSpPr/>
          <p:nvPr/>
        </p:nvSpPr>
        <p:spPr>
          <a:xfrm>
            <a:off x="960120" y="6099048"/>
            <a:ext cx="10515600" cy="146304"/>
          </a:xfrm>
          <a:prstGeom prst="rect">
            <a:avLst/>
          </a:prstGeom>
          <a:noFill/>
          <a:ln/>
        </p:spPr>
        <p:txBody>
          <a:bodyPr wrap="square" lIns="0" tIns="0" rIns="0" bIns="0" rtlCol="0" anchor="ctr"/>
          <a:lstStyle/>
          <a:p>
            <a:pPr marL="0" indent="0" algn="ctr">
              <a:buNone/>
            </a:pPr>
            <a:r>
              <a:rPr lang="en-US" sz="1320" dirty="0">
                <a:solidFill>
                  <a:srgbClr val="111111"/>
                </a:solidFill>
                <a:latin typeface="Meiryo" pitchFamily="34" charset="0"/>
                <a:ea typeface="Meiryo" pitchFamily="34" charset="-122"/>
                <a:cs typeface="Meiryo" pitchFamily="34" charset="-120"/>
              </a:rPr>
              <a:t>要点: いずれも一部の強みはあるが、「空間場」「粒径分布」「説明性」「不確かさ分岐」「製造アクション接続」を一体化した設計にはなりにくい。</a:t>
            </a:r>
            <a:endParaRPr lang="en-US" sz="1320" dirty="0"/>
          </a:p>
        </p:txBody>
      </p:sp>
      <p:sp>
        <p:nvSpPr>
          <p:cNvPr id="30" name="Text 28"/>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07</a:t>
            </a:r>
            <a:endParaRPr lang="en-US" sz="1000" dirty="0"/>
          </a:p>
        </p:txBody>
      </p:sp>
      <p:sp>
        <p:nvSpPr>
          <p:cNvPr id="31" name="Text 29"/>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従来技術カテゴリ③ 運用・装置連携系</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Prior Art 3</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6537960" cy="4892040"/>
          </a:xfrm>
          <a:prstGeom prst="roundRect">
            <a:avLst>
              <a:gd name="adj" fmla="val 112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124712"/>
            <a:ext cx="62819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典型的な現場フロー</a:t>
            </a:r>
            <a:endParaRPr lang="en-US" sz="1400" dirty="0"/>
          </a:p>
        </p:txBody>
      </p:sp>
      <p:sp>
        <p:nvSpPr>
          <p:cNvPr id="7" name="Shape 5"/>
          <p:cNvSpPr/>
          <p:nvPr/>
        </p:nvSpPr>
        <p:spPr>
          <a:xfrm>
            <a:off x="914400" y="2011680"/>
            <a:ext cx="1097280" cy="1005840"/>
          </a:xfrm>
          <a:prstGeom prst="roundRect">
            <a:avLst>
              <a:gd name="adj" fmla="val 5455"/>
            </a:avLst>
          </a:prstGeom>
          <a:solidFill>
            <a:srgbClr val="F9FBFD"/>
          </a:solidFill>
          <a:ln w="12700">
            <a:solidFill>
              <a:srgbClr val="CAD8E0"/>
            </a:solidFill>
            <a:prstDash val="solid"/>
          </a:ln>
        </p:spPr>
      </p:sp>
      <p:sp>
        <p:nvSpPr>
          <p:cNvPr id="8" name="Text 6"/>
          <p:cNvSpPr/>
          <p:nvPr/>
        </p:nvSpPr>
        <p:spPr>
          <a:xfrm>
            <a:off x="987552" y="2286000"/>
            <a:ext cx="950976" cy="365760"/>
          </a:xfrm>
          <a:prstGeom prst="rect">
            <a:avLst/>
          </a:prstGeom>
          <a:noFill/>
          <a:ln/>
        </p:spPr>
        <p:txBody>
          <a:bodyPr wrap="square" lIns="0" tIns="0" rIns="0" bIns="0" rtlCol="0" anchor="ctr"/>
          <a:lstStyle/>
          <a:p>
            <a:pPr marL="0" indent="0" algn="ctr">
              <a:buNone/>
            </a:pPr>
            <a:r>
              <a:rPr lang="en-US" sz="1500" b="1" dirty="0">
                <a:solidFill>
                  <a:srgbClr val="0B3C5D"/>
                </a:solidFill>
                <a:latin typeface="Meiryo" pitchFamily="34" charset="0"/>
                <a:ea typeface="Meiryo" pitchFamily="34" charset="-122"/>
                <a:cs typeface="Meiryo" pitchFamily="34" charset="-120"/>
              </a:rPr>
              <a:t>粒子検査結果</a:t>
            </a:r>
            <a:endParaRPr lang="en-US" sz="1500" dirty="0"/>
          </a:p>
        </p:txBody>
      </p:sp>
      <p:sp>
        <p:nvSpPr>
          <p:cNvPr id="9" name="Shape 7"/>
          <p:cNvSpPr/>
          <p:nvPr/>
        </p:nvSpPr>
        <p:spPr>
          <a:xfrm>
            <a:off x="1298448" y="1664208"/>
            <a:ext cx="320040" cy="137160"/>
          </a:xfrm>
          <a:prstGeom prst="ellipse">
            <a:avLst/>
          </a:prstGeom>
          <a:solidFill>
            <a:srgbClr val="A0AEC0">
              <a:alpha val="85000"/>
            </a:srgbClr>
          </a:solidFill>
          <a:ln w="12700">
            <a:solidFill>
              <a:srgbClr val="A0AEC0"/>
            </a:solidFill>
            <a:prstDash val="solid"/>
          </a:ln>
        </p:spPr>
      </p:sp>
      <p:sp>
        <p:nvSpPr>
          <p:cNvPr id="10" name="Shape 8"/>
          <p:cNvSpPr/>
          <p:nvPr/>
        </p:nvSpPr>
        <p:spPr>
          <a:xfrm>
            <a:off x="2084832" y="2331720"/>
            <a:ext cx="292608" cy="256032"/>
          </a:xfrm>
          <a:prstGeom prst="chevron">
            <a:avLst/>
          </a:prstGeom>
          <a:solidFill>
            <a:srgbClr val="D7E3EA"/>
          </a:solidFill>
          <a:ln w="12700">
            <a:solidFill>
              <a:srgbClr val="D7E3EA"/>
            </a:solidFill>
            <a:prstDash val="solid"/>
          </a:ln>
        </p:spPr>
      </p:sp>
      <p:sp>
        <p:nvSpPr>
          <p:cNvPr id="11" name="Shape 9"/>
          <p:cNvSpPr/>
          <p:nvPr/>
        </p:nvSpPr>
        <p:spPr>
          <a:xfrm>
            <a:off x="2240280" y="2011680"/>
            <a:ext cx="1097280" cy="1005840"/>
          </a:xfrm>
          <a:prstGeom prst="roundRect">
            <a:avLst>
              <a:gd name="adj" fmla="val 5455"/>
            </a:avLst>
          </a:prstGeom>
          <a:solidFill>
            <a:srgbClr val="F9FBFD"/>
          </a:solidFill>
          <a:ln w="12700">
            <a:solidFill>
              <a:srgbClr val="CAD8E0"/>
            </a:solidFill>
            <a:prstDash val="solid"/>
          </a:ln>
        </p:spPr>
      </p:sp>
      <p:sp>
        <p:nvSpPr>
          <p:cNvPr id="12" name="Text 10"/>
          <p:cNvSpPr/>
          <p:nvPr/>
        </p:nvSpPr>
        <p:spPr>
          <a:xfrm>
            <a:off x="2313432" y="2286000"/>
            <a:ext cx="950976" cy="365760"/>
          </a:xfrm>
          <a:prstGeom prst="rect">
            <a:avLst/>
          </a:prstGeom>
          <a:noFill/>
          <a:ln/>
        </p:spPr>
        <p:txBody>
          <a:bodyPr wrap="square" lIns="0" tIns="0" rIns="0" bIns="0" rtlCol="0" anchor="ctr"/>
          <a:lstStyle/>
          <a:p>
            <a:pPr marL="0" indent="0" algn="ctr">
              <a:buNone/>
            </a:pPr>
            <a:r>
              <a:rPr lang="en-US" sz="1500" b="1" dirty="0">
                <a:solidFill>
                  <a:srgbClr val="0B3C5D"/>
                </a:solidFill>
                <a:latin typeface="Meiryo" pitchFamily="34" charset="0"/>
                <a:ea typeface="Meiryo" pitchFamily="34" charset="-122"/>
                <a:cs typeface="Meiryo" pitchFamily="34" charset="-120"/>
              </a:rPr>
              <a:t>ルール/閾値判定</a:t>
            </a:r>
            <a:endParaRPr lang="en-US" sz="1500" dirty="0"/>
          </a:p>
        </p:txBody>
      </p:sp>
      <p:sp>
        <p:nvSpPr>
          <p:cNvPr id="13" name="Shape 11"/>
          <p:cNvSpPr/>
          <p:nvPr/>
        </p:nvSpPr>
        <p:spPr>
          <a:xfrm>
            <a:off x="2624328" y="1664208"/>
            <a:ext cx="320040" cy="137160"/>
          </a:xfrm>
          <a:prstGeom prst="ellipse">
            <a:avLst/>
          </a:prstGeom>
          <a:solidFill>
            <a:srgbClr val="A0AEC0">
              <a:alpha val="85000"/>
            </a:srgbClr>
          </a:solidFill>
          <a:ln w="12700">
            <a:solidFill>
              <a:srgbClr val="A0AEC0"/>
            </a:solidFill>
            <a:prstDash val="solid"/>
          </a:ln>
        </p:spPr>
      </p:sp>
      <p:sp>
        <p:nvSpPr>
          <p:cNvPr id="14" name="Shape 12"/>
          <p:cNvSpPr/>
          <p:nvPr/>
        </p:nvSpPr>
        <p:spPr>
          <a:xfrm>
            <a:off x="3410712" y="2331720"/>
            <a:ext cx="292608" cy="256032"/>
          </a:xfrm>
          <a:prstGeom prst="chevron">
            <a:avLst/>
          </a:prstGeom>
          <a:solidFill>
            <a:srgbClr val="D7E3EA"/>
          </a:solidFill>
          <a:ln w="12700">
            <a:solidFill>
              <a:srgbClr val="D7E3EA"/>
            </a:solidFill>
            <a:prstDash val="solid"/>
          </a:ln>
        </p:spPr>
      </p:sp>
      <p:sp>
        <p:nvSpPr>
          <p:cNvPr id="15" name="Shape 13"/>
          <p:cNvSpPr/>
          <p:nvPr/>
        </p:nvSpPr>
        <p:spPr>
          <a:xfrm>
            <a:off x="3767328" y="2011680"/>
            <a:ext cx="1097280" cy="1005840"/>
          </a:xfrm>
          <a:prstGeom prst="roundRect">
            <a:avLst>
              <a:gd name="adj" fmla="val 5455"/>
            </a:avLst>
          </a:prstGeom>
          <a:solidFill>
            <a:srgbClr val="F9FBFD"/>
          </a:solidFill>
          <a:ln w="12700">
            <a:solidFill>
              <a:srgbClr val="CAD8E0"/>
            </a:solidFill>
            <a:prstDash val="solid"/>
          </a:ln>
        </p:spPr>
      </p:sp>
      <p:sp>
        <p:nvSpPr>
          <p:cNvPr id="16" name="Text 14"/>
          <p:cNvSpPr/>
          <p:nvPr/>
        </p:nvSpPr>
        <p:spPr>
          <a:xfrm>
            <a:off x="3840480" y="2286000"/>
            <a:ext cx="950976" cy="365760"/>
          </a:xfrm>
          <a:prstGeom prst="rect">
            <a:avLst/>
          </a:prstGeom>
          <a:noFill/>
          <a:ln/>
        </p:spPr>
        <p:txBody>
          <a:bodyPr wrap="square" lIns="0" tIns="0" rIns="0" bIns="0" rtlCol="0" anchor="ctr"/>
          <a:lstStyle/>
          <a:p>
            <a:pPr marL="0" indent="0" algn="ctr">
              <a:buNone/>
            </a:pPr>
            <a:r>
              <a:rPr lang="en-US" sz="1500" b="1" dirty="0">
                <a:solidFill>
                  <a:srgbClr val="0B3C5D"/>
                </a:solidFill>
                <a:latin typeface="Meiryo" pitchFamily="34" charset="0"/>
                <a:ea typeface="Meiryo" pitchFamily="34" charset="-122"/>
                <a:cs typeface="Meiryo" pitchFamily="34" charset="-120"/>
              </a:rPr>
              <a:t>人手レビュー</a:t>
            </a:r>
            <a:endParaRPr lang="en-US" sz="1500" dirty="0"/>
          </a:p>
        </p:txBody>
      </p:sp>
      <p:sp>
        <p:nvSpPr>
          <p:cNvPr id="17" name="Shape 15"/>
          <p:cNvSpPr/>
          <p:nvPr/>
        </p:nvSpPr>
        <p:spPr>
          <a:xfrm>
            <a:off x="4151376" y="1664208"/>
            <a:ext cx="320040" cy="137160"/>
          </a:xfrm>
          <a:prstGeom prst="ellipse">
            <a:avLst/>
          </a:prstGeom>
          <a:solidFill>
            <a:srgbClr val="F4A261">
              <a:alpha val="85000"/>
            </a:srgbClr>
          </a:solidFill>
          <a:ln w="12700">
            <a:solidFill>
              <a:srgbClr val="F4A261"/>
            </a:solidFill>
            <a:prstDash val="solid"/>
          </a:ln>
        </p:spPr>
      </p:sp>
      <p:sp>
        <p:nvSpPr>
          <p:cNvPr id="18" name="Shape 16"/>
          <p:cNvSpPr/>
          <p:nvPr/>
        </p:nvSpPr>
        <p:spPr>
          <a:xfrm>
            <a:off x="4937760" y="2331720"/>
            <a:ext cx="292608" cy="256032"/>
          </a:xfrm>
          <a:prstGeom prst="chevron">
            <a:avLst/>
          </a:prstGeom>
          <a:solidFill>
            <a:srgbClr val="D7E3EA"/>
          </a:solidFill>
          <a:ln w="12700">
            <a:solidFill>
              <a:srgbClr val="D7E3EA"/>
            </a:solidFill>
            <a:prstDash val="solid"/>
          </a:ln>
        </p:spPr>
      </p:sp>
      <p:sp>
        <p:nvSpPr>
          <p:cNvPr id="19" name="Shape 17"/>
          <p:cNvSpPr/>
          <p:nvPr/>
        </p:nvSpPr>
        <p:spPr>
          <a:xfrm>
            <a:off x="5193792" y="2011680"/>
            <a:ext cx="1097280" cy="1005840"/>
          </a:xfrm>
          <a:prstGeom prst="roundRect">
            <a:avLst>
              <a:gd name="adj" fmla="val 5455"/>
            </a:avLst>
          </a:prstGeom>
          <a:solidFill>
            <a:srgbClr val="F9FBFD"/>
          </a:solidFill>
          <a:ln w="12700">
            <a:solidFill>
              <a:srgbClr val="CAD8E0"/>
            </a:solidFill>
            <a:prstDash val="solid"/>
          </a:ln>
        </p:spPr>
      </p:sp>
      <p:sp>
        <p:nvSpPr>
          <p:cNvPr id="20" name="Text 18"/>
          <p:cNvSpPr/>
          <p:nvPr/>
        </p:nvSpPr>
        <p:spPr>
          <a:xfrm>
            <a:off x="5266944" y="2286000"/>
            <a:ext cx="950976" cy="365760"/>
          </a:xfrm>
          <a:prstGeom prst="rect">
            <a:avLst/>
          </a:prstGeom>
          <a:noFill/>
          <a:ln/>
        </p:spPr>
        <p:txBody>
          <a:bodyPr wrap="square" lIns="0" tIns="0" rIns="0" bIns="0" rtlCol="0" anchor="ctr"/>
          <a:lstStyle/>
          <a:p>
            <a:pPr marL="0" indent="0" algn="ctr">
              <a:buNone/>
            </a:pPr>
            <a:r>
              <a:rPr lang="en-US" sz="1500" b="1" dirty="0">
                <a:solidFill>
                  <a:srgbClr val="0B3C5D"/>
                </a:solidFill>
                <a:latin typeface="Meiryo" pitchFamily="34" charset="0"/>
                <a:ea typeface="Meiryo" pitchFamily="34" charset="-122"/>
                <a:cs typeface="Meiryo" pitchFamily="34" charset="-120"/>
              </a:rPr>
              <a:t>装置点検/再計測</a:t>
            </a:r>
            <a:endParaRPr lang="en-US" sz="1500" dirty="0"/>
          </a:p>
        </p:txBody>
      </p:sp>
      <p:sp>
        <p:nvSpPr>
          <p:cNvPr id="21" name="Shape 19"/>
          <p:cNvSpPr/>
          <p:nvPr/>
        </p:nvSpPr>
        <p:spPr>
          <a:xfrm>
            <a:off x="5577840" y="1664208"/>
            <a:ext cx="320040" cy="137160"/>
          </a:xfrm>
          <a:prstGeom prst="ellipse">
            <a:avLst/>
          </a:prstGeom>
          <a:solidFill>
            <a:srgbClr val="2A9D8F">
              <a:alpha val="85000"/>
            </a:srgbClr>
          </a:solidFill>
          <a:ln w="12700">
            <a:solidFill>
              <a:srgbClr val="2A9D8F"/>
            </a:solidFill>
            <a:prstDash val="solid"/>
          </a:ln>
        </p:spPr>
      </p:sp>
      <p:sp>
        <p:nvSpPr>
          <p:cNvPr id="22" name="Shape 20"/>
          <p:cNvSpPr/>
          <p:nvPr/>
        </p:nvSpPr>
        <p:spPr>
          <a:xfrm>
            <a:off x="914400" y="3657600"/>
            <a:ext cx="5440680" cy="1371600"/>
          </a:xfrm>
          <a:prstGeom prst="roundRect">
            <a:avLst>
              <a:gd name="adj" fmla="val 4000"/>
            </a:avLst>
          </a:prstGeom>
          <a:solidFill>
            <a:srgbClr val="F7FAFC"/>
          </a:solidFill>
          <a:ln w="12700">
            <a:solidFill>
              <a:srgbClr val="CAD8E0"/>
            </a:solidFill>
            <a:prstDash val="solid"/>
          </a:ln>
        </p:spPr>
      </p:sp>
      <p:sp>
        <p:nvSpPr>
          <p:cNvPr id="23" name="Text 21"/>
          <p:cNvSpPr/>
          <p:nvPr/>
        </p:nvSpPr>
        <p:spPr>
          <a:xfrm>
            <a:off x="1042416" y="3730752"/>
            <a:ext cx="51846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従来運用のボトルネック</a:t>
            </a:r>
            <a:endParaRPr lang="en-US" sz="1400" dirty="0"/>
          </a:p>
        </p:txBody>
      </p:sp>
      <p:sp>
        <p:nvSpPr>
          <p:cNvPr id="24" name="Text 22"/>
          <p:cNvSpPr/>
          <p:nvPr/>
        </p:nvSpPr>
        <p:spPr>
          <a:xfrm>
            <a:off x="1078992" y="3986784"/>
            <a:ext cx="5029200" cy="822960"/>
          </a:xfrm>
          <a:prstGeom prst="rect">
            <a:avLst/>
          </a:prstGeom>
          <a:noFill/>
          <a:ln/>
        </p:spPr>
        <p:txBody>
          <a:bodyPr wrap="square" lIns="508" tIns="508" rIns="508" bIns="508" rtlCol="0" anchor="t">
            <a:normAutofit/>
          </a:bodyPr>
          <a:lstStyle/>
          <a:p>
            <a:pPr marL="0" indent="0" algn="l">
              <a:buNone/>
            </a:pPr>
            <a:r>
              <a:rPr lang="en-US" sz="1480" dirty="0">
                <a:solidFill>
                  <a:srgbClr val="111111"/>
                </a:solidFill>
                <a:latin typeface="Meiryo" pitchFamily="34" charset="0"/>
                <a:ea typeface="Meiryo" pitchFamily="34" charset="-122"/>
                <a:cs typeface="Meiryo" pitchFamily="34" charset="-120"/>
              </a:rPr>
              <a:t>• AI分類があっても信頼度が明示されず、誤アクションの懸念が残る。</a:t>
            </a:r>
            <a:endParaRPr lang="en-US" sz="1480" dirty="0"/>
          </a:p>
          <a:p>
            <a:pPr marL="0" indent="0" algn="l">
              <a:buNone/>
            </a:pPr>
            <a:r>
              <a:rPr lang="en-US" sz="1480" dirty="0">
                <a:solidFill>
                  <a:srgbClr val="111111"/>
                </a:solidFill>
                <a:latin typeface="Meiryo" pitchFamily="34" charset="0"/>
                <a:ea typeface="Meiryo" pitchFamily="34" charset="-122"/>
                <a:cs typeface="Meiryo" pitchFamily="34" charset="-120"/>
              </a:rPr>
              <a:t>• 結果が sample ラベルのみだと、装置点検や工程変更の判断材料が不足する。</a:t>
            </a:r>
            <a:endParaRPr lang="en-US" sz="1480" dirty="0"/>
          </a:p>
          <a:p>
            <a:pPr marL="0" indent="0" algn="l">
              <a:buNone/>
            </a:pPr>
            <a:r>
              <a:rPr lang="en-US" sz="1480" dirty="0">
                <a:solidFill>
                  <a:srgbClr val="111111"/>
                </a:solidFill>
                <a:latin typeface="Meiryo" pitchFamily="34" charset="0"/>
                <a:ea typeface="Meiryo" pitchFamily="34" charset="-122"/>
                <a:cs typeface="Meiryo" pitchFamily="34" charset="-120"/>
              </a:rPr>
              <a:t>• レビュー結果が再学習や設計改善へ循環しにくい。</a:t>
            </a:r>
            <a:endParaRPr lang="en-US" sz="1480" dirty="0"/>
          </a:p>
        </p:txBody>
      </p:sp>
      <p:sp>
        <p:nvSpPr>
          <p:cNvPr id="25" name="Shape 23"/>
          <p:cNvSpPr/>
          <p:nvPr/>
        </p:nvSpPr>
        <p:spPr>
          <a:xfrm>
            <a:off x="7452360" y="1051560"/>
            <a:ext cx="4096512" cy="4892040"/>
          </a:xfrm>
          <a:prstGeom prst="roundRect">
            <a:avLst>
              <a:gd name="adj" fmla="val 1339"/>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26" name="Text 24"/>
          <p:cNvSpPr/>
          <p:nvPr/>
        </p:nvSpPr>
        <p:spPr>
          <a:xfrm>
            <a:off x="7580376" y="1124712"/>
            <a:ext cx="3840480"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本提案で置き換えるポイント</a:t>
            </a:r>
            <a:endParaRPr lang="en-US" sz="1400" dirty="0"/>
          </a:p>
        </p:txBody>
      </p:sp>
      <p:sp>
        <p:nvSpPr>
          <p:cNvPr id="27" name="Text 25"/>
          <p:cNvSpPr/>
          <p:nvPr/>
        </p:nvSpPr>
        <p:spPr>
          <a:xfrm>
            <a:off x="7635240" y="1463040"/>
            <a:ext cx="3566160" cy="1280160"/>
          </a:xfrm>
          <a:prstGeom prst="rect">
            <a:avLst/>
          </a:prstGeom>
          <a:noFill/>
          <a:ln/>
        </p:spPr>
        <p:txBody>
          <a:bodyPr wrap="square" lIns="508" tIns="508" rIns="508" bIns="508" rtlCol="0" anchor="t">
            <a:normAutofit/>
          </a:bodyPr>
          <a:lstStyle/>
          <a:p>
            <a:pPr marL="0" indent="0" algn="l">
              <a:buNone/>
            </a:pPr>
            <a:r>
              <a:rPr lang="en-US" sz="1520" dirty="0">
                <a:solidFill>
                  <a:srgbClr val="111111"/>
                </a:solidFill>
                <a:latin typeface="Meiryo" pitchFamily="34" charset="0"/>
                <a:ea typeface="Meiryo" pitchFamily="34" charset="-122"/>
                <a:cs typeface="Meiryo" pitchFamily="34" charset="-120"/>
              </a:rPr>
              <a:t>• cause map と説明パラメータを同時提示</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uncertainty gating で自動分岐</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追加計測・レビュー・再学習を閉ループ化</a:t>
            </a:r>
            <a:endParaRPr lang="en-US" sz="1520" dirty="0"/>
          </a:p>
          <a:p>
            <a:pPr marL="0" indent="0" algn="l">
              <a:buNone/>
            </a:pPr>
            <a:r>
              <a:rPr lang="en-US" sz="1520" dirty="0">
                <a:solidFill>
                  <a:srgbClr val="111111"/>
                </a:solidFill>
                <a:latin typeface="Meiryo" pitchFamily="34" charset="0"/>
                <a:ea typeface="Meiryo" pitchFamily="34" charset="-122"/>
                <a:cs typeface="Meiryo" pitchFamily="34" charset="-120"/>
              </a:rPr>
              <a:t>• 設計FB用の pattern family 履歴を残す</a:t>
            </a:r>
            <a:endParaRPr lang="en-US" sz="1520" dirty="0"/>
          </a:p>
        </p:txBody>
      </p:sp>
      <p:sp>
        <p:nvSpPr>
          <p:cNvPr id="28" name="Shape 26"/>
          <p:cNvSpPr/>
          <p:nvPr/>
        </p:nvSpPr>
        <p:spPr>
          <a:xfrm>
            <a:off x="7635240" y="2926080"/>
            <a:ext cx="3611880" cy="2240280"/>
          </a:xfrm>
          <a:prstGeom prst="roundRect">
            <a:avLst>
              <a:gd name="adj" fmla="val 2449"/>
            </a:avLst>
          </a:prstGeom>
          <a:solidFill>
            <a:srgbClr val="FFFFFF"/>
          </a:solidFill>
          <a:ln w="12700">
            <a:solidFill>
              <a:srgbClr val="CAD8E0"/>
            </a:solidFill>
            <a:prstDash val="solid"/>
          </a:ln>
        </p:spPr>
      </p:sp>
      <p:sp>
        <p:nvSpPr>
          <p:cNvPr id="29" name="Text 27"/>
          <p:cNvSpPr/>
          <p:nvPr/>
        </p:nvSpPr>
        <p:spPr>
          <a:xfrm>
            <a:off x="7818120" y="3108960"/>
            <a:ext cx="1828800" cy="201168"/>
          </a:xfrm>
          <a:prstGeom prst="rect">
            <a:avLst/>
          </a:prstGeom>
          <a:noFill/>
          <a:ln/>
        </p:spPr>
        <p:txBody>
          <a:bodyPr wrap="square" lIns="0" tIns="0" rIns="0" bIns="0" rtlCol="0" anchor="ctr"/>
          <a:lstStyle/>
          <a:p>
            <a:pPr marL="0" indent="0">
              <a:buNone/>
            </a:pPr>
            <a:r>
              <a:rPr lang="en-US" sz="1700" b="1" dirty="0">
                <a:solidFill>
                  <a:srgbClr val="0B3C5D"/>
                </a:solidFill>
                <a:latin typeface="Meiryo" pitchFamily="34" charset="0"/>
                <a:ea typeface="Meiryo" pitchFamily="34" charset="-122"/>
                <a:cs typeface="Meiryo" pitchFamily="34" charset="-120"/>
              </a:rPr>
              <a:t>運用連携の発明ポイント</a:t>
            </a:r>
            <a:endParaRPr lang="en-US" sz="1700" dirty="0"/>
          </a:p>
        </p:txBody>
      </p:sp>
      <p:sp>
        <p:nvSpPr>
          <p:cNvPr id="30" name="Shape 28"/>
          <p:cNvSpPr/>
          <p:nvPr/>
        </p:nvSpPr>
        <p:spPr>
          <a:xfrm>
            <a:off x="7818120" y="3401568"/>
            <a:ext cx="3154680" cy="0"/>
          </a:xfrm>
          <a:prstGeom prst="line">
            <a:avLst/>
          </a:prstGeom>
          <a:noFill/>
          <a:ln w="12700">
            <a:solidFill>
              <a:srgbClr val="D7E3EA"/>
            </a:solidFill>
            <a:prstDash val="solid"/>
          </a:ln>
        </p:spPr>
      </p:sp>
      <p:sp>
        <p:nvSpPr>
          <p:cNvPr id="31" name="Text 29"/>
          <p:cNvSpPr/>
          <p:nvPr/>
        </p:nvSpPr>
        <p:spPr>
          <a:xfrm>
            <a:off x="7818120" y="3547872"/>
            <a:ext cx="3200400" cy="109728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単なる分類ではなく、信頼度条件付きの行動提案へ接続。</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説明可能な cause family により、装置/工程/設計の担当部門ごとに読み替えやすい。</a:t>
            </a:r>
            <a:endParaRPr lang="en-US" sz="1420" dirty="0"/>
          </a:p>
        </p:txBody>
      </p:sp>
      <p:sp>
        <p:nvSpPr>
          <p:cNvPr id="32" name="Text 30"/>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08</a:t>
            </a:r>
            <a:endParaRPr lang="en-US" sz="1000" dirty="0"/>
          </a:p>
        </p:txBody>
      </p:sp>
      <p:sp>
        <p:nvSpPr>
          <p:cNvPr id="33" name="Text 31"/>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従来の課題① 低粒子数・疎データ</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Issue 1</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5394960" cy="4800600"/>
          </a:xfrm>
          <a:prstGeom prst="roundRect">
            <a:avLst>
              <a:gd name="adj" fmla="val 1143"/>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124712"/>
            <a:ext cx="51389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なぜ従来画像化が不利か</a:t>
            </a:r>
            <a:endParaRPr lang="en-US" sz="1400" dirty="0"/>
          </a:p>
        </p:txBody>
      </p:sp>
      <p:sp>
        <p:nvSpPr>
          <p:cNvPr id="7" name="Shape 5"/>
          <p:cNvSpPr/>
          <p:nvPr/>
        </p:nvSpPr>
        <p:spPr>
          <a:xfrm>
            <a:off x="914400" y="3730752"/>
            <a:ext cx="4663440" cy="0"/>
          </a:xfrm>
          <a:prstGeom prst="line">
            <a:avLst/>
          </a:prstGeom>
          <a:noFill/>
          <a:ln w="12700">
            <a:solidFill>
              <a:srgbClr val="D7E3EA"/>
            </a:solidFill>
            <a:prstDash val="solid"/>
          </a:ln>
        </p:spPr>
      </p:sp>
      <p:sp>
        <p:nvSpPr>
          <p:cNvPr id="8" name="Shape 6"/>
          <p:cNvSpPr/>
          <p:nvPr/>
        </p:nvSpPr>
        <p:spPr>
          <a:xfrm>
            <a:off x="914400" y="1969256"/>
            <a:ext cx="701040" cy="1761496"/>
          </a:xfrm>
          <a:prstGeom prst="roundRect">
            <a:avLst>
              <a:gd name="adj" fmla="val 3913"/>
            </a:avLst>
          </a:prstGeom>
          <a:solidFill>
            <a:srgbClr val="E76F51"/>
          </a:solidFill>
          <a:ln w="12700">
            <a:solidFill>
              <a:srgbClr val="E76F51"/>
            </a:solidFill>
            <a:prstDash val="solid"/>
          </a:ln>
        </p:spPr>
      </p:sp>
      <p:sp>
        <p:nvSpPr>
          <p:cNvPr id="9" name="Text 7"/>
          <p:cNvSpPr/>
          <p:nvPr/>
        </p:nvSpPr>
        <p:spPr>
          <a:xfrm>
            <a:off x="868680" y="379476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20-49</a:t>
            </a:r>
            <a:endParaRPr lang="en-US" sz="950" dirty="0"/>
          </a:p>
        </p:txBody>
      </p:sp>
      <p:sp>
        <p:nvSpPr>
          <p:cNvPr id="10" name="Text 8"/>
          <p:cNvSpPr/>
          <p:nvPr/>
        </p:nvSpPr>
        <p:spPr>
          <a:xfrm>
            <a:off x="896112" y="1914392"/>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2530</a:t>
            </a:r>
            <a:endParaRPr lang="en-US" sz="1000" dirty="0"/>
          </a:p>
        </p:txBody>
      </p:sp>
      <p:sp>
        <p:nvSpPr>
          <p:cNvPr id="11" name="Shape 9"/>
          <p:cNvSpPr/>
          <p:nvPr/>
        </p:nvSpPr>
        <p:spPr>
          <a:xfrm>
            <a:off x="1706880" y="1947672"/>
            <a:ext cx="701040" cy="1783080"/>
          </a:xfrm>
          <a:prstGeom prst="roundRect">
            <a:avLst>
              <a:gd name="adj" fmla="val 3913"/>
            </a:avLst>
          </a:prstGeom>
          <a:solidFill>
            <a:srgbClr val="E76F51"/>
          </a:solidFill>
          <a:ln w="12700">
            <a:solidFill>
              <a:srgbClr val="E76F51"/>
            </a:solidFill>
            <a:prstDash val="solid"/>
          </a:ln>
        </p:spPr>
      </p:sp>
      <p:sp>
        <p:nvSpPr>
          <p:cNvPr id="12" name="Text 10"/>
          <p:cNvSpPr/>
          <p:nvPr/>
        </p:nvSpPr>
        <p:spPr>
          <a:xfrm>
            <a:off x="1661160" y="379476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50-79</a:t>
            </a:r>
            <a:endParaRPr lang="en-US" sz="950" dirty="0"/>
          </a:p>
        </p:txBody>
      </p:sp>
      <p:sp>
        <p:nvSpPr>
          <p:cNvPr id="13" name="Text 11"/>
          <p:cNvSpPr/>
          <p:nvPr/>
        </p:nvSpPr>
        <p:spPr>
          <a:xfrm>
            <a:off x="1688592" y="1892808"/>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2561</a:t>
            </a:r>
            <a:endParaRPr lang="en-US" sz="1000" dirty="0"/>
          </a:p>
        </p:txBody>
      </p:sp>
      <p:sp>
        <p:nvSpPr>
          <p:cNvPr id="14" name="Shape 12"/>
          <p:cNvSpPr/>
          <p:nvPr/>
        </p:nvSpPr>
        <p:spPr>
          <a:xfrm>
            <a:off x="2499360" y="2027740"/>
            <a:ext cx="701040" cy="1703012"/>
          </a:xfrm>
          <a:prstGeom prst="roundRect">
            <a:avLst>
              <a:gd name="adj" fmla="val 3913"/>
            </a:avLst>
          </a:prstGeom>
          <a:solidFill>
            <a:srgbClr val="F4A261"/>
          </a:solidFill>
          <a:ln w="12700">
            <a:solidFill>
              <a:srgbClr val="F4A261"/>
            </a:solidFill>
            <a:prstDash val="solid"/>
          </a:ln>
        </p:spPr>
      </p:sp>
      <p:sp>
        <p:nvSpPr>
          <p:cNvPr id="15" name="Text 13"/>
          <p:cNvSpPr/>
          <p:nvPr/>
        </p:nvSpPr>
        <p:spPr>
          <a:xfrm>
            <a:off x="2453640" y="379476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80-109</a:t>
            </a:r>
            <a:endParaRPr lang="en-US" sz="950" dirty="0"/>
          </a:p>
        </p:txBody>
      </p:sp>
      <p:sp>
        <p:nvSpPr>
          <p:cNvPr id="16" name="Text 14"/>
          <p:cNvSpPr/>
          <p:nvPr/>
        </p:nvSpPr>
        <p:spPr>
          <a:xfrm>
            <a:off x="2481072" y="1972876"/>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2446</a:t>
            </a:r>
            <a:endParaRPr lang="en-US" sz="1000" dirty="0"/>
          </a:p>
        </p:txBody>
      </p:sp>
      <p:sp>
        <p:nvSpPr>
          <p:cNvPr id="17" name="Shape 15"/>
          <p:cNvSpPr/>
          <p:nvPr/>
        </p:nvSpPr>
        <p:spPr>
          <a:xfrm>
            <a:off x="3291840" y="2041665"/>
            <a:ext cx="701040" cy="1689087"/>
          </a:xfrm>
          <a:prstGeom prst="roundRect">
            <a:avLst>
              <a:gd name="adj" fmla="val 3913"/>
            </a:avLst>
          </a:prstGeom>
          <a:solidFill>
            <a:srgbClr val="F4A261"/>
          </a:solidFill>
          <a:ln w="12700">
            <a:solidFill>
              <a:srgbClr val="F4A261"/>
            </a:solidFill>
            <a:prstDash val="solid"/>
          </a:ln>
        </p:spPr>
      </p:sp>
      <p:sp>
        <p:nvSpPr>
          <p:cNvPr id="18" name="Text 16"/>
          <p:cNvSpPr/>
          <p:nvPr/>
        </p:nvSpPr>
        <p:spPr>
          <a:xfrm>
            <a:off x="3246120" y="379476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110-139</a:t>
            </a:r>
            <a:endParaRPr lang="en-US" sz="950" dirty="0"/>
          </a:p>
        </p:txBody>
      </p:sp>
      <p:sp>
        <p:nvSpPr>
          <p:cNvPr id="19" name="Text 17"/>
          <p:cNvSpPr/>
          <p:nvPr/>
        </p:nvSpPr>
        <p:spPr>
          <a:xfrm>
            <a:off x="3273552" y="1986801"/>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2426</a:t>
            </a:r>
            <a:endParaRPr lang="en-US" sz="1000" dirty="0"/>
          </a:p>
        </p:txBody>
      </p:sp>
      <p:sp>
        <p:nvSpPr>
          <p:cNvPr id="20" name="Shape 18"/>
          <p:cNvSpPr/>
          <p:nvPr/>
        </p:nvSpPr>
        <p:spPr>
          <a:xfrm>
            <a:off x="4084320" y="1977610"/>
            <a:ext cx="701040" cy="1753142"/>
          </a:xfrm>
          <a:prstGeom prst="roundRect">
            <a:avLst>
              <a:gd name="adj" fmla="val 3913"/>
            </a:avLst>
          </a:prstGeom>
          <a:solidFill>
            <a:srgbClr val="4FC3F7"/>
          </a:solidFill>
          <a:ln w="12700">
            <a:solidFill>
              <a:srgbClr val="4FC3F7"/>
            </a:solidFill>
            <a:prstDash val="solid"/>
          </a:ln>
        </p:spPr>
      </p:sp>
      <p:sp>
        <p:nvSpPr>
          <p:cNvPr id="21" name="Text 19"/>
          <p:cNvSpPr/>
          <p:nvPr/>
        </p:nvSpPr>
        <p:spPr>
          <a:xfrm>
            <a:off x="4038600" y="379476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140-169</a:t>
            </a:r>
            <a:endParaRPr lang="en-US" sz="950" dirty="0"/>
          </a:p>
        </p:txBody>
      </p:sp>
      <p:sp>
        <p:nvSpPr>
          <p:cNvPr id="22" name="Text 20"/>
          <p:cNvSpPr/>
          <p:nvPr/>
        </p:nvSpPr>
        <p:spPr>
          <a:xfrm>
            <a:off x="4066032" y="1922746"/>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2518</a:t>
            </a:r>
            <a:endParaRPr lang="en-US" sz="1000" dirty="0"/>
          </a:p>
        </p:txBody>
      </p:sp>
      <p:sp>
        <p:nvSpPr>
          <p:cNvPr id="23" name="Shape 21"/>
          <p:cNvSpPr/>
          <p:nvPr/>
        </p:nvSpPr>
        <p:spPr>
          <a:xfrm>
            <a:off x="4876800" y="1976914"/>
            <a:ext cx="701040" cy="1753838"/>
          </a:xfrm>
          <a:prstGeom prst="roundRect">
            <a:avLst>
              <a:gd name="adj" fmla="val 3913"/>
            </a:avLst>
          </a:prstGeom>
          <a:solidFill>
            <a:srgbClr val="4FC3F7"/>
          </a:solidFill>
          <a:ln w="12700">
            <a:solidFill>
              <a:srgbClr val="4FC3F7"/>
            </a:solidFill>
            <a:prstDash val="solid"/>
          </a:ln>
        </p:spPr>
      </p:sp>
      <p:sp>
        <p:nvSpPr>
          <p:cNvPr id="24" name="Text 22"/>
          <p:cNvSpPr/>
          <p:nvPr/>
        </p:nvSpPr>
        <p:spPr>
          <a:xfrm>
            <a:off x="4831080" y="3794760"/>
            <a:ext cx="792480" cy="219456"/>
          </a:xfrm>
          <a:prstGeom prst="rect">
            <a:avLst/>
          </a:prstGeom>
          <a:noFill/>
          <a:ln/>
        </p:spPr>
        <p:txBody>
          <a:bodyPr wrap="square" lIns="0" tIns="0" rIns="0" bIns="0" rtlCol="0" anchor="ctr">
            <a:normAutofit/>
          </a:bodyPr>
          <a:lstStyle/>
          <a:p>
            <a:pPr marL="0" indent="0" algn="ctr">
              <a:buNone/>
            </a:pPr>
            <a:r>
              <a:rPr lang="en-US" sz="950" dirty="0">
                <a:solidFill>
                  <a:srgbClr val="5F6B6D"/>
                </a:solidFill>
                <a:latin typeface="Meiryo" pitchFamily="34" charset="0"/>
                <a:ea typeface="Meiryo" pitchFamily="34" charset="-122"/>
                <a:cs typeface="Meiryo" pitchFamily="34" charset="-120"/>
              </a:rPr>
              <a:t>170-200</a:t>
            </a:r>
            <a:endParaRPr lang="en-US" sz="950" dirty="0"/>
          </a:p>
        </p:txBody>
      </p:sp>
      <p:sp>
        <p:nvSpPr>
          <p:cNvPr id="25" name="Text 23"/>
          <p:cNvSpPr/>
          <p:nvPr/>
        </p:nvSpPr>
        <p:spPr>
          <a:xfrm>
            <a:off x="4858512" y="1922050"/>
            <a:ext cx="737616" cy="164592"/>
          </a:xfrm>
          <a:prstGeom prst="rect">
            <a:avLst/>
          </a:prstGeom>
          <a:noFill/>
          <a:ln/>
        </p:spPr>
        <p:txBody>
          <a:bodyPr wrap="square" lIns="0" tIns="0" rIns="0" bIns="0" rtlCol="0" anchor="ctr"/>
          <a:lstStyle/>
          <a:p>
            <a:pPr marL="0" indent="0" algn="ctr">
              <a:buNone/>
            </a:pPr>
            <a:r>
              <a:rPr lang="en-US" sz="1000" dirty="0">
                <a:solidFill>
                  <a:srgbClr val="111111"/>
                </a:solidFill>
                <a:latin typeface="Meiryo" pitchFamily="34" charset="0"/>
                <a:ea typeface="Meiryo" pitchFamily="34" charset="-122"/>
                <a:cs typeface="Meiryo" pitchFamily="34" charset="-120"/>
              </a:rPr>
              <a:t>2519</a:t>
            </a:r>
            <a:endParaRPr lang="en-US" sz="1000" dirty="0"/>
          </a:p>
        </p:txBody>
      </p:sp>
      <p:sp>
        <p:nvSpPr>
          <p:cNvPr id="26" name="Text 24"/>
          <p:cNvSpPr/>
          <p:nvPr/>
        </p:nvSpPr>
        <p:spPr>
          <a:xfrm>
            <a:off x="914400" y="4041648"/>
            <a:ext cx="2011680" cy="164592"/>
          </a:xfrm>
          <a:prstGeom prst="rect">
            <a:avLst/>
          </a:prstGeom>
          <a:noFill/>
          <a:ln/>
        </p:spPr>
        <p:txBody>
          <a:bodyPr wrap="square" lIns="0" tIns="0" rIns="0" bIns="0" rtlCol="0" anchor="ctr"/>
          <a:lstStyle/>
          <a:p>
            <a:pPr marL="0" indent="0">
              <a:buNone/>
            </a:pPr>
            <a:r>
              <a:rPr lang="en-US" sz="1200" dirty="0">
                <a:solidFill>
                  <a:srgbClr val="5F6B6D"/>
                </a:solidFill>
                <a:latin typeface="Meiryo" pitchFamily="34" charset="0"/>
                <a:ea typeface="Meiryo" pitchFamily="34" charset="-122"/>
                <a:cs typeface="Meiryo" pitchFamily="34" charset="-120"/>
              </a:rPr>
              <a:t>current attached CSV の粒子数分布</a:t>
            </a:r>
            <a:endParaRPr lang="en-US" sz="1200" dirty="0"/>
          </a:p>
        </p:txBody>
      </p:sp>
      <p:sp>
        <p:nvSpPr>
          <p:cNvPr id="27" name="Shape 25"/>
          <p:cNvSpPr/>
          <p:nvPr/>
        </p:nvSpPr>
        <p:spPr>
          <a:xfrm>
            <a:off x="914400" y="4279392"/>
            <a:ext cx="4663440" cy="1143000"/>
          </a:xfrm>
          <a:prstGeom prst="roundRect">
            <a:avLst>
              <a:gd name="adj" fmla="val 4800"/>
            </a:avLst>
          </a:prstGeom>
          <a:solidFill>
            <a:srgbClr val="F7FAFC"/>
          </a:solidFill>
          <a:ln w="12700">
            <a:solidFill>
              <a:srgbClr val="CAD8E0"/>
            </a:solidFill>
            <a:prstDash val="solid"/>
          </a:ln>
        </p:spPr>
      </p:sp>
      <p:sp>
        <p:nvSpPr>
          <p:cNvPr id="28" name="Text 26"/>
          <p:cNvSpPr/>
          <p:nvPr/>
        </p:nvSpPr>
        <p:spPr>
          <a:xfrm>
            <a:off x="1051560" y="4526280"/>
            <a:ext cx="4389120" cy="68580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20〜50粒子帯が一定数あり、ウェハ全面画像にすると空白領域が支配的になる。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疎な画像では、粒径を濃淡に埋め込んでも学習器がノイズや量子化誤差を拾いやすい。</a:t>
            </a:r>
            <a:endParaRPr lang="en-US" sz="1450" dirty="0"/>
          </a:p>
        </p:txBody>
      </p:sp>
      <p:sp>
        <p:nvSpPr>
          <p:cNvPr id="29" name="Shape 27"/>
          <p:cNvSpPr/>
          <p:nvPr/>
        </p:nvSpPr>
        <p:spPr>
          <a:xfrm>
            <a:off x="6309360" y="1051560"/>
            <a:ext cx="5212080" cy="4800600"/>
          </a:xfrm>
          <a:prstGeom prst="roundRect">
            <a:avLst>
              <a:gd name="adj" fmla="val 1143"/>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30" name="Text 28"/>
          <p:cNvSpPr/>
          <p:nvPr/>
        </p:nvSpPr>
        <p:spPr>
          <a:xfrm>
            <a:off x="6437376" y="1124712"/>
            <a:ext cx="49560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本提案での対処</a:t>
            </a:r>
            <a:endParaRPr lang="en-US" sz="1400" dirty="0"/>
          </a:p>
        </p:txBody>
      </p:sp>
      <p:sp>
        <p:nvSpPr>
          <p:cNvPr id="31" name="Shape 29"/>
          <p:cNvSpPr/>
          <p:nvPr/>
        </p:nvSpPr>
        <p:spPr>
          <a:xfrm>
            <a:off x="6629400" y="1783080"/>
            <a:ext cx="1280160" cy="1280160"/>
          </a:xfrm>
          <a:prstGeom prst="ellipse">
            <a:avLst/>
          </a:prstGeom>
          <a:solidFill>
            <a:srgbClr val="FFFFFF"/>
          </a:solidFill>
          <a:ln w="12700">
            <a:solidFill>
              <a:srgbClr val="BBC9D1"/>
            </a:solidFill>
            <a:prstDash val="solid"/>
          </a:ln>
        </p:spPr>
      </p:sp>
      <p:sp>
        <p:nvSpPr>
          <p:cNvPr id="32" name="Shape 30"/>
          <p:cNvSpPr/>
          <p:nvPr/>
        </p:nvSpPr>
        <p:spPr>
          <a:xfrm>
            <a:off x="6757416" y="1911096"/>
            <a:ext cx="1024128" cy="1024128"/>
          </a:xfrm>
          <a:prstGeom prst="ellipse">
            <a:avLst/>
          </a:prstGeom>
          <a:solidFill>
            <a:srgbClr val="EAF5FB"/>
          </a:solidFill>
          <a:ln w="12700">
            <a:solidFill>
              <a:srgbClr val="EAF5FB"/>
            </a:solidFill>
            <a:prstDash val="solid"/>
          </a:ln>
        </p:spPr>
      </p:sp>
      <p:sp>
        <p:nvSpPr>
          <p:cNvPr id="33" name="Text 31"/>
          <p:cNvSpPr/>
          <p:nvPr/>
        </p:nvSpPr>
        <p:spPr>
          <a:xfrm>
            <a:off x="6903720" y="3127248"/>
            <a:ext cx="777240" cy="164592"/>
          </a:xfrm>
          <a:prstGeom prst="rect">
            <a:avLst/>
          </a:prstGeom>
          <a:noFill/>
          <a:ln/>
        </p:spPr>
        <p:txBody>
          <a:bodyPr wrap="square" lIns="0" tIns="0" rIns="0" bIns="0" rtlCol="0" anchor="ctr"/>
          <a:lstStyle/>
          <a:p>
            <a:pPr marL="0" indent="0" algn="ctr">
              <a:buNone/>
            </a:pPr>
            <a:r>
              <a:rPr lang="en-US" sz="1200" dirty="0">
                <a:solidFill>
                  <a:srgbClr val="5F6B6D"/>
                </a:solidFill>
                <a:latin typeface="Meiryo" pitchFamily="34" charset="0"/>
                <a:ea typeface="Meiryo" pitchFamily="34" charset="-122"/>
                <a:cs typeface="Meiryo" pitchFamily="34" charset="-120"/>
              </a:rPr>
              <a:t>従来画像</a:t>
            </a:r>
            <a:endParaRPr lang="en-US" sz="1200" dirty="0"/>
          </a:p>
        </p:txBody>
      </p:sp>
      <p:sp>
        <p:nvSpPr>
          <p:cNvPr id="34" name="Shape 32"/>
          <p:cNvSpPr/>
          <p:nvPr/>
        </p:nvSpPr>
        <p:spPr>
          <a:xfrm>
            <a:off x="8183880" y="2240280"/>
            <a:ext cx="347472" cy="274320"/>
          </a:xfrm>
          <a:prstGeom prst="chevron">
            <a:avLst/>
          </a:prstGeom>
          <a:solidFill>
            <a:srgbClr val="D7E3EA"/>
          </a:solidFill>
          <a:ln w="12700">
            <a:solidFill>
              <a:srgbClr val="D7E3EA"/>
            </a:solidFill>
            <a:prstDash val="solid"/>
          </a:ln>
        </p:spPr>
      </p:sp>
      <p:sp>
        <p:nvSpPr>
          <p:cNvPr id="35" name="Shape 33"/>
          <p:cNvSpPr/>
          <p:nvPr/>
        </p:nvSpPr>
        <p:spPr>
          <a:xfrm>
            <a:off x="8641080" y="1645920"/>
            <a:ext cx="1097280" cy="1463040"/>
          </a:xfrm>
          <a:prstGeom prst="roundRect">
            <a:avLst>
              <a:gd name="adj" fmla="val 5000"/>
            </a:avLst>
          </a:prstGeom>
          <a:solidFill>
            <a:srgbClr val="FFFFFF"/>
          </a:solidFill>
          <a:ln w="12700">
            <a:solidFill>
              <a:srgbClr val="CAD8E0"/>
            </a:solidFill>
            <a:prstDash val="solid"/>
          </a:ln>
        </p:spPr>
      </p:sp>
      <p:sp>
        <p:nvSpPr>
          <p:cNvPr id="36" name="Text 34"/>
          <p:cNvSpPr/>
          <p:nvPr/>
        </p:nvSpPr>
        <p:spPr>
          <a:xfrm>
            <a:off x="8769096" y="1719072"/>
            <a:ext cx="8412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x-y grid</a:t>
            </a:r>
            <a:endParaRPr lang="en-US" sz="1400" dirty="0"/>
          </a:p>
        </p:txBody>
      </p:sp>
      <p:sp>
        <p:nvSpPr>
          <p:cNvPr id="37" name="Shape 35"/>
          <p:cNvSpPr/>
          <p:nvPr/>
        </p:nvSpPr>
        <p:spPr>
          <a:xfrm>
            <a:off x="8759952" y="1920240"/>
            <a:ext cx="164592" cy="164592"/>
          </a:xfrm>
          <a:prstGeom prst="rect">
            <a:avLst/>
          </a:prstGeom>
          <a:solidFill>
            <a:srgbClr val="ECF2F6"/>
          </a:solidFill>
          <a:ln w="12700">
            <a:solidFill>
              <a:srgbClr val="FFFFFF"/>
            </a:solidFill>
            <a:prstDash val="solid"/>
          </a:ln>
        </p:spPr>
      </p:sp>
      <p:sp>
        <p:nvSpPr>
          <p:cNvPr id="38" name="Shape 36"/>
          <p:cNvSpPr/>
          <p:nvPr/>
        </p:nvSpPr>
        <p:spPr>
          <a:xfrm>
            <a:off x="8961120" y="1920240"/>
            <a:ext cx="164592" cy="164592"/>
          </a:xfrm>
          <a:prstGeom prst="rect">
            <a:avLst/>
          </a:prstGeom>
          <a:solidFill>
            <a:srgbClr val="ECF2F6"/>
          </a:solidFill>
          <a:ln w="12700">
            <a:solidFill>
              <a:srgbClr val="FFFFFF"/>
            </a:solidFill>
            <a:prstDash val="solid"/>
          </a:ln>
        </p:spPr>
      </p:sp>
      <p:sp>
        <p:nvSpPr>
          <p:cNvPr id="39" name="Shape 37"/>
          <p:cNvSpPr/>
          <p:nvPr/>
        </p:nvSpPr>
        <p:spPr>
          <a:xfrm>
            <a:off x="9162288" y="1920240"/>
            <a:ext cx="164592" cy="164592"/>
          </a:xfrm>
          <a:prstGeom prst="rect">
            <a:avLst/>
          </a:prstGeom>
          <a:solidFill>
            <a:srgbClr val="ECF2F6"/>
          </a:solidFill>
          <a:ln w="12700">
            <a:solidFill>
              <a:srgbClr val="FFFFFF"/>
            </a:solidFill>
            <a:prstDash val="solid"/>
          </a:ln>
        </p:spPr>
      </p:sp>
      <p:sp>
        <p:nvSpPr>
          <p:cNvPr id="40" name="Shape 38"/>
          <p:cNvSpPr/>
          <p:nvPr/>
        </p:nvSpPr>
        <p:spPr>
          <a:xfrm>
            <a:off x="9363456" y="1920240"/>
            <a:ext cx="164592" cy="164592"/>
          </a:xfrm>
          <a:prstGeom prst="rect">
            <a:avLst/>
          </a:prstGeom>
          <a:solidFill>
            <a:srgbClr val="ECF2F6"/>
          </a:solidFill>
          <a:ln w="12700">
            <a:solidFill>
              <a:srgbClr val="FFFFFF"/>
            </a:solidFill>
            <a:prstDash val="solid"/>
          </a:ln>
        </p:spPr>
      </p:sp>
      <p:sp>
        <p:nvSpPr>
          <p:cNvPr id="41" name="Shape 39"/>
          <p:cNvSpPr/>
          <p:nvPr/>
        </p:nvSpPr>
        <p:spPr>
          <a:xfrm>
            <a:off x="8759952" y="2121408"/>
            <a:ext cx="164592" cy="164592"/>
          </a:xfrm>
          <a:prstGeom prst="rect">
            <a:avLst/>
          </a:prstGeom>
          <a:solidFill>
            <a:srgbClr val="ECF2F6"/>
          </a:solidFill>
          <a:ln w="12700">
            <a:solidFill>
              <a:srgbClr val="FFFFFF"/>
            </a:solidFill>
            <a:prstDash val="solid"/>
          </a:ln>
        </p:spPr>
      </p:sp>
      <p:sp>
        <p:nvSpPr>
          <p:cNvPr id="42" name="Shape 40"/>
          <p:cNvSpPr/>
          <p:nvPr/>
        </p:nvSpPr>
        <p:spPr>
          <a:xfrm>
            <a:off x="8961120" y="2121408"/>
            <a:ext cx="164592" cy="164592"/>
          </a:xfrm>
          <a:prstGeom prst="rect">
            <a:avLst/>
          </a:prstGeom>
          <a:solidFill>
            <a:srgbClr val="ECF2F6"/>
          </a:solidFill>
          <a:ln w="12700">
            <a:solidFill>
              <a:srgbClr val="FFFFFF"/>
            </a:solidFill>
            <a:prstDash val="solid"/>
          </a:ln>
        </p:spPr>
      </p:sp>
      <p:sp>
        <p:nvSpPr>
          <p:cNvPr id="43" name="Shape 41"/>
          <p:cNvSpPr/>
          <p:nvPr/>
        </p:nvSpPr>
        <p:spPr>
          <a:xfrm>
            <a:off x="9162288" y="2121408"/>
            <a:ext cx="164592" cy="164592"/>
          </a:xfrm>
          <a:prstGeom prst="rect">
            <a:avLst/>
          </a:prstGeom>
          <a:solidFill>
            <a:srgbClr val="ECF2F6"/>
          </a:solidFill>
          <a:ln w="12700">
            <a:solidFill>
              <a:srgbClr val="FFFFFF"/>
            </a:solidFill>
            <a:prstDash val="solid"/>
          </a:ln>
        </p:spPr>
      </p:sp>
      <p:sp>
        <p:nvSpPr>
          <p:cNvPr id="44" name="Shape 42"/>
          <p:cNvSpPr/>
          <p:nvPr/>
        </p:nvSpPr>
        <p:spPr>
          <a:xfrm>
            <a:off x="9363456" y="2121408"/>
            <a:ext cx="164592" cy="164592"/>
          </a:xfrm>
          <a:prstGeom prst="rect">
            <a:avLst/>
          </a:prstGeom>
          <a:solidFill>
            <a:srgbClr val="ECF2F6"/>
          </a:solidFill>
          <a:ln w="12700">
            <a:solidFill>
              <a:srgbClr val="FFFFFF"/>
            </a:solidFill>
            <a:prstDash val="solid"/>
          </a:ln>
        </p:spPr>
      </p:sp>
      <p:sp>
        <p:nvSpPr>
          <p:cNvPr id="45" name="Shape 43"/>
          <p:cNvSpPr/>
          <p:nvPr/>
        </p:nvSpPr>
        <p:spPr>
          <a:xfrm>
            <a:off x="8759952" y="2322576"/>
            <a:ext cx="164592" cy="164592"/>
          </a:xfrm>
          <a:prstGeom prst="rect">
            <a:avLst/>
          </a:prstGeom>
          <a:solidFill>
            <a:srgbClr val="ECF2F6"/>
          </a:solidFill>
          <a:ln w="12700">
            <a:solidFill>
              <a:srgbClr val="FFFFFF"/>
            </a:solidFill>
            <a:prstDash val="solid"/>
          </a:ln>
        </p:spPr>
      </p:sp>
      <p:sp>
        <p:nvSpPr>
          <p:cNvPr id="46" name="Shape 44"/>
          <p:cNvSpPr/>
          <p:nvPr/>
        </p:nvSpPr>
        <p:spPr>
          <a:xfrm>
            <a:off x="8961120" y="2322576"/>
            <a:ext cx="164592" cy="164592"/>
          </a:xfrm>
          <a:prstGeom prst="rect">
            <a:avLst/>
          </a:prstGeom>
          <a:solidFill>
            <a:srgbClr val="8DD5FF"/>
          </a:solidFill>
          <a:ln w="12700">
            <a:solidFill>
              <a:srgbClr val="FFFFFF"/>
            </a:solidFill>
            <a:prstDash val="solid"/>
          </a:ln>
        </p:spPr>
      </p:sp>
      <p:sp>
        <p:nvSpPr>
          <p:cNvPr id="47" name="Shape 45"/>
          <p:cNvSpPr/>
          <p:nvPr/>
        </p:nvSpPr>
        <p:spPr>
          <a:xfrm>
            <a:off x="9162288" y="2322576"/>
            <a:ext cx="164592" cy="164592"/>
          </a:xfrm>
          <a:prstGeom prst="rect">
            <a:avLst/>
          </a:prstGeom>
          <a:solidFill>
            <a:srgbClr val="ECF2F6"/>
          </a:solidFill>
          <a:ln w="12700">
            <a:solidFill>
              <a:srgbClr val="FFFFFF"/>
            </a:solidFill>
            <a:prstDash val="solid"/>
          </a:ln>
        </p:spPr>
      </p:sp>
      <p:sp>
        <p:nvSpPr>
          <p:cNvPr id="48" name="Shape 46"/>
          <p:cNvSpPr/>
          <p:nvPr/>
        </p:nvSpPr>
        <p:spPr>
          <a:xfrm>
            <a:off x="9363456" y="2322576"/>
            <a:ext cx="164592" cy="164592"/>
          </a:xfrm>
          <a:prstGeom prst="rect">
            <a:avLst/>
          </a:prstGeom>
          <a:solidFill>
            <a:srgbClr val="ECF2F6"/>
          </a:solidFill>
          <a:ln w="12700">
            <a:solidFill>
              <a:srgbClr val="FFFFFF"/>
            </a:solidFill>
            <a:prstDash val="solid"/>
          </a:ln>
        </p:spPr>
      </p:sp>
      <p:sp>
        <p:nvSpPr>
          <p:cNvPr id="49" name="Shape 47"/>
          <p:cNvSpPr/>
          <p:nvPr/>
        </p:nvSpPr>
        <p:spPr>
          <a:xfrm>
            <a:off x="8759952" y="2523744"/>
            <a:ext cx="164592" cy="164592"/>
          </a:xfrm>
          <a:prstGeom prst="rect">
            <a:avLst/>
          </a:prstGeom>
          <a:solidFill>
            <a:srgbClr val="ECF2F6"/>
          </a:solidFill>
          <a:ln w="12700">
            <a:solidFill>
              <a:srgbClr val="FFFFFF"/>
            </a:solidFill>
            <a:prstDash val="solid"/>
          </a:ln>
        </p:spPr>
      </p:sp>
      <p:sp>
        <p:nvSpPr>
          <p:cNvPr id="50" name="Shape 48"/>
          <p:cNvSpPr/>
          <p:nvPr/>
        </p:nvSpPr>
        <p:spPr>
          <a:xfrm>
            <a:off x="8961120" y="2523744"/>
            <a:ext cx="164592" cy="164592"/>
          </a:xfrm>
          <a:prstGeom prst="rect">
            <a:avLst/>
          </a:prstGeom>
          <a:solidFill>
            <a:srgbClr val="ECF2F6"/>
          </a:solidFill>
          <a:ln w="12700">
            <a:solidFill>
              <a:srgbClr val="FFFFFF"/>
            </a:solidFill>
            <a:prstDash val="solid"/>
          </a:ln>
        </p:spPr>
      </p:sp>
      <p:sp>
        <p:nvSpPr>
          <p:cNvPr id="51" name="Shape 49"/>
          <p:cNvSpPr/>
          <p:nvPr/>
        </p:nvSpPr>
        <p:spPr>
          <a:xfrm>
            <a:off x="9162288" y="2523744"/>
            <a:ext cx="164592" cy="164592"/>
          </a:xfrm>
          <a:prstGeom prst="rect">
            <a:avLst/>
          </a:prstGeom>
          <a:solidFill>
            <a:srgbClr val="ECF2F6"/>
          </a:solidFill>
          <a:ln w="12700">
            <a:solidFill>
              <a:srgbClr val="FFFFFF"/>
            </a:solidFill>
            <a:prstDash val="solid"/>
          </a:ln>
        </p:spPr>
      </p:sp>
      <p:sp>
        <p:nvSpPr>
          <p:cNvPr id="52" name="Shape 50"/>
          <p:cNvSpPr/>
          <p:nvPr/>
        </p:nvSpPr>
        <p:spPr>
          <a:xfrm>
            <a:off x="9363456" y="2523744"/>
            <a:ext cx="164592" cy="164592"/>
          </a:xfrm>
          <a:prstGeom prst="rect">
            <a:avLst/>
          </a:prstGeom>
          <a:solidFill>
            <a:srgbClr val="ECF2F6"/>
          </a:solidFill>
          <a:ln w="12700">
            <a:solidFill>
              <a:srgbClr val="FFFFFF"/>
            </a:solidFill>
            <a:prstDash val="solid"/>
          </a:ln>
        </p:spPr>
      </p:sp>
      <p:sp>
        <p:nvSpPr>
          <p:cNvPr id="53" name="Shape 51"/>
          <p:cNvSpPr/>
          <p:nvPr/>
        </p:nvSpPr>
        <p:spPr>
          <a:xfrm>
            <a:off x="9875520" y="2240280"/>
            <a:ext cx="347472" cy="274320"/>
          </a:xfrm>
          <a:prstGeom prst="chevron">
            <a:avLst/>
          </a:prstGeom>
          <a:solidFill>
            <a:srgbClr val="D7E3EA"/>
          </a:solidFill>
          <a:ln w="12700">
            <a:solidFill>
              <a:srgbClr val="D7E3EA"/>
            </a:solidFill>
            <a:prstDash val="solid"/>
          </a:ln>
        </p:spPr>
      </p:sp>
      <p:sp>
        <p:nvSpPr>
          <p:cNvPr id="54" name="Shape 52"/>
          <p:cNvSpPr/>
          <p:nvPr/>
        </p:nvSpPr>
        <p:spPr>
          <a:xfrm>
            <a:off x="10287000" y="1645920"/>
            <a:ext cx="914400" cy="1463040"/>
          </a:xfrm>
          <a:prstGeom prst="roundRect">
            <a:avLst>
              <a:gd name="adj" fmla="val 6000"/>
            </a:avLst>
          </a:prstGeom>
          <a:solidFill>
            <a:srgbClr val="FFFFFF"/>
          </a:solidFill>
          <a:ln w="12700">
            <a:solidFill>
              <a:srgbClr val="CAD8E0"/>
            </a:solidFill>
            <a:prstDash val="solid"/>
          </a:ln>
        </p:spPr>
      </p:sp>
      <p:sp>
        <p:nvSpPr>
          <p:cNvPr id="55" name="Text 53"/>
          <p:cNvSpPr/>
          <p:nvPr/>
        </p:nvSpPr>
        <p:spPr>
          <a:xfrm>
            <a:off x="10415016" y="1719072"/>
            <a:ext cx="6583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size bins</a:t>
            </a:r>
            <a:endParaRPr lang="en-US" sz="1400" dirty="0"/>
          </a:p>
        </p:txBody>
      </p:sp>
      <p:sp>
        <p:nvSpPr>
          <p:cNvPr id="56" name="Text 54"/>
          <p:cNvSpPr/>
          <p:nvPr/>
        </p:nvSpPr>
        <p:spPr>
          <a:xfrm>
            <a:off x="10396728" y="1993392"/>
            <a:ext cx="1088136" cy="170688"/>
          </a:xfrm>
          <a:prstGeom prst="rect">
            <a:avLst/>
          </a:prstGeom>
          <a:noFill/>
          <a:ln/>
        </p:spPr>
        <p:txBody>
          <a:bodyPr wrap="square" lIns="0" tIns="0" rIns="0" bIns="0" rtlCol="0" anchor="ctr">
            <a:normAutofit/>
          </a:bodyPr>
          <a:lstStyle/>
          <a:p>
            <a:pPr marL="0" indent="0">
              <a:buNone/>
            </a:pPr>
            <a:r>
              <a:rPr lang="en-US" sz="800" dirty="0">
                <a:solidFill>
                  <a:srgbClr val="111111"/>
                </a:solidFill>
                <a:latin typeface="Meiryo" pitchFamily="34" charset="0"/>
                <a:ea typeface="Meiryo" pitchFamily="34" charset="-122"/>
                <a:cs typeface="Meiryo" pitchFamily="34" charset="-120"/>
              </a:rPr>
              <a:t>small</a:t>
            </a:r>
            <a:endParaRPr lang="en-US" sz="800" dirty="0"/>
          </a:p>
        </p:txBody>
      </p:sp>
      <p:sp>
        <p:nvSpPr>
          <p:cNvPr id="57" name="Shape 55"/>
          <p:cNvSpPr/>
          <p:nvPr/>
        </p:nvSpPr>
        <p:spPr>
          <a:xfrm>
            <a:off x="11539728" y="2020824"/>
            <a:ext cx="0" cy="115824"/>
          </a:xfrm>
          <a:prstGeom prst="roundRect">
            <a:avLst>
              <a:gd name="adj" fmla="val -2400"/>
            </a:avLst>
          </a:prstGeom>
          <a:solidFill>
            <a:srgbClr val="ECF2F6"/>
          </a:solidFill>
          <a:ln w="12700">
            <a:solidFill>
              <a:srgbClr val="ECF2F6"/>
            </a:solidFill>
            <a:prstDash val="solid"/>
          </a:ln>
        </p:spPr>
      </p:sp>
      <p:sp>
        <p:nvSpPr>
          <p:cNvPr id="58" name="Shape 56"/>
          <p:cNvSpPr/>
          <p:nvPr/>
        </p:nvSpPr>
        <p:spPr>
          <a:xfrm>
            <a:off x="11539728" y="2020824"/>
            <a:ext cx="0" cy="115824"/>
          </a:xfrm>
          <a:prstGeom prst="roundRect">
            <a:avLst>
              <a:gd name="adj" fmla="val -2400"/>
            </a:avLst>
          </a:prstGeom>
          <a:solidFill>
            <a:srgbClr val="F4A261"/>
          </a:solidFill>
          <a:ln w="12700">
            <a:solidFill>
              <a:srgbClr val="F4A261"/>
            </a:solidFill>
            <a:prstDash val="solid"/>
          </a:ln>
        </p:spPr>
      </p:sp>
      <p:sp>
        <p:nvSpPr>
          <p:cNvPr id="59" name="Text 57"/>
          <p:cNvSpPr/>
          <p:nvPr/>
        </p:nvSpPr>
        <p:spPr>
          <a:xfrm>
            <a:off x="10488168" y="1993392"/>
            <a:ext cx="548640" cy="170688"/>
          </a:xfrm>
          <a:prstGeom prst="rect">
            <a:avLst/>
          </a:prstGeom>
          <a:noFill/>
          <a:ln/>
        </p:spPr>
        <p:txBody>
          <a:bodyPr wrap="square" lIns="0" tIns="0" rIns="0" bIns="0" rtlCol="0" anchor="ctr"/>
          <a:lstStyle/>
          <a:p>
            <a:pPr marL="0" indent="0" algn="r">
              <a:buNone/>
            </a:pPr>
            <a:r>
              <a:rPr lang="en-US" sz="800" dirty="0">
                <a:solidFill>
                  <a:srgbClr val="5F6B6D"/>
                </a:solidFill>
                <a:latin typeface="Meiryo" pitchFamily="34" charset="0"/>
                <a:ea typeface="Meiryo" pitchFamily="34" charset="-122"/>
                <a:cs typeface="Meiryo" pitchFamily="34" charset="-120"/>
              </a:rPr>
              <a:t>2</a:t>
            </a:r>
            <a:endParaRPr lang="en-US" sz="800" dirty="0"/>
          </a:p>
        </p:txBody>
      </p:sp>
      <p:sp>
        <p:nvSpPr>
          <p:cNvPr id="60" name="Text 58"/>
          <p:cNvSpPr/>
          <p:nvPr/>
        </p:nvSpPr>
        <p:spPr>
          <a:xfrm>
            <a:off x="10396728" y="2292096"/>
            <a:ext cx="1088136" cy="170688"/>
          </a:xfrm>
          <a:prstGeom prst="rect">
            <a:avLst/>
          </a:prstGeom>
          <a:noFill/>
          <a:ln/>
        </p:spPr>
        <p:txBody>
          <a:bodyPr wrap="square" lIns="0" tIns="0" rIns="0" bIns="0" rtlCol="0" anchor="ctr">
            <a:normAutofit/>
          </a:bodyPr>
          <a:lstStyle/>
          <a:p>
            <a:pPr marL="0" indent="0">
              <a:buNone/>
            </a:pPr>
            <a:r>
              <a:rPr lang="en-US" sz="800" dirty="0">
                <a:solidFill>
                  <a:srgbClr val="111111"/>
                </a:solidFill>
                <a:latin typeface="Meiryo" pitchFamily="34" charset="0"/>
                <a:ea typeface="Meiryo" pitchFamily="34" charset="-122"/>
                <a:cs typeface="Meiryo" pitchFamily="34" charset="-120"/>
              </a:rPr>
              <a:t>mid</a:t>
            </a:r>
            <a:endParaRPr lang="en-US" sz="800" dirty="0"/>
          </a:p>
        </p:txBody>
      </p:sp>
      <p:sp>
        <p:nvSpPr>
          <p:cNvPr id="61" name="Shape 59"/>
          <p:cNvSpPr/>
          <p:nvPr/>
        </p:nvSpPr>
        <p:spPr>
          <a:xfrm>
            <a:off x="11539728" y="2319528"/>
            <a:ext cx="0" cy="115824"/>
          </a:xfrm>
          <a:prstGeom prst="roundRect">
            <a:avLst>
              <a:gd name="adj" fmla="val -2400"/>
            </a:avLst>
          </a:prstGeom>
          <a:solidFill>
            <a:srgbClr val="ECF2F6"/>
          </a:solidFill>
          <a:ln w="12700">
            <a:solidFill>
              <a:srgbClr val="ECF2F6"/>
            </a:solidFill>
            <a:prstDash val="solid"/>
          </a:ln>
        </p:spPr>
      </p:sp>
      <p:sp>
        <p:nvSpPr>
          <p:cNvPr id="62" name="Shape 60"/>
          <p:cNvSpPr/>
          <p:nvPr/>
        </p:nvSpPr>
        <p:spPr>
          <a:xfrm>
            <a:off x="11539728" y="2319528"/>
            <a:ext cx="0" cy="115824"/>
          </a:xfrm>
          <a:prstGeom prst="roundRect">
            <a:avLst>
              <a:gd name="adj" fmla="val -4800"/>
            </a:avLst>
          </a:prstGeom>
          <a:solidFill>
            <a:srgbClr val="4FC3F7"/>
          </a:solidFill>
          <a:ln w="12700">
            <a:solidFill>
              <a:srgbClr val="4FC3F7"/>
            </a:solidFill>
            <a:prstDash val="solid"/>
          </a:ln>
        </p:spPr>
      </p:sp>
      <p:sp>
        <p:nvSpPr>
          <p:cNvPr id="63" name="Text 61"/>
          <p:cNvSpPr/>
          <p:nvPr/>
        </p:nvSpPr>
        <p:spPr>
          <a:xfrm>
            <a:off x="10488168" y="2292096"/>
            <a:ext cx="548640" cy="170688"/>
          </a:xfrm>
          <a:prstGeom prst="rect">
            <a:avLst/>
          </a:prstGeom>
          <a:noFill/>
          <a:ln/>
        </p:spPr>
        <p:txBody>
          <a:bodyPr wrap="square" lIns="0" tIns="0" rIns="0" bIns="0" rtlCol="0" anchor="ctr"/>
          <a:lstStyle/>
          <a:p>
            <a:pPr marL="0" indent="0" algn="r">
              <a:buNone/>
            </a:pPr>
            <a:r>
              <a:rPr lang="en-US" sz="800" dirty="0">
                <a:solidFill>
                  <a:srgbClr val="5F6B6D"/>
                </a:solidFill>
                <a:latin typeface="Meiryo" pitchFamily="34" charset="0"/>
                <a:ea typeface="Meiryo" pitchFamily="34" charset="-122"/>
                <a:cs typeface="Meiryo" pitchFamily="34" charset="-120"/>
              </a:rPr>
              <a:t>1</a:t>
            </a:r>
            <a:endParaRPr lang="en-US" sz="800" dirty="0"/>
          </a:p>
        </p:txBody>
      </p:sp>
      <p:sp>
        <p:nvSpPr>
          <p:cNvPr id="64" name="Text 62"/>
          <p:cNvSpPr/>
          <p:nvPr/>
        </p:nvSpPr>
        <p:spPr>
          <a:xfrm>
            <a:off x="10396728" y="2590800"/>
            <a:ext cx="1088136" cy="170688"/>
          </a:xfrm>
          <a:prstGeom prst="rect">
            <a:avLst/>
          </a:prstGeom>
          <a:noFill/>
          <a:ln/>
        </p:spPr>
        <p:txBody>
          <a:bodyPr wrap="square" lIns="0" tIns="0" rIns="0" bIns="0" rtlCol="0" anchor="ctr">
            <a:normAutofit/>
          </a:bodyPr>
          <a:lstStyle/>
          <a:p>
            <a:pPr marL="0" indent="0">
              <a:buNone/>
            </a:pPr>
            <a:r>
              <a:rPr lang="en-US" sz="800" dirty="0">
                <a:solidFill>
                  <a:srgbClr val="111111"/>
                </a:solidFill>
                <a:latin typeface="Meiryo" pitchFamily="34" charset="0"/>
                <a:ea typeface="Meiryo" pitchFamily="34" charset="-122"/>
                <a:cs typeface="Meiryo" pitchFamily="34" charset="-120"/>
              </a:rPr>
              <a:t>large</a:t>
            </a:r>
            <a:endParaRPr lang="en-US" sz="800" dirty="0"/>
          </a:p>
        </p:txBody>
      </p:sp>
      <p:sp>
        <p:nvSpPr>
          <p:cNvPr id="65" name="Shape 63"/>
          <p:cNvSpPr/>
          <p:nvPr/>
        </p:nvSpPr>
        <p:spPr>
          <a:xfrm>
            <a:off x="11539728" y="2618232"/>
            <a:ext cx="0" cy="115824"/>
          </a:xfrm>
          <a:prstGeom prst="roundRect">
            <a:avLst>
              <a:gd name="adj" fmla="val -2400"/>
            </a:avLst>
          </a:prstGeom>
          <a:solidFill>
            <a:srgbClr val="ECF2F6"/>
          </a:solidFill>
          <a:ln w="12700">
            <a:solidFill>
              <a:srgbClr val="ECF2F6"/>
            </a:solidFill>
            <a:prstDash val="solid"/>
          </a:ln>
        </p:spPr>
      </p:sp>
      <p:sp>
        <p:nvSpPr>
          <p:cNvPr id="66" name="Shape 64"/>
          <p:cNvSpPr/>
          <p:nvPr/>
        </p:nvSpPr>
        <p:spPr>
          <a:xfrm>
            <a:off x="11539728" y="2618232"/>
            <a:ext cx="0" cy="115824"/>
          </a:xfrm>
          <a:prstGeom prst="roundRect">
            <a:avLst>
              <a:gd name="adj" fmla="val -9600"/>
            </a:avLst>
          </a:prstGeom>
          <a:solidFill>
            <a:srgbClr val="2A9D8F"/>
          </a:solidFill>
          <a:ln w="12700">
            <a:solidFill>
              <a:srgbClr val="2A9D8F"/>
            </a:solidFill>
            <a:prstDash val="solid"/>
          </a:ln>
        </p:spPr>
      </p:sp>
      <p:sp>
        <p:nvSpPr>
          <p:cNvPr id="67" name="Text 65"/>
          <p:cNvSpPr/>
          <p:nvPr/>
        </p:nvSpPr>
        <p:spPr>
          <a:xfrm>
            <a:off x="10488168" y="2590800"/>
            <a:ext cx="548640" cy="170688"/>
          </a:xfrm>
          <a:prstGeom prst="rect">
            <a:avLst/>
          </a:prstGeom>
          <a:noFill/>
          <a:ln/>
        </p:spPr>
        <p:txBody>
          <a:bodyPr wrap="square" lIns="0" tIns="0" rIns="0" bIns="0" rtlCol="0" anchor="ctr"/>
          <a:lstStyle/>
          <a:p>
            <a:pPr marL="0" indent="0" algn="r">
              <a:buNone/>
            </a:pPr>
            <a:r>
              <a:rPr lang="en-US" sz="800" dirty="0">
                <a:solidFill>
                  <a:srgbClr val="5F6B6D"/>
                </a:solidFill>
                <a:latin typeface="Meiryo" pitchFamily="34" charset="0"/>
                <a:ea typeface="Meiryo" pitchFamily="34" charset="-122"/>
                <a:cs typeface="Meiryo" pitchFamily="34" charset="-120"/>
              </a:rPr>
              <a:t>0.5</a:t>
            </a:r>
            <a:endParaRPr lang="en-US" sz="800" dirty="0"/>
          </a:p>
        </p:txBody>
      </p:sp>
      <p:sp>
        <p:nvSpPr>
          <p:cNvPr id="68" name="Text 66"/>
          <p:cNvSpPr/>
          <p:nvPr/>
        </p:nvSpPr>
        <p:spPr>
          <a:xfrm>
            <a:off x="6583680" y="3749040"/>
            <a:ext cx="4480560" cy="201168"/>
          </a:xfrm>
          <a:prstGeom prst="rect">
            <a:avLst/>
          </a:prstGeom>
          <a:noFill/>
          <a:ln/>
        </p:spPr>
        <p:txBody>
          <a:bodyPr wrap="square" lIns="0" tIns="0" rIns="0" bIns="0" rtlCol="0" anchor="ctr"/>
          <a:lstStyle/>
          <a:p>
            <a:pPr marL="0" indent="0">
              <a:buNone/>
            </a:pPr>
            <a:r>
              <a:rPr lang="en-US" sz="1600" b="1" dirty="0">
                <a:solidFill>
                  <a:srgbClr val="0B3C5D"/>
                </a:solidFill>
                <a:latin typeface="Meiryo" pitchFamily="34" charset="0"/>
                <a:ea typeface="Meiryo" pitchFamily="34" charset="-122"/>
                <a:cs typeface="Meiryo" pitchFamily="34" charset="-120"/>
              </a:rPr>
              <a:t>疎でも「位置」と「サイズ帯」を分けて保持</a:t>
            </a:r>
            <a:endParaRPr lang="en-US" sz="1600" dirty="0"/>
          </a:p>
        </p:txBody>
      </p:sp>
      <p:sp>
        <p:nvSpPr>
          <p:cNvPr id="69" name="Text 67"/>
          <p:cNvSpPr/>
          <p:nvPr/>
        </p:nvSpPr>
        <p:spPr>
          <a:xfrm>
            <a:off x="6583680" y="4069080"/>
            <a:ext cx="4617720" cy="1417320"/>
          </a:xfrm>
          <a:prstGeom prst="rect">
            <a:avLst/>
          </a:prstGeom>
          <a:noFill/>
          <a:ln/>
        </p:spPr>
        <p:txBody>
          <a:bodyPr wrap="square" lIns="508" tIns="508" rIns="508" bIns="508" rtlCol="0" anchor="t">
            <a:normAutofit/>
          </a:bodyPr>
          <a:lstStyle/>
          <a:p>
            <a:pPr marL="0" indent="0" algn="l">
              <a:buNone/>
            </a:pPr>
            <a:r>
              <a:rPr lang="en-US" sz="1470" dirty="0">
                <a:solidFill>
                  <a:srgbClr val="111111"/>
                </a:solidFill>
                <a:latin typeface="Meiryo" pitchFamily="34" charset="0"/>
                <a:ea typeface="Meiryo" pitchFamily="34" charset="-122"/>
                <a:cs typeface="Meiryo" pitchFamily="34" charset="-120"/>
              </a:rPr>
              <a:t>• 粒子単位の情報を直接捨てず、少数粒子でも count / mean(log size) / hist を保持。</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x-y と r-theta を並列に持ち、ring/sector と line/hotspot を別の座標系で見やすくする。</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global size prior を持つため、セルが sparse でも size 分布推定を安定化しやすい。</a:t>
            </a:r>
            <a:endParaRPr lang="en-US" sz="1470" dirty="0"/>
          </a:p>
        </p:txBody>
      </p:sp>
      <p:sp>
        <p:nvSpPr>
          <p:cNvPr id="70" name="Text 68"/>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09</a:t>
            </a:r>
            <a:endParaRPr lang="en-US" sz="1000" dirty="0"/>
          </a:p>
        </p:txBody>
      </p:sp>
      <p:sp>
        <p:nvSpPr>
          <p:cNvPr id="71" name="Text 69"/>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従来の課題② 同じ位置でも粒径違いで要因が変わる</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Issue 2</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5440680" cy="4800600"/>
          </a:xfrm>
          <a:prstGeom prst="roundRect">
            <a:avLst>
              <a:gd name="adj" fmla="val 1143"/>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124712"/>
            <a:ext cx="51846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2D 空間メッシュだけでは潰れる情報</a:t>
            </a:r>
            <a:endParaRPr lang="en-US" sz="1400" dirty="0"/>
          </a:p>
        </p:txBody>
      </p:sp>
      <p:sp>
        <p:nvSpPr>
          <p:cNvPr id="7" name="Shape 5"/>
          <p:cNvSpPr/>
          <p:nvPr/>
        </p:nvSpPr>
        <p:spPr>
          <a:xfrm>
            <a:off x="914400" y="1600200"/>
            <a:ext cx="1965960" cy="1965960"/>
          </a:xfrm>
          <a:prstGeom prst="roundRect">
            <a:avLst>
              <a:gd name="adj" fmla="val 2791"/>
            </a:avLst>
          </a:prstGeom>
          <a:solidFill>
            <a:srgbClr val="F9FBFD"/>
          </a:solidFill>
          <a:ln w="12700">
            <a:solidFill>
              <a:srgbClr val="CAD8E0"/>
            </a:solidFill>
            <a:prstDash val="solid"/>
          </a:ln>
        </p:spPr>
      </p:sp>
      <p:sp>
        <p:nvSpPr>
          <p:cNvPr id="8" name="Text 6"/>
          <p:cNvSpPr/>
          <p:nvPr/>
        </p:nvSpPr>
        <p:spPr>
          <a:xfrm>
            <a:off x="1042416" y="1673352"/>
            <a:ext cx="17099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同じセル</a:t>
            </a:r>
            <a:endParaRPr lang="en-US" sz="1400" dirty="0"/>
          </a:p>
        </p:txBody>
      </p:sp>
      <p:sp>
        <p:nvSpPr>
          <p:cNvPr id="9" name="Shape 7"/>
          <p:cNvSpPr/>
          <p:nvPr/>
        </p:nvSpPr>
        <p:spPr>
          <a:xfrm>
            <a:off x="1170432" y="1901952"/>
            <a:ext cx="384048" cy="384048"/>
          </a:xfrm>
          <a:prstGeom prst="rect">
            <a:avLst/>
          </a:prstGeom>
          <a:solidFill>
            <a:srgbClr val="FFFFFF"/>
          </a:solidFill>
          <a:ln w="12700">
            <a:solidFill>
              <a:srgbClr val="D7E3EA"/>
            </a:solidFill>
            <a:prstDash val="solid"/>
          </a:ln>
        </p:spPr>
      </p:sp>
      <p:sp>
        <p:nvSpPr>
          <p:cNvPr id="10" name="Shape 8"/>
          <p:cNvSpPr/>
          <p:nvPr/>
        </p:nvSpPr>
        <p:spPr>
          <a:xfrm>
            <a:off x="1609344" y="1901952"/>
            <a:ext cx="384048" cy="384048"/>
          </a:xfrm>
          <a:prstGeom prst="rect">
            <a:avLst/>
          </a:prstGeom>
          <a:solidFill>
            <a:srgbClr val="FFFFFF"/>
          </a:solidFill>
          <a:ln w="12700">
            <a:solidFill>
              <a:srgbClr val="D7E3EA"/>
            </a:solidFill>
            <a:prstDash val="solid"/>
          </a:ln>
        </p:spPr>
      </p:sp>
      <p:sp>
        <p:nvSpPr>
          <p:cNvPr id="11" name="Shape 9"/>
          <p:cNvSpPr/>
          <p:nvPr/>
        </p:nvSpPr>
        <p:spPr>
          <a:xfrm>
            <a:off x="2048256" y="1901952"/>
            <a:ext cx="384048" cy="384048"/>
          </a:xfrm>
          <a:prstGeom prst="rect">
            <a:avLst/>
          </a:prstGeom>
          <a:solidFill>
            <a:srgbClr val="FFFFFF"/>
          </a:solidFill>
          <a:ln w="12700">
            <a:solidFill>
              <a:srgbClr val="D7E3EA"/>
            </a:solidFill>
            <a:prstDash val="solid"/>
          </a:ln>
        </p:spPr>
      </p:sp>
      <p:sp>
        <p:nvSpPr>
          <p:cNvPr id="12" name="Shape 10"/>
          <p:cNvSpPr/>
          <p:nvPr/>
        </p:nvSpPr>
        <p:spPr>
          <a:xfrm>
            <a:off x="1170432" y="2340864"/>
            <a:ext cx="384048" cy="384048"/>
          </a:xfrm>
          <a:prstGeom prst="rect">
            <a:avLst/>
          </a:prstGeom>
          <a:solidFill>
            <a:srgbClr val="FFFFFF"/>
          </a:solidFill>
          <a:ln w="12700">
            <a:solidFill>
              <a:srgbClr val="D7E3EA"/>
            </a:solidFill>
            <a:prstDash val="solid"/>
          </a:ln>
        </p:spPr>
      </p:sp>
      <p:sp>
        <p:nvSpPr>
          <p:cNvPr id="13" name="Shape 11"/>
          <p:cNvSpPr/>
          <p:nvPr/>
        </p:nvSpPr>
        <p:spPr>
          <a:xfrm>
            <a:off x="1609344" y="2340864"/>
            <a:ext cx="384048" cy="384048"/>
          </a:xfrm>
          <a:prstGeom prst="rect">
            <a:avLst/>
          </a:prstGeom>
          <a:solidFill>
            <a:srgbClr val="FFFFFF"/>
          </a:solidFill>
          <a:ln w="12700">
            <a:solidFill>
              <a:srgbClr val="D7E3EA"/>
            </a:solidFill>
            <a:prstDash val="solid"/>
          </a:ln>
        </p:spPr>
      </p:sp>
      <p:sp>
        <p:nvSpPr>
          <p:cNvPr id="14" name="Shape 12"/>
          <p:cNvSpPr/>
          <p:nvPr/>
        </p:nvSpPr>
        <p:spPr>
          <a:xfrm>
            <a:off x="2048256" y="2340864"/>
            <a:ext cx="384048" cy="384048"/>
          </a:xfrm>
          <a:prstGeom prst="rect">
            <a:avLst/>
          </a:prstGeom>
          <a:solidFill>
            <a:srgbClr val="FFFFFF"/>
          </a:solidFill>
          <a:ln w="12700">
            <a:solidFill>
              <a:srgbClr val="D7E3EA"/>
            </a:solidFill>
            <a:prstDash val="solid"/>
          </a:ln>
        </p:spPr>
      </p:sp>
      <p:sp>
        <p:nvSpPr>
          <p:cNvPr id="15" name="Shape 13"/>
          <p:cNvSpPr/>
          <p:nvPr/>
        </p:nvSpPr>
        <p:spPr>
          <a:xfrm>
            <a:off x="1170432" y="2779776"/>
            <a:ext cx="384048" cy="384048"/>
          </a:xfrm>
          <a:prstGeom prst="rect">
            <a:avLst/>
          </a:prstGeom>
          <a:solidFill>
            <a:srgbClr val="FFFFFF"/>
          </a:solidFill>
          <a:ln w="12700">
            <a:solidFill>
              <a:srgbClr val="D7E3EA"/>
            </a:solidFill>
            <a:prstDash val="solid"/>
          </a:ln>
        </p:spPr>
      </p:sp>
      <p:sp>
        <p:nvSpPr>
          <p:cNvPr id="16" name="Shape 14"/>
          <p:cNvSpPr/>
          <p:nvPr/>
        </p:nvSpPr>
        <p:spPr>
          <a:xfrm>
            <a:off x="1609344" y="2779776"/>
            <a:ext cx="384048" cy="384048"/>
          </a:xfrm>
          <a:prstGeom prst="rect">
            <a:avLst/>
          </a:prstGeom>
          <a:solidFill>
            <a:srgbClr val="FFFFFF"/>
          </a:solidFill>
          <a:ln w="12700">
            <a:solidFill>
              <a:srgbClr val="D7E3EA"/>
            </a:solidFill>
            <a:prstDash val="solid"/>
          </a:ln>
        </p:spPr>
      </p:sp>
      <p:sp>
        <p:nvSpPr>
          <p:cNvPr id="17" name="Shape 15"/>
          <p:cNvSpPr/>
          <p:nvPr/>
        </p:nvSpPr>
        <p:spPr>
          <a:xfrm>
            <a:off x="2048256" y="2779776"/>
            <a:ext cx="384048" cy="384048"/>
          </a:xfrm>
          <a:prstGeom prst="rect">
            <a:avLst/>
          </a:prstGeom>
          <a:solidFill>
            <a:srgbClr val="FFFFFF"/>
          </a:solidFill>
          <a:ln w="12700">
            <a:solidFill>
              <a:srgbClr val="D7E3EA"/>
            </a:solidFill>
            <a:prstDash val="solid"/>
          </a:ln>
        </p:spPr>
      </p:sp>
      <p:sp>
        <p:nvSpPr>
          <p:cNvPr id="18" name="Shape 16"/>
          <p:cNvSpPr/>
          <p:nvPr/>
        </p:nvSpPr>
        <p:spPr>
          <a:xfrm>
            <a:off x="1472184" y="2258568"/>
            <a:ext cx="91440" cy="91440"/>
          </a:xfrm>
          <a:prstGeom prst="ellipse">
            <a:avLst/>
          </a:prstGeom>
          <a:solidFill>
            <a:srgbClr val="4FC3F7"/>
          </a:solidFill>
          <a:ln w="12700">
            <a:solidFill>
              <a:srgbClr val="4FC3F7"/>
            </a:solidFill>
            <a:prstDash val="solid"/>
          </a:ln>
        </p:spPr>
      </p:sp>
      <p:sp>
        <p:nvSpPr>
          <p:cNvPr id="19" name="Shape 17"/>
          <p:cNvSpPr/>
          <p:nvPr/>
        </p:nvSpPr>
        <p:spPr>
          <a:xfrm>
            <a:off x="1700784" y="2212848"/>
            <a:ext cx="201168" cy="201168"/>
          </a:xfrm>
          <a:prstGeom prst="ellipse">
            <a:avLst/>
          </a:prstGeom>
          <a:solidFill>
            <a:srgbClr val="F4A261">
              <a:alpha val="90000"/>
            </a:srgbClr>
          </a:solidFill>
          <a:ln w="12700">
            <a:solidFill>
              <a:srgbClr val="F4A261"/>
            </a:solidFill>
            <a:prstDash val="solid"/>
          </a:ln>
        </p:spPr>
      </p:sp>
      <p:sp>
        <p:nvSpPr>
          <p:cNvPr id="20" name="Text 18"/>
          <p:cNvSpPr/>
          <p:nvPr/>
        </p:nvSpPr>
        <p:spPr>
          <a:xfrm>
            <a:off x="1024128" y="3639312"/>
            <a:ext cx="1828800" cy="411480"/>
          </a:xfrm>
          <a:prstGeom prst="rect">
            <a:avLst/>
          </a:prstGeom>
          <a:noFill/>
          <a:ln/>
        </p:spPr>
        <p:txBody>
          <a:bodyPr wrap="square" lIns="0" tIns="0" rIns="0" bIns="0" rtlCol="0" anchor="ctr"/>
          <a:lstStyle/>
          <a:p>
            <a:pPr marL="0" indent="0" algn="ctr">
              <a:buNone/>
            </a:pPr>
            <a:r>
              <a:rPr lang="en-US" sz="1350" dirty="0">
                <a:solidFill>
                  <a:srgbClr val="111111"/>
                </a:solidFill>
                <a:latin typeface="Meiryo" pitchFamily="34" charset="0"/>
                <a:ea typeface="Meiryo" pitchFamily="34" charset="-122"/>
                <a:cs typeface="Meiryo" pitchFamily="34" charset="-120"/>
              </a:rPr>
              <a:t>small particle と large particle が</a:t>
            </a:r>
            <a:endParaRPr lang="en-US" sz="1350" dirty="0"/>
          </a:p>
          <a:p>
            <a:pPr marL="0" indent="0" algn="ctr">
              <a:buNone/>
            </a:pPr>
            <a:r>
              <a:rPr lang="en-US" sz="1350" dirty="0">
                <a:solidFill>
                  <a:srgbClr val="111111"/>
                </a:solidFill>
                <a:latin typeface="Meiryo" pitchFamily="34" charset="0"/>
                <a:ea typeface="Meiryo" pitchFamily="34" charset="-122"/>
                <a:cs typeface="Meiryo" pitchFamily="34" charset="-120"/>
              </a:rPr>
              <a:t>同じ空間セルに共存</a:t>
            </a:r>
            <a:endParaRPr lang="en-US" sz="1350" dirty="0"/>
          </a:p>
        </p:txBody>
      </p:sp>
      <p:sp>
        <p:nvSpPr>
          <p:cNvPr id="21" name="Shape 19"/>
          <p:cNvSpPr/>
          <p:nvPr/>
        </p:nvSpPr>
        <p:spPr>
          <a:xfrm>
            <a:off x="3063240" y="2359152"/>
            <a:ext cx="411480" cy="320040"/>
          </a:xfrm>
          <a:prstGeom prst="chevron">
            <a:avLst/>
          </a:prstGeom>
          <a:solidFill>
            <a:srgbClr val="D7E3EA"/>
          </a:solidFill>
          <a:ln w="12700">
            <a:solidFill>
              <a:srgbClr val="D7E3EA"/>
            </a:solidFill>
            <a:prstDash val="solid"/>
          </a:ln>
        </p:spPr>
      </p:sp>
      <p:sp>
        <p:nvSpPr>
          <p:cNvPr id="22" name="Shape 20"/>
          <p:cNvSpPr/>
          <p:nvPr/>
        </p:nvSpPr>
        <p:spPr>
          <a:xfrm>
            <a:off x="3611880" y="1600200"/>
            <a:ext cx="1965960" cy="1965960"/>
          </a:xfrm>
          <a:prstGeom prst="roundRect">
            <a:avLst>
              <a:gd name="adj" fmla="val 2791"/>
            </a:avLst>
          </a:prstGeom>
          <a:solidFill>
            <a:srgbClr val="F9FBFD"/>
          </a:solidFill>
          <a:ln w="12700">
            <a:solidFill>
              <a:srgbClr val="CAD8E0"/>
            </a:solidFill>
            <a:prstDash val="solid"/>
          </a:ln>
        </p:spPr>
      </p:sp>
      <p:sp>
        <p:nvSpPr>
          <p:cNvPr id="23" name="Text 21"/>
          <p:cNvSpPr/>
          <p:nvPr/>
        </p:nvSpPr>
        <p:spPr>
          <a:xfrm>
            <a:off x="3739896" y="1673352"/>
            <a:ext cx="17099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従来 2D count</a:t>
            </a:r>
            <a:endParaRPr lang="en-US" sz="1400" dirty="0"/>
          </a:p>
        </p:txBody>
      </p:sp>
      <p:sp>
        <p:nvSpPr>
          <p:cNvPr id="24" name="Text 22"/>
          <p:cNvSpPr/>
          <p:nvPr/>
        </p:nvSpPr>
        <p:spPr>
          <a:xfrm>
            <a:off x="4096512" y="2331720"/>
            <a:ext cx="914400" cy="228600"/>
          </a:xfrm>
          <a:prstGeom prst="rect">
            <a:avLst/>
          </a:prstGeom>
          <a:noFill/>
          <a:ln/>
        </p:spPr>
        <p:txBody>
          <a:bodyPr wrap="square" lIns="0" tIns="0" rIns="0" bIns="0" rtlCol="0" anchor="ctr"/>
          <a:lstStyle/>
          <a:p>
            <a:pPr marL="0" indent="0" algn="ctr">
              <a:buNone/>
            </a:pPr>
            <a:r>
              <a:rPr lang="en-US" sz="2000" b="1" dirty="0">
                <a:solidFill>
                  <a:srgbClr val="0B3C5D"/>
                </a:solidFill>
                <a:latin typeface="Meiryo" pitchFamily="34" charset="0"/>
                <a:ea typeface="Meiryo" pitchFamily="34" charset="-122"/>
                <a:cs typeface="Meiryo" pitchFamily="34" charset="-120"/>
              </a:rPr>
              <a:t>count = 2</a:t>
            </a:r>
            <a:endParaRPr lang="en-US" sz="2000" dirty="0"/>
          </a:p>
        </p:txBody>
      </p:sp>
      <p:sp>
        <p:nvSpPr>
          <p:cNvPr id="25" name="Text 23"/>
          <p:cNvSpPr/>
          <p:nvPr/>
        </p:nvSpPr>
        <p:spPr>
          <a:xfrm>
            <a:off x="3931920" y="2907792"/>
            <a:ext cx="1325880" cy="182880"/>
          </a:xfrm>
          <a:prstGeom prst="rect">
            <a:avLst/>
          </a:prstGeom>
          <a:noFill/>
          <a:ln/>
        </p:spPr>
        <p:txBody>
          <a:bodyPr wrap="square" lIns="0" tIns="0" rIns="0" bIns="0" rtlCol="0" anchor="ctr"/>
          <a:lstStyle/>
          <a:p>
            <a:pPr marL="0" indent="0" algn="ctr">
              <a:buNone/>
            </a:pPr>
            <a:r>
              <a:rPr lang="en-US" sz="1300" dirty="0">
                <a:solidFill>
                  <a:srgbClr val="5F6B6D"/>
                </a:solidFill>
                <a:latin typeface="Meiryo" pitchFamily="34" charset="0"/>
                <a:ea typeface="Meiryo" pitchFamily="34" charset="-122"/>
                <a:cs typeface="Meiryo" pitchFamily="34" charset="-120"/>
              </a:rPr>
              <a:t>サイズ起因差が埋没</a:t>
            </a:r>
            <a:endParaRPr lang="en-US" sz="1300" dirty="0"/>
          </a:p>
        </p:txBody>
      </p:sp>
      <p:sp>
        <p:nvSpPr>
          <p:cNvPr id="26" name="Text 24"/>
          <p:cNvSpPr/>
          <p:nvPr/>
        </p:nvSpPr>
        <p:spPr>
          <a:xfrm>
            <a:off x="960120" y="4343400"/>
            <a:ext cx="4663440" cy="868680"/>
          </a:xfrm>
          <a:prstGeom prst="rect">
            <a:avLst/>
          </a:prstGeom>
          <a:noFill/>
          <a:ln/>
        </p:spPr>
        <p:txBody>
          <a:bodyPr wrap="square" lIns="508" tIns="508" rIns="508" bIns="508" rtlCol="0" anchor="t">
            <a:normAutofit/>
          </a:bodyPr>
          <a:lstStyle/>
          <a:p>
            <a:pPr marL="0" indent="0" algn="l">
              <a:buNone/>
            </a:pPr>
            <a:r>
              <a:rPr lang="en-US" sz="1480" dirty="0">
                <a:solidFill>
                  <a:srgbClr val="111111"/>
                </a:solidFill>
                <a:latin typeface="Meiryo" pitchFamily="34" charset="0"/>
                <a:ea typeface="Meiryo" pitchFamily="34" charset="-122"/>
                <a:cs typeface="Meiryo" pitchFamily="34" charset="-120"/>
              </a:rPr>
              <a:t>• count だけでは「粒径帯の違い」を区別できない。</a:t>
            </a:r>
            <a:endParaRPr lang="en-US" sz="1480" dirty="0"/>
          </a:p>
          <a:p>
            <a:pPr marL="0" indent="0" algn="l">
              <a:buNone/>
            </a:pPr>
            <a:r>
              <a:rPr lang="en-US" sz="1480" dirty="0">
                <a:solidFill>
                  <a:srgbClr val="111111"/>
                </a:solidFill>
                <a:latin typeface="Meiryo" pitchFamily="34" charset="0"/>
                <a:ea typeface="Meiryo" pitchFamily="34" charset="-122"/>
                <a:cs typeface="Meiryo" pitchFamily="34" charset="-120"/>
              </a:rPr>
              <a:t>• size を 3D 空間軸と同じ扱いにすると、物理的近さと属性近さが混ざる。</a:t>
            </a:r>
            <a:endParaRPr lang="en-US" sz="1480" dirty="0"/>
          </a:p>
        </p:txBody>
      </p:sp>
      <p:sp>
        <p:nvSpPr>
          <p:cNvPr id="27" name="Shape 25"/>
          <p:cNvSpPr/>
          <p:nvPr/>
        </p:nvSpPr>
        <p:spPr>
          <a:xfrm>
            <a:off x="6355080" y="1051560"/>
            <a:ext cx="5120640" cy="4800600"/>
          </a:xfrm>
          <a:prstGeom prst="roundRect">
            <a:avLst>
              <a:gd name="adj" fmla="val 1143"/>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28" name="Text 26"/>
          <p:cNvSpPr/>
          <p:nvPr/>
        </p:nvSpPr>
        <p:spPr>
          <a:xfrm>
            <a:off x="6483096" y="1124712"/>
            <a:ext cx="48646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本提案: spatial × size の joint 表現</a:t>
            </a:r>
            <a:endParaRPr lang="en-US" sz="1400" dirty="0"/>
          </a:p>
        </p:txBody>
      </p:sp>
      <p:sp>
        <p:nvSpPr>
          <p:cNvPr id="29" name="Shape 27"/>
          <p:cNvSpPr/>
          <p:nvPr/>
        </p:nvSpPr>
        <p:spPr>
          <a:xfrm>
            <a:off x="6629400" y="1627632"/>
            <a:ext cx="2011680" cy="2331720"/>
          </a:xfrm>
          <a:prstGeom prst="roundRect">
            <a:avLst>
              <a:gd name="adj" fmla="val 2727"/>
            </a:avLst>
          </a:prstGeom>
          <a:solidFill>
            <a:srgbClr val="FFFFFF"/>
          </a:solidFill>
          <a:ln w="12700">
            <a:solidFill>
              <a:srgbClr val="CAD8E0"/>
            </a:solidFill>
            <a:prstDash val="solid"/>
          </a:ln>
        </p:spPr>
      </p:sp>
      <p:sp>
        <p:nvSpPr>
          <p:cNvPr id="30" name="Text 28"/>
          <p:cNvSpPr/>
          <p:nvPr/>
        </p:nvSpPr>
        <p:spPr>
          <a:xfrm>
            <a:off x="6757416" y="1700784"/>
            <a:ext cx="17556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空間セル c</a:t>
            </a:r>
            <a:endParaRPr lang="en-US" sz="1400" dirty="0"/>
          </a:p>
        </p:txBody>
      </p:sp>
      <p:sp>
        <p:nvSpPr>
          <p:cNvPr id="31" name="Text 29"/>
          <p:cNvSpPr/>
          <p:nvPr/>
        </p:nvSpPr>
        <p:spPr>
          <a:xfrm>
            <a:off x="7196328" y="1901952"/>
            <a:ext cx="822960" cy="164592"/>
          </a:xfrm>
          <a:prstGeom prst="rect">
            <a:avLst/>
          </a:prstGeom>
          <a:noFill/>
          <a:ln/>
        </p:spPr>
        <p:txBody>
          <a:bodyPr wrap="square" lIns="0" tIns="0" rIns="0" bIns="0" rtlCol="0" anchor="ctr"/>
          <a:lstStyle/>
          <a:p>
            <a:pPr marL="0" indent="0" algn="ctr">
              <a:buNone/>
            </a:pPr>
            <a:r>
              <a:rPr lang="en-US" sz="1200" dirty="0">
                <a:solidFill>
                  <a:srgbClr val="5F6B6D"/>
                </a:solidFill>
                <a:latin typeface="Meiryo" pitchFamily="34" charset="0"/>
                <a:ea typeface="Meiryo" pitchFamily="34" charset="-122"/>
                <a:cs typeface="Meiryo" pitchFamily="34" charset="-120"/>
              </a:rPr>
              <a:t>同一セル c</a:t>
            </a:r>
            <a:endParaRPr lang="en-US" sz="1200" dirty="0"/>
          </a:p>
        </p:txBody>
      </p:sp>
      <p:sp>
        <p:nvSpPr>
          <p:cNvPr id="32" name="Shape 30"/>
          <p:cNvSpPr/>
          <p:nvPr/>
        </p:nvSpPr>
        <p:spPr>
          <a:xfrm>
            <a:off x="7223760" y="2148840"/>
            <a:ext cx="822960" cy="822960"/>
          </a:xfrm>
          <a:prstGeom prst="rect">
            <a:avLst/>
          </a:prstGeom>
          <a:solidFill>
            <a:srgbClr val="F8FBFD"/>
          </a:solidFill>
          <a:ln w="12700">
            <a:solidFill>
              <a:srgbClr val="CAD8E0"/>
            </a:solidFill>
            <a:prstDash val="solid"/>
          </a:ln>
        </p:spPr>
      </p:sp>
      <p:sp>
        <p:nvSpPr>
          <p:cNvPr id="33" name="Shape 31"/>
          <p:cNvSpPr/>
          <p:nvPr/>
        </p:nvSpPr>
        <p:spPr>
          <a:xfrm>
            <a:off x="7479792" y="2395728"/>
            <a:ext cx="91440" cy="91440"/>
          </a:xfrm>
          <a:prstGeom prst="ellipse">
            <a:avLst/>
          </a:prstGeom>
          <a:solidFill>
            <a:srgbClr val="4FC3F7"/>
          </a:solidFill>
          <a:ln w="12700">
            <a:solidFill>
              <a:srgbClr val="4FC3F7"/>
            </a:solidFill>
            <a:prstDash val="solid"/>
          </a:ln>
        </p:spPr>
      </p:sp>
      <p:sp>
        <p:nvSpPr>
          <p:cNvPr id="34" name="Shape 32"/>
          <p:cNvSpPr/>
          <p:nvPr/>
        </p:nvSpPr>
        <p:spPr>
          <a:xfrm>
            <a:off x="7699248" y="2340864"/>
            <a:ext cx="201168" cy="201168"/>
          </a:xfrm>
          <a:prstGeom prst="ellipse">
            <a:avLst/>
          </a:prstGeom>
          <a:solidFill>
            <a:srgbClr val="F4A261">
              <a:alpha val="90000"/>
            </a:srgbClr>
          </a:solidFill>
          <a:ln w="12700">
            <a:solidFill>
              <a:srgbClr val="F4A261"/>
            </a:solidFill>
            <a:prstDash val="solid"/>
          </a:ln>
        </p:spPr>
      </p:sp>
      <p:sp>
        <p:nvSpPr>
          <p:cNvPr id="35" name="Shape 33"/>
          <p:cNvSpPr/>
          <p:nvPr/>
        </p:nvSpPr>
        <p:spPr>
          <a:xfrm>
            <a:off x="8796528" y="2359152"/>
            <a:ext cx="347472" cy="274320"/>
          </a:xfrm>
          <a:prstGeom prst="chevron">
            <a:avLst/>
          </a:prstGeom>
          <a:solidFill>
            <a:srgbClr val="D7E3EA"/>
          </a:solidFill>
          <a:ln w="12700">
            <a:solidFill>
              <a:srgbClr val="D7E3EA"/>
            </a:solidFill>
            <a:prstDash val="solid"/>
          </a:ln>
        </p:spPr>
      </p:sp>
      <p:sp>
        <p:nvSpPr>
          <p:cNvPr id="36" name="Shape 34"/>
          <p:cNvSpPr/>
          <p:nvPr/>
        </p:nvSpPr>
        <p:spPr>
          <a:xfrm>
            <a:off x="9217152" y="1627632"/>
            <a:ext cx="1920240" cy="2331720"/>
          </a:xfrm>
          <a:prstGeom prst="roundRect">
            <a:avLst>
              <a:gd name="adj" fmla="val 2857"/>
            </a:avLst>
          </a:prstGeom>
          <a:solidFill>
            <a:srgbClr val="FFFFFF"/>
          </a:solidFill>
          <a:ln w="12700">
            <a:solidFill>
              <a:srgbClr val="CAD8E0"/>
            </a:solidFill>
            <a:prstDash val="solid"/>
          </a:ln>
        </p:spPr>
      </p:sp>
      <p:sp>
        <p:nvSpPr>
          <p:cNvPr id="37" name="Text 35"/>
          <p:cNvSpPr/>
          <p:nvPr/>
        </p:nvSpPr>
        <p:spPr>
          <a:xfrm>
            <a:off x="9345168" y="1700784"/>
            <a:ext cx="16642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size bins b</a:t>
            </a:r>
            <a:endParaRPr lang="en-US" sz="1400" dirty="0"/>
          </a:p>
        </p:txBody>
      </p:sp>
      <p:sp>
        <p:nvSpPr>
          <p:cNvPr id="38" name="Text 36"/>
          <p:cNvSpPr/>
          <p:nvPr/>
        </p:nvSpPr>
        <p:spPr>
          <a:xfrm>
            <a:off x="9372600" y="1993392"/>
            <a:ext cx="539496" cy="231648"/>
          </a:xfrm>
          <a:prstGeom prst="rect">
            <a:avLst/>
          </a:prstGeom>
          <a:noFill/>
          <a:ln/>
        </p:spPr>
        <p:txBody>
          <a:bodyPr wrap="square" lIns="0" tIns="0" rIns="0" bIns="0" rtlCol="0" anchor="ctr">
            <a:normAutofit/>
          </a:bodyPr>
          <a:lstStyle/>
          <a:p>
            <a:pPr marL="0" indent="0">
              <a:buNone/>
            </a:pPr>
            <a:r>
              <a:rPr lang="en-US" sz="1050" dirty="0">
                <a:solidFill>
                  <a:srgbClr val="111111"/>
                </a:solidFill>
                <a:latin typeface="Meiryo" pitchFamily="34" charset="0"/>
                <a:ea typeface="Meiryo" pitchFamily="34" charset="-122"/>
                <a:cs typeface="Meiryo" pitchFamily="34" charset="-120"/>
              </a:rPr>
              <a:t>small</a:t>
            </a:r>
            <a:endParaRPr lang="en-US" sz="1050" dirty="0"/>
          </a:p>
        </p:txBody>
      </p:sp>
      <p:sp>
        <p:nvSpPr>
          <p:cNvPr id="39" name="Shape 37"/>
          <p:cNvSpPr/>
          <p:nvPr/>
        </p:nvSpPr>
        <p:spPr>
          <a:xfrm>
            <a:off x="9966960" y="2020824"/>
            <a:ext cx="274320" cy="176784"/>
          </a:xfrm>
          <a:prstGeom prst="roundRect">
            <a:avLst>
              <a:gd name="adj" fmla="val 15517"/>
            </a:avLst>
          </a:prstGeom>
          <a:solidFill>
            <a:srgbClr val="ECF2F6"/>
          </a:solidFill>
          <a:ln w="12700">
            <a:solidFill>
              <a:srgbClr val="ECF2F6"/>
            </a:solidFill>
            <a:prstDash val="solid"/>
          </a:ln>
        </p:spPr>
      </p:sp>
      <p:sp>
        <p:nvSpPr>
          <p:cNvPr id="40" name="Shape 38"/>
          <p:cNvSpPr/>
          <p:nvPr/>
        </p:nvSpPr>
        <p:spPr>
          <a:xfrm>
            <a:off x="9966960" y="2020824"/>
            <a:ext cx="274320" cy="176784"/>
          </a:xfrm>
          <a:prstGeom prst="roundRect">
            <a:avLst>
              <a:gd name="adj" fmla="val 15517"/>
            </a:avLst>
          </a:prstGeom>
          <a:solidFill>
            <a:srgbClr val="4FC3F7"/>
          </a:solidFill>
          <a:ln w="12700">
            <a:solidFill>
              <a:srgbClr val="4FC3F7"/>
            </a:solidFill>
            <a:prstDash val="solid"/>
          </a:ln>
        </p:spPr>
      </p:sp>
      <p:sp>
        <p:nvSpPr>
          <p:cNvPr id="41" name="Text 39"/>
          <p:cNvSpPr/>
          <p:nvPr/>
        </p:nvSpPr>
        <p:spPr>
          <a:xfrm>
            <a:off x="10332720" y="1993392"/>
            <a:ext cx="548640" cy="23164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1</a:t>
            </a:r>
            <a:endParaRPr lang="en-US" sz="1050" dirty="0"/>
          </a:p>
        </p:txBody>
      </p:sp>
      <p:sp>
        <p:nvSpPr>
          <p:cNvPr id="42" name="Text 40"/>
          <p:cNvSpPr/>
          <p:nvPr/>
        </p:nvSpPr>
        <p:spPr>
          <a:xfrm>
            <a:off x="9372600" y="2353056"/>
            <a:ext cx="539496" cy="231648"/>
          </a:xfrm>
          <a:prstGeom prst="rect">
            <a:avLst/>
          </a:prstGeom>
          <a:noFill/>
          <a:ln/>
        </p:spPr>
        <p:txBody>
          <a:bodyPr wrap="square" lIns="0" tIns="0" rIns="0" bIns="0" rtlCol="0" anchor="ctr">
            <a:normAutofit/>
          </a:bodyPr>
          <a:lstStyle/>
          <a:p>
            <a:pPr marL="0" indent="0">
              <a:buNone/>
            </a:pPr>
            <a:r>
              <a:rPr lang="en-US" sz="1050" dirty="0">
                <a:solidFill>
                  <a:srgbClr val="111111"/>
                </a:solidFill>
                <a:latin typeface="Meiryo" pitchFamily="34" charset="0"/>
                <a:ea typeface="Meiryo" pitchFamily="34" charset="-122"/>
                <a:cs typeface="Meiryo" pitchFamily="34" charset="-120"/>
              </a:rPr>
              <a:t>mid</a:t>
            </a:r>
            <a:endParaRPr lang="en-US" sz="1050" dirty="0"/>
          </a:p>
        </p:txBody>
      </p:sp>
      <p:sp>
        <p:nvSpPr>
          <p:cNvPr id="43" name="Shape 41"/>
          <p:cNvSpPr/>
          <p:nvPr/>
        </p:nvSpPr>
        <p:spPr>
          <a:xfrm>
            <a:off x="9966960" y="2380488"/>
            <a:ext cx="274320" cy="176784"/>
          </a:xfrm>
          <a:prstGeom prst="roundRect">
            <a:avLst>
              <a:gd name="adj" fmla="val 15517"/>
            </a:avLst>
          </a:prstGeom>
          <a:solidFill>
            <a:srgbClr val="ECF2F6"/>
          </a:solidFill>
          <a:ln w="12700">
            <a:solidFill>
              <a:srgbClr val="ECF2F6"/>
            </a:solidFill>
            <a:prstDash val="solid"/>
          </a:ln>
        </p:spPr>
      </p:sp>
      <p:sp>
        <p:nvSpPr>
          <p:cNvPr id="44" name="Shape 42"/>
          <p:cNvSpPr/>
          <p:nvPr/>
        </p:nvSpPr>
        <p:spPr>
          <a:xfrm>
            <a:off x="9966960" y="2380488"/>
            <a:ext cx="0" cy="176784"/>
          </a:xfrm>
          <a:prstGeom prst="roundRect">
            <a:avLst>
              <a:gd name="adj" fmla="val Infinity"/>
            </a:avLst>
          </a:prstGeom>
          <a:solidFill>
            <a:srgbClr val="F2F5F7"/>
          </a:solidFill>
          <a:ln w="12700">
            <a:solidFill>
              <a:srgbClr val="F2F5F7"/>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従来の課題③ 混合要因・説明性・実装制約</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Issue 3</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3703320" cy="4892040"/>
          </a:xfrm>
          <a:prstGeom prst="roundRect">
            <a:avLst>
              <a:gd name="adj" fmla="val 14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124712"/>
            <a:ext cx="34472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混合要因の例</a:t>
            </a:r>
            <a:endParaRPr lang="en-US" sz="1400" dirty="0"/>
          </a:p>
        </p:txBody>
      </p:sp>
      <p:sp>
        <p:nvSpPr>
          <p:cNvPr id="7" name="Shape 5"/>
          <p:cNvSpPr/>
          <p:nvPr/>
        </p:nvSpPr>
        <p:spPr>
          <a:xfrm>
            <a:off x="1005840" y="1783080"/>
            <a:ext cx="1554480" cy="1554480"/>
          </a:xfrm>
          <a:prstGeom prst="ellipse">
            <a:avLst/>
          </a:prstGeom>
          <a:solidFill>
            <a:srgbClr val="FFFFFF"/>
          </a:solidFill>
          <a:ln w="12700">
            <a:solidFill>
              <a:srgbClr val="BBC9D1"/>
            </a:solidFill>
            <a:prstDash val="solid"/>
          </a:ln>
        </p:spPr>
      </p:sp>
      <p:sp>
        <p:nvSpPr>
          <p:cNvPr id="8" name="Shape 6"/>
          <p:cNvSpPr/>
          <p:nvPr/>
        </p:nvSpPr>
        <p:spPr>
          <a:xfrm>
            <a:off x="1285646" y="2062886"/>
            <a:ext cx="994867" cy="994867"/>
          </a:xfrm>
          <a:prstGeom prst="donut">
            <a:avLst/>
          </a:prstGeom>
          <a:solidFill>
            <a:srgbClr val="4FC3F7">
              <a:alpha val="45000"/>
            </a:srgbClr>
          </a:solidFill>
          <a:ln w="12700">
            <a:solidFill>
              <a:srgbClr val="4FC3F7"/>
            </a:solidFill>
            <a:prstDash val="solid"/>
          </a:ln>
        </p:spPr>
      </p:sp>
      <p:sp>
        <p:nvSpPr>
          <p:cNvPr id="9" name="Shape 7"/>
          <p:cNvSpPr/>
          <p:nvPr/>
        </p:nvSpPr>
        <p:spPr>
          <a:xfrm>
            <a:off x="1938528" y="2218334"/>
            <a:ext cx="279806" cy="279806"/>
          </a:xfrm>
          <a:prstGeom prst="ellipse">
            <a:avLst/>
          </a:prstGeom>
          <a:solidFill>
            <a:srgbClr val="E76F51">
              <a:alpha val="90000"/>
            </a:srgbClr>
          </a:solidFill>
          <a:ln w="12700">
            <a:solidFill>
              <a:srgbClr val="E76F51"/>
            </a:solidFill>
            <a:prstDash val="solid"/>
          </a:ln>
        </p:spPr>
      </p:sp>
      <p:sp>
        <p:nvSpPr>
          <p:cNvPr id="10" name="Text 8"/>
          <p:cNvSpPr/>
          <p:nvPr/>
        </p:nvSpPr>
        <p:spPr>
          <a:xfrm>
            <a:off x="896112" y="3584448"/>
            <a:ext cx="2331720" cy="182880"/>
          </a:xfrm>
          <a:prstGeom prst="rect">
            <a:avLst/>
          </a:prstGeom>
          <a:noFill/>
          <a:ln/>
        </p:spPr>
        <p:txBody>
          <a:bodyPr wrap="square" lIns="0" tIns="0" rIns="0" bIns="0" rtlCol="0" anchor="ctr"/>
          <a:lstStyle/>
          <a:p>
            <a:pPr marL="0" indent="0" algn="ctr">
              <a:buNone/>
            </a:pPr>
            <a:r>
              <a:rPr lang="en-US" sz="1450" b="1" dirty="0">
                <a:solidFill>
                  <a:srgbClr val="0B3C5D"/>
                </a:solidFill>
                <a:latin typeface="Meiryo" pitchFamily="34" charset="0"/>
                <a:ea typeface="Meiryo" pitchFamily="34" charset="-122"/>
                <a:cs typeface="Meiryo" pitchFamily="34" charset="-120"/>
              </a:rPr>
              <a:t>例: ring + hotspot が同じウェハに共存</a:t>
            </a:r>
            <a:endParaRPr lang="en-US" sz="1450" dirty="0"/>
          </a:p>
        </p:txBody>
      </p:sp>
      <p:sp>
        <p:nvSpPr>
          <p:cNvPr id="11" name="Shape 9"/>
          <p:cNvSpPr/>
          <p:nvPr/>
        </p:nvSpPr>
        <p:spPr>
          <a:xfrm>
            <a:off x="914400" y="3886200"/>
            <a:ext cx="3154680" cy="1417320"/>
          </a:xfrm>
          <a:prstGeom prst="roundRect">
            <a:avLst>
              <a:gd name="adj" fmla="val 3871"/>
            </a:avLst>
          </a:prstGeom>
          <a:solidFill>
            <a:srgbClr val="F7FAFC"/>
          </a:solidFill>
          <a:ln w="12700">
            <a:solidFill>
              <a:srgbClr val="CAD8E0"/>
            </a:solidFill>
            <a:prstDash val="solid"/>
          </a:ln>
        </p:spPr>
      </p:sp>
      <p:sp>
        <p:nvSpPr>
          <p:cNvPr id="12" name="Text 10"/>
          <p:cNvSpPr/>
          <p:nvPr/>
        </p:nvSpPr>
        <p:spPr>
          <a:xfrm>
            <a:off x="1051560" y="4160520"/>
            <a:ext cx="2834640" cy="86868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単一ラベル分類だと二次原因・局所原因が落ちる。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粒子単位説明だけでも、工程担当者が求める cause map には直結しにくい。</a:t>
            </a:r>
            <a:endParaRPr lang="en-US" sz="1450" dirty="0"/>
          </a:p>
        </p:txBody>
      </p:sp>
      <p:sp>
        <p:nvSpPr>
          <p:cNvPr id="13" name="Shape 11"/>
          <p:cNvSpPr/>
          <p:nvPr/>
        </p:nvSpPr>
        <p:spPr>
          <a:xfrm>
            <a:off x="4526280" y="1051560"/>
            <a:ext cx="2880360" cy="4892040"/>
          </a:xfrm>
          <a:prstGeom prst="roundRect">
            <a:avLst>
              <a:gd name="adj" fmla="val 1905"/>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14" name="Text 12"/>
          <p:cNvSpPr/>
          <p:nvPr/>
        </p:nvSpPr>
        <p:spPr>
          <a:xfrm>
            <a:off x="4654296" y="1124712"/>
            <a:ext cx="26243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現行対策の限界</a:t>
            </a:r>
            <a:endParaRPr lang="en-US" sz="1400" dirty="0"/>
          </a:p>
        </p:txBody>
      </p:sp>
      <p:sp>
        <p:nvSpPr>
          <p:cNvPr id="15" name="Text 13"/>
          <p:cNvSpPr/>
          <p:nvPr/>
        </p:nvSpPr>
        <p:spPr>
          <a:xfrm>
            <a:off x="4709160" y="1463040"/>
            <a:ext cx="2514600" cy="2743200"/>
          </a:xfrm>
          <a:prstGeom prst="rect">
            <a:avLst/>
          </a:prstGeom>
          <a:noFill/>
          <a:ln/>
        </p:spPr>
        <p:txBody>
          <a:bodyPr wrap="square" lIns="508" tIns="508" rIns="508" bIns="508" rtlCol="0" anchor="t">
            <a:normAutofit/>
          </a:bodyPr>
          <a:lstStyle/>
          <a:p>
            <a:pPr marL="0" indent="0" algn="l">
              <a:buNone/>
            </a:pPr>
            <a:r>
              <a:rPr lang="en-US" sz="1470" dirty="0">
                <a:solidFill>
                  <a:srgbClr val="111111"/>
                </a:solidFill>
                <a:latin typeface="Meiryo" pitchFamily="34" charset="0"/>
                <a:ea typeface="Meiryo" pitchFamily="34" charset="-122"/>
                <a:cs typeface="Meiryo" pitchFamily="34" charset="-120"/>
              </a:rPr>
              <a:t>• 画像分類: 全体ラベル化しやすいが、局所責務が弱い。</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点群/GNN: 粒子帰属は得やすいが、場としての可視化や action linkage を別設計にしがち。</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統計ルール: 人に説明しやすいが、複合形状や未知パターンに弱い。</a:t>
            </a:r>
            <a:endParaRPr lang="en-US" sz="1470" dirty="0"/>
          </a:p>
          <a:p>
            <a:pPr marL="0" indent="0" algn="l">
              <a:buNone/>
            </a:pPr>
            <a:r>
              <a:rPr lang="en-US" sz="1470" dirty="0">
                <a:solidFill>
                  <a:srgbClr val="111111"/>
                </a:solidFill>
                <a:latin typeface="Meiryo" pitchFamily="34" charset="0"/>
                <a:ea typeface="Meiryo" pitchFamily="34" charset="-122"/>
                <a:cs typeface="Meiryo" pitchFamily="34" charset="-120"/>
              </a:rPr>
              <a:t>• 運用面: 不確かさが無いと誤介入リスクが残る。</a:t>
            </a:r>
            <a:endParaRPr lang="en-US" sz="1470" dirty="0"/>
          </a:p>
        </p:txBody>
      </p:sp>
      <p:sp>
        <p:nvSpPr>
          <p:cNvPr id="16" name="Shape 14"/>
          <p:cNvSpPr/>
          <p:nvPr/>
        </p:nvSpPr>
        <p:spPr>
          <a:xfrm>
            <a:off x="4709160" y="4526280"/>
            <a:ext cx="2286000" cy="868680"/>
          </a:xfrm>
          <a:prstGeom prst="roundRect">
            <a:avLst>
              <a:gd name="adj" fmla="val 6316"/>
            </a:avLst>
          </a:prstGeom>
          <a:solidFill>
            <a:srgbClr val="FFFFFF"/>
          </a:solidFill>
          <a:ln w="12700">
            <a:solidFill>
              <a:srgbClr val="CAD8E0"/>
            </a:solidFill>
            <a:prstDash val="solid"/>
          </a:ln>
        </p:spPr>
      </p:sp>
      <p:sp>
        <p:nvSpPr>
          <p:cNvPr id="17" name="Text 15"/>
          <p:cNvSpPr/>
          <p:nvPr/>
        </p:nvSpPr>
        <p:spPr>
          <a:xfrm>
            <a:off x="4837176" y="4599432"/>
            <a:ext cx="20299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評価指標の例</a:t>
            </a:r>
            <a:endParaRPr lang="en-US" sz="1400" dirty="0"/>
          </a:p>
        </p:txBody>
      </p:sp>
      <p:sp>
        <p:nvSpPr>
          <p:cNvPr id="18" name="Text 16"/>
          <p:cNvSpPr/>
          <p:nvPr/>
        </p:nvSpPr>
        <p:spPr>
          <a:xfrm>
            <a:off x="4828032" y="4791456"/>
            <a:ext cx="2011680" cy="411480"/>
          </a:xfrm>
          <a:prstGeom prst="rect">
            <a:avLst/>
          </a:prstGeom>
          <a:noFill/>
          <a:ln/>
        </p:spPr>
        <p:txBody>
          <a:bodyPr wrap="square" lIns="508" tIns="508" rIns="508" bIns="508" rtlCol="0" anchor="t">
            <a:normAutofit/>
          </a:bodyPr>
          <a:lstStyle/>
          <a:p>
            <a:pPr marL="0" indent="0" algn="l">
              <a:buNone/>
            </a:pPr>
            <a:r>
              <a:rPr lang="en-US" sz="1350" dirty="0">
                <a:solidFill>
                  <a:srgbClr val="111111"/>
                </a:solidFill>
                <a:latin typeface="Meiryo" pitchFamily="34" charset="0"/>
                <a:ea typeface="Meiryo" pitchFamily="34" charset="-122"/>
                <a:cs typeface="Meiryo" pitchFamily="34" charset="-120"/>
              </a:rPr>
              <a:t>• presence F1</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count NLL</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geom error</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calibration</a:t>
            </a:r>
            <a:endParaRPr lang="en-US" sz="1350" dirty="0"/>
          </a:p>
        </p:txBody>
      </p:sp>
      <p:sp>
        <p:nvSpPr>
          <p:cNvPr id="19" name="Shape 17"/>
          <p:cNvSpPr/>
          <p:nvPr/>
        </p:nvSpPr>
        <p:spPr>
          <a:xfrm>
            <a:off x="7571232" y="1051560"/>
            <a:ext cx="3886200" cy="4892040"/>
          </a:xfrm>
          <a:prstGeom prst="roundRect">
            <a:avLst>
              <a:gd name="adj" fmla="val 1412"/>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20" name="Text 18"/>
          <p:cNvSpPr/>
          <p:nvPr/>
        </p:nvSpPr>
        <p:spPr>
          <a:xfrm>
            <a:off x="7699248" y="1124712"/>
            <a:ext cx="36301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実装上の制約</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0" y="1463040"/>
          <a:ext cx="3474720" cy="2240280"/>
        </p:xfrm>
        <a:graphic>
          <a:graphicData uri="http://schemas.openxmlformats.org/drawingml/2006/table">
            <a:tbl>
              <a:tblPr/>
              <a:tblGrid>
                <a:gridCol w="9144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411480">
                <a:tc>
                  <a:txBody>
                    <a:bodyPr/>
                    <a:lstStyle/>
                    <a:p>
                      <a:pPr marL="0" indent="0">
                        <a:buNone/>
                      </a:pPr>
                      <a:r>
                        <a:rPr lang="en-US" sz="1320" dirty="0">
                          <a:solidFill>
                            <a:srgbClr val="111111"/>
                          </a:solidFill>
                          <a:latin typeface="Meiryo" pitchFamily="34" charset="0"/>
                          <a:ea typeface="Meiryo" pitchFamily="34" charset="-122"/>
                          <a:cs typeface="Meiryo" pitchFamily="34" charset="-120"/>
                        </a:rPr>
                        <a:t>ウェハ形状</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20" dirty="0">
                          <a:solidFill>
                            <a:srgbClr val="111111"/>
                          </a:solidFill>
                          <a:latin typeface="Meiryo" pitchFamily="34" charset="0"/>
                          <a:ea typeface="Meiryo" pitchFamily="34" charset="-122"/>
                          <a:cs typeface="Meiryo" pitchFamily="34" charset="-120"/>
                        </a:rPr>
                        <a:t>円形で x-y に無効セルがある</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marL="0" indent="0">
                        <a:buNone/>
                      </a:pPr>
                      <a:r>
                        <a:rPr lang="en-US" sz="1320" dirty="0">
                          <a:solidFill>
                            <a:srgbClr val="111111"/>
                          </a:solidFill>
                          <a:latin typeface="Meiryo" pitchFamily="34" charset="0"/>
                          <a:ea typeface="Meiryo" pitchFamily="34" charset="-122"/>
                          <a:cs typeface="Meiryo" pitchFamily="34" charset="-120"/>
                        </a:rPr>
                        <a:t>角度軸</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20" dirty="0">
                          <a:solidFill>
                            <a:srgbClr val="111111"/>
                          </a:solidFill>
                          <a:latin typeface="Meiryo" pitchFamily="34" charset="0"/>
                          <a:ea typeface="Meiryo" pitchFamily="34" charset="-122"/>
                          <a:cs typeface="Meiryo" pitchFamily="34" charset="-120"/>
                        </a:rPr>
                        <a:t>theta は周期境界を持つ</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20" dirty="0">
                          <a:solidFill>
                            <a:srgbClr val="111111"/>
                          </a:solidFill>
                          <a:latin typeface="Meiryo" pitchFamily="34" charset="0"/>
                          <a:ea typeface="Meiryo" pitchFamily="34" charset="-122"/>
                          <a:cs typeface="Meiryo" pitchFamily="34" charset="-120"/>
                        </a:rPr>
                        <a:t>データ密度</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20" dirty="0">
                          <a:solidFill>
                            <a:srgbClr val="111111"/>
                          </a:solidFill>
                          <a:latin typeface="Meiryo" pitchFamily="34" charset="0"/>
                          <a:ea typeface="Meiryo" pitchFamily="34" charset="-122"/>
                          <a:cs typeface="Meiryo" pitchFamily="34" charset="-120"/>
                        </a:rPr>
                        <a:t>20〜200粒子/サンプルと疎</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20" dirty="0">
                          <a:solidFill>
                            <a:srgbClr val="111111"/>
                          </a:solidFill>
                          <a:latin typeface="Meiryo" pitchFamily="34" charset="0"/>
                          <a:ea typeface="Meiryo" pitchFamily="34" charset="-122"/>
                          <a:cs typeface="Meiryo" pitchFamily="34" charset="-120"/>
                        </a:rPr>
                        <a:t>現CSV</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20" dirty="0">
                          <a:solidFill>
                            <a:srgbClr val="111111"/>
                          </a:solidFill>
                          <a:latin typeface="Meiryo" pitchFamily="34" charset="0"/>
                          <a:ea typeface="Meiryo" pitchFamily="34" charset="-122"/>
                          <a:cs typeface="Meiryo" pitchFamily="34" charset="-120"/>
                        </a:rPr>
                        <a:t>single-pattern 基盤 / sample-level size scope</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20" dirty="0">
                          <a:solidFill>
                            <a:srgbClr val="111111"/>
                          </a:solidFill>
                          <a:latin typeface="Meiryo" pitchFamily="34" charset="0"/>
                          <a:ea typeface="Meiryo" pitchFamily="34" charset="-122"/>
                          <a:cs typeface="Meiryo" pitchFamily="34" charset="-120"/>
                        </a:rPr>
                        <a:t>運用要件</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20" dirty="0">
                          <a:solidFill>
                            <a:srgbClr val="111111"/>
                          </a:solidFill>
                          <a:latin typeface="Meiryo" pitchFamily="34" charset="0"/>
                          <a:ea typeface="Meiryo" pitchFamily="34" charset="-122"/>
                          <a:cs typeface="Meiryo" pitchFamily="34" charset="-120"/>
                        </a:rPr>
                        <a:t>誤アクション回避のため不確かさ必須</a:t>
                      </a:r>
                      <a:endParaRPr lang="en-US" sz="132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2" name="Shape 19"/>
          <p:cNvSpPr/>
          <p:nvPr/>
        </p:nvSpPr>
        <p:spPr>
          <a:xfrm>
            <a:off x="7772400" y="4005072"/>
            <a:ext cx="3291840" cy="1261872"/>
          </a:xfrm>
          <a:prstGeom prst="roundRect">
            <a:avLst>
              <a:gd name="adj" fmla="val 4348"/>
            </a:avLst>
          </a:prstGeom>
          <a:solidFill>
            <a:srgbClr val="F7FAFC"/>
          </a:solidFill>
          <a:ln w="12700">
            <a:solidFill>
              <a:srgbClr val="CAD8E0"/>
            </a:solidFill>
            <a:prstDash val="solid"/>
          </a:ln>
        </p:spPr>
      </p:sp>
      <p:sp>
        <p:nvSpPr>
          <p:cNvPr id="23" name="Text 20"/>
          <p:cNvSpPr/>
          <p:nvPr/>
        </p:nvSpPr>
        <p:spPr>
          <a:xfrm>
            <a:off x="7900416" y="4078224"/>
            <a:ext cx="30358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従来技術の本質的な不足</a:t>
            </a:r>
            <a:endParaRPr lang="en-US" sz="1400" dirty="0"/>
          </a:p>
        </p:txBody>
      </p:sp>
      <p:sp>
        <p:nvSpPr>
          <p:cNvPr id="24" name="Text 21"/>
          <p:cNvSpPr/>
          <p:nvPr/>
        </p:nvSpPr>
        <p:spPr>
          <a:xfrm>
            <a:off x="7936992" y="4352544"/>
            <a:ext cx="2971800" cy="594360"/>
          </a:xfrm>
          <a:prstGeom prst="rect">
            <a:avLst/>
          </a:prstGeom>
          <a:noFill/>
          <a:ln/>
        </p:spPr>
        <p:txBody>
          <a:bodyPr wrap="square" lIns="508" tIns="508" rIns="508" bIns="508" rtlCol="0" anchor="t">
            <a:normAutofit/>
          </a:bodyPr>
          <a:lstStyle/>
          <a:p>
            <a:pPr marL="0" indent="0" algn="l">
              <a:buNone/>
            </a:pPr>
            <a:r>
              <a:rPr lang="en-US" sz="1520" dirty="0">
                <a:solidFill>
                  <a:srgbClr val="111111"/>
                </a:solidFill>
                <a:latin typeface="Meiryo" pitchFamily="34" charset="0"/>
                <a:ea typeface="Meiryo" pitchFamily="34" charset="-122"/>
                <a:cs typeface="Meiryo" pitchFamily="34" charset="-120"/>
              </a:rPr>
              <a:t>「空間」「サイズ」「説明」「不確かさ」「アクション接続」が1本の発明として統合されていない。</a:t>
            </a:r>
            <a:endParaRPr lang="en-US" sz="1520" dirty="0"/>
          </a:p>
        </p:txBody>
      </p:sp>
      <p:sp>
        <p:nvSpPr>
          <p:cNvPr id="25" name="Text 22"/>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11</a:t>
            </a:r>
            <a:endParaRPr lang="en-US" sz="1000" dirty="0"/>
          </a:p>
        </p:txBody>
      </p:sp>
      <p:sp>
        <p:nvSpPr>
          <p:cNvPr id="26" name="Text 23"/>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提案手法の全体像</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Proposed System</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05840"/>
            <a:ext cx="10881360" cy="5029200"/>
          </a:xfrm>
          <a:prstGeom prst="roundRect">
            <a:avLst>
              <a:gd name="adj" fmla="val 109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78992"/>
            <a:ext cx="106253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発明の基本シーケンス</a:t>
            </a:r>
            <a:endParaRPr lang="en-US" sz="1400" dirty="0"/>
          </a:p>
        </p:txBody>
      </p:sp>
      <p:sp>
        <p:nvSpPr>
          <p:cNvPr id="7" name="Shape 5"/>
          <p:cNvSpPr/>
          <p:nvPr/>
        </p:nvSpPr>
        <p:spPr>
          <a:xfrm>
            <a:off x="2249424" y="2514600"/>
            <a:ext cx="329184" cy="274320"/>
          </a:xfrm>
          <a:prstGeom prst="chevron">
            <a:avLst/>
          </a:prstGeom>
          <a:solidFill>
            <a:srgbClr val="D7E3EA"/>
          </a:solidFill>
          <a:ln w="12700">
            <a:solidFill>
              <a:srgbClr val="D7E3EA"/>
            </a:solidFill>
            <a:prstDash val="solid"/>
          </a:ln>
        </p:spPr>
      </p:sp>
      <p:sp>
        <p:nvSpPr>
          <p:cNvPr id="8" name="Shape 6"/>
          <p:cNvSpPr/>
          <p:nvPr/>
        </p:nvSpPr>
        <p:spPr>
          <a:xfrm>
            <a:off x="4032504" y="2514600"/>
            <a:ext cx="329184" cy="274320"/>
          </a:xfrm>
          <a:prstGeom prst="chevron">
            <a:avLst/>
          </a:prstGeom>
          <a:solidFill>
            <a:srgbClr val="D7E3EA"/>
          </a:solidFill>
          <a:ln w="12700">
            <a:solidFill>
              <a:srgbClr val="D7E3EA"/>
            </a:solidFill>
            <a:prstDash val="solid"/>
          </a:ln>
        </p:spPr>
      </p:sp>
      <p:sp>
        <p:nvSpPr>
          <p:cNvPr id="9" name="Shape 7"/>
          <p:cNvSpPr/>
          <p:nvPr/>
        </p:nvSpPr>
        <p:spPr>
          <a:xfrm>
            <a:off x="5815584" y="2514600"/>
            <a:ext cx="329184" cy="274320"/>
          </a:xfrm>
          <a:prstGeom prst="chevron">
            <a:avLst/>
          </a:prstGeom>
          <a:solidFill>
            <a:srgbClr val="D7E3EA"/>
          </a:solidFill>
          <a:ln w="12700">
            <a:solidFill>
              <a:srgbClr val="D7E3EA"/>
            </a:solidFill>
            <a:prstDash val="solid"/>
          </a:ln>
        </p:spPr>
      </p:sp>
      <p:sp>
        <p:nvSpPr>
          <p:cNvPr id="10" name="Shape 8"/>
          <p:cNvSpPr/>
          <p:nvPr/>
        </p:nvSpPr>
        <p:spPr>
          <a:xfrm>
            <a:off x="7598664" y="2514600"/>
            <a:ext cx="329184" cy="274320"/>
          </a:xfrm>
          <a:prstGeom prst="chevron">
            <a:avLst/>
          </a:prstGeom>
          <a:solidFill>
            <a:srgbClr val="D7E3EA"/>
          </a:solidFill>
          <a:ln w="12700">
            <a:solidFill>
              <a:srgbClr val="D7E3EA"/>
            </a:solidFill>
            <a:prstDash val="solid"/>
          </a:ln>
        </p:spPr>
      </p:sp>
      <p:sp>
        <p:nvSpPr>
          <p:cNvPr id="11" name="Shape 9"/>
          <p:cNvSpPr/>
          <p:nvPr/>
        </p:nvSpPr>
        <p:spPr>
          <a:xfrm>
            <a:off x="9381744" y="2514600"/>
            <a:ext cx="329184" cy="274320"/>
          </a:xfrm>
          <a:prstGeom prst="chevron">
            <a:avLst/>
          </a:prstGeom>
          <a:solidFill>
            <a:srgbClr val="D7E3EA"/>
          </a:solidFill>
          <a:ln w="12700">
            <a:solidFill>
              <a:srgbClr val="D7E3EA"/>
            </a:solidFill>
            <a:prstDash val="solid"/>
          </a:ln>
        </p:spPr>
      </p:sp>
      <p:sp>
        <p:nvSpPr>
          <p:cNvPr id="12" name="Shape 10"/>
          <p:cNvSpPr/>
          <p:nvPr/>
        </p:nvSpPr>
        <p:spPr>
          <a:xfrm>
            <a:off x="914400" y="2057400"/>
            <a:ext cx="1325880" cy="1417320"/>
          </a:xfrm>
          <a:prstGeom prst="roundRect">
            <a:avLst>
              <a:gd name="adj" fmla="val 4138"/>
            </a:avLst>
          </a:prstGeom>
          <a:solidFill>
            <a:srgbClr val="F9FBFD"/>
          </a:solidFill>
          <a:ln w="12700">
            <a:solidFill>
              <a:srgbClr val="CAD8E0"/>
            </a:solidFill>
            <a:prstDash val="solid"/>
          </a:ln>
        </p:spPr>
      </p:sp>
      <p:sp>
        <p:nvSpPr>
          <p:cNvPr id="13" name="Text 11"/>
          <p:cNvSpPr/>
          <p:nvPr/>
        </p:nvSpPr>
        <p:spPr>
          <a:xfrm>
            <a:off x="1024128" y="2423160"/>
            <a:ext cx="1097280" cy="502920"/>
          </a:xfrm>
          <a:prstGeom prst="rect">
            <a:avLst/>
          </a:prstGeom>
          <a:noFill/>
          <a:ln/>
        </p:spPr>
        <p:txBody>
          <a:bodyPr wrap="square" lIns="0" tIns="0" rIns="0" bIns="0" rtlCol="0" anchor="ctr"/>
          <a:lstStyle/>
          <a:p>
            <a:pPr marL="0" indent="0" algn="ctr">
              <a:buNone/>
            </a:pPr>
            <a:r>
              <a:rPr lang="en-US" sz="1600" b="1" dirty="0">
                <a:solidFill>
                  <a:srgbClr val="0B3C5D"/>
                </a:solidFill>
                <a:latin typeface="Meiryo" pitchFamily="34" charset="0"/>
                <a:ea typeface="Meiryo" pitchFamily="34" charset="-122"/>
                <a:cs typeface="Meiryo" pitchFamily="34" charset="-120"/>
              </a:rPr>
              <a:t>粒子データ</a:t>
            </a:r>
            <a:endParaRPr lang="en-US" sz="1600" dirty="0"/>
          </a:p>
          <a:p>
            <a:pPr marL="0" indent="0" algn="ctr">
              <a:buNone/>
            </a:pPr>
            <a:r>
              <a:rPr lang="en-US" sz="1600" b="1" dirty="0">
                <a:solidFill>
                  <a:srgbClr val="0B3C5D"/>
                </a:solidFill>
                <a:latin typeface="Meiryo" pitchFamily="34" charset="0"/>
                <a:ea typeface="Meiryo" pitchFamily="34" charset="-122"/>
                <a:cs typeface="Meiryo" pitchFamily="34" charset="-120"/>
              </a:rPr>
              <a:t>取得</a:t>
            </a:r>
            <a:endParaRPr lang="en-US" sz="1600" dirty="0"/>
          </a:p>
        </p:txBody>
      </p:sp>
      <p:sp>
        <p:nvSpPr>
          <p:cNvPr id="14" name="Shape 12"/>
          <p:cNvSpPr/>
          <p:nvPr/>
        </p:nvSpPr>
        <p:spPr>
          <a:xfrm>
            <a:off x="1353312" y="1783080"/>
            <a:ext cx="438912" cy="182880"/>
          </a:xfrm>
          <a:prstGeom prst="ellipse">
            <a:avLst/>
          </a:prstGeom>
          <a:solidFill>
            <a:srgbClr val="A0AEC0">
              <a:alpha val="85000"/>
            </a:srgbClr>
          </a:solidFill>
          <a:ln w="12700">
            <a:solidFill>
              <a:srgbClr val="A0AEC0"/>
            </a:solidFill>
            <a:prstDash val="solid"/>
          </a:ln>
        </p:spPr>
      </p:sp>
      <p:sp>
        <p:nvSpPr>
          <p:cNvPr id="15" name="Shape 13"/>
          <p:cNvSpPr/>
          <p:nvPr/>
        </p:nvSpPr>
        <p:spPr>
          <a:xfrm>
            <a:off x="2697480" y="2057400"/>
            <a:ext cx="1325880" cy="1417320"/>
          </a:xfrm>
          <a:prstGeom prst="roundRect">
            <a:avLst>
              <a:gd name="adj" fmla="val 4138"/>
            </a:avLst>
          </a:prstGeom>
          <a:solidFill>
            <a:srgbClr val="F9FBFD"/>
          </a:solidFill>
          <a:ln w="12700">
            <a:solidFill>
              <a:srgbClr val="CAD8E0"/>
            </a:solidFill>
            <a:prstDash val="solid"/>
          </a:ln>
        </p:spPr>
      </p:sp>
      <p:sp>
        <p:nvSpPr>
          <p:cNvPr id="16" name="Text 14"/>
          <p:cNvSpPr/>
          <p:nvPr/>
        </p:nvSpPr>
        <p:spPr>
          <a:xfrm>
            <a:off x="2807208" y="2423160"/>
            <a:ext cx="1097280" cy="502920"/>
          </a:xfrm>
          <a:prstGeom prst="rect">
            <a:avLst/>
          </a:prstGeom>
          <a:noFill/>
          <a:ln/>
        </p:spPr>
        <p:txBody>
          <a:bodyPr wrap="square" lIns="0" tIns="0" rIns="0" bIns="0" rtlCol="0" anchor="ctr"/>
          <a:lstStyle/>
          <a:p>
            <a:pPr marL="0" indent="0" algn="ctr">
              <a:buNone/>
            </a:pPr>
            <a:r>
              <a:rPr lang="en-US" sz="1600" b="1" dirty="0">
                <a:solidFill>
                  <a:srgbClr val="0B3C5D"/>
                </a:solidFill>
                <a:latin typeface="Meiryo" pitchFamily="34" charset="0"/>
                <a:ea typeface="Meiryo" pitchFamily="34" charset="-122"/>
                <a:cs typeface="Meiryo" pitchFamily="34" charset="-120"/>
              </a:rPr>
              <a:t>dual-grid</a:t>
            </a:r>
            <a:endParaRPr lang="en-US" sz="1600" dirty="0"/>
          </a:p>
          <a:p>
            <a:pPr marL="0" indent="0" algn="ctr">
              <a:buNone/>
            </a:pPr>
            <a:r>
              <a:rPr lang="en-US" sz="1600" b="1" dirty="0">
                <a:solidFill>
                  <a:srgbClr val="0B3C5D"/>
                </a:solidFill>
                <a:latin typeface="Meiryo" pitchFamily="34" charset="0"/>
                <a:ea typeface="Meiryo" pitchFamily="34" charset="-122"/>
                <a:cs typeface="Meiryo" pitchFamily="34" charset="-120"/>
              </a:rPr>
              <a:t>前処理</a:t>
            </a:r>
            <a:endParaRPr lang="en-US" sz="1600" dirty="0"/>
          </a:p>
        </p:txBody>
      </p:sp>
      <p:sp>
        <p:nvSpPr>
          <p:cNvPr id="17" name="Shape 15"/>
          <p:cNvSpPr/>
          <p:nvPr/>
        </p:nvSpPr>
        <p:spPr>
          <a:xfrm>
            <a:off x="3136392" y="1783080"/>
            <a:ext cx="438912" cy="182880"/>
          </a:xfrm>
          <a:prstGeom prst="ellipse">
            <a:avLst/>
          </a:prstGeom>
          <a:solidFill>
            <a:srgbClr val="4FC3F7">
              <a:alpha val="85000"/>
            </a:srgbClr>
          </a:solidFill>
          <a:ln w="12700">
            <a:solidFill>
              <a:srgbClr val="4FC3F7"/>
            </a:solidFill>
            <a:prstDash val="solid"/>
          </a:ln>
        </p:spPr>
      </p:sp>
      <p:sp>
        <p:nvSpPr>
          <p:cNvPr id="18" name="Shape 16"/>
          <p:cNvSpPr/>
          <p:nvPr/>
        </p:nvSpPr>
        <p:spPr>
          <a:xfrm>
            <a:off x="4480560" y="2057400"/>
            <a:ext cx="1325880" cy="1417320"/>
          </a:xfrm>
          <a:prstGeom prst="roundRect">
            <a:avLst>
              <a:gd name="adj" fmla="val 4138"/>
            </a:avLst>
          </a:prstGeom>
          <a:solidFill>
            <a:srgbClr val="F9FBFD"/>
          </a:solidFill>
          <a:ln w="12700">
            <a:solidFill>
              <a:srgbClr val="CAD8E0"/>
            </a:solidFill>
            <a:prstDash val="solid"/>
          </a:ln>
        </p:spPr>
      </p:sp>
      <p:sp>
        <p:nvSpPr>
          <p:cNvPr id="19" name="Text 17"/>
          <p:cNvSpPr/>
          <p:nvPr/>
        </p:nvSpPr>
        <p:spPr>
          <a:xfrm>
            <a:off x="4590288" y="2423160"/>
            <a:ext cx="1097280" cy="502920"/>
          </a:xfrm>
          <a:prstGeom prst="rect">
            <a:avLst/>
          </a:prstGeom>
          <a:noFill/>
          <a:ln/>
        </p:spPr>
        <p:txBody>
          <a:bodyPr wrap="square" lIns="0" tIns="0" rIns="0" bIns="0" rtlCol="0" anchor="ctr"/>
          <a:lstStyle/>
          <a:p>
            <a:pPr marL="0" indent="0" algn="ctr">
              <a:buNone/>
            </a:pPr>
            <a:r>
              <a:rPr lang="en-US" sz="1600" b="1" dirty="0">
                <a:solidFill>
                  <a:srgbClr val="0B3C5D"/>
                </a:solidFill>
                <a:latin typeface="Meiryo" pitchFamily="34" charset="0"/>
                <a:ea typeface="Meiryo" pitchFamily="34" charset="-122"/>
                <a:cs typeface="Meiryo" pitchFamily="34" charset="-120"/>
              </a:rPr>
              <a:t>HSSFNet-v2</a:t>
            </a:r>
            <a:endParaRPr lang="en-US" sz="1600" dirty="0"/>
          </a:p>
          <a:p>
            <a:pPr marL="0" indent="0" algn="ctr">
              <a:buNone/>
            </a:pPr>
            <a:r>
              <a:rPr lang="en-US" sz="1600" b="1" dirty="0">
                <a:solidFill>
                  <a:srgbClr val="0B3C5D"/>
                </a:solidFill>
                <a:latin typeface="Meiryo" pitchFamily="34" charset="0"/>
                <a:ea typeface="Meiryo" pitchFamily="34" charset="-122"/>
                <a:cs typeface="Meiryo" pitchFamily="34" charset="-120"/>
              </a:rPr>
              <a:t>推定</a:t>
            </a:r>
            <a:endParaRPr lang="en-US" sz="1600" dirty="0"/>
          </a:p>
        </p:txBody>
      </p:sp>
      <p:sp>
        <p:nvSpPr>
          <p:cNvPr id="20" name="Shape 18"/>
          <p:cNvSpPr/>
          <p:nvPr/>
        </p:nvSpPr>
        <p:spPr>
          <a:xfrm>
            <a:off x="4919472" y="1783080"/>
            <a:ext cx="438912" cy="182880"/>
          </a:xfrm>
          <a:prstGeom prst="ellipse">
            <a:avLst/>
          </a:prstGeom>
          <a:solidFill>
            <a:srgbClr val="4FC3F7">
              <a:alpha val="85000"/>
            </a:srgbClr>
          </a:solidFill>
          <a:ln w="12700">
            <a:solidFill>
              <a:srgbClr val="4FC3F7"/>
            </a:solidFill>
            <a:prstDash val="solid"/>
          </a:ln>
        </p:spPr>
      </p:sp>
      <p:sp>
        <p:nvSpPr>
          <p:cNvPr id="21" name="Shape 19"/>
          <p:cNvSpPr/>
          <p:nvPr/>
        </p:nvSpPr>
        <p:spPr>
          <a:xfrm>
            <a:off x="6263640" y="2057400"/>
            <a:ext cx="1325880" cy="1417320"/>
          </a:xfrm>
          <a:prstGeom prst="roundRect">
            <a:avLst>
              <a:gd name="adj" fmla="val 4138"/>
            </a:avLst>
          </a:prstGeom>
          <a:solidFill>
            <a:srgbClr val="F9FBFD"/>
          </a:solidFill>
          <a:ln w="12700">
            <a:solidFill>
              <a:srgbClr val="CAD8E0"/>
            </a:solidFill>
            <a:prstDash val="solid"/>
          </a:ln>
        </p:spPr>
      </p:sp>
      <p:sp>
        <p:nvSpPr>
          <p:cNvPr id="22" name="Text 20"/>
          <p:cNvSpPr/>
          <p:nvPr/>
        </p:nvSpPr>
        <p:spPr>
          <a:xfrm>
            <a:off x="6373368" y="2423160"/>
            <a:ext cx="1097280" cy="502920"/>
          </a:xfrm>
          <a:prstGeom prst="rect">
            <a:avLst/>
          </a:prstGeom>
          <a:noFill/>
          <a:ln/>
        </p:spPr>
        <p:txBody>
          <a:bodyPr wrap="square" lIns="0" tIns="0" rIns="0" bIns="0" rtlCol="0" anchor="ctr"/>
          <a:lstStyle/>
          <a:p>
            <a:pPr marL="0" indent="0" algn="ctr">
              <a:buNone/>
            </a:pPr>
            <a:r>
              <a:rPr lang="en-US" sz="1600" b="1" dirty="0">
                <a:solidFill>
                  <a:srgbClr val="0B3C5D"/>
                </a:solidFill>
                <a:latin typeface="Meiryo" pitchFamily="34" charset="0"/>
                <a:ea typeface="Meiryo" pitchFamily="34" charset="-122"/>
                <a:cs typeface="Meiryo" pitchFamily="34" charset="-120"/>
              </a:rPr>
              <a:t>不確かさ</a:t>
            </a:r>
            <a:endParaRPr lang="en-US" sz="1600" dirty="0"/>
          </a:p>
          <a:p>
            <a:pPr marL="0" indent="0" algn="ctr">
              <a:buNone/>
            </a:pPr>
            <a:r>
              <a:rPr lang="en-US" sz="1600" b="1" dirty="0">
                <a:solidFill>
                  <a:srgbClr val="0B3C5D"/>
                </a:solidFill>
                <a:latin typeface="Meiryo" pitchFamily="34" charset="0"/>
                <a:ea typeface="Meiryo" pitchFamily="34" charset="-122"/>
                <a:cs typeface="Meiryo" pitchFamily="34" charset="-120"/>
              </a:rPr>
              <a:t>判定</a:t>
            </a:r>
            <a:endParaRPr lang="en-US" sz="1600" dirty="0"/>
          </a:p>
        </p:txBody>
      </p:sp>
      <p:sp>
        <p:nvSpPr>
          <p:cNvPr id="23" name="Shape 21"/>
          <p:cNvSpPr/>
          <p:nvPr/>
        </p:nvSpPr>
        <p:spPr>
          <a:xfrm>
            <a:off x="6702552" y="1783080"/>
            <a:ext cx="438912" cy="182880"/>
          </a:xfrm>
          <a:prstGeom prst="ellipse">
            <a:avLst/>
          </a:prstGeom>
          <a:solidFill>
            <a:srgbClr val="F4A261">
              <a:alpha val="85000"/>
            </a:srgbClr>
          </a:solidFill>
          <a:ln w="12700">
            <a:solidFill>
              <a:srgbClr val="F4A261"/>
            </a:solidFill>
            <a:prstDash val="solid"/>
          </a:ln>
        </p:spPr>
      </p:sp>
      <p:sp>
        <p:nvSpPr>
          <p:cNvPr id="24" name="Shape 22"/>
          <p:cNvSpPr/>
          <p:nvPr/>
        </p:nvSpPr>
        <p:spPr>
          <a:xfrm>
            <a:off x="8046720" y="2057400"/>
            <a:ext cx="1325880" cy="1417320"/>
          </a:xfrm>
          <a:prstGeom prst="roundRect">
            <a:avLst>
              <a:gd name="adj" fmla="val 4138"/>
            </a:avLst>
          </a:prstGeom>
          <a:solidFill>
            <a:srgbClr val="F9FBFD"/>
          </a:solidFill>
          <a:ln w="12700">
            <a:solidFill>
              <a:srgbClr val="CAD8E0"/>
            </a:solidFill>
            <a:prstDash val="solid"/>
          </a:ln>
        </p:spPr>
      </p:sp>
      <p:sp>
        <p:nvSpPr>
          <p:cNvPr id="25" name="Text 23"/>
          <p:cNvSpPr/>
          <p:nvPr/>
        </p:nvSpPr>
        <p:spPr>
          <a:xfrm>
            <a:off x="8156448" y="2423160"/>
            <a:ext cx="1097280" cy="502920"/>
          </a:xfrm>
          <a:prstGeom prst="rect">
            <a:avLst/>
          </a:prstGeom>
          <a:noFill/>
          <a:ln/>
        </p:spPr>
        <p:txBody>
          <a:bodyPr wrap="square" lIns="0" tIns="0" rIns="0" bIns="0" rtlCol="0" anchor="ctr"/>
          <a:lstStyle/>
          <a:p>
            <a:pPr marL="0" indent="0" algn="ctr">
              <a:buNone/>
            </a:pPr>
            <a:r>
              <a:rPr lang="en-US" sz="1600" b="1" dirty="0">
                <a:solidFill>
                  <a:srgbClr val="0B3C5D"/>
                </a:solidFill>
                <a:latin typeface="Meiryo" pitchFamily="34" charset="0"/>
                <a:ea typeface="Meiryo" pitchFamily="34" charset="-122"/>
                <a:cs typeface="Meiryo" pitchFamily="34" charset="-120"/>
              </a:rPr>
              <a:t>MarkedMixture</a:t>
            </a:r>
            <a:endParaRPr lang="en-US" sz="1600" dirty="0"/>
          </a:p>
          <a:p>
            <a:pPr marL="0" indent="0" algn="ctr">
              <a:buNone/>
            </a:pPr>
            <a:r>
              <a:rPr lang="en-US" sz="1600" b="1" dirty="0">
                <a:solidFill>
                  <a:srgbClr val="0B3C5D"/>
                </a:solidFill>
                <a:latin typeface="Meiryo" pitchFamily="34" charset="0"/>
                <a:ea typeface="Meiryo" pitchFamily="34" charset="-122"/>
                <a:cs typeface="Meiryo" pitchFamily="34" charset="-120"/>
              </a:rPr>
              <a:t>説明分解</a:t>
            </a:r>
            <a:endParaRPr lang="en-US" sz="1600" dirty="0"/>
          </a:p>
        </p:txBody>
      </p:sp>
      <p:sp>
        <p:nvSpPr>
          <p:cNvPr id="26" name="Shape 24"/>
          <p:cNvSpPr/>
          <p:nvPr/>
        </p:nvSpPr>
        <p:spPr>
          <a:xfrm>
            <a:off x="8485632" y="1783080"/>
            <a:ext cx="438912" cy="182880"/>
          </a:xfrm>
          <a:prstGeom prst="ellipse">
            <a:avLst/>
          </a:prstGeom>
          <a:solidFill>
            <a:srgbClr val="2A9D8F">
              <a:alpha val="85000"/>
            </a:srgbClr>
          </a:solidFill>
          <a:ln w="12700">
            <a:solidFill>
              <a:srgbClr val="2A9D8F"/>
            </a:solidFill>
            <a:prstDash val="solid"/>
          </a:ln>
        </p:spPr>
      </p:sp>
      <p:sp>
        <p:nvSpPr>
          <p:cNvPr id="27" name="Shape 25"/>
          <p:cNvSpPr/>
          <p:nvPr/>
        </p:nvSpPr>
        <p:spPr>
          <a:xfrm>
            <a:off x="9829800" y="2057400"/>
            <a:ext cx="1325880" cy="1417320"/>
          </a:xfrm>
          <a:prstGeom prst="roundRect">
            <a:avLst>
              <a:gd name="adj" fmla="val 4138"/>
            </a:avLst>
          </a:prstGeom>
          <a:solidFill>
            <a:srgbClr val="F9FBFD"/>
          </a:solidFill>
          <a:ln w="12700">
            <a:solidFill>
              <a:srgbClr val="CAD8E0"/>
            </a:solidFill>
            <a:prstDash val="solid"/>
          </a:ln>
        </p:spPr>
      </p:sp>
      <p:sp>
        <p:nvSpPr>
          <p:cNvPr id="28" name="Text 26"/>
          <p:cNvSpPr/>
          <p:nvPr/>
        </p:nvSpPr>
        <p:spPr>
          <a:xfrm>
            <a:off x="9939528" y="2423160"/>
            <a:ext cx="1097280" cy="502920"/>
          </a:xfrm>
          <a:prstGeom prst="rect">
            <a:avLst/>
          </a:prstGeom>
          <a:noFill/>
          <a:ln/>
        </p:spPr>
        <p:txBody>
          <a:bodyPr wrap="square" lIns="0" tIns="0" rIns="0" bIns="0" rtlCol="0" anchor="ctr"/>
          <a:lstStyle/>
          <a:p>
            <a:pPr marL="0" indent="0" algn="ctr">
              <a:buNone/>
            </a:pPr>
            <a:r>
              <a:rPr lang="en-US" sz="1600" b="1" dirty="0">
                <a:solidFill>
                  <a:srgbClr val="0B3C5D"/>
                </a:solidFill>
                <a:latin typeface="Meiryo" pitchFamily="34" charset="0"/>
                <a:ea typeface="Meiryo" pitchFamily="34" charset="-122"/>
                <a:cs typeface="Meiryo" pitchFamily="34" charset="-120"/>
              </a:rPr>
              <a:t>製造/設計</a:t>
            </a:r>
            <a:endParaRPr lang="en-US" sz="1600" dirty="0"/>
          </a:p>
          <a:p>
            <a:pPr marL="0" indent="0" algn="ctr">
              <a:buNone/>
            </a:pPr>
            <a:r>
              <a:rPr lang="en-US" sz="1600" b="1" dirty="0">
                <a:solidFill>
                  <a:srgbClr val="0B3C5D"/>
                </a:solidFill>
                <a:latin typeface="Meiryo" pitchFamily="34" charset="0"/>
                <a:ea typeface="Meiryo" pitchFamily="34" charset="-122"/>
                <a:cs typeface="Meiryo" pitchFamily="34" charset="-120"/>
              </a:rPr>
              <a:t>アクション</a:t>
            </a:r>
            <a:endParaRPr lang="en-US" sz="1600" dirty="0"/>
          </a:p>
        </p:txBody>
      </p:sp>
      <p:sp>
        <p:nvSpPr>
          <p:cNvPr id="29" name="Shape 27"/>
          <p:cNvSpPr/>
          <p:nvPr/>
        </p:nvSpPr>
        <p:spPr>
          <a:xfrm>
            <a:off x="10268712" y="1783080"/>
            <a:ext cx="438912" cy="182880"/>
          </a:xfrm>
          <a:prstGeom prst="ellipse">
            <a:avLst/>
          </a:prstGeom>
          <a:solidFill>
            <a:srgbClr val="0B3C5D">
              <a:alpha val="85000"/>
            </a:srgbClr>
          </a:solidFill>
          <a:ln w="12700">
            <a:solidFill>
              <a:srgbClr val="0B3C5D"/>
            </a:solidFill>
            <a:prstDash val="solid"/>
          </a:ln>
        </p:spPr>
      </p:sp>
      <p:sp>
        <p:nvSpPr>
          <p:cNvPr id="30" name="Shape 28"/>
          <p:cNvSpPr/>
          <p:nvPr/>
        </p:nvSpPr>
        <p:spPr>
          <a:xfrm>
            <a:off x="914400" y="4069080"/>
            <a:ext cx="3246120" cy="1325880"/>
          </a:xfrm>
          <a:prstGeom prst="roundRect">
            <a:avLst>
              <a:gd name="adj" fmla="val 4138"/>
            </a:avLst>
          </a:prstGeom>
          <a:solidFill>
            <a:srgbClr val="F7FAFC"/>
          </a:solidFill>
          <a:ln w="12700">
            <a:solidFill>
              <a:srgbClr val="CAD8E0"/>
            </a:solidFill>
            <a:prstDash val="solid"/>
          </a:ln>
        </p:spPr>
      </p:sp>
      <p:sp>
        <p:nvSpPr>
          <p:cNvPr id="31" name="Text 29"/>
          <p:cNvSpPr/>
          <p:nvPr/>
        </p:nvSpPr>
        <p:spPr>
          <a:xfrm>
            <a:off x="1042416" y="4142232"/>
            <a:ext cx="2990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入力データの作り方</a:t>
            </a:r>
            <a:endParaRPr lang="en-US" sz="1400" dirty="0"/>
          </a:p>
        </p:txBody>
      </p:sp>
      <p:sp>
        <p:nvSpPr>
          <p:cNvPr id="32" name="Text 30"/>
          <p:cNvSpPr/>
          <p:nvPr/>
        </p:nvSpPr>
        <p:spPr>
          <a:xfrm>
            <a:off x="1051560" y="4370832"/>
            <a:ext cx="2926080" cy="73152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粒子ごとの位置と粒径を粒子テーブルとして保持。</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x-y / r-theta / size bins を生成。</a:t>
            </a:r>
            <a:endParaRPr lang="en-US" sz="1450" dirty="0"/>
          </a:p>
        </p:txBody>
      </p:sp>
      <p:sp>
        <p:nvSpPr>
          <p:cNvPr id="33" name="Shape 31"/>
          <p:cNvSpPr/>
          <p:nvPr/>
        </p:nvSpPr>
        <p:spPr>
          <a:xfrm>
            <a:off x="4434840" y="4069080"/>
            <a:ext cx="3246120" cy="1325880"/>
          </a:xfrm>
          <a:prstGeom prst="roundRect">
            <a:avLst>
              <a:gd name="adj" fmla="val 4138"/>
            </a:avLst>
          </a:prstGeom>
          <a:solidFill>
            <a:srgbClr val="F7FAFC"/>
          </a:solidFill>
          <a:ln w="12700">
            <a:solidFill>
              <a:srgbClr val="CAD8E0"/>
            </a:solidFill>
            <a:prstDash val="solid"/>
          </a:ln>
        </p:spPr>
      </p:sp>
      <p:sp>
        <p:nvSpPr>
          <p:cNvPr id="34" name="Text 32"/>
          <p:cNvSpPr/>
          <p:nvPr/>
        </p:nvSpPr>
        <p:spPr>
          <a:xfrm>
            <a:off x="4562856" y="4142232"/>
            <a:ext cx="2990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AIとしての発明の芯</a:t>
            </a:r>
            <a:endParaRPr lang="en-US" sz="1400" dirty="0"/>
          </a:p>
        </p:txBody>
      </p:sp>
      <p:sp>
        <p:nvSpPr>
          <p:cNvPr id="35" name="Text 33"/>
          <p:cNvSpPr/>
          <p:nvPr/>
        </p:nvSpPr>
        <p:spPr>
          <a:xfrm>
            <a:off x="4572000" y="4370832"/>
            <a:ext cx="2926080" cy="73152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空間強度と粒径分布を因子分解。</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説明器で geometry / responsibility を取得。</a:t>
            </a:r>
            <a:endParaRPr lang="en-US" sz="1450" dirty="0"/>
          </a:p>
        </p:txBody>
      </p:sp>
      <p:sp>
        <p:nvSpPr>
          <p:cNvPr id="36" name="Shape 34"/>
          <p:cNvSpPr/>
          <p:nvPr/>
        </p:nvSpPr>
        <p:spPr>
          <a:xfrm>
            <a:off x="7955280" y="4069080"/>
            <a:ext cx="3246120" cy="1325880"/>
          </a:xfrm>
          <a:prstGeom prst="roundRect">
            <a:avLst>
              <a:gd name="adj" fmla="val 4138"/>
            </a:avLst>
          </a:prstGeom>
          <a:solidFill>
            <a:srgbClr val="F7FAFC"/>
          </a:solidFill>
          <a:ln w="12700">
            <a:solidFill>
              <a:srgbClr val="CAD8E0"/>
            </a:solidFill>
            <a:prstDash val="solid"/>
          </a:ln>
        </p:spPr>
      </p:sp>
      <p:sp>
        <p:nvSpPr>
          <p:cNvPr id="37" name="Text 35"/>
          <p:cNvSpPr/>
          <p:nvPr/>
        </p:nvSpPr>
        <p:spPr>
          <a:xfrm>
            <a:off x="8083296" y="4142232"/>
            <a:ext cx="2990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運用・価値の芯</a:t>
            </a:r>
            <a:endParaRPr lang="en-US" sz="1400" dirty="0"/>
          </a:p>
        </p:txBody>
      </p:sp>
      <p:sp>
        <p:nvSpPr>
          <p:cNvPr id="38" name="Text 36"/>
          <p:cNvSpPr/>
          <p:nvPr/>
        </p:nvSpPr>
        <p:spPr>
          <a:xfrm>
            <a:off x="8092440" y="4370832"/>
            <a:ext cx="2926080" cy="73152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uncertainty gating で製造アクション分岐。</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工程/装置/設計へ履歴を返す。</a:t>
            </a:r>
            <a:endParaRPr lang="en-US" sz="1450" dirty="0"/>
          </a:p>
        </p:txBody>
      </p:sp>
      <p:sp>
        <p:nvSpPr>
          <p:cNvPr id="39" name="Text 37"/>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12</a:t>
            </a:r>
            <a:endParaRPr lang="en-US" sz="1000" dirty="0"/>
          </a:p>
        </p:txBody>
      </p:sp>
      <p:sp>
        <p:nvSpPr>
          <p:cNvPr id="40" name="Text 38"/>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入力データ仕様</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Input Data Contract</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4572000" cy="4983480"/>
          </a:xfrm>
          <a:prstGeom prst="roundRect">
            <a:avLst>
              <a:gd name="adj" fmla="val 1200"/>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124712"/>
            <a:ext cx="43159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粒子単位データ（必須）</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68680" y="1463040"/>
          <a:ext cx="4114800" cy="2331720"/>
        </p:xfrm>
        <a:graphic>
          <a:graphicData uri="http://schemas.openxmlformats.org/drawingml/2006/table">
            <a:tbl>
              <a:tblPr/>
              <a:tblGrid>
                <a:gridCol w="1463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310896">
                <a:tc>
                  <a:txBody>
                    <a:bodyPr/>
                    <a:lstStyle/>
                    <a:p>
                      <a:pPr marL="0" indent="0">
                        <a:buNone/>
                      </a:pPr>
                      <a:r>
                        <a:rPr lang="en-US" sz="1300" dirty="0">
                          <a:solidFill>
                            <a:srgbClr val="111111"/>
                          </a:solidFill>
                          <a:latin typeface="Meiryo" pitchFamily="34" charset="0"/>
                          <a:ea typeface="Meiryo" pitchFamily="34" charset="-122"/>
                          <a:cs typeface="Meiryo" pitchFamily="34" charset="-120"/>
                        </a:rPr>
                        <a:t>列名</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00" dirty="0">
                          <a:solidFill>
                            <a:srgbClr val="111111"/>
                          </a:solidFill>
                          <a:latin typeface="Meiryo" pitchFamily="34" charset="0"/>
                          <a:ea typeface="Meiryo" pitchFamily="34" charset="-122"/>
                          <a:cs typeface="Meiryo" pitchFamily="34" charset="-120"/>
                        </a:rPr>
                        <a:t>役割</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rgbClr val="111111"/>
                          </a:solidFill>
                          <a:latin typeface="Meiryo" pitchFamily="34" charset="0"/>
                          <a:ea typeface="Meiryo" pitchFamily="34" charset="-122"/>
                          <a:cs typeface="Meiryo" pitchFamily="34" charset="-120"/>
                        </a:rPr>
                        <a:t>sample_id / particle_id</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00" dirty="0">
                          <a:solidFill>
                            <a:srgbClr val="111111"/>
                          </a:solidFill>
                          <a:latin typeface="Meiryo" pitchFamily="34" charset="0"/>
                          <a:ea typeface="Meiryo" pitchFamily="34" charset="-122"/>
                          <a:cs typeface="Meiryo" pitchFamily="34" charset="-120"/>
                        </a:rPr>
                        <a:t>サンプル内の粒子識別</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rgbClr val="111111"/>
                          </a:solidFill>
                          <a:latin typeface="Meiryo" pitchFamily="34" charset="0"/>
                          <a:ea typeface="Meiryo" pitchFamily="34" charset="-122"/>
                          <a:cs typeface="Meiryo" pitchFamily="34" charset="-120"/>
                        </a:rPr>
                        <a:t>x_mm, y_mm</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00" dirty="0">
                          <a:solidFill>
                            <a:srgbClr val="111111"/>
                          </a:solidFill>
                          <a:latin typeface="Meiryo" pitchFamily="34" charset="0"/>
                          <a:ea typeface="Meiryo" pitchFamily="34" charset="-122"/>
                          <a:cs typeface="Meiryo" pitchFamily="34" charset="-120"/>
                        </a:rPr>
                        <a:t>直交座標</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rgbClr val="111111"/>
                          </a:solidFill>
                          <a:latin typeface="Meiryo" pitchFamily="34" charset="0"/>
                          <a:ea typeface="Meiryo" pitchFamily="34" charset="-122"/>
                          <a:cs typeface="Meiryo" pitchFamily="34" charset="-120"/>
                        </a:rPr>
                        <a:t>r_norm, theta_rad</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00" dirty="0">
                          <a:solidFill>
                            <a:srgbClr val="111111"/>
                          </a:solidFill>
                          <a:latin typeface="Meiryo" pitchFamily="34" charset="0"/>
                          <a:ea typeface="Meiryo" pitchFamily="34" charset="-122"/>
                          <a:cs typeface="Meiryo" pitchFamily="34" charset="-120"/>
                        </a:rPr>
                        <a:t>極座標</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300" dirty="0">
                          <a:solidFill>
                            <a:srgbClr val="111111"/>
                          </a:solidFill>
                          <a:latin typeface="Meiryo" pitchFamily="34" charset="0"/>
                          <a:ea typeface="Meiryo" pitchFamily="34" charset="-122"/>
                          <a:cs typeface="Meiryo" pitchFamily="34" charset="-120"/>
                        </a:rPr>
                        <a:t>size_um</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00" dirty="0">
                          <a:solidFill>
                            <a:srgbClr val="111111"/>
                          </a:solidFill>
                          <a:latin typeface="Meiryo" pitchFamily="34" charset="0"/>
                          <a:ea typeface="Meiryo" pitchFamily="34" charset="-122"/>
                          <a:cs typeface="Meiryo" pitchFamily="34" charset="-120"/>
                        </a:rPr>
                        <a:t>粒径 mark</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300" dirty="0">
                          <a:solidFill>
                            <a:srgbClr val="111111"/>
                          </a:solidFill>
                          <a:latin typeface="Meiryo" pitchFamily="34" charset="0"/>
                          <a:ea typeface="Meiryo" pitchFamily="34" charset="-122"/>
                          <a:cs typeface="Meiryo" pitchFamily="34" charset="-120"/>
                        </a:rPr>
                        <a:t>label_fine / label</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00" dirty="0">
                          <a:solidFill>
                            <a:srgbClr val="111111"/>
                          </a:solidFill>
                          <a:latin typeface="Meiryo" pitchFamily="34" charset="0"/>
                          <a:ea typeface="Meiryo" pitchFamily="34" charset="-122"/>
                          <a:cs typeface="Meiryo" pitchFamily="34" charset="-120"/>
                        </a:rPr>
                        <a:t>単一パターン基盤ラベル</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300" dirty="0">
                          <a:solidFill>
                            <a:srgbClr val="111111"/>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00" dirty="0">
                          <a:solidFill>
                            <a:srgbClr val="111111"/>
                          </a:solidFill>
                          <a:latin typeface="Meiryo" pitchFamily="34" charset="0"/>
                          <a:ea typeface="Meiryo" pitchFamily="34" charset="-122"/>
                          <a:cs typeface="Meiryo" pitchFamily="34" charset="-120"/>
                        </a:rPr>
                        <a:t>synthetic/real 等</a:t>
                      </a:r>
                      <a:endParaRPr lang="en-US" sz="1300" dirty="0">
                        <a:latin typeface="Meiryo" charset="0"/>
                        <a:ea typeface="Meiryo" charset="0"/>
                        <a:cs typeface="Meiryo" charset="0"/>
                      </a:endParaRPr>
                    </a:p>
                  </a:txBody>
                  <a:tcPr marL="36576" marR="36576" marT="36576" marB="36576">
                    <a:lnL w="6985" cap="flat" cmpd="sng" algn="ctr">
                      <a:solidFill>
                        <a:srgbClr val="CAD8E0"/>
                      </a:solidFill>
                      <a:prstDash val="solid"/>
                      <a:round/>
                      <a:headEnd type="none" w="med" len="med"/>
                      <a:tailEnd type="none" w="med" len="med"/>
                    </a:lnL>
                    <a:lnR w="6985" cap="flat" cmpd="sng" algn="ctr">
                      <a:solidFill>
                        <a:srgbClr val="CAD8E0"/>
                      </a:solidFill>
                      <a:prstDash val="solid"/>
                      <a:round/>
                      <a:headEnd type="none" w="med" len="med"/>
                      <a:tailEnd type="none" w="med" len="med"/>
                    </a:lnR>
                    <a:lnT w="6985" cap="flat" cmpd="sng" algn="ctr">
                      <a:solidFill>
                        <a:srgbClr val="CAD8E0"/>
                      </a:solidFill>
                      <a:prstDash val="solid"/>
                      <a:round/>
                      <a:headEnd type="none" w="med" len="med"/>
                      <a:tailEnd type="none" w="med" len="med"/>
                    </a:lnT>
                    <a:lnB w="6985"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Shape 5"/>
          <p:cNvSpPr/>
          <p:nvPr/>
        </p:nvSpPr>
        <p:spPr>
          <a:xfrm>
            <a:off x="868680" y="4069080"/>
            <a:ext cx="4114800" cy="1325880"/>
          </a:xfrm>
          <a:prstGeom prst="roundRect">
            <a:avLst>
              <a:gd name="adj" fmla="val 4138"/>
            </a:avLst>
          </a:prstGeom>
          <a:solidFill>
            <a:srgbClr val="F7FAFC"/>
          </a:solidFill>
          <a:ln w="12700">
            <a:solidFill>
              <a:srgbClr val="CAD8E0"/>
            </a:solidFill>
            <a:prstDash val="solid"/>
          </a:ln>
        </p:spPr>
      </p:sp>
      <p:sp>
        <p:nvSpPr>
          <p:cNvPr id="9" name="Text 6"/>
          <p:cNvSpPr/>
          <p:nvPr/>
        </p:nvSpPr>
        <p:spPr>
          <a:xfrm>
            <a:off x="996696" y="4142232"/>
            <a:ext cx="3858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sample 単位メタデータ（現添付で確認）</a:t>
            </a:r>
            <a:endParaRPr lang="en-US" sz="1400" dirty="0"/>
          </a:p>
        </p:txBody>
      </p:sp>
      <p:sp>
        <p:nvSpPr>
          <p:cNvPr id="10" name="Text 7"/>
          <p:cNvSpPr/>
          <p:nvPr/>
        </p:nvSpPr>
        <p:spPr>
          <a:xfrm>
            <a:off x="1005840" y="4361688"/>
            <a:ext cx="3794760" cy="868680"/>
          </a:xfrm>
          <a:prstGeom prst="rect">
            <a:avLst/>
          </a:prstGeom>
          <a:noFill/>
          <a:ln/>
        </p:spPr>
        <p:txBody>
          <a:bodyPr wrap="square" lIns="508" tIns="508" rIns="508" bIns="508" rtlCol="0" anchor="t">
            <a:normAutofit/>
          </a:bodyPr>
          <a:lstStyle/>
          <a:p>
            <a:pPr marL="0" indent="0" algn="l">
              <a:buNone/>
            </a:pPr>
            <a:r>
              <a:rPr lang="en-US" sz="1400" dirty="0">
                <a:solidFill>
                  <a:srgbClr val="111111"/>
                </a:solidFill>
                <a:latin typeface="Meiryo" pitchFamily="34" charset="0"/>
                <a:ea typeface="Meiryo" pitchFamily="34" charset="-122"/>
                <a:cs typeface="Meiryo" pitchFamily="34" charset="-120"/>
              </a:rPr>
              <a:t>• pattern_id / canonical_pattern_id</a:t>
            </a:r>
            <a:endParaRPr lang="en-US" sz="1400" dirty="0"/>
          </a:p>
          <a:p>
            <a:pPr marL="0" indent="0" algn="l">
              <a:buNone/>
            </a:pPr>
            <a:r>
              <a:rPr lang="en-US" sz="1400" dirty="0">
                <a:solidFill>
                  <a:srgbClr val="111111"/>
                </a:solidFill>
                <a:latin typeface="Meiryo" pitchFamily="34" charset="0"/>
                <a:ea typeface="Meiryo" pitchFamily="34" charset="-122"/>
                <a:cs typeface="Meiryo" pitchFamily="34" charset="-120"/>
              </a:rPr>
              <a:t>• size_model, size_profile_id, resolved_size_params</a:t>
            </a:r>
            <a:endParaRPr lang="en-US" sz="1400" dirty="0"/>
          </a:p>
          <a:p>
            <a:pPr marL="0" indent="0" algn="l">
              <a:buNone/>
            </a:pPr>
            <a:r>
              <a:rPr lang="en-US" sz="1400" dirty="0">
                <a:solidFill>
                  <a:srgbClr val="111111"/>
                </a:solidFill>
                <a:latin typeface="Meiryo" pitchFamily="34" charset="0"/>
                <a:ea typeface="Meiryo" pitchFamily="34" charset="-122"/>
                <a:cs typeface="Meiryo" pitchFamily="34" charset="-120"/>
              </a:rPr>
              <a:t>• n_particles, pattern_params, seed_offset</a:t>
            </a:r>
            <a:endParaRPr lang="en-US" sz="1400" dirty="0"/>
          </a:p>
          <a:p>
            <a:pPr marL="0" indent="0" algn="l">
              <a:buNone/>
            </a:pPr>
            <a:r>
              <a:rPr lang="en-US" sz="1400" dirty="0">
                <a:solidFill>
                  <a:srgbClr val="111111"/>
                </a:solidFill>
                <a:latin typeface="Meiryo" pitchFamily="34" charset="0"/>
                <a:ea typeface="Meiryo" pitchFamily="34" charset="-122"/>
                <a:cs typeface="Meiryo" pitchFamily="34" charset="-120"/>
              </a:rPr>
              <a:t>• 現添付では size_assignment_scope=sample, size_coupling_policy=independent</a:t>
            </a:r>
            <a:endParaRPr lang="en-US" sz="1400" dirty="0"/>
          </a:p>
        </p:txBody>
      </p:sp>
      <p:sp>
        <p:nvSpPr>
          <p:cNvPr id="11" name="Shape 8"/>
          <p:cNvSpPr/>
          <p:nvPr/>
        </p:nvSpPr>
        <p:spPr>
          <a:xfrm>
            <a:off x="5440680" y="1051560"/>
            <a:ext cx="6035040" cy="4983480"/>
          </a:xfrm>
          <a:prstGeom prst="roundRect">
            <a:avLst>
              <a:gd name="adj" fmla="val 1101"/>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12" name="Text 9"/>
          <p:cNvSpPr/>
          <p:nvPr/>
        </p:nvSpPr>
        <p:spPr>
          <a:xfrm>
            <a:off x="5568696" y="1124712"/>
            <a:ext cx="57790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発明としての拡張データ契約</a:t>
            </a:r>
            <a:endParaRPr lang="en-US" sz="1400" dirty="0"/>
          </a:p>
        </p:txBody>
      </p:sp>
      <p:sp>
        <p:nvSpPr>
          <p:cNvPr id="13" name="Shape 10"/>
          <p:cNvSpPr/>
          <p:nvPr/>
        </p:nvSpPr>
        <p:spPr>
          <a:xfrm>
            <a:off x="5715000" y="1417320"/>
            <a:ext cx="1554480" cy="914400"/>
          </a:xfrm>
          <a:prstGeom prst="roundRect">
            <a:avLst>
              <a:gd name="adj" fmla="val 6000"/>
            </a:avLst>
          </a:prstGeom>
          <a:solidFill>
            <a:srgbClr val="FFFFFF"/>
          </a:solidFill>
          <a:ln w="12700">
            <a:solidFill>
              <a:srgbClr val="CAD8E0"/>
            </a:solidFill>
            <a:prstDash val="solid"/>
          </a:ln>
        </p:spPr>
      </p:sp>
      <p:sp>
        <p:nvSpPr>
          <p:cNvPr id="7" name="Text 11"/>
          <p:cNvSpPr/>
          <p:nvPr/>
        </p:nvSpPr>
        <p:spPr>
          <a:xfrm>
            <a:off x="5843016" y="1490472"/>
            <a:ext cx="12984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particles</a:t>
            </a:r>
            <a:endParaRPr lang="en-US" sz="1400" dirty="0"/>
          </a:p>
        </p:txBody>
      </p:sp>
      <p:sp>
        <p:nvSpPr>
          <p:cNvPr id="15" name="Text 12"/>
          <p:cNvSpPr/>
          <p:nvPr/>
        </p:nvSpPr>
        <p:spPr>
          <a:xfrm>
            <a:off x="5852160" y="1783080"/>
            <a:ext cx="1280160" cy="228600"/>
          </a:xfrm>
          <a:prstGeom prst="rect">
            <a:avLst/>
          </a:prstGeom>
          <a:noFill/>
          <a:ln/>
        </p:spPr>
        <p:txBody>
          <a:bodyPr wrap="square" lIns="508" tIns="508" rIns="508" bIns="508" rtlCol="0" anchor="t">
            <a:normAutofit/>
          </a:bodyPr>
          <a:lstStyle/>
          <a:p>
            <a:pPr marL="0" indent="0" algn="ctr">
              <a:buNone/>
            </a:pPr>
            <a:r>
              <a:rPr lang="en-US" sz="1250" dirty="0">
                <a:solidFill>
                  <a:srgbClr val="111111"/>
                </a:solidFill>
                <a:latin typeface="Meiryo" pitchFamily="34" charset="0"/>
                <a:ea typeface="Meiryo" pitchFamily="34" charset="-122"/>
                <a:cs typeface="Meiryo" pitchFamily="34" charset="-120"/>
              </a:rPr>
              <a:t>位置 + 粒径 + 粒子属性</a:t>
            </a:r>
            <a:endParaRPr lang="en-US" sz="1250" dirty="0"/>
          </a:p>
        </p:txBody>
      </p:sp>
      <p:sp>
        <p:nvSpPr>
          <p:cNvPr id="16" name="Shape 13"/>
          <p:cNvSpPr/>
          <p:nvPr/>
        </p:nvSpPr>
        <p:spPr>
          <a:xfrm>
            <a:off x="7543800" y="1417320"/>
            <a:ext cx="1554480" cy="914400"/>
          </a:xfrm>
          <a:prstGeom prst="roundRect">
            <a:avLst>
              <a:gd name="adj" fmla="val 6000"/>
            </a:avLst>
          </a:prstGeom>
          <a:solidFill>
            <a:srgbClr val="FFFFFF"/>
          </a:solidFill>
          <a:ln w="12700">
            <a:solidFill>
              <a:srgbClr val="CAD8E0"/>
            </a:solidFill>
            <a:prstDash val="solid"/>
          </a:ln>
        </p:spPr>
      </p:sp>
      <p:sp>
        <p:nvSpPr>
          <p:cNvPr id="17" name="Text 14"/>
          <p:cNvSpPr/>
          <p:nvPr/>
        </p:nvSpPr>
        <p:spPr>
          <a:xfrm>
            <a:off x="7671816" y="1490472"/>
            <a:ext cx="12984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samples</a:t>
            </a:r>
            <a:endParaRPr lang="en-US" sz="1400" dirty="0"/>
          </a:p>
        </p:txBody>
      </p:sp>
      <p:sp>
        <p:nvSpPr>
          <p:cNvPr id="18" name="Text 15"/>
          <p:cNvSpPr/>
          <p:nvPr/>
        </p:nvSpPr>
        <p:spPr>
          <a:xfrm>
            <a:off x="7699248" y="1783080"/>
            <a:ext cx="1234440" cy="228600"/>
          </a:xfrm>
          <a:prstGeom prst="rect">
            <a:avLst/>
          </a:prstGeom>
          <a:noFill/>
          <a:ln/>
        </p:spPr>
        <p:txBody>
          <a:bodyPr wrap="square" lIns="508" tIns="508" rIns="508" bIns="508" rtlCol="0" anchor="t">
            <a:normAutofit/>
          </a:bodyPr>
          <a:lstStyle/>
          <a:p>
            <a:pPr marL="0" indent="0" algn="ctr">
              <a:buNone/>
            </a:pPr>
            <a:r>
              <a:rPr lang="en-US" sz="1250" dirty="0">
                <a:solidFill>
                  <a:srgbClr val="111111"/>
                </a:solidFill>
                <a:latin typeface="Meiryo" pitchFamily="34" charset="0"/>
                <a:ea typeface="Meiryo" pitchFamily="34" charset="-122"/>
                <a:cs typeface="Meiryo" pitchFamily="34" charset="-120"/>
              </a:rPr>
              <a:t>sample属性 + size profile</a:t>
            </a:r>
            <a:endParaRPr lang="en-US" sz="1250" dirty="0"/>
          </a:p>
        </p:txBody>
      </p:sp>
      <p:sp>
        <p:nvSpPr>
          <p:cNvPr id="19" name="Shape 16"/>
          <p:cNvSpPr/>
          <p:nvPr/>
        </p:nvSpPr>
        <p:spPr>
          <a:xfrm>
            <a:off x="7296912" y="1764792"/>
            <a:ext cx="164592" cy="201168"/>
          </a:xfrm>
          <a:prstGeom prst="chevron">
            <a:avLst/>
          </a:prstGeom>
          <a:solidFill>
            <a:srgbClr val="D7E3EA"/>
          </a:solidFill>
          <a:ln w="12700">
            <a:solidFill>
              <a:srgbClr val="D7E3EA"/>
            </a:solidFill>
            <a:prstDash val="solid"/>
          </a:ln>
        </p:spPr>
      </p:sp>
      <p:sp>
        <p:nvSpPr>
          <p:cNvPr id="20" name="Shape 17"/>
          <p:cNvSpPr/>
          <p:nvPr/>
        </p:nvSpPr>
        <p:spPr>
          <a:xfrm>
            <a:off x="9372600" y="1417320"/>
            <a:ext cx="1645920" cy="914400"/>
          </a:xfrm>
          <a:prstGeom prst="roundRect">
            <a:avLst>
              <a:gd name="adj" fmla="val 6000"/>
            </a:avLst>
          </a:prstGeom>
          <a:solidFill>
            <a:srgbClr val="FFFFFF"/>
          </a:solidFill>
          <a:ln w="12700">
            <a:solidFill>
              <a:srgbClr val="CAD8E0"/>
            </a:solidFill>
            <a:prstDash val="solid"/>
          </a:ln>
        </p:spPr>
      </p:sp>
      <p:sp>
        <p:nvSpPr>
          <p:cNvPr id="21" name="Text 18"/>
          <p:cNvSpPr/>
          <p:nvPr/>
        </p:nvSpPr>
        <p:spPr>
          <a:xfrm>
            <a:off x="9500616" y="1490472"/>
            <a:ext cx="13898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builder</a:t>
            </a:r>
            <a:endParaRPr lang="en-US" sz="1400" dirty="0"/>
          </a:p>
        </p:txBody>
      </p:sp>
      <p:sp>
        <p:nvSpPr>
          <p:cNvPr id="22" name="Text 19"/>
          <p:cNvSpPr/>
          <p:nvPr/>
        </p:nvSpPr>
        <p:spPr>
          <a:xfrm>
            <a:off x="9509760" y="1783080"/>
            <a:ext cx="1325880" cy="228600"/>
          </a:xfrm>
          <a:prstGeom prst="rect">
            <a:avLst/>
          </a:prstGeom>
          <a:noFill/>
          <a:ln/>
        </p:spPr>
        <p:txBody>
          <a:bodyPr wrap="square" lIns="508" tIns="508" rIns="508" bIns="508" rtlCol="0" anchor="t">
            <a:normAutofit/>
          </a:bodyPr>
          <a:lstStyle/>
          <a:p>
            <a:pPr marL="0" indent="0" algn="ctr">
              <a:buNone/>
            </a:pPr>
            <a:r>
              <a:rPr lang="en-US" sz="1250" dirty="0">
                <a:solidFill>
                  <a:srgbClr val="111111"/>
                </a:solidFill>
                <a:latin typeface="Meiryo" pitchFamily="34" charset="0"/>
                <a:ea typeface="Meiryo" pitchFamily="34" charset="-122"/>
                <a:cs typeface="Meiryo" pitchFamily="34" charset="-120"/>
              </a:rPr>
              <a:t>dual-grid / labels</a:t>
            </a:r>
            <a:endParaRPr lang="en-US" sz="1250" dirty="0"/>
          </a:p>
        </p:txBody>
      </p:sp>
      <p:sp>
        <p:nvSpPr>
          <p:cNvPr id="23" name="Shape 20"/>
          <p:cNvSpPr/>
          <p:nvPr/>
        </p:nvSpPr>
        <p:spPr>
          <a:xfrm>
            <a:off x="9125712" y="1764792"/>
            <a:ext cx="164592" cy="201168"/>
          </a:xfrm>
          <a:prstGeom prst="chevron">
            <a:avLst/>
          </a:prstGeom>
          <a:solidFill>
            <a:srgbClr val="D7E3EA"/>
          </a:solidFill>
          <a:ln w="12700">
            <a:solidFill>
              <a:srgbClr val="D7E3EA"/>
            </a:solidFill>
            <a:prstDash val="solid"/>
          </a:ln>
        </p:spPr>
      </p:sp>
      <p:sp>
        <p:nvSpPr>
          <p:cNvPr id="24" name="Shape 21"/>
          <p:cNvSpPr/>
          <p:nvPr/>
        </p:nvSpPr>
        <p:spPr>
          <a:xfrm>
            <a:off x="5715000" y="2743200"/>
            <a:ext cx="5303520" cy="1508760"/>
          </a:xfrm>
          <a:prstGeom prst="roundRect">
            <a:avLst>
              <a:gd name="adj" fmla="val 3636"/>
            </a:avLst>
          </a:prstGeom>
          <a:solidFill>
            <a:srgbClr val="FFFFFF"/>
          </a:solidFill>
          <a:ln w="12700">
            <a:solidFill>
              <a:srgbClr val="CAD8E0"/>
            </a:solidFill>
            <a:prstDash val="solid"/>
          </a:ln>
        </p:spPr>
      </p:sp>
      <p:sp>
        <p:nvSpPr>
          <p:cNvPr id="25" name="Text 22"/>
          <p:cNvSpPr/>
          <p:nvPr/>
        </p:nvSpPr>
        <p:spPr>
          <a:xfrm>
            <a:off x="5843016" y="2816352"/>
            <a:ext cx="50474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拡張実施形態で追加したい列（要件化候補）</a:t>
            </a:r>
            <a:endParaRPr lang="en-US" sz="1400" dirty="0"/>
          </a:p>
        </p:txBody>
      </p:sp>
      <p:sp>
        <p:nvSpPr>
          <p:cNvPr id="26" name="Text 23"/>
          <p:cNvSpPr/>
          <p:nvPr/>
        </p:nvSpPr>
        <p:spPr>
          <a:xfrm>
            <a:off x="5897880" y="3063240"/>
            <a:ext cx="4937760" cy="914400"/>
          </a:xfrm>
          <a:prstGeom prst="rect">
            <a:avLst/>
          </a:prstGeom>
          <a:noFill/>
          <a:ln/>
        </p:spPr>
        <p:txBody>
          <a:bodyPr wrap="square" lIns="508" tIns="508" rIns="508" bIns="508" rtlCol="0" anchor="t">
            <a:normAutofit/>
          </a:bodyPr>
          <a:lstStyle/>
          <a:p>
            <a:pPr marL="0" indent="0" algn="l">
              <a:buNone/>
            </a:pPr>
            <a:r>
              <a:rPr lang="en-US" sz="1440" dirty="0">
                <a:solidFill>
                  <a:srgbClr val="111111"/>
                </a:solidFill>
                <a:latin typeface="Meiryo" pitchFamily="34" charset="0"/>
                <a:ea typeface="Meiryo" pitchFamily="34" charset="-122"/>
                <a:cs typeface="Meiryo" pitchFamily="34" charset="-120"/>
              </a:rPr>
              <a:t>• component_label_fine / component_id: mixed cause の教師</a:t>
            </a:r>
            <a:endParaRPr lang="en-US" sz="1440" dirty="0"/>
          </a:p>
          <a:p>
            <a:pPr marL="0" indent="0" algn="l">
              <a:buNone/>
            </a:pPr>
            <a:r>
              <a:rPr lang="en-US" sz="1440" dirty="0">
                <a:solidFill>
                  <a:srgbClr val="111111"/>
                </a:solidFill>
                <a:latin typeface="Meiryo" pitchFamily="34" charset="0"/>
                <a:ea typeface="Meiryo" pitchFamily="34" charset="-122"/>
                <a:cs typeface="Meiryo" pitchFamily="34" charset="-120"/>
              </a:rPr>
              <a:t>• size_assignment_scope = component or spatial: サイズ起因の発生源を分離</a:t>
            </a:r>
            <a:endParaRPr lang="en-US" sz="1440" dirty="0"/>
          </a:p>
          <a:p>
            <a:pPr marL="0" indent="0" algn="l">
              <a:buNone/>
            </a:pPr>
            <a:r>
              <a:rPr lang="en-US" sz="1440" dirty="0">
                <a:solidFill>
                  <a:srgbClr val="111111"/>
                </a:solidFill>
                <a:latin typeface="Meiryo" pitchFamily="34" charset="0"/>
                <a:ea typeface="Meiryo" pitchFamily="34" charset="-122"/>
                <a:cs typeface="Meiryo" pitchFamily="34" charset="-120"/>
              </a:rPr>
              <a:t>• component_size_params_json / local size fields: size-aware explanation を強化</a:t>
            </a:r>
            <a:endParaRPr lang="en-US" sz="1440" dirty="0"/>
          </a:p>
        </p:txBody>
      </p:sp>
      <p:sp>
        <p:nvSpPr>
          <p:cNvPr id="27" name="Shape 24"/>
          <p:cNvSpPr/>
          <p:nvPr/>
        </p:nvSpPr>
        <p:spPr>
          <a:xfrm>
            <a:off x="5715000" y="4526280"/>
            <a:ext cx="5303520" cy="822960"/>
          </a:xfrm>
          <a:prstGeom prst="roundRect">
            <a:avLst>
              <a:gd name="adj" fmla="val 6667"/>
            </a:avLst>
          </a:prstGeom>
          <a:solidFill>
            <a:srgbClr val="EEF6FB"/>
          </a:solidFill>
          <a:ln w="12700">
            <a:solidFill>
              <a:srgbClr val="CAD8E0"/>
            </a:solidFill>
            <a:prstDash val="solid"/>
          </a:ln>
        </p:spPr>
      </p:sp>
      <p:sp>
        <p:nvSpPr>
          <p:cNvPr id="28" name="Text 25"/>
          <p:cNvSpPr/>
          <p:nvPr/>
        </p:nvSpPr>
        <p:spPr>
          <a:xfrm>
            <a:off x="5897880" y="4773168"/>
            <a:ext cx="4892040" cy="274320"/>
          </a:xfrm>
          <a:prstGeom prst="rect">
            <a:avLst/>
          </a:prstGeom>
          <a:noFill/>
          <a:ln/>
        </p:spPr>
        <p:txBody>
          <a:bodyPr wrap="square" lIns="508" tIns="508" rIns="508" bIns="508" rtlCol="0" anchor="t">
            <a:normAutofit/>
          </a:bodyPr>
          <a:lstStyle/>
          <a:p>
            <a:pPr marL="0" indent="0" algn="ctr">
              <a:buNone/>
            </a:pPr>
            <a:r>
              <a:rPr lang="en-US" sz="1420" dirty="0">
                <a:solidFill>
                  <a:srgbClr val="111111"/>
                </a:solidFill>
                <a:latin typeface="Meiryo" pitchFamily="34" charset="0"/>
                <a:ea typeface="Meiryo" pitchFamily="34" charset="-122"/>
                <a:cs typeface="Meiryo" pitchFamily="34" charset="-120"/>
              </a:rPr>
              <a:t>要点: 現添付CSVだけでも single-pattern pretrain は可能。特許としては、component-aware 拡張まで含めて開示すると強い。</a:t>
            </a:r>
            <a:endParaRPr lang="en-US" sz="1420" dirty="0"/>
          </a:p>
        </p:txBody>
      </p:sp>
      <p:sp>
        <p:nvSpPr>
          <p:cNvPr id="29" name="Text 26"/>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13</a:t>
            </a:r>
            <a:endParaRPr lang="en-US" sz="1000" dirty="0"/>
          </a:p>
        </p:txBody>
      </p:sp>
      <p:sp>
        <p:nvSpPr>
          <p:cNvPr id="30" name="Text 27"/>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提案手法① dual-grid 前処理</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Preprocessing</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10912"/>
          </a:xfrm>
          <a:prstGeom prst="roundRect">
            <a:avLst>
              <a:gd name="adj" fmla="val 1095"/>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粒子テーブル → x-y grid / r-theta grid / size bins</a:t>
            </a:r>
            <a:endParaRPr lang="en-US" sz="1400" dirty="0"/>
          </a:p>
        </p:txBody>
      </p:sp>
      <p:sp>
        <p:nvSpPr>
          <p:cNvPr id="7" name="Shape 5"/>
          <p:cNvSpPr/>
          <p:nvPr/>
        </p:nvSpPr>
        <p:spPr>
          <a:xfrm>
            <a:off x="914400" y="1965960"/>
            <a:ext cx="1600200" cy="1600200"/>
          </a:xfrm>
          <a:prstGeom prst="ellipse">
            <a:avLst/>
          </a:prstGeom>
          <a:solidFill>
            <a:srgbClr val="FFFFFF"/>
          </a:solidFill>
          <a:ln w="12700">
            <a:solidFill>
              <a:srgbClr val="BBC9D1"/>
            </a:solidFill>
            <a:prstDash val="solid"/>
          </a:ln>
        </p:spPr>
      </p:sp>
      <p:sp>
        <p:nvSpPr>
          <p:cNvPr id="8" name="Shape 6"/>
          <p:cNvSpPr/>
          <p:nvPr/>
        </p:nvSpPr>
        <p:spPr>
          <a:xfrm>
            <a:off x="1202436" y="2253996"/>
            <a:ext cx="1024128" cy="1024128"/>
          </a:xfrm>
          <a:prstGeom prst="donut">
            <a:avLst/>
          </a:prstGeom>
          <a:solidFill>
            <a:srgbClr val="4FC3F7">
              <a:alpha val="45000"/>
            </a:srgbClr>
          </a:solidFill>
          <a:ln w="12700">
            <a:solidFill>
              <a:srgbClr val="4FC3F7"/>
            </a:solidFill>
            <a:prstDash val="solid"/>
          </a:ln>
        </p:spPr>
      </p:sp>
      <p:sp>
        <p:nvSpPr>
          <p:cNvPr id="9" name="Shape 7"/>
          <p:cNvSpPr/>
          <p:nvPr/>
        </p:nvSpPr>
        <p:spPr>
          <a:xfrm>
            <a:off x="1874520" y="2414016"/>
            <a:ext cx="288036" cy="288036"/>
          </a:xfrm>
          <a:prstGeom prst="ellipse">
            <a:avLst/>
          </a:prstGeom>
          <a:solidFill>
            <a:srgbClr val="E76F51">
              <a:alpha val="90000"/>
            </a:srgbClr>
          </a:solidFill>
          <a:ln w="12700">
            <a:solidFill>
              <a:srgbClr val="E76F51"/>
            </a:solidFill>
            <a:prstDash val="solid"/>
          </a:ln>
        </p:spPr>
      </p:sp>
      <p:sp>
        <p:nvSpPr>
          <p:cNvPr id="10" name="Text 8"/>
          <p:cNvSpPr/>
          <p:nvPr/>
        </p:nvSpPr>
        <p:spPr>
          <a:xfrm>
            <a:off x="1207008" y="3703320"/>
            <a:ext cx="1005840" cy="182880"/>
          </a:xfrm>
          <a:prstGeom prst="rect">
            <a:avLst/>
          </a:prstGeom>
          <a:noFill/>
          <a:ln/>
        </p:spPr>
        <p:txBody>
          <a:bodyPr wrap="square" lIns="0" tIns="0" rIns="0" bIns="0" rtlCol="0" anchor="ctr"/>
          <a:lstStyle/>
          <a:p>
            <a:pPr marL="0" indent="0" algn="ctr">
              <a:buNone/>
            </a:pPr>
            <a:r>
              <a:rPr lang="en-US" sz="1500" b="1" dirty="0">
                <a:solidFill>
                  <a:srgbClr val="0B3C5D"/>
                </a:solidFill>
                <a:latin typeface="Meiryo" pitchFamily="34" charset="0"/>
                <a:ea typeface="Meiryo" pitchFamily="34" charset="-122"/>
                <a:cs typeface="Meiryo" pitchFamily="34" charset="-120"/>
              </a:rPr>
              <a:t>粒子テーブル</a:t>
            </a:r>
            <a:endParaRPr lang="en-US" sz="1500" dirty="0"/>
          </a:p>
        </p:txBody>
      </p:sp>
      <p:sp>
        <p:nvSpPr>
          <p:cNvPr id="11" name="Shape 9"/>
          <p:cNvSpPr/>
          <p:nvPr/>
        </p:nvSpPr>
        <p:spPr>
          <a:xfrm>
            <a:off x="2697480" y="2651760"/>
            <a:ext cx="384048" cy="301752"/>
          </a:xfrm>
          <a:prstGeom prst="chevron">
            <a:avLst/>
          </a:prstGeom>
          <a:solidFill>
            <a:srgbClr val="D7E3EA"/>
          </a:solidFill>
          <a:ln w="12700">
            <a:solidFill>
              <a:srgbClr val="D7E3EA"/>
            </a:solidFill>
            <a:prstDash val="solid"/>
          </a:ln>
        </p:spPr>
      </p:sp>
      <p:sp>
        <p:nvSpPr>
          <p:cNvPr id="12" name="Shape 10"/>
          <p:cNvSpPr/>
          <p:nvPr/>
        </p:nvSpPr>
        <p:spPr>
          <a:xfrm>
            <a:off x="3246120" y="1691640"/>
            <a:ext cx="2194560" cy="2377440"/>
          </a:xfrm>
          <a:prstGeom prst="roundRect">
            <a:avLst>
              <a:gd name="adj" fmla="val 2500"/>
            </a:avLst>
          </a:prstGeom>
          <a:solidFill>
            <a:srgbClr val="F9FBFD"/>
          </a:solidFill>
          <a:ln w="12700">
            <a:solidFill>
              <a:srgbClr val="CAD8E0"/>
            </a:solidFill>
            <a:prstDash val="solid"/>
          </a:ln>
        </p:spPr>
      </p:sp>
      <p:sp>
        <p:nvSpPr>
          <p:cNvPr id="13" name="Text 11"/>
          <p:cNvSpPr/>
          <p:nvPr/>
        </p:nvSpPr>
        <p:spPr>
          <a:xfrm>
            <a:off x="3374136" y="1764792"/>
            <a:ext cx="19385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x-y grid</a:t>
            </a:r>
            <a:endParaRPr lang="en-US" sz="1400" dirty="0"/>
          </a:p>
        </p:txBody>
      </p:sp>
      <p:sp>
        <p:nvSpPr>
          <p:cNvPr id="14" name="Shape 12"/>
          <p:cNvSpPr/>
          <p:nvPr/>
        </p:nvSpPr>
        <p:spPr>
          <a:xfrm>
            <a:off x="3520440" y="1993392"/>
            <a:ext cx="256032" cy="256032"/>
          </a:xfrm>
          <a:prstGeom prst="rect">
            <a:avLst/>
          </a:prstGeom>
          <a:solidFill>
            <a:srgbClr val="ECF2F6"/>
          </a:solidFill>
          <a:ln w="12700">
            <a:solidFill>
              <a:srgbClr val="FFFFFF"/>
            </a:solidFill>
            <a:prstDash val="solid"/>
          </a:ln>
        </p:spPr>
      </p:sp>
      <p:sp>
        <p:nvSpPr>
          <p:cNvPr id="15" name="Shape 13"/>
          <p:cNvSpPr/>
          <p:nvPr/>
        </p:nvSpPr>
        <p:spPr>
          <a:xfrm>
            <a:off x="3831336" y="1993392"/>
            <a:ext cx="256032" cy="256032"/>
          </a:xfrm>
          <a:prstGeom prst="rect">
            <a:avLst/>
          </a:prstGeom>
          <a:solidFill>
            <a:srgbClr val="ECF2F6"/>
          </a:solidFill>
          <a:ln w="12700">
            <a:solidFill>
              <a:srgbClr val="FFFFFF"/>
            </a:solidFill>
            <a:prstDash val="solid"/>
          </a:ln>
        </p:spPr>
      </p:sp>
      <p:sp>
        <p:nvSpPr>
          <p:cNvPr id="16" name="Shape 14"/>
          <p:cNvSpPr/>
          <p:nvPr/>
        </p:nvSpPr>
        <p:spPr>
          <a:xfrm>
            <a:off x="4142232" y="1993392"/>
            <a:ext cx="256032" cy="256032"/>
          </a:xfrm>
          <a:prstGeom prst="rect">
            <a:avLst/>
          </a:prstGeom>
          <a:solidFill>
            <a:srgbClr val="ECF2F6"/>
          </a:solidFill>
          <a:ln w="12700">
            <a:solidFill>
              <a:srgbClr val="FFFFFF"/>
            </a:solidFill>
            <a:prstDash val="solid"/>
          </a:ln>
        </p:spPr>
      </p:sp>
      <p:sp>
        <p:nvSpPr>
          <p:cNvPr id="17" name="Shape 15"/>
          <p:cNvSpPr/>
          <p:nvPr/>
        </p:nvSpPr>
        <p:spPr>
          <a:xfrm>
            <a:off x="4453128" y="1993392"/>
            <a:ext cx="256032" cy="256032"/>
          </a:xfrm>
          <a:prstGeom prst="rect">
            <a:avLst/>
          </a:prstGeom>
          <a:solidFill>
            <a:srgbClr val="ECF2F6"/>
          </a:solidFill>
          <a:ln w="12700">
            <a:solidFill>
              <a:srgbClr val="FFFFFF"/>
            </a:solidFill>
            <a:prstDash val="solid"/>
          </a:ln>
        </p:spPr>
      </p:sp>
      <p:sp>
        <p:nvSpPr>
          <p:cNvPr id="18" name="Shape 16"/>
          <p:cNvSpPr/>
          <p:nvPr/>
        </p:nvSpPr>
        <p:spPr>
          <a:xfrm>
            <a:off x="4764024" y="1993392"/>
            <a:ext cx="256032" cy="256032"/>
          </a:xfrm>
          <a:prstGeom prst="rect">
            <a:avLst/>
          </a:prstGeom>
          <a:solidFill>
            <a:srgbClr val="ECF2F6"/>
          </a:solidFill>
          <a:ln w="12700">
            <a:solidFill>
              <a:srgbClr val="FFFFFF"/>
            </a:solidFill>
            <a:prstDash val="solid"/>
          </a:ln>
        </p:spPr>
      </p:sp>
      <p:sp>
        <p:nvSpPr>
          <p:cNvPr id="19" name="Shape 17"/>
          <p:cNvSpPr/>
          <p:nvPr/>
        </p:nvSpPr>
        <p:spPr>
          <a:xfrm>
            <a:off x="3520440" y="2304288"/>
            <a:ext cx="256032" cy="256032"/>
          </a:xfrm>
          <a:prstGeom prst="rect">
            <a:avLst/>
          </a:prstGeom>
          <a:solidFill>
            <a:srgbClr val="ECF2F6"/>
          </a:solidFill>
          <a:ln w="12700">
            <a:solidFill>
              <a:srgbClr val="FFFFFF"/>
            </a:solidFill>
            <a:prstDash val="solid"/>
          </a:ln>
        </p:spPr>
      </p:sp>
      <p:sp>
        <p:nvSpPr>
          <p:cNvPr id="20" name="Shape 18"/>
          <p:cNvSpPr/>
          <p:nvPr/>
        </p:nvSpPr>
        <p:spPr>
          <a:xfrm>
            <a:off x="3831336" y="2304288"/>
            <a:ext cx="256032" cy="256032"/>
          </a:xfrm>
          <a:prstGeom prst="rect">
            <a:avLst/>
          </a:prstGeom>
          <a:solidFill>
            <a:srgbClr val="ECF2F6"/>
          </a:solidFill>
          <a:ln w="12700">
            <a:solidFill>
              <a:srgbClr val="FFFFFF"/>
            </a:solidFill>
            <a:prstDash val="solid"/>
          </a:ln>
        </p:spPr>
      </p:sp>
      <p:sp>
        <p:nvSpPr>
          <p:cNvPr id="21" name="Shape 19"/>
          <p:cNvSpPr/>
          <p:nvPr/>
        </p:nvSpPr>
        <p:spPr>
          <a:xfrm>
            <a:off x="4142232" y="2304288"/>
            <a:ext cx="256032" cy="256032"/>
          </a:xfrm>
          <a:prstGeom prst="rect">
            <a:avLst/>
          </a:prstGeom>
          <a:solidFill>
            <a:srgbClr val="ECF2F6"/>
          </a:solidFill>
          <a:ln w="12700">
            <a:solidFill>
              <a:srgbClr val="FFFFFF"/>
            </a:solidFill>
            <a:prstDash val="solid"/>
          </a:ln>
        </p:spPr>
      </p:sp>
      <p:sp>
        <p:nvSpPr>
          <p:cNvPr id="22" name="Shape 20"/>
          <p:cNvSpPr/>
          <p:nvPr/>
        </p:nvSpPr>
        <p:spPr>
          <a:xfrm>
            <a:off x="4453128" y="2304288"/>
            <a:ext cx="256032" cy="256032"/>
          </a:xfrm>
          <a:prstGeom prst="rect">
            <a:avLst/>
          </a:prstGeom>
          <a:solidFill>
            <a:srgbClr val="BDE9FF"/>
          </a:solidFill>
          <a:ln w="12700">
            <a:solidFill>
              <a:srgbClr val="FFFFFF"/>
            </a:solidFill>
            <a:prstDash val="solid"/>
          </a:ln>
        </p:spPr>
      </p:sp>
      <p:sp>
        <p:nvSpPr>
          <p:cNvPr id="23" name="Shape 21"/>
          <p:cNvSpPr/>
          <p:nvPr/>
        </p:nvSpPr>
        <p:spPr>
          <a:xfrm>
            <a:off x="4764024" y="2304288"/>
            <a:ext cx="256032" cy="256032"/>
          </a:xfrm>
          <a:prstGeom prst="rect">
            <a:avLst/>
          </a:prstGeom>
          <a:solidFill>
            <a:srgbClr val="ECF2F6"/>
          </a:solidFill>
          <a:ln w="12700">
            <a:solidFill>
              <a:srgbClr val="FFFFFF"/>
            </a:solidFill>
            <a:prstDash val="solid"/>
          </a:ln>
        </p:spPr>
      </p:sp>
      <p:sp>
        <p:nvSpPr>
          <p:cNvPr id="24" name="Shape 22"/>
          <p:cNvSpPr/>
          <p:nvPr/>
        </p:nvSpPr>
        <p:spPr>
          <a:xfrm>
            <a:off x="3520440" y="2615184"/>
            <a:ext cx="256032" cy="256032"/>
          </a:xfrm>
          <a:prstGeom prst="rect">
            <a:avLst/>
          </a:prstGeom>
          <a:solidFill>
            <a:srgbClr val="ECF2F6"/>
          </a:solidFill>
          <a:ln w="12700">
            <a:solidFill>
              <a:srgbClr val="FFFFFF"/>
            </a:solidFill>
            <a:prstDash val="solid"/>
          </a:ln>
        </p:spPr>
      </p:sp>
      <p:sp>
        <p:nvSpPr>
          <p:cNvPr id="25" name="Shape 23"/>
          <p:cNvSpPr/>
          <p:nvPr/>
        </p:nvSpPr>
        <p:spPr>
          <a:xfrm>
            <a:off x="3831336" y="2615184"/>
            <a:ext cx="256032" cy="256032"/>
          </a:xfrm>
          <a:prstGeom prst="rect">
            <a:avLst/>
          </a:prstGeom>
          <a:solidFill>
            <a:srgbClr val="ECF2F6"/>
          </a:solidFill>
          <a:ln w="12700">
            <a:solidFill>
              <a:srgbClr val="FFFFFF"/>
            </a:solidFill>
            <a:prstDash val="solid"/>
          </a:ln>
        </p:spPr>
      </p:sp>
      <p:sp>
        <p:nvSpPr>
          <p:cNvPr id="26" name="Shape 24"/>
          <p:cNvSpPr/>
          <p:nvPr/>
        </p:nvSpPr>
        <p:spPr>
          <a:xfrm>
            <a:off x="4142232" y="2615184"/>
            <a:ext cx="256032" cy="256032"/>
          </a:xfrm>
          <a:prstGeom prst="rect">
            <a:avLst/>
          </a:prstGeom>
          <a:solidFill>
            <a:srgbClr val="ECF2F6"/>
          </a:solidFill>
          <a:ln w="12700">
            <a:solidFill>
              <a:srgbClr val="FFFFFF"/>
            </a:solidFill>
            <a:prstDash val="solid"/>
          </a:ln>
        </p:spPr>
      </p:sp>
      <p:sp>
        <p:nvSpPr>
          <p:cNvPr id="27" name="Shape 25"/>
          <p:cNvSpPr/>
          <p:nvPr/>
        </p:nvSpPr>
        <p:spPr>
          <a:xfrm>
            <a:off x="4453128" y="2615184"/>
            <a:ext cx="256032" cy="256032"/>
          </a:xfrm>
          <a:prstGeom prst="rect">
            <a:avLst/>
          </a:prstGeom>
          <a:solidFill>
            <a:srgbClr val="ECF2F6"/>
          </a:solidFill>
          <a:ln w="12700">
            <a:solidFill>
              <a:srgbClr val="FFFFFF"/>
            </a:solidFill>
            <a:prstDash val="solid"/>
          </a:ln>
        </p:spPr>
      </p:sp>
      <p:sp>
        <p:nvSpPr>
          <p:cNvPr id="28" name="Shape 26"/>
          <p:cNvSpPr/>
          <p:nvPr/>
        </p:nvSpPr>
        <p:spPr>
          <a:xfrm>
            <a:off x="4764024" y="2615184"/>
            <a:ext cx="256032" cy="256032"/>
          </a:xfrm>
          <a:prstGeom prst="rect">
            <a:avLst/>
          </a:prstGeom>
          <a:solidFill>
            <a:srgbClr val="ECF2F6"/>
          </a:solidFill>
          <a:ln w="12700">
            <a:solidFill>
              <a:srgbClr val="FFFFFF"/>
            </a:solidFill>
            <a:prstDash val="solid"/>
          </a:ln>
        </p:spPr>
      </p:sp>
      <p:sp>
        <p:nvSpPr>
          <p:cNvPr id="29" name="Shape 27"/>
          <p:cNvSpPr/>
          <p:nvPr/>
        </p:nvSpPr>
        <p:spPr>
          <a:xfrm>
            <a:off x="3520440" y="2926080"/>
            <a:ext cx="256032" cy="256032"/>
          </a:xfrm>
          <a:prstGeom prst="rect">
            <a:avLst/>
          </a:prstGeom>
          <a:solidFill>
            <a:srgbClr val="ECF2F6"/>
          </a:solidFill>
          <a:ln w="12700">
            <a:solidFill>
              <a:srgbClr val="FFFFFF"/>
            </a:solidFill>
            <a:prstDash val="solid"/>
          </a:ln>
        </p:spPr>
      </p:sp>
      <p:sp>
        <p:nvSpPr>
          <p:cNvPr id="30" name="Shape 28"/>
          <p:cNvSpPr/>
          <p:nvPr/>
        </p:nvSpPr>
        <p:spPr>
          <a:xfrm>
            <a:off x="3831336" y="2926080"/>
            <a:ext cx="256032" cy="256032"/>
          </a:xfrm>
          <a:prstGeom prst="rect">
            <a:avLst/>
          </a:prstGeom>
          <a:solidFill>
            <a:srgbClr val="ECF2F6"/>
          </a:solidFill>
          <a:ln w="12700">
            <a:solidFill>
              <a:srgbClr val="FFFFFF"/>
            </a:solidFill>
            <a:prstDash val="solid"/>
          </a:ln>
        </p:spPr>
      </p:sp>
      <p:sp>
        <p:nvSpPr>
          <p:cNvPr id="31" name="Shape 29"/>
          <p:cNvSpPr/>
          <p:nvPr/>
        </p:nvSpPr>
        <p:spPr>
          <a:xfrm>
            <a:off x="4142232" y="2926080"/>
            <a:ext cx="256032" cy="256032"/>
          </a:xfrm>
          <a:prstGeom prst="rect">
            <a:avLst/>
          </a:prstGeom>
          <a:solidFill>
            <a:srgbClr val="8BD5FF"/>
          </a:solidFill>
          <a:ln w="12700">
            <a:solidFill>
              <a:srgbClr val="FFFFFF"/>
            </a:solidFill>
            <a:prstDash val="solid"/>
          </a:ln>
        </p:spPr>
      </p:sp>
      <p:sp>
        <p:nvSpPr>
          <p:cNvPr id="32" name="Shape 30"/>
          <p:cNvSpPr/>
          <p:nvPr/>
        </p:nvSpPr>
        <p:spPr>
          <a:xfrm>
            <a:off x="4453128" y="2926080"/>
            <a:ext cx="256032" cy="256032"/>
          </a:xfrm>
          <a:prstGeom prst="rect">
            <a:avLst/>
          </a:prstGeom>
          <a:solidFill>
            <a:srgbClr val="ECF2F6"/>
          </a:solidFill>
          <a:ln w="12700">
            <a:solidFill>
              <a:srgbClr val="FFFFFF"/>
            </a:solidFill>
            <a:prstDash val="solid"/>
          </a:ln>
        </p:spPr>
      </p:sp>
      <p:sp>
        <p:nvSpPr>
          <p:cNvPr id="33" name="Shape 31"/>
          <p:cNvSpPr/>
          <p:nvPr/>
        </p:nvSpPr>
        <p:spPr>
          <a:xfrm>
            <a:off x="4764024" y="2926080"/>
            <a:ext cx="256032" cy="256032"/>
          </a:xfrm>
          <a:prstGeom prst="rect">
            <a:avLst/>
          </a:prstGeom>
          <a:solidFill>
            <a:srgbClr val="ECF2F6"/>
          </a:solidFill>
          <a:ln w="12700">
            <a:solidFill>
              <a:srgbClr val="FFFFFF"/>
            </a:solidFill>
            <a:prstDash val="solid"/>
          </a:ln>
        </p:spPr>
      </p:sp>
      <p:sp>
        <p:nvSpPr>
          <p:cNvPr id="34" name="Shape 32"/>
          <p:cNvSpPr/>
          <p:nvPr/>
        </p:nvSpPr>
        <p:spPr>
          <a:xfrm>
            <a:off x="3520440" y="3236976"/>
            <a:ext cx="256032" cy="256032"/>
          </a:xfrm>
          <a:prstGeom prst="rect">
            <a:avLst/>
          </a:prstGeom>
          <a:solidFill>
            <a:srgbClr val="ECF2F6"/>
          </a:solidFill>
          <a:ln w="12700">
            <a:solidFill>
              <a:srgbClr val="FFFFFF"/>
            </a:solidFill>
            <a:prstDash val="solid"/>
          </a:ln>
        </p:spPr>
      </p:sp>
      <p:sp>
        <p:nvSpPr>
          <p:cNvPr id="35" name="Shape 33"/>
          <p:cNvSpPr/>
          <p:nvPr/>
        </p:nvSpPr>
        <p:spPr>
          <a:xfrm>
            <a:off x="3831336" y="3236976"/>
            <a:ext cx="256032" cy="256032"/>
          </a:xfrm>
          <a:prstGeom prst="rect">
            <a:avLst/>
          </a:prstGeom>
          <a:solidFill>
            <a:srgbClr val="ECF2F6"/>
          </a:solidFill>
          <a:ln w="12700">
            <a:solidFill>
              <a:srgbClr val="FFFFFF"/>
            </a:solidFill>
            <a:prstDash val="solid"/>
          </a:ln>
        </p:spPr>
      </p:sp>
      <p:sp>
        <p:nvSpPr>
          <p:cNvPr id="36" name="Shape 34"/>
          <p:cNvSpPr/>
          <p:nvPr/>
        </p:nvSpPr>
        <p:spPr>
          <a:xfrm>
            <a:off x="4142232" y="3236976"/>
            <a:ext cx="256032" cy="256032"/>
          </a:xfrm>
          <a:prstGeom prst="rect">
            <a:avLst/>
          </a:prstGeom>
          <a:solidFill>
            <a:srgbClr val="ECF2F6"/>
          </a:solidFill>
          <a:ln w="12700">
            <a:solidFill>
              <a:srgbClr val="FFFFFF"/>
            </a:solidFill>
            <a:prstDash val="solid"/>
          </a:ln>
        </p:spPr>
      </p:sp>
      <p:sp>
        <p:nvSpPr>
          <p:cNvPr id="37" name="Shape 35"/>
          <p:cNvSpPr/>
          <p:nvPr/>
        </p:nvSpPr>
        <p:spPr>
          <a:xfrm>
            <a:off x="4453128" y="3236976"/>
            <a:ext cx="256032" cy="256032"/>
          </a:xfrm>
          <a:prstGeom prst="rect">
            <a:avLst/>
          </a:prstGeom>
          <a:solidFill>
            <a:srgbClr val="ECF2F6"/>
          </a:solidFill>
          <a:ln w="12700">
            <a:solidFill>
              <a:srgbClr val="FFFFFF"/>
            </a:solidFill>
            <a:prstDash val="solid"/>
          </a:ln>
        </p:spPr>
      </p:sp>
      <p:sp>
        <p:nvSpPr>
          <p:cNvPr id="38" name="Shape 36"/>
          <p:cNvSpPr/>
          <p:nvPr/>
        </p:nvSpPr>
        <p:spPr>
          <a:xfrm>
            <a:off x="4764024" y="3236976"/>
            <a:ext cx="256032" cy="256032"/>
          </a:xfrm>
          <a:prstGeom prst="rect">
            <a:avLst/>
          </a:prstGeom>
          <a:solidFill>
            <a:srgbClr val="ECF2F6"/>
          </a:solidFill>
          <a:ln w="12700">
            <a:solidFill>
              <a:srgbClr val="FFFFFF"/>
            </a:solidFill>
            <a:prstDash val="solid"/>
          </a:ln>
        </p:spPr>
      </p:sp>
      <p:sp>
        <p:nvSpPr>
          <p:cNvPr id="39" name="Text 37"/>
          <p:cNvSpPr/>
          <p:nvPr/>
        </p:nvSpPr>
        <p:spPr>
          <a:xfrm>
            <a:off x="3611880" y="3794760"/>
            <a:ext cx="1417320" cy="384048"/>
          </a:xfrm>
          <a:prstGeom prst="rect">
            <a:avLst/>
          </a:prstGeom>
          <a:noFill/>
          <a:ln/>
        </p:spPr>
        <p:txBody>
          <a:bodyPr wrap="square" lIns="0" tIns="0" rIns="0" bIns="0" rtlCol="0" anchor="ctr"/>
          <a:lstStyle/>
          <a:p>
            <a:pPr marL="0" indent="0" algn="ctr">
              <a:buNone/>
            </a:pPr>
            <a:r>
              <a:rPr lang="en-US" sz="1350" dirty="0">
                <a:solidFill>
                  <a:srgbClr val="111111"/>
                </a:solidFill>
                <a:latin typeface="Meiryo" pitchFamily="34" charset="0"/>
                <a:ea typeface="Meiryo" pitchFamily="34" charset="-122"/>
                <a:cs typeface="Meiryo" pitchFamily="34" charset="-120"/>
              </a:rPr>
              <a:t>scratch / hotspot を</a:t>
            </a:r>
            <a:endParaRPr lang="en-US" sz="1350" dirty="0"/>
          </a:p>
          <a:p>
            <a:pPr marL="0" indent="0" algn="ctr">
              <a:buNone/>
            </a:pPr>
            <a:r>
              <a:rPr lang="en-US" sz="1350" dirty="0">
                <a:solidFill>
                  <a:srgbClr val="111111"/>
                </a:solidFill>
                <a:latin typeface="Meiryo" pitchFamily="34" charset="0"/>
                <a:ea typeface="Meiryo" pitchFamily="34" charset="-122"/>
                <a:cs typeface="Meiryo" pitchFamily="34" charset="-120"/>
              </a:rPr>
              <a:t>直感的に保持</a:t>
            </a:r>
            <a:endParaRPr lang="en-US" sz="1350" dirty="0"/>
          </a:p>
        </p:txBody>
      </p:sp>
      <p:sp>
        <p:nvSpPr>
          <p:cNvPr id="40" name="Shape 38"/>
          <p:cNvSpPr/>
          <p:nvPr/>
        </p:nvSpPr>
        <p:spPr>
          <a:xfrm>
            <a:off x="5623560" y="2651760"/>
            <a:ext cx="384048" cy="301752"/>
          </a:xfrm>
          <a:prstGeom prst="chevron">
            <a:avLst/>
          </a:prstGeom>
          <a:solidFill>
            <a:srgbClr val="D7E3EA"/>
          </a:solidFill>
          <a:ln w="12700">
            <a:solidFill>
              <a:srgbClr val="D7E3EA"/>
            </a:solidFill>
            <a:prstDash val="solid"/>
          </a:ln>
        </p:spPr>
      </p:sp>
      <p:sp>
        <p:nvSpPr>
          <p:cNvPr id="41" name="Shape 39"/>
          <p:cNvSpPr/>
          <p:nvPr/>
        </p:nvSpPr>
        <p:spPr>
          <a:xfrm>
            <a:off x="6126480" y="1691640"/>
            <a:ext cx="2194560" cy="2377440"/>
          </a:xfrm>
          <a:prstGeom prst="roundRect">
            <a:avLst>
              <a:gd name="adj" fmla="val 2500"/>
            </a:avLst>
          </a:prstGeom>
          <a:solidFill>
            <a:srgbClr val="F9FBFD"/>
          </a:solidFill>
          <a:ln w="12700">
            <a:solidFill>
              <a:srgbClr val="CAD8E0"/>
            </a:solidFill>
            <a:prstDash val="solid"/>
          </a:ln>
        </p:spPr>
      </p:sp>
      <p:sp>
        <p:nvSpPr>
          <p:cNvPr id="42" name="Text 40"/>
          <p:cNvSpPr/>
          <p:nvPr/>
        </p:nvSpPr>
        <p:spPr>
          <a:xfrm>
            <a:off x="6254496" y="1764792"/>
            <a:ext cx="19385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r-theta grid</a:t>
            </a:r>
            <a:endParaRPr lang="en-US" sz="1400" dirty="0"/>
          </a:p>
        </p:txBody>
      </p:sp>
      <p:sp>
        <p:nvSpPr>
          <p:cNvPr id="43" name="Shape 41"/>
          <p:cNvSpPr/>
          <p:nvPr/>
        </p:nvSpPr>
        <p:spPr>
          <a:xfrm>
            <a:off x="6400800" y="1993392"/>
            <a:ext cx="256032" cy="256032"/>
          </a:xfrm>
          <a:prstGeom prst="rect">
            <a:avLst/>
          </a:prstGeom>
          <a:solidFill>
            <a:srgbClr val="ECF2F6"/>
          </a:solidFill>
          <a:ln w="12700">
            <a:solidFill>
              <a:srgbClr val="FFFFFF"/>
            </a:solidFill>
            <a:prstDash val="solid"/>
          </a:ln>
        </p:spPr>
      </p:sp>
      <p:sp>
        <p:nvSpPr>
          <p:cNvPr id="44" name="Shape 42"/>
          <p:cNvSpPr/>
          <p:nvPr/>
        </p:nvSpPr>
        <p:spPr>
          <a:xfrm>
            <a:off x="6711696" y="1993392"/>
            <a:ext cx="256032" cy="256032"/>
          </a:xfrm>
          <a:prstGeom prst="rect">
            <a:avLst/>
          </a:prstGeom>
          <a:solidFill>
            <a:srgbClr val="ECF2F6"/>
          </a:solidFill>
          <a:ln w="12700">
            <a:solidFill>
              <a:srgbClr val="FFFFFF"/>
            </a:solidFill>
            <a:prstDash val="solid"/>
          </a:ln>
        </p:spPr>
      </p:sp>
      <p:sp>
        <p:nvSpPr>
          <p:cNvPr id="45" name="Shape 43"/>
          <p:cNvSpPr/>
          <p:nvPr/>
        </p:nvSpPr>
        <p:spPr>
          <a:xfrm>
            <a:off x="7022592" y="1993392"/>
            <a:ext cx="256032" cy="256032"/>
          </a:xfrm>
          <a:prstGeom prst="rect">
            <a:avLst/>
          </a:prstGeom>
          <a:solidFill>
            <a:srgbClr val="ECF2F6"/>
          </a:solidFill>
          <a:ln w="12700">
            <a:solidFill>
              <a:srgbClr val="FFFFFF"/>
            </a:solidFill>
            <a:prstDash val="solid"/>
          </a:ln>
        </p:spPr>
      </p:sp>
      <p:sp>
        <p:nvSpPr>
          <p:cNvPr id="46" name="Shape 44"/>
          <p:cNvSpPr/>
          <p:nvPr/>
        </p:nvSpPr>
        <p:spPr>
          <a:xfrm>
            <a:off x="7333488" y="1993392"/>
            <a:ext cx="256032" cy="256032"/>
          </a:xfrm>
          <a:prstGeom prst="rect">
            <a:avLst/>
          </a:prstGeom>
          <a:solidFill>
            <a:srgbClr val="ECF2F6"/>
          </a:solidFill>
          <a:ln w="12700">
            <a:solidFill>
              <a:srgbClr val="FFFFFF"/>
            </a:solidFill>
            <a:prstDash val="solid"/>
          </a:ln>
        </p:spPr>
      </p:sp>
      <p:sp>
        <p:nvSpPr>
          <p:cNvPr id="47" name="Shape 45"/>
          <p:cNvSpPr/>
          <p:nvPr/>
        </p:nvSpPr>
        <p:spPr>
          <a:xfrm>
            <a:off x="7644384" y="1993392"/>
            <a:ext cx="256032" cy="256032"/>
          </a:xfrm>
          <a:prstGeom prst="rect">
            <a:avLst/>
          </a:prstGeom>
          <a:solidFill>
            <a:srgbClr val="ECF2F6"/>
          </a:solidFill>
          <a:ln w="12700">
            <a:solidFill>
              <a:srgbClr val="FFFFFF"/>
            </a:solidFill>
            <a:prstDash val="solid"/>
          </a:ln>
        </p:spPr>
      </p:sp>
      <p:sp>
        <p:nvSpPr>
          <p:cNvPr id="48" name="Shape 46"/>
          <p:cNvSpPr/>
          <p:nvPr/>
        </p:nvSpPr>
        <p:spPr>
          <a:xfrm>
            <a:off x="6400800" y="2304288"/>
            <a:ext cx="256032" cy="256032"/>
          </a:xfrm>
          <a:prstGeom prst="rect">
            <a:avLst/>
          </a:prstGeom>
          <a:solidFill>
            <a:srgbClr val="ECF2F6"/>
          </a:solidFill>
          <a:ln w="12700">
            <a:solidFill>
              <a:srgbClr val="FFFFFF"/>
            </a:solidFill>
            <a:prstDash val="solid"/>
          </a:ln>
        </p:spPr>
      </p:sp>
      <p:sp>
        <p:nvSpPr>
          <p:cNvPr id="49" name="Shape 47"/>
          <p:cNvSpPr/>
          <p:nvPr/>
        </p:nvSpPr>
        <p:spPr>
          <a:xfrm>
            <a:off x="6711696" y="2304288"/>
            <a:ext cx="256032" cy="256032"/>
          </a:xfrm>
          <a:prstGeom prst="rect">
            <a:avLst/>
          </a:prstGeom>
          <a:solidFill>
            <a:srgbClr val="ECF2F6"/>
          </a:solidFill>
          <a:ln w="12700">
            <a:solidFill>
              <a:srgbClr val="FFFFFF"/>
            </a:solidFill>
            <a:prstDash val="solid"/>
          </a:ln>
        </p:spPr>
      </p:sp>
      <p:sp>
        <p:nvSpPr>
          <p:cNvPr id="50" name="Shape 48"/>
          <p:cNvSpPr/>
          <p:nvPr/>
        </p:nvSpPr>
        <p:spPr>
          <a:xfrm>
            <a:off x="7022592" y="2304288"/>
            <a:ext cx="256032" cy="256032"/>
          </a:xfrm>
          <a:prstGeom prst="rect">
            <a:avLst/>
          </a:prstGeom>
          <a:solidFill>
            <a:srgbClr val="ECF2F6"/>
          </a:solidFill>
          <a:ln w="12700">
            <a:solidFill>
              <a:srgbClr val="FFFFFF"/>
            </a:solidFill>
            <a:prstDash val="solid"/>
          </a:ln>
        </p:spPr>
      </p:sp>
      <p:sp>
        <p:nvSpPr>
          <p:cNvPr id="51" name="Shape 49"/>
          <p:cNvSpPr/>
          <p:nvPr/>
        </p:nvSpPr>
        <p:spPr>
          <a:xfrm>
            <a:off x="7333488" y="2304288"/>
            <a:ext cx="256032" cy="256032"/>
          </a:xfrm>
          <a:prstGeom prst="rect">
            <a:avLst/>
          </a:prstGeom>
          <a:solidFill>
            <a:srgbClr val="ECF2F6"/>
          </a:solidFill>
          <a:ln w="12700">
            <a:solidFill>
              <a:srgbClr val="FFFFFF"/>
            </a:solidFill>
            <a:prstDash val="solid"/>
          </a:ln>
        </p:spPr>
      </p:sp>
      <p:sp>
        <p:nvSpPr>
          <p:cNvPr id="52" name="Shape 50"/>
          <p:cNvSpPr/>
          <p:nvPr/>
        </p:nvSpPr>
        <p:spPr>
          <a:xfrm>
            <a:off x="7644384" y="2304288"/>
            <a:ext cx="256032" cy="256032"/>
          </a:xfrm>
          <a:prstGeom prst="rect">
            <a:avLst/>
          </a:prstGeom>
          <a:solidFill>
            <a:srgbClr val="ECF2F6"/>
          </a:solidFill>
          <a:ln w="12700">
            <a:solidFill>
              <a:srgbClr val="FFFFFF"/>
            </a:solidFill>
            <a:prstDash val="solid"/>
          </a:ln>
        </p:spPr>
      </p:sp>
      <p:sp>
        <p:nvSpPr>
          <p:cNvPr id="53" name="Shape 51"/>
          <p:cNvSpPr/>
          <p:nvPr/>
        </p:nvSpPr>
        <p:spPr>
          <a:xfrm>
            <a:off x="6400800" y="2615184"/>
            <a:ext cx="256032" cy="256032"/>
          </a:xfrm>
          <a:prstGeom prst="rect">
            <a:avLst/>
          </a:prstGeom>
          <a:solidFill>
            <a:srgbClr val="ECF2F6"/>
          </a:solidFill>
          <a:ln w="12700">
            <a:solidFill>
              <a:srgbClr val="FFFFFF"/>
            </a:solidFill>
            <a:prstDash val="solid"/>
          </a:ln>
        </p:spPr>
      </p:sp>
      <p:sp>
        <p:nvSpPr>
          <p:cNvPr id="54" name="Shape 52"/>
          <p:cNvSpPr/>
          <p:nvPr/>
        </p:nvSpPr>
        <p:spPr>
          <a:xfrm>
            <a:off x="6711696" y="2615184"/>
            <a:ext cx="256032" cy="256032"/>
          </a:xfrm>
          <a:prstGeom prst="rect">
            <a:avLst/>
          </a:prstGeom>
          <a:solidFill>
            <a:srgbClr val="FCD6B0"/>
          </a:solidFill>
          <a:ln w="12700">
            <a:solidFill>
              <a:srgbClr val="FFFFFF"/>
            </a:solidFill>
            <a:prstDash val="solid"/>
          </a:ln>
        </p:spPr>
      </p:sp>
      <p:sp>
        <p:nvSpPr>
          <p:cNvPr id="55" name="Shape 53"/>
          <p:cNvSpPr/>
          <p:nvPr/>
        </p:nvSpPr>
        <p:spPr>
          <a:xfrm>
            <a:off x="7022592" y="2615184"/>
            <a:ext cx="256032" cy="256032"/>
          </a:xfrm>
          <a:prstGeom prst="rect">
            <a:avLst/>
          </a:prstGeom>
          <a:solidFill>
            <a:srgbClr val="ECF2F6"/>
          </a:solidFill>
          <a:ln w="12700">
            <a:solidFill>
              <a:srgbClr val="FFFFFF"/>
            </a:solidFill>
            <a:prstDash val="solid"/>
          </a:ln>
        </p:spPr>
      </p:sp>
      <p:sp>
        <p:nvSpPr>
          <p:cNvPr id="56" name="Shape 54"/>
          <p:cNvSpPr/>
          <p:nvPr/>
        </p:nvSpPr>
        <p:spPr>
          <a:xfrm>
            <a:off x="7333488" y="2615184"/>
            <a:ext cx="256032" cy="256032"/>
          </a:xfrm>
          <a:prstGeom prst="rect">
            <a:avLst/>
          </a:prstGeom>
          <a:solidFill>
            <a:srgbClr val="ECF2F6"/>
          </a:solidFill>
          <a:ln w="12700">
            <a:solidFill>
              <a:srgbClr val="FFFFFF"/>
            </a:solidFill>
            <a:prstDash val="solid"/>
          </a:ln>
        </p:spPr>
      </p:sp>
      <p:sp>
        <p:nvSpPr>
          <p:cNvPr id="57" name="Shape 55"/>
          <p:cNvSpPr/>
          <p:nvPr/>
        </p:nvSpPr>
        <p:spPr>
          <a:xfrm>
            <a:off x="7644384" y="2615184"/>
            <a:ext cx="256032" cy="256032"/>
          </a:xfrm>
          <a:prstGeom prst="rect">
            <a:avLst/>
          </a:prstGeom>
          <a:solidFill>
            <a:srgbClr val="ECF2F6"/>
          </a:solidFill>
          <a:ln w="12700">
            <a:solidFill>
              <a:srgbClr val="FFFFFF"/>
            </a:solidFill>
            <a:prstDash val="solid"/>
          </a:ln>
        </p:spPr>
      </p:sp>
      <p:sp>
        <p:nvSpPr>
          <p:cNvPr id="58" name="Shape 56"/>
          <p:cNvSpPr/>
          <p:nvPr/>
        </p:nvSpPr>
        <p:spPr>
          <a:xfrm>
            <a:off x="6400800" y="2926080"/>
            <a:ext cx="256032" cy="256032"/>
          </a:xfrm>
          <a:prstGeom prst="rect">
            <a:avLst/>
          </a:prstGeom>
          <a:solidFill>
            <a:srgbClr val="ECF2F6"/>
          </a:solidFill>
          <a:ln w="12700">
            <a:solidFill>
              <a:srgbClr val="FFFFFF"/>
            </a:solidFill>
            <a:prstDash val="solid"/>
          </a:ln>
        </p:spPr>
      </p:sp>
      <p:sp>
        <p:nvSpPr>
          <p:cNvPr id="59" name="Shape 57"/>
          <p:cNvSpPr/>
          <p:nvPr/>
        </p:nvSpPr>
        <p:spPr>
          <a:xfrm>
            <a:off x="6711696" y="2926080"/>
            <a:ext cx="256032" cy="256032"/>
          </a:xfrm>
          <a:prstGeom prst="rect">
            <a:avLst/>
          </a:prstGeom>
          <a:solidFill>
            <a:srgbClr val="F9C27C"/>
          </a:solidFill>
          <a:ln w="12700">
            <a:solidFill>
              <a:srgbClr val="FFFFFF"/>
            </a:solidFill>
            <a:prstDash val="solid"/>
          </a:ln>
        </p:spPr>
      </p:sp>
      <p:sp>
        <p:nvSpPr>
          <p:cNvPr id="60" name="Shape 58"/>
          <p:cNvSpPr/>
          <p:nvPr/>
        </p:nvSpPr>
        <p:spPr>
          <a:xfrm>
            <a:off x="7022592" y="2926080"/>
            <a:ext cx="256032" cy="256032"/>
          </a:xfrm>
          <a:prstGeom prst="rect">
            <a:avLst/>
          </a:prstGeom>
          <a:solidFill>
            <a:srgbClr val="ECF2F6"/>
          </a:solidFill>
          <a:ln w="12700">
            <a:solidFill>
              <a:srgbClr val="FFFFFF"/>
            </a:solidFill>
            <a:prstDash val="solid"/>
          </a:ln>
        </p:spPr>
      </p:sp>
      <p:sp>
        <p:nvSpPr>
          <p:cNvPr id="61" name="Shape 59"/>
          <p:cNvSpPr/>
          <p:nvPr/>
        </p:nvSpPr>
        <p:spPr>
          <a:xfrm>
            <a:off x="7333488" y="2926080"/>
            <a:ext cx="256032" cy="256032"/>
          </a:xfrm>
          <a:prstGeom prst="rect">
            <a:avLst/>
          </a:prstGeom>
          <a:solidFill>
            <a:srgbClr val="ECF2F6"/>
          </a:solidFill>
          <a:ln w="12700">
            <a:solidFill>
              <a:srgbClr val="FFFFFF"/>
            </a:solidFill>
            <a:prstDash val="solid"/>
          </a:ln>
        </p:spPr>
      </p:sp>
      <p:sp>
        <p:nvSpPr>
          <p:cNvPr id="62" name="Shape 60"/>
          <p:cNvSpPr/>
          <p:nvPr/>
        </p:nvSpPr>
        <p:spPr>
          <a:xfrm>
            <a:off x="7644384" y="2926080"/>
            <a:ext cx="256032" cy="256032"/>
          </a:xfrm>
          <a:prstGeom prst="rect">
            <a:avLst/>
          </a:prstGeom>
          <a:solidFill>
            <a:srgbClr val="ECF2F6"/>
          </a:solidFill>
          <a:ln w="12700">
            <a:solidFill>
              <a:srgbClr val="FFFFFF"/>
            </a:solidFill>
            <a:prstDash val="solid"/>
          </a:ln>
        </p:spPr>
      </p:sp>
      <p:sp>
        <p:nvSpPr>
          <p:cNvPr id="63" name="Shape 61"/>
          <p:cNvSpPr/>
          <p:nvPr/>
        </p:nvSpPr>
        <p:spPr>
          <a:xfrm>
            <a:off x="6400800" y="3236976"/>
            <a:ext cx="256032" cy="256032"/>
          </a:xfrm>
          <a:prstGeom prst="rect">
            <a:avLst/>
          </a:prstGeom>
          <a:solidFill>
            <a:srgbClr val="ECF2F6"/>
          </a:solidFill>
          <a:ln w="12700">
            <a:solidFill>
              <a:srgbClr val="FFFFFF"/>
            </a:solidFill>
            <a:prstDash val="solid"/>
          </a:ln>
        </p:spPr>
      </p:sp>
      <p:sp>
        <p:nvSpPr>
          <p:cNvPr id="64" name="Shape 62"/>
          <p:cNvSpPr/>
          <p:nvPr/>
        </p:nvSpPr>
        <p:spPr>
          <a:xfrm>
            <a:off x="6711696" y="3236976"/>
            <a:ext cx="256032" cy="256032"/>
          </a:xfrm>
          <a:prstGeom prst="rect">
            <a:avLst/>
          </a:prstGeom>
          <a:solidFill>
            <a:srgbClr val="ECF2F6"/>
          </a:solidFill>
          <a:ln w="12700">
            <a:solidFill>
              <a:srgbClr val="FFFFFF"/>
            </a:solidFill>
            <a:prstDash val="solid"/>
          </a:ln>
        </p:spPr>
      </p:sp>
      <p:sp>
        <p:nvSpPr>
          <p:cNvPr id="65" name="Shape 63"/>
          <p:cNvSpPr/>
          <p:nvPr/>
        </p:nvSpPr>
        <p:spPr>
          <a:xfrm>
            <a:off x="7022592" y="3236976"/>
            <a:ext cx="256032" cy="256032"/>
          </a:xfrm>
          <a:prstGeom prst="rect">
            <a:avLst/>
          </a:prstGeom>
          <a:solidFill>
            <a:srgbClr val="ECF2F6"/>
          </a:solidFill>
          <a:ln w="12700">
            <a:solidFill>
              <a:srgbClr val="FFFFFF"/>
            </a:solidFill>
            <a:prstDash val="solid"/>
          </a:ln>
        </p:spPr>
      </p:sp>
      <p:sp>
        <p:nvSpPr>
          <p:cNvPr id="66" name="Shape 64"/>
          <p:cNvSpPr/>
          <p:nvPr/>
        </p:nvSpPr>
        <p:spPr>
          <a:xfrm>
            <a:off x="7333488" y="3236976"/>
            <a:ext cx="256032" cy="256032"/>
          </a:xfrm>
          <a:prstGeom prst="rect">
            <a:avLst/>
          </a:prstGeom>
          <a:solidFill>
            <a:srgbClr val="ECF2F6"/>
          </a:solidFill>
          <a:ln w="12700">
            <a:solidFill>
              <a:srgbClr val="FFFFFF"/>
            </a:solidFill>
            <a:prstDash val="solid"/>
          </a:ln>
        </p:spPr>
      </p:sp>
      <p:sp>
        <p:nvSpPr>
          <p:cNvPr id="67" name="Shape 65"/>
          <p:cNvSpPr/>
          <p:nvPr/>
        </p:nvSpPr>
        <p:spPr>
          <a:xfrm>
            <a:off x="7644384" y="3236976"/>
            <a:ext cx="256032" cy="256032"/>
          </a:xfrm>
          <a:prstGeom prst="rect">
            <a:avLst/>
          </a:prstGeom>
          <a:solidFill>
            <a:srgbClr val="ECF2F6"/>
          </a:solidFill>
          <a:ln w="12700">
            <a:solidFill>
              <a:srgbClr val="FFFFFF"/>
            </a:solidFill>
            <a:prstDash val="solid"/>
          </a:ln>
        </p:spPr>
      </p:sp>
      <p:sp>
        <p:nvSpPr>
          <p:cNvPr id="68" name="Text 66"/>
          <p:cNvSpPr/>
          <p:nvPr/>
        </p:nvSpPr>
        <p:spPr>
          <a:xfrm>
            <a:off x="6400800" y="3794760"/>
            <a:ext cx="1645920" cy="384048"/>
          </a:xfrm>
          <a:prstGeom prst="rect">
            <a:avLst/>
          </a:prstGeom>
          <a:noFill/>
          <a:ln/>
        </p:spPr>
        <p:txBody>
          <a:bodyPr wrap="square" lIns="0" tIns="0" rIns="0" bIns="0" rtlCol="0" anchor="ctr"/>
          <a:lstStyle/>
          <a:p>
            <a:pPr marL="0" indent="0" algn="ctr">
              <a:buNone/>
            </a:pPr>
            <a:r>
              <a:rPr lang="en-US" sz="1320" dirty="0">
                <a:solidFill>
                  <a:srgbClr val="111111"/>
                </a:solidFill>
                <a:latin typeface="Meiryo" pitchFamily="34" charset="0"/>
                <a:ea typeface="Meiryo" pitchFamily="34" charset="-122"/>
                <a:cs typeface="Meiryo" pitchFamily="34" charset="-120"/>
              </a:rPr>
              <a:t>ring / sector / radial を</a:t>
            </a:r>
            <a:endParaRPr lang="en-US" sz="1320" dirty="0"/>
          </a:p>
          <a:p>
            <a:pPr marL="0" indent="0" algn="ctr">
              <a:buNone/>
            </a:pPr>
            <a:r>
              <a:rPr lang="en-US" sz="1320" dirty="0">
                <a:solidFill>
                  <a:srgbClr val="111111"/>
                </a:solidFill>
                <a:latin typeface="Meiryo" pitchFamily="34" charset="0"/>
                <a:ea typeface="Meiryo" pitchFamily="34" charset="-122"/>
                <a:cs typeface="Meiryo" pitchFamily="34" charset="-120"/>
              </a:rPr>
              <a:t>半径・角度で見やすい</a:t>
            </a:r>
            <a:endParaRPr lang="en-US" sz="1320" dirty="0"/>
          </a:p>
        </p:txBody>
      </p:sp>
      <p:sp>
        <p:nvSpPr>
          <p:cNvPr id="69" name="Shape 67"/>
          <p:cNvSpPr/>
          <p:nvPr/>
        </p:nvSpPr>
        <p:spPr>
          <a:xfrm>
            <a:off x="8485632" y="2651760"/>
            <a:ext cx="384048" cy="301752"/>
          </a:xfrm>
          <a:prstGeom prst="chevron">
            <a:avLst/>
          </a:prstGeom>
          <a:solidFill>
            <a:srgbClr val="D7E3EA"/>
          </a:solidFill>
          <a:ln w="12700">
            <a:solidFill>
              <a:srgbClr val="D7E3EA"/>
            </a:solidFill>
            <a:prstDash val="solid"/>
          </a:ln>
        </p:spPr>
      </p:sp>
      <p:sp>
        <p:nvSpPr>
          <p:cNvPr id="70" name="Shape 68"/>
          <p:cNvSpPr/>
          <p:nvPr/>
        </p:nvSpPr>
        <p:spPr>
          <a:xfrm>
            <a:off x="8979408" y="1691640"/>
            <a:ext cx="2148840" cy="2377440"/>
          </a:xfrm>
          <a:prstGeom prst="roundRect">
            <a:avLst>
              <a:gd name="adj" fmla="val 2553"/>
            </a:avLst>
          </a:prstGeom>
          <a:solidFill>
            <a:srgbClr val="F9FBFD"/>
          </a:solidFill>
          <a:ln w="12700">
            <a:solidFill>
              <a:srgbClr val="CAD8E0"/>
            </a:solidFill>
            <a:prstDash val="solid"/>
          </a:ln>
        </p:spPr>
      </p:sp>
      <p:sp>
        <p:nvSpPr>
          <p:cNvPr id="71" name="Text 69"/>
          <p:cNvSpPr/>
          <p:nvPr/>
        </p:nvSpPr>
        <p:spPr>
          <a:xfrm>
            <a:off x="9107424" y="1764792"/>
            <a:ext cx="18928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size bins / stats</a:t>
            </a:r>
            <a:endParaRPr lang="en-US" sz="1400" dirty="0"/>
          </a:p>
        </p:txBody>
      </p:sp>
      <p:sp>
        <p:nvSpPr>
          <p:cNvPr id="72" name="Text 70"/>
          <p:cNvSpPr/>
          <p:nvPr/>
        </p:nvSpPr>
        <p:spPr>
          <a:xfrm>
            <a:off x="9189720" y="2039112"/>
            <a:ext cx="548640" cy="185928"/>
          </a:xfrm>
          <a:prstGeom prst="rect">
            <a:avLst/>
          </a:prstGeom>
          <a:noFill/>
          <a:ln/>
        </p:spPr>
        <p:txBody>
          <a:bodyPr wrap="square" lIns="0" tIns="0" rIns="0" bIns="0" rtlCol="0" anchor="ctr">
            <a:normAutofit/>
          </a:bodyPr>
          <a:lstStyle/>
          <a:p>
            <a:pPr marL="0" indent="0">
              <a:buNone/>
            </a:pPr>
            <a:r>
              <a:rPr lang="en-US" sz="1100" dirty="0">
                <a:solidFill>
                  <a:srgbClr val="111111"/>
                </a:solidFill>
                <a:latin typeface="Meiryo" pitchFamily="34" charset="0"/>
                <a:ea typeface="Meiryo" pitchFamily="34" charset="-122"/>
                <a:cs typeface="Meiryo" pitchFamily="34" charset="-120"/>
              </a:rPr>
              <a:t>small</a:t>
            </a:r>
            <a:endParaRPr lang="en-US" sz="1100" dirty="0"/>
          </a:p>
        </p:txBody>
      </p:sp>
      <p:sp>
        <p:nvSpPr>
          <p:cNvPr id="73" name="Shape 71"/>
          <p:cNvSpPr/>
          <p:nvPr/>
        </p:nvSpPr>
        <p:spPr>
          <a:xfrm>
            <a:off x="9793224" y="2066544"/>
            <a:ext cx="466344" cy="131064"/>
          </a:xfrm>
          <a:prstGeom prst="roundRect">
            <a:avLst>
              <a:gd name="adj" fmla="val 20930"/>
            </a:avLst>
          </a:prstGeom>
          <a:solidFill>
            <a:srgbClr val="ECF2F6"/>
          </a:solidFill>
          <a:ln w="12700">
            <a:solidFill>
              <a:srgbClr val="ECF2F6"/>
            </a:solidFill>
            <a:prstDash val="solid"/>
          </a:ln>
        </p:spPr>
      </p:sp>
      <p:sp>
        <p:nvSpPr>
          <p:cNvPr id="74" name="Shape 72"/>
          <p:cNvSpPr/>
          <p:nvPr/>
        </p:nvSpPr>
        <p:spPr>
          <a:xfrm>
            <a:off x="9793224" y="2066544"/>
            <a:ext cx="466344" cy="131064"/>
          </a:xfrm>
          <a:prstGeom prst="roundRect">
            <a:avLst>
              <a:gd name="adj" fmla="val 20930"/>
            </a:avLst>
          </a:prstGeom>
          <a:solidFill>
            <a:srgbClr val="4FC3F7"/>
          </a:solidFill>
          <a:ln w="12700">
            <a:solidFill>
              <a:srgbClr val="4FC3F7"/>
            </a:solidFill>
            <a:prstDash val="solid"/>
          </a:ln>
        </p:spPr>
      </p:sp>
      <p:sp>
        <p:nvSpPr>
          <p:cNvPr id="75" name="Text 73"/>
          <p:cNvSpPr/>
          <p:nvPr/>
        </p:nvSpPr>
        <p:spPr>
          <a:xfrm>
            <a:off x="10351008" y="2039112"/>
            <a:ext cx="548640" cy="185928"/>
          </a:xfrm>
          <a:prstGeom prst="rect">
            <a:avLst/>
          </a:prstGeom>
          <a:noFill/>
          <a:ln/>
        </p:spPr>
        <p:txBody>
          <a:bodyPr wrap="square" lIns="0" tIns="0" rIns="0" bIns="0" rtlCol="0" anchor="ctr"/>
          <a:lstStyle/>
          <a:p>
            <a:pPr marL="0" indent="0" algn="r">
              <a:buNone/>
            </a:pPr>
            <a:r>
              <a:rPr lang="en-US" sz="1100" dirty="0">
                <a:solidFill>
                  <a:srgbClr val="5F6B6D"/>
                </a:solidFill>
                <a:latin typeface="Meiryo" pitchFamily="34" charset="0"/>
                <a:ea typeface="Meiryo" pitchFamily="34" charset="-122"/>
                <a:cs typeface="Meiryo" pitchFamily="34" charset="-120"/>
              </a:rPr>
              <a:t>4</a:t>
            </a:r>
            <a:endParaRPr lang="en-US" sz="1100" dirty="0"/>
          </a:p>
        </p:txBody>
      </p:sp>
      <p:sp>
        <p:nvSpPr>
          <p:cNvPr id="76" name="Text 74"/>
          <p:cNvSpPr/>
          <p:nvPr/>
        </p:nvSpPr>
        <p:spPr>
          <a:xfrm>
            <a:off x="9189720" y="2353056"/>
            <a:ext cx="548640" cy="185928"/>
          </a:xfrm>
          <a:prstGeom prst="rect">
            <a:avLst/>
          </a:prstGeom>
          <a:noFill/>
          <a:ln/>
        </p:spPr>
        <p:txBody>
          <a:bodyPr wrap="square" lIns="0" tIns="0" rIns="0" bIns="0" rtlCol="0" anchor="ctr">
            <a:normAutofit/>
          </a:bodyPr>
          <a:lstStyle/>
          <a:p>
            <a:pPr marL="0" indent="0">
              <a:buNone/>
            </a:pPr>
            <a:r>
              <a:rPr lang="en-US" sz="1100" dirty="0">
                <a:solidFill>
                  <a:srgbClr val="111111"/>
                </a:solidFill>
                <a:latin typeface="Meiryo" pitchFamily="34" charset="0"/>
                <a:ea typeface="Meiryo" pitchFamily="34" charset="-122"/>
                <a:cs typeface="Meiryo" pitchFamily="34" charset="-120"/>
              </a:rPr>
              <a:t>mid</a:t>
            </a:r>
            <a:endParaRPr lang="en-US" sz="1100" dirty="0"/>
          </a:p>
        </p:txBody>
      </p:sp>
      <p:sp>
        <p:nvSpPr>
          <p:cNvPr id="77" name="Shape 75"/>
          <p:cNvSpPr/>
          <p:nvPr/>
        </p:nvSpPr>
        <p:spPr>
          <a:xfrm>
            <a:off x="9793224" y="2380488"/>
            <a:ext cx="466344" cy="131064"/>
          </a:xfrm>
          <a:prstGeom prst="roundRect">
            <a:avLst>
              <a:gd name="adj" fmla="val 20930"/>
            </a:avLst>
          </a:prstGeom>
          <a:solidFill>
            <a:srgbClr val="ECF2F6"/>
          </a:solidFill>
          <a:ln w="12700">
            <a:solidFill>
              <a:srgbClr val="ECF2F6"/>
            </a:solidFill>
            <a:prstDash val="solid"/>
          </a:ln>
        </p:spPr>
      </p:sp>
      <p:sp>
        <p:nvSpPr>
          <p:cNvPr id="78" name="Shape 76"/>
          <p:cNvSpPr/>
          <p:nvPr/>
        </p:nvSpPr>
        <p:spPr>
          <a:xfrm>
            <a:off x="9793224" y="2380488"/>
            <a:ext cx="233172" cy="131064"/>
          </a:xfrm>
          <a:prstGeom prst="roundRect">
            <a:avLst>
              <a:gd name="adj" fmla="val 20930"/>
            </a:avLst>
          </a:prstGeom>
          <a:solidFill>
            <a:srgbClr val="F4A261"/>
          </a:solidFill>
          <a:ln w="12700">
            <a:solidFill>
              <a:srgbClr val="F4A261"/>
            </a:solidFill>
            <a:prstDash val="solid"/>
          </a:ln>
        </p:spPr>
      </p:sp>
      <p:sp>
        <p:nvSpPr>
          <p:cNvPr id="79" name="Text 77"/>
          <p:cNvSpPr/>
          <p:nvPr/>
        </p:nvSpPr>
        <p:spPr>
          <a:xfrm>
            <a:off x="10351008" y="2353056"/>
            <a:ext cx="548640" cy="185928"/>
          </a:xfrm>
          <a:prstGeom prst="rect">
            <a:avLst/>
          </a:prstGeom>
          <a:noFill/>
          <a:ln/>
        </p:spPr>
        <p:txBody>
          <a:bodyPr wrap="square" lIns="0" tIns="0" rIns="0" bIns="0" rtlCol="0" anchor="ctr"/>
          <a:lstStyle/>
          <a:p>
            <a:pPr marL="0" indent="0" algn="r">
              <a:buNone/>
            </a:pPr>
            <a:r>
              <a:rPr lang="en-US" sz="1100" dirty="0">
                <a:solidFill>
                  <a:srgbClr val="5F6B6D"/>
                </a:solidFill>
                <a:latin typeface="Meiryo" pitchFamily="34" charset="0"/>
                <a:ea typeface="Meiryo" pitchFamily="34" charset="-122"/>
                <a:cs typeface="Meiryo" pitchFamily="34" charset="-120"/>
              </a:rPr>
              <a:t>2</a:t>
            </a:r>
            <a:endParaRPr lang="en-US" sz="1100" dirty="0"/>
          </a:p>
        </p:txBody>
      </p:sp>
      <p:sp>
        <p:nvSpPr>
          <p:cNvPr id="80" name="Text 78"/>
          <p:cNvSpPr/>
          <p:nvPr/>
        </p:nvSpPr>
        <p:spPr>
          <a:xfrm>
            <a:off x="9189720" y="2667000"/>
            <a:ext cx="548640" cy="185928"/>
          </a:xfrm>
          <a:prstGeom prst="rect">
            <a:avLst/>
          </a:prstGeom>
          <a:noFill/>
          <a:ln/>
        </p:spPr>
        <p:txBody>
          <a:bodyPr wrap="square" lIns="0" tIns="0" rIns="0" bIns="0" rtlCol="0" anchor="ctr">
            <a:normAutofit/>
          </a:bodyPr>
          <a:lstStyle/>
          <a:p>
            <a:pPr marL="0" indent="0">
              <a:buNone/>
            </a:pPr>
            <a:r>
              <a:rPr lang="en-US" sz="1100" dirty="0">
                <a:solidFill>
                  <a:srgbClr val="111111"/>
                </a:solidFill>
                <a:latin typeface="Meiryo" pitchFamily="34" charset="0"/>
                <a:ea typeface="Meiryo" pitchFamily="34" charset="-122"/>
                <a:cs typeface="Meiryo" pitchFamily="34" charset="-120"/>
              </a:rPr>
              <a:t>large</a:t>
            </a:r>
            <a:endParaRPr lang="en-US" sz="1100" dirty="0"/>
          </a:p>
        </p:txBody>
      </p:sp>
      <p:sp>
        <p:nvSpPr>
          <p:cNvPr id="81" name="Shape 79"/>
          <p:cNvSpPr/>
          <p:nvPr/>
        </p:nvSpPr>
        <p:spPr>
          <a:xfrm>
            <a:off x="9793224" y="2694432"/>
            <a:ext cx="466344" cy="131064"/>
          </a:xfrm>
          <a:prstGeom prst="roundRect">
            <a:avLst>
              <a:gd name="adj" fmla="val 20930"/>
            </a:avLst>
          </a:prstGeom>
          <a:solidFill>
            <a:srgbClr val="ECF2F6"/>
          </a:solidFill>
          <a:ln w="12700">
            <a:solidFill>
              <a:srgbClr val="ECF2F6"/>
            </a:solidFill>
            <a:prstDash val="solid"/>
          </a:ln>
        </p:spPr>
      </p:sp>
      <p:sp>
        <p:nvSpPr>
          <p:cNvPr id="82" name="Shape 80"/>
          <p:cNvSpPr/>
          <p:nvPr/>
        </p:nvSpPr>
        <p:spPr>
          <a:xfrm>
            <a:off x="9793224" y="2694432"/>
            <a:ext cx="116586" cy="131064"/>
          </a:xfrm>
          <a:prstGeom prst="roundRect">
            <a:avLst>
              <a:gd name="adj" fmla="val 23529"/>
            </a:avLst>
          </a:prstGeom>
          <a:solidFill>
            <a:srgbClr val="2A9D8F"/>
          </a:solidFill>
          <a:ln w="12700">
            <a:solidFill>
              <a:srgbClr val="2A9D8F"/>
            </a:solidFill>
            <a:prstDash val="solid"/>
          </a:ln>
        </p:spPr>
      </p:sp>
      <p:sp>
        <p:nvSpPr>
          <p:cNvPr id="83" name="Text 81"/>
          <p:cNvSpPr/>
          <p:nvPr/>
        </p:nvSpPr>
        <p:spPr>
          <a:xfrm>
            <a:off x="10351008" y="2667000"/>
            <a:ext cx="548640" cy="185928"/>
          </a:xfrm>
          <a:prstGeom prst="rect">
            <a:avLst/>
          </a:prstGeom>
          <a:noFill/>
          <a:ln/>
        </p:spPr>
        <p:txBody>
          <a:bodyPr wrap="square" lIns="0" tIns="0" rIns="0" bIns="0" rtlCol="0" anchor="ctr"/>
          <a:lstStyle/>
          <a:p>
            <a:pPr marL="0" indent="0" algn="r">
              <a:buNone/>
            </a:pPr>
            <a:r>
              <a:rPr lang="en-US" sz="1100" dirty="0">
                <a:solidFill>
                  <a:srgbClr val="5F6B6D"/>
                </a:solidFill>
                <a:latin typeface="Meiryo" pitchFamily="34" charset="0"/>
                <a:ea typeface="Meiryo" pitchFamily="34" charset="-122"/>
                <a:cs typeface="Meiryo" pitchFamily="34" charset="-120"/>
              </a:rPr>
              <a:t>1</a:t>
            </a:r>
            <a:endParaRPr lang="en-US" sz="1100" dirty="0"/>
          </a:p>
        </p:txBody>
      </p:sp>
      <p:sp>
        <p:nvSpPr>
          <p:cNvPr id="84" name="Text 82"/>
          <p:cNvSpPr/>
          <p:nvPr/>
        </p:nvSpPr>
        <p:spPr>
          <a:xfrm>
            <a:off x="9372600" y="2999232"/>
            <a:ext cx="1325880" cy="658368"/>
          </a:xfrm>
          <a:prstGeom prst="rect">
            <a:avLst/>
          </a:prstGeom>
          <a:noFill/>
          <a:ln/>
        </p:spPr>
        <p:txBody>
          <a:bodyPr wrap="square" lIns="0" tIns="0" rIns="0" bIns="0" rtlCol="0" anchor="ctr"/>
          <a:lstStyle/>
          <a:p>
            <a:pPr marL="0" indent="0" algn="ctr">
              <a:buNone/>
            </a:pPr>
            <a:r>
              <a:rPr lang="en-US" sz="1250" dirty="0">
                <a:solidFill>
                  <a:srgbClr val="111111"/>
                </a:solidFill>
                <a:latin typeface="Meiryo" pitchFamily="34" charset="0"/>
                <a:ea typeface="Meiryo" pitchFamily="34" charset="-122"/>
                <a:cs typeface="Meiryo" pitchFamily="34" charset="-120"/>
              </a:rPr>
              <a:t>count</a:t>
            </a:r>
            <a:endParaRPr lang="en-US" sz="1250" dirty="0"/>
          </a:p>
          <a:p>
            <a:pPr marL="0" indent="0" algn="ctr">
              <a:buNone/>
            </a:pPr>
            <a:r>
              <a:rPr lang="en-US" sz="1250" dirty="0">
                <a:solidFill>
                  <a:srgbClr val="111111"/>
                </a:solidFill>
                <a:latin typeface="Meiryo" pitchFamily="34" charset="0"/>
                <a:ea typeface="Meiryo" pitchFamily="34" charset="-122"/>
                <a:cs typeface="Meiryo" pitchFamily="34" charset="-120"/>
              </a:rPr>
              <a:t>mean(log size)</a:t>
            </a:r>
            <a:endParaRPr lang="en-US" sz="1250" dirty="0"/>
          </a:p>
          <a:p>
            <a:pPr marL="0" indent="0" algn="ctr">
              <a:buNone/>
            </a:pPr>
            <a:r>
              <a:rPr lang="en-US" sz="1250" dirty="0">
                <a:solidFill>
                  <a:srgbClr val="111111"/>
                </a:solidFill>
                <a:latin typeface="Meiryo" pitchFamily="34" charset="0"/>
                <a:ea typeface="Meiryo" pitchFamily="34" charset="-122"/>
                <a:cs typeface="Meiryo" pitchFamily="34" charset="-120"/>
              </a:rPr>
              <a:t>std(log size)</a:t>
            </a:r>
            <a:endParaRPr lang="en-US" sz="1250" dirty="0"/>
          </a:p>
          <a:p>
            <a:pPr marL="0" indent="0" algn="ctr">
              <a:buNone/>
            </a:pPr>
            <a:r>
              <a:rPr lang="en-US" sz="1250" dirty="0">
                <a:solidFill>
                  <a:srgbClr val="111111"/>
                </a:solidFill>
                <a:latin typeface="Meiryo" pitchFamily="34" charset="0"/>
                <a:ea typeface="Meiryo" pitchFamily="34" charset="-122"/>
                <a:cs typeface="Meiryo" pitchFamily="34" charset="-120"/>
              </a:rPr>
              <a:t>hist(size)</a:t>
            </a:r>
            <a:endParaRPr lang="en-US" sz="1250" dirty="0"/>
          </a:p>
        </p:txBody>
      </p:sp>
      <p:sp>
        <p:nvSpPr>
          <p:cNvPr id="85" name="Shape 83"/>
          <p:cNvSpPr/>
          <p:nvPr/>
        </p:nvSpPr>
        <p:spPr>
          <a:xfrm>
            <a:off x="914400" y="4434840"/>
            <a:ext cx="10195560" cy="868680"/>
          </a:xfrm>
          <a:prstGeom prst="roundRect">
            <a:avLst>
              <a:gd name="adj" fmla="val 6316"/>
            </a:avLst>
          </a:prstGeom>
          <a:solidFill>
            <a:srgbClr val="F7FAFC"/>
          </a:solidFill>
          <a:ln w="12700">
            <a:solidFill>
              <a:srgbClr val="CAD8E0"/>
            </a:solidFill>
            <a:prstDash val="solid"/>
          </a:ln>
        </p:spPr>
      </p:sp>
      <p:sp>
        <p:nvSpPr>
          <p:cNvPr id="86" name="Text 84"/>
          <p:cNvSpPr/>
          <p:nvPr/>
        </p:nvSpPr>
        <p:spPr>
          <a:xfrm>
            <a:off x="1115568" y="4681728"/>
            <a:ext cx="731520" cy="164592"/>
          </a:xfrm>
          <a:prstGeom prst="rect">
            <a:avLst/>
          </a:prstGeom>
          <a:noFill/>
          <a:ln/>
        </p:spPr>
        <p:txBody>
          <a:bodyPr wrap="square" lIns="0" tIns="0" rIns="0" bIns="0" rtlCol="0" anchor="ctr"/>
          <a:lstStyle/>
          <a:p>
            <a:pPr marL="0" indent="0">
              <a:buNone/>
            </a:pPr>
            <a:r>
              <a:rPr lang="en-US" sz="1550" b="1" dirty="0">
                <a:solidFill>
                  <a:srgbClr val="0B3C5D"/>
                </a:solidFill>
                <a:latin typeface="Meiryo" pitchFamily="34" charset="0"/>
                <a:ea typeface="Meiryo" pitchFamily="34" charset="-122"/>
                <a:cs typeface="Meiryo" pitchFamily="34" charset="-120"/>
              </a:rPr>
              <a:t>ポイント</a:t>
            </a:r>
            <a:endParaRPr lang="en-US" sz="1550" dirty="0"/>
          </a:p>
        </p:txBody>
      </p:sp>
      <p:sp>
        <p:nvSpPr>
          <p:cNvPr id="87" name="Text 85"/>
          <p:cNvSpPr/>
          <p:nvPr/>
        </p:nvSpPr>
        <p:spPr>
          <a:xfrm>
            <a:off x="1828800" y="4553712"/>
            <a:ext cx="8229600" cy="50292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size を等方的な3D空間軸として扱うのではなく、空間セルに条件付く属性分布として扱う。</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x-y と r-theta を並列化することで、パターン family ごとの見え方の偏りを減らす。</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これ自体が「入力データの作り方」としての特許ポイントになる。</a:t>
            </a:r>
            <a:endParaRPr lang="en-US" sz="1420" dirty="0"/>
          </a:p>
        </p:txBody>
      </p:sp>
      <p:sp>
        <p:nvSpPr>
          <p:cNvPr id="88" name="Text 86"/>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14</a:t>
            </a:r>
            <a:endParaRPr lang="en-US" sz="1000" dirty="0"/>
          </a:p>
        </p:txBody>
      </p:sp>
      <p:sp>
        <p:nvSpPr>
          <p:cNvPr id="89" name="Text 87"/>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提案手法② 教師データとラベル定義</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Targets / Labels</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731520" y="1417320"/>
            <a:ext cx="1874520" cy="2148840"/>
          </a:xfrm>
          <a:prstGeom prst="roundRect">
            <a:avLst>
              <a:gd name="adj" fmla="val 2927"/>
            </a:avLst>
          </a:prstGeom>
          <a:solidFill>
            <a:srgbClr val="FFFFFF"/>
          </a:solidFill>
          <a:ln w="12700">
            <a:solidFill>
              <a:srgbClr val="CAD8E0"/>
            </a:solidFill>
            <a:prstDash val="solid"/>
          </a:ln>
        </p:spPr>
      </p:sp>
      <p:sp>
        <p:nvSpPr>
          <p:cNvPr id="6" name="Shape 4"/>
          <p:cNvSpPr/>
          <p:nvPr/>
        </p:nvSpPr>
        <p:spPr>
          <a:xfrm>
            <a:off x="1389888" y="1627632"/>
            <a:ext cx="530352" cy="201168"/>
          </a:xfrm>
          <a:prstGeom prst="ellipse">
            <a:avLst/>
          </a:prstGeom>
          <a:solidFill>
            <a:srgbClr val="4FC3F7">
              <a:alpha val="90000"/>
            </a:srgbClr>
          </a:solidFill>
          <a:ln w="12700">
            <a:solidFill>
              <a:srgbClr val="4FC3F7"/>
            </a:solidFill>
            <a:prstDash val="solid"/>
          </a:ln>
        </p:spPr>
      </p:sp>
      <p:sp>
        <p:nvSpPr>
          <p:cNvPr id="7" name="Text 5"/>
          <p:cNvSpPr/>
          <p:nvPr/>
        </p:nvSpPr>
        <p:spPr>
          <a:xfrm>
            <a:off x="896112" y="1920240"/>
            <a:ext cx="1554480" cy="201168"/>
          </a:xfrm>
          <a:prstGeom prst="rect">
            <a:avLst/>
          </a:prstGeom>
          <a:noFill/>
          <a:ln/>
        </p:spPr>
        <p:txBody>
          <a:bodyPr wrap="square" lIns="0" tIns="0" rIns="0" bIns="0" rtlCol="0" anchor="ctr"/>
          <a:lstStyle/>
          <a:p>
            <a:pPr marL="0" indent="0" algn="ctr">
              <a:buNone/>
            </a:pPr>
            <a:r>
              <a:rPr lang="en-US" sz="1700" b="1" dirty="0">
                <a:solidFill>
                  <a:srgbClr val="0B3C5D"/>
                </a:solidFill>
                <a:latin typeface="Meiryo" pitchFamily="34" charset="0"/>
                <a:ea typeface="Meiryo" pitchFamily="34" charset="-122"/>
                <a:cs typeface="Meiryo" pitchFamily="34" charset="-120"/>
              </a:rPr>
              <a:t>presence</a:t>
            </a:r>
            <a:endParaRPr lang="en-US" sz="1700" dirty="0"/>
          </a:p>
        </p:txBody>
      </p:sp>
      <p:sp>
        <p:nvSpPr>
          <p:cNvPr id="8" name="Text 6"/>
          <p:cNvSpPr/>
          <p:nvPr/>
        </p:nvSpPr>
        <p:spPr>
          <a:xfrm>
            <a:off x="896112" y="2267712"/>
            <a:ext cx="1554480" cy="841248"/>
          </a:xfrm>
          <a:prstGeom prst="rect">
            <a:avLst/>
          </a:prstGeom>
          <a:noFill/>
          <a:ln/>
        </p:spPr>
        <p:txBody>
          <a:bodyPr wrap="square" lIns="508" tIns="508" rIns="508" bIns="508" rtlCol="0" anchor="t">
            <a:normAutofit/>
          </a:bodyPr>
          <a:lstStyle/>
          <a:p>
            <a:pPr marL="0" indent="0" algn="ctr">
              <a:buNone/>
            </a:pPr>
            <a:r>
              <a:rPr lang="en-US" sz="1360" dirty="0">
                <a:solidFill>
                  <a:srgbClr val="111111"/>
                </a:solidFill>
                <a:latin typeface="Meiryo" pitchFamily="34" charset="0"/>
                <a:ea typeface="Meiryo" pitchFamily="34" charset="-122"/>
                <a:cs typeface="Meiryo" pitchFamily="34" charset="-120"/>
              </a:rPr>
              <a:t>sampleに存在する pattern family を multi-hot で定義</a:t>
            </a:r>
            <a:endParaRPr lang="en-US" sz="1360" dirty="0"/>
          </a:p>
        </p:txBody>
      </p:sp>
      <p:sp>
        <p:nvSpPr>
          <p:cNvPr id="9" name="Shape 7"/>
          <p:cNvSpPr/>
          <p:nvPr/>
        </p:nvSpPr>
        <p:spPr>
          <a:xfrm>
            <a:off x="2880360" y="1417320"/>
            <a:ext cx="1874520" cy="2148840"/>
          </a:xfrm>
          <a:prstGeom prst="roundRect">
            <a:avLst>
              <a:gd name="adj" fmla="val 2927"/>
            </a:avLst>
          </a:prstGeom>
          <a:solidFill>
            <a:srgbClr val="FFFFFF"/>
          </a:solidFill>
          <a:ln w="12700">
            <a:solidFill>
              <a:srgbClr val="CAD8E0"/>
            </a:solidFill>
            <a:prstDash val="solid"/>
          </a:ln>
        </p:spPr>
      </p:sp>
      <p:sp>
        <p:nvSpPr>
          <p:cNvPr id="10" name="Shape 8"/>
          <p:cNvSpPr/>
          <p:nvPr/>
        </p:nvSpPr>
        <p:spPr>
          <a:xfrm>
            <a:off x="3538728" y="1627632"/>
            <a:ext cx="530352" cy="201168"/>
          </a:xfrm>
          <a:prstGeom prst="ellipse">
            <a:avLst/>
          </a:prstGeom>
          <a:solidFill>
            <a:srgbClr val="F4A261">
              <a:alpha val="90000"/>
            </a:srgbClr>
          </a:solidFill>
          <a:ln w="12700">
            <a:solidFill>
              <a:srgbClr val="F4A261"/>
            </a:solidFill>
            <a:prstDash val="solid"/>
          </a:ln>
        </p:spPr>
      </p:sp>
      <p:sp>
        <p:nvSpPr>
          <p:cNvPr id="11" name="Text 9"/>
          <p:cNvSpPr/>
          <p:nvPr/>
        </p:nvSpPr>
        <p:spPr>
          <a:xfrm>
            <a:off x="3044952" y="1920240"/>
            <a:ext cx="1554480" cy="201168"/>
          </a:xfrm>
          <a:prstGeom prst="rect">
            <a:avLst/>
          </a:prstGeom>
          <a:noFill/>
          <a:ln/>
        </p:spPr>
        <p:txBody>
          <a:bodyPr wrap="square" lIns="0" tIns="0" rIns="0" bIns="0" rtlCol="0" anchor="ctr"/>
          <a:lstStyle/>
          <a:p>
            <a:pPr marL="0" indent="0" algn="ctr">
              <a:buNone/>
            </a:pPr>
            <a:r>
              <a:rPr lang="en-US" sz="1700" b="1" dirty="0">
                <a:solidFill>
                  <a:srgbClr val="0B3C5D"/>
                </a:solidFill>
                <a:latin typeface="Meiryo" pitchFamily="34" charset="0"/>
                <a:ea typeface="Meiryo" pitchFamily="34" charset="-122"/>
                <a:cs typeface="Meiryo" pitchFamily="34" charset="-120"/>
              </a:rPr>
              <a:t>Y_xy / Y_rt</a:t>
            </a:r>
            <a:endParaRPr lang="en-US" sz="1700" dirty="0"/>
          </a:p>
        </p:txBody>
      </p:sp>
      <p:sp>
        <p:nvSpPr>
          <p:cNvPr id="12" name="Text 10"/>
          <p:cNvSpPr/>
          <p:nvPr/>
        </p:nvSpPr>
        <p:spPr>
          <a:xfrm>
            <a:off x="3044952" y="2267712"/>
            <a:ext cx="1554480" cy="841248"/>
          </a:xfrm>
          <a:prstGeom prst="rect">
            <a:avLst/>
          </a:prstGeom>
          <a:noFill/>
          <a:ln/>
        </p:spPr>
        <p:txBody>
          <a:bodyPr wrap="square" lIns="508" tIns="508" rIns="508" bIns="508" rtlCol="0" anchor="t">
            <a:normAutofit/>
          </a:bodyPr>
          <a:lstStyle/>
          <a:p>
            <a:pPr marL="0" indent="0" algn="ctr">
              <a:buNone/>
            </a:pPr>
            <a:r>
              <a:rPr lang="en-US" sz="1360" dirty="0">
                <a:solidFill>
                  <a:srgbClr val="111111"/>
                </a:solidFill>
                <a:latin typeface="Meiryo" pitchFamily="34" charset="0"/>
                <a:ea typeface="Meiryo" pitchFamily="34" charset="-122"/>
                <a:cs typeface="Meiryo" pitchFamily="34" charset="-120"/>
              </a:rPr>
              <a:t>cell × size_bin × pattern の count tensor を教師化</a:t>
            </a:r>
            <a:endParaRPr lang="en-US" sz="1360" dirty="0"/>
          </a:p>
        </p:txBody>
      </p:sp>
      <p:sp>
        <p:nvSpPr>
          <p:cNvPr id="13" name="Shape 11"/>
          <p:cNvSpPr/>
          <p:nvPr/>
        </p:nvSpPr>
        <p:spPr>
          <a:xfrm>
            <a:off x="5029200" y="1417320"/>
            <a:ext cx="1874520" cy="2148840"/>
          </a:xfrm>
          <a:prstGeom prst="roundRect">
            <a:avLst>
              <a:gd name="adj" fmla="val 2927"/>
            </a:avLst>
          </a:prstGeom>
          <a:solidFill>
            <a:srgbClr val="FFFFFF"/>
          </a:solidFill>
          <a:ln w="12700">
            <a:solidFill>
              <a:srgbClr val="CAD8E0"/>
            </a:solidFill>
            <a:prstDash val="solid"/>
          </a:ln>
        </p:spPr>
      </p:sp>
      <p:sp>
        <p:nvSpPr>
          <p:cNvPr id="14" name="Shape 12"/>
          <p:cNvSpPr/>
          <p:nvPr/>
        </p:nvSpPr>
        <p:spPr>
          <a:xfrm>
            <a:off x="5687568" y="1627632"/>
            <a:ext cx="530352" cy="201168"/>
          </a:xfrm>
          <a:prstGeom prst="ellipse">
            <a:avLst/>
          </a:prstGeom>
          <a:solidFill>
            <a:srgbClr val="2A9D8F">
              <a:alpha val="90000"/>
            </a:srgbClr>
          </a:solidFill>
          <a:ln w="12700">
            <a:solidFill>
              <a:srgbClr val="2A9D8F"/>
            </a:solidFill>
            <a:prstDash val="solid"/>
          </a:ln>
        </p:spPr>
      </p:sp>
      <p:sp>
        <p:nvSpPr>
          <p:cNvPr id="15" name="Text 13"/>
          <p:cNvSpPr/>
          <p:nvPr/>
        </p:nvSpPr>
        <p:spPr>
          <a:xfrm>
            <a:off x="5193792" y="1920240"/>
            <a:ext cx="1554480" cy="201168"/>
          </a:xfrm>
          <a:prstGeom prst="rect">
            <a:avLst/>
          </a:prstGeom>
          <a:noFill/>
          <a:ln/>
        </p:spPr>
        <p:txBody>
          <a:bodyPr wrap="square" lIns="0" tIns="0" rIns="0" bIns="0" rtlCol="0" anchor="ctr"/>
          <a:lstStyle/>
          <a:p>
            <a:pPr marL="0" indent="0" algn="ctr">
              <a:buNone/>
            </a:pPr>
            <a:r>
              <a:rPr lang="en-US" sz="1700" b="1" dirty="0">
                <a:solidFill>
                  <a:srgbClr val="0B3C5D"/>
                </a:solidFill>
                <a:latin typeface="Meiryo" pitchFamily="34" charset="0"/>
                <a:ea typeface="Meiryo" pitchFamily="34" charset="-122"/>
                <a:cs typeface="Meiryo" pitchFamily="34" charset="-120"/>
              </a:rPr>
              <a:t>geometry</a:t>
            </a:r>
            <a:endParaRPr lang="en-US" sz="1700" dirty="0"/>
          </a:p>
        </p:txBody>
      </p:sp>
      <p:sp>
        <p:nvSpPr>
          <p:cNvPr id="16" name="Text 14"/>
          <p:cNvSpPr/>
          <p:nvPr/>
        </p:nvSpPr>
        <p:spPr>
          <a:xfrm>
            <a:off x="5193792" y="2267712"/>
            <a:ext cx="1554480" cy="841248"/>
          </a:xfrm>
          <a:prstGeom prst="rect">
            <a:avLst/>
          </a:prstGeom>
          <a:noFill/>
          <a:ln/>
        </p:spPr>
        <p:txBody>
          <a:bodyPr wrap="square" lIns="508" tIns="508" rIns="508" bIns="508" rtlCol="0" anchor="t">
            <a:normAutofit/>
          </a:bodyPr>
          <a:lstStyle/>
          <a:p>
            <a:pPr marL="0" indent="0" algn="ctr">
              <a:buNone/>
            </a:pPr>
            <a:r>
              <a:rPr lang="en-US" sz="1360" dirty="0">
                <a:solidFill>
                  <a:srgbClr val="111111"/>
                </a:solidFill>
                <a:latin typeface="Meiryo" pitchFamily="34" charset="0"/>
                <a:ea typeface="Meiryo" pitchFamily="34" charset="-122"/>
                <a:cs typeface="Meiryo" pitchFamily="34" charset="-120"/>
              </a:rPr>
              <a:t>pattern_params 由来の radius / width / angle 等を補助教師化</a:t>
            </a:r>
            <a:endParaRPr lang="en-US" sz="1360" dirty="0"/>
          </a:p>
        </p:txBody>
      </p:sp>
      <p:sp>
        <p:nvSpPr>
          <p:cNvPr id="17" name="Shape 15"/>
          <p:cNvSpPr/>
          <p:nvPr/>
        </p:nvSpPr>
        <p:spPr>
          <a:xfrm>
            <a:off x="7178040" y="1417320"/>
            <a:ext cx="1874520" cy="2148840"/>
          </a:xfrm>
          <a:prstGeom prst="roundRect">
            <a:avLst>
              <a:gd name="adj" fmla="val 2927"/>
            </a:avLst>
          </a:prstGeom>
          <a:solidFill>
            <a:srgbClr val="FFFFFF"/>
          </a:solidFill>
          <a:ln w="12700">
            <a:solidFill>
              <a:srgbClr val="CAD8E0"/>
            </a:solidFill>
            <a:prstDash val="solid"/>
          </a:ln>
        </p:spPr>
      </p:sp>
      <p:sp>
        <p:nvSpPr>
          <p:cNvPr id="18" name="Shape 16"/>
          <p:cNvSpPr/>
          <p:nvPr/>
        </p:nvSpPr>
        <p:spPr>
          <a:xfrm>
            <a:off x="7836408" y="1627632"/>
            <a:ext cx="530352" cy="201168"/>
          </a:xfrm>
          <a:prstGeom prst="ellipse">
            <a:avLst/>
          </a:prstGeom>
          <a:solidFill>
            <a:srgbClr val="0B3C5D">
              <a:alpha val="90000"/>
            </a:srgbClr>
          </a:solidFill>
          <a:ln w="12700">
            <a:solidFill>
              <a:srgbClr val="0B3C5D"/>
            </a:solidFill>
            <a:prstDash val="solid"/>
          </a:ln>
        </p:spPr>
      </p:sp>
      <p:sp>
        <p:nvSpPr>
          <p:cNvPr id="19" name="Text 17"/>
          <p:cNvSpPr/>
          <p:nvPr/>
        </p:nvSpPr>
        <p:spPr>
          <a:xfrm>
            <a:off x="7342632" y="1920240"/>
            <a:ext cx="1554480" cy="201168"/>
          </a:xfrm>
          <a:prstGeom prst="rect">
            <a:avLst/>
          </a:prstGeom>
          <a:noFill/>
          <a:ln/>
        </p:spPr>
        <p:txBody>
          <a:bodyPr wrap="square" lIns="0" tIns="0" rIns="0" bIns="0" rtlCol="0" anchor="ctr"/>
          <a:lstStyle/>
          <a:p>
            <a:pPr marL="0" indent="0" algn="ctr">
              <a:buNone/>
            </a:pPr>
            <a:r>
              <a:rPr lang="en-US" sz="1700" b="1" dirty="0">
                <a:solidFill>
                  <a:srgbClr val="0B3C5D"/>
                </a:solidFill>
                <a:latin typeface="Meiryo" pitchFamily="34" charset="0"/>
                <a:ea typeface="Meiryo" pitchFamily="34" charset="-122"/>
                <a:cs typeface="Meiryo" pitchFamily="34" charset="-120"/>
              </a:rPr>
              <a:t>size prior</a:t>
            </a:r>
            <a:endParaRPr lang="en-US" sz="1700" dirty="0"/>
          </a:p>
        </p:txBody>
      </p:sp>
      <p:sp>
        <p:nvSpPr>
          <p:cNvPr id="20" name="Text 18"/>
          <p:cNvSpPr/>
          <p:nvPr/>
        </p:nvSpPr>
        <p:spPr>
          <a:xfrm>
            <a:off x="7342632" y="2267712"/>
            <a:ext cx="1554480" cy="841248"/>
          </a:xfrm>
          <a:prstGeom prst="rect">
            <a:avLst/>
          </a:prstGeom>
          <a:noFill/>
          <a:ln/>
        </p:spPr>
        <p:txBody>
          <a:bodyPr wrap="square" lIns="508" tIns="508" rIns="508" bIns="508" rtlCol="0" anchor="t">
            <a:normAutofit/>
          </a:bodyPr>
          <a:lstStyle/>
          <a:p>
            <a:pPr marL="0" indent="0" algn="ctr">
              <a:buNone/>
            </a:pPr>
            <a:r>
              <a:rPr lang="en-US" sz="1360" dirty="0">
                <a:solidFill>
                  <a:srgbClr val="111111"/>
                </a:solidFill>
                <a:latin typeface="Meiryo" pitchFamily="34" charset="0"/>
                <a:ea typeface="Meiryo" pitchFamily="34" charset="-122"/>
                <a:cs typeface="Meiryo" pitchFamily="34" charset="-120"/>
              </a:rPr>
              <a:t>resolved_size_params から global size prior を教師化</a:t>
            </a:r>
            <a:endParaRPr lang="en-US" sz="1360" dirty="0"/>
          </a:p>
        </p:txBody>
      </p:sp>
      <p:sp>
        <p:nvSpPr>
          <p:cNvPr id="21" name="Shape 19"/>
          <p:cNvSpPr/>
          <p:nvPr/>
        </p:nvSpPr>
        <p:spPr>
          <a:xfrm>
            <a:off x="9281160" y="2267712"/>
            <a:ext cx="384048" cy="292608"/>
          </a:xfrm>
          <a:prstGeom prst="chevron">
            <a:avLst/>
          </a:prstGeom>
          <a:solidFill>
            <a:srgbClr val="D7E3EA"/>
          </a:solidFill>
          <a:ln w="12700">
            <a:solidFill>
              <a:srgbClr val="D7E3EA"/>
            </a:solidFill>
            <a:prstDash val="solid"/>
          </a:ln>
        </p:spPr>
      </p:sp>
      <p:sp>
        <p:nvSpPr>
          <p:cNvPr id="22" name="Shape 20"/>
          <p:cNvSpPr/>
          <p:nvPr/>
        </p:nvSpPr>
        <p:spPr>
          <a:xfrm>
            <a:off x="9738360" y="1417320"/>
            <a:ext cx="1508760" cy="2148840"/>
          </a:xfrm>
          <a:prstGeom prst="roundRect">
            <a:avLst>
              <a:gd name="adj" fmla="val 3636"/>
            </a:avLst>
          </a:prstGeom>
          <a:solidFill>
            <a:srgbClr val="F7FAFC"/>
          </a:solidFill>
          <a:ln w="12700">
            <a:solidFill>
              <a:srgbClr val="CAD8E0"/>
            </a:solidFill>
            <a:prstDash val="solid"/>
          </a:ln>
        </p:spPr>
      </p:sp>
      <p:sp>
        <p:nvSpPr>
          <p:cNvPr id="23" name="Text 21"/>
          <p:cNvSpPr/>
          <p:nvPr/>
        </p:nvSpPr>
        <p:spPr>
          <a:xfrm>
            <a:off x="9866376" y="1490472"/>
            <a:ext cx="1252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出力</a:t>
            </a:r>
            <a:endParaRPr lang="en-US" sz="1400" dirty="0"/>
          </a:p>
        </p:txBody>
      </p:sp>
      <p:sp>
        <p:nvSpPr>
          <p:cNvPr id="24" name="Text 22"/>
          <p:cNvSpPr/>
          <p:nvPr/>
        </p:nvSpPr>
        <p:spPr>
          <a:xfrm>
            <a:off x="9893808" y="1938528"/>
            <a:ext cx="1188720" cy="914400"/>
          </a:xfrm>
          <a:prstGeom prst="rect">
            <a:avLst/>
          </a:prstGeom>
          <a:noFill/>
          <a:ln/>
        </p:spPr>
        <p:txBody>
          <a:bodyPr wrap="square" lIns="508" tIns="508" rIns="508" bIns="508" rtlCol="0" anchor="t">
            <a:normAutofit/>
          </a:bodyPr>
          <a:lstStyle/>
          <a:p>
            <a:pPr marL="0" indent="0" algn="l">
              <a:buNone/>
            </a:pPr>
            <a:r>
              <a:rPr lang="en-US" sz="1350" dirty="0">
                <a:solidFill>
                  <a:srgbClr val="111111"/>
                </a:solidFill>
                <a:latin typeface="Meiryo" pitchFamily="34" charset="0"/>
                <a:ea typeface="Meiryo" pitchFamily="34" charset="-122"/>
                <a:cs typeface="Meiryo" pitchFamily="34" charset="-120"/>
              </a:rPr>
              <a:t>• cause map</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size-aware map</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geom params</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confidence</a:t>
            </a:r>
            <a:endParaRPr lang="en-US" sz="1350" dirty="0"/>
          </a:p>
        </p:txBody>
      </p:sp>
      <p:sp>
        <p:nvSpPr>
          <p:cNvPr id="25" name="Shape 23"/>
          <p:cNvSpPr/>
          <p:nvPr/>
        </p:nvSpPr>
        <p:spPr>
          <a:xfrm>
            <a:off x="749808" y="4023360"/>
            <a:ext cx="5303520" cy="1691640"/>
          </a:xfrm>
          <a:prstGeom prst="roundRect">
            <a:avLst>
              <a:gd name="adj" fmla="val 3243"/>
            </a:avLst>
          </a:prstGeom>
          <a:solidFill>
            <a:srgbClr val="F7FAFC"/>
          </a:solidFill>
          <a:ln w="12700">
            <a:solidFill>
              <a:srgbClr val="CAD8E0"/>
            </a:solidFill>
            <a:prstDash val="solid"/>
          </a:ln>
        </p:spPr>
      </p:sp>
      <p:sp>
        <p:nvSpPr>
          <p:cNvPr id="26" name="Text 24"/>
          <p:cNvSpPr/>
          <p:nvPr/>
        </p:nvSpPr>
        <p:spPr>
          <a:xfrm>
            <a:off x="877824" y="4096512"/>
            <a:ext cx="50474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現添付CSVに即した一実施形態</a:t>
            </a:r>
            <a:endParaRPr lang="en-US" sz="1400" dirty="0"/>
          </a:p>
        </p:txBody>
      </p:sp>
      <p:sp>
        <p:nvSpPr>
          <p:cNvPr id="27" name="Text 25"/>
          <p:cNvSpPr/>
          <p:nvPr/>
        </p:nvSpPr>
        <p:spPr>
          <a:xfrm>
            <a:off x="932688" y="4370832"/>
            <a:ext cx="4892040" cy="96012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single-pattern 基盤では、粒子は sample label に属するとみなして Y_xy / Y_rt を生成。</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size_profile_id と size_model を補助タスクにし、size-aware な特徴表現を先に作る。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これにより将来の mixed fine-tune の初期化として使いやすい。</a:t>
            </a:r>
            <a:endParaRPr lang="en-US" sz="1450" dirty="0"/>
          </a:p>
        </p:txBody>
      </p:sp>
      <p:sp>
        <p:nvSpPr>
          <p:cNvPr id="28" name="Shape 26"/>
          <p:cNvSpPr/>
          <p:nvPr/>
        </p:nvSpPr>
        <p:spPr>
          <a:xfrm>
            <a:off x="6309360" y="4023360"/>
            <a:ext cx="4983480" cy="1691640"/>
          </a:xfrm>
          <a:prstGeom prst="roundRect">
            <a:avLst>
              <a:gd name="adj" fmla="val 3243"/>
            </a:avLst>
          </a:prstGeom>
          <a:solidFill>
            <a:srgbClr val="F7FAFC"/>
          </a:solidFill>
          <a:ln w="12700">
            <a:solidFill>
              <a:srgbClr val="CAD8E0"/>
            </a:solidFill>
            <a:prstDash val="solid"/>
          </a:ln>
        </p:spPr>
      </p:sp>
      <p:sp>
        <p:nvSpPr>
          <p:cNvPr id="29" name="Text 27"/>
          <p:cNvSpPr/>
          <p:nvPr/>
        </p:nvSpPr>
        <p:spPr>
          <a:xfrm>
            <a:off x="6437376" y="4096512"/>
            <a:ext cx="47274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拡張実施形態</a:t>
            </a:r>
            <a:endParaRPr lang="en-US" sz="1400" dirty="0"/>
          </a:p>
        </p:txBody>
      </p:sp>
      <p:sp>
        <p:nvSpPr>
          <p:cNvPr id="30" name="Text 28"/>
          <p:cNvSpPr/>
          <p:nvPr/>
        </p:nvSpPr>
        <p:spPr>
          <a:xfrm>
            <a:off x="6492240" y="4370832"/>
            <a:ext cx="4572000" cy="86868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component_label_fine / component_id を用い、mixed cause の粒子責務まで教師化。</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component-level size metadata を追加すると、size-aware cause decomposition がさらに強くなる。</a:t>
            </a:r>
            <a:endParaRPr lang="en-US" sz="1450" dirty="0"/>
          </a:p>
        </p:txBody>
      </p:sp>
      <p:sp>
        <p:nvSpPr>
          <p:cNvPr id="31" name="Text 29"/>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15</a:t>
            </a:r>
            <a:endParaRPr lang="en-US" sz="1000" dirty="0"/>
          </a:p>
        </p:txBody>
      </p:sp>
      <p:sp>
        <p:nvSpPr>
          <p:cNvPr id="32" name="Text 30"/>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提案手法③ HSSFNet-v2 の構成</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Main Predictor</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Hierarchical Spatial×Size Factorized Network v2</a:t>
            </a:r>
            <a:endParaRPr lang="en-US" sz="1400" dirty="0"/>
          </a:p>
        </p:txBody>
      </p:sp>
      <p:sp>
        <p:nvSpPr>
          <p:cNvPr id="7" name="Shape 5"/>
          <p:cNvSpPr/>
          <p:nvPr/>
        </p:nvSpPr>
        <p:spPr>
          <a:xfrm>
            <a:off x="2240280" y="2240280"/>
            <a:ext cx="914400" cy="0"/>
          </a:xfrm>
          <a:prstGeom prst="line">
            <a:avLst/>
          </a:prstGeom>
          <a:noFill/>
          <a:ln w="12700">
            <a:solidFill>
              <a:srgbClr val="D7E3EA"/>
            </a:solidFill>
            <a:prstDash val="solid"/>
            <a:tailEnd type="triangle"/>
          </a:ln>
        </p:spPr>
      </p:sp>
      <p:sp>
        <p:nvSpPr>
          <p:cNvPr id="8" name="Shape 6"/>
          <p:cNvSpPr/>
          <p:nvPr/>
        </p:nvSpPr>
        <p:spPr>
          <a:xfrm>
            <a:off x="2240280" y="3794760"/>
            <a:ext cx="914400" cy="0"/>
          </a:xfrm>
          <a:prstGeom prst="line">
            <a:avLst/>
          </a:prstGeom>
          <a:noFill/>
          <a:ln w="12700">
            <a:solidFill>
              <a:srgbClr val="D7E3EA"/>
            </a:solidFill>
            <a:prstDash val="solid"/>
            <a:tailEnd type="triangle"/>
          </a:ln>
        </p:spPr>
      </p:sp>
      <p:sp>
        <p:nvSpPr>
          <p:cNvPr id="9" name="Shape 7"/>
          <p:cNvSpPr/>
          <p:nvPr/>
        </p:nvSpPr>
        <p:spPr>
          <a:xfrm>
            <a:off x="5074920" y="2240280"/>
            <a:ext cx="914400" cy="0"/>
          </a:xfrm>
          <a:prstGeom prst="line">
            <a:avLst/>
          </a:prstGeom>
          <a:noFill/>
          <a:ln w="12700">
            <a:solidFill>
              <a:srgbClr val="D7E3EA"/>
            </a:solidFill>
            <a:prstDash val="solid"/>
            <a:tailEnd type="triangle"/>
          </a:ln>
        </p:spPr>
      </p:sp>
      <p:sp>
        <p:nvSpPr>
          <p:cNvPr id="10" name="Shape 8"/>
          <p:cNvSpPr/>
          <p:nvPr/>
        </p:nvSpPr>
        <p:spPr>
          <a:xfrm>
            <a:off x="5074920" y="3794760"/>
            <a:ext cx="914400" cy="0"/>
          </a:xfrm>
          <a:prstGeom prst="line">
            <a:avLst/>
          </a:prstGeom>
          <a:noFill/>
          <a:ln w="12700">
            <a:solidFill>
              <a:srgbClr val="D7E3EA"/>
            </a:solidFill>
            <a:prstDash val="solid"/>
            <a:tailEnd type="triangle"/>
          </a:ln>
        </p:spPr>
      </p:sp>
      <p:sp>
        <p:nvSpPr>
          <p:cNvPr id="11" name="Shape 9"/>
          <p:cNvSpPr/>
          <p:nvPr/>
        </p:nvSpPr>
        <p:spPr>
          <a:xfrm>
            <a:off x="8138160" y="2971800"/>
            <a:ext cx="960120" cy="0"/>
          </a:xfrm>
          <a:prstGeom prst="line">
            <a:avLst/>
          </a:prstGeom>
          <a:noFill/>
          <a:ln w="12700">
            <a:solidFill>
              <a:srgbClr val="D7E3EA"/>
            </a:solidFill>
            <a:prstDash val="solid"/>
            <a:tailEnd type="triangle"/>
          </a:ln>
        </p:spPr>
      </p:sp>
      <p:sp>
        <p:nvSpPr>
          <p:cNvPr id="12" name="Shape 10"/>
          <p:cNvSpPr/>
          <p:nvPr/>
        </p:nvSpPr>
        <p:spPr>
          <a:xfrm>
            <a:off x="914400" y="1783080"/>
            <a:ext cx="1325880" cy="914400"/>
          </a:xfrm>
          <a:prstGeom prst="roundRect">
            <a:avLst>
              <a:gd name="adj" fmla="val 6000"/>
            </a:avLst>
          </a:prstGeom>
          <a:solidFill>
            <a:srgbClr val="F9FBFD"/>
          </a:solidFill>
          <a:ln w="12700">
            <a:solidFill>
              <a:srgbClr val="CAD8E0"/>
            </a:solidFill>
            <a:prstDash val="solid"/>
          </a:ln>
        </p:spPr>
      </p:sp>
      <p:sp>
        <p:nvSpPr>
          <p:cNvPr id="13" name="Text 11"/>
          <p:cNvSpPr/>
          <p:nvPr/>
        </p:nvSpPr>
        <p:spPr>
          <a:xfrm>
            <a:off x="1042416" y="1856232"/>
            <a:ext cx="10698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x-y input</a:t>
            </a:r>
            <a:endParaRPr lang="en-US" sz="1400" dirty="0"/>
          </a:p>
        </p:txBody>
      </p:sp>
      <p:sp>
        <p:nvSpPr>
          <p:cNvPr id="14" name="Shape 12"/>
          <p:cNvSpPr/>
          <p:nvPr/>
        </p:nvSpPr>
        <p:spPr>
          <a:xfrm>
            <a:off x="914400" y="3337560"/>
            <a:ext cx="1325880" cy="914400"/>
          </a:xfrm>
          <a:prstGeom prst="roundRect">
            <a:avLst>
              <a:gd name="adj" fmla="val 6000"/>
            </a:avLst>
          </a:prstGeom>
          <a:solidFill>
            <a:srgbClr val="F9FBFD"/>
          </a:solidFill>
          <a:ln w="12700">
            <a:solidFill>
              <a:srgbClr val="CAD8E0"/>
            </a:solidFill>
            <a:prstDash val="solid"/>
          </a:ln>
        </p:spPr>
      </p:sp>
      <p:sp>
        <p:nvSpPr>
          <p:cNvPr id="15" name="Text 13"/>
          <p:cNvSpPr/>
          <p:nvPr/>
        </p:nvSpPr>
        <p:spPr>
          <a:xfrm>
            <a:off x="1042416" y="3410712"/>
            <a:ext cx="10698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r-theta input</a:t>
            </a:r>
            <a:endParaRPr lang="en-US" sz="1400" dirty="0"/>
          </a:p>
        </p:txBody>
      </p:sp>
      <p:sp>
        <p:nvSpPr>
          <p:cNvPr id="16" name="Text 14"/>
          <p:cNvSpPr/>
          <p:nvPr/>
        </p:nvSpPr>
        <p:spPr>
          <a:xfrm>
            <a:off x="1024128" y="2084832"/>
            <a:ext cx="1097280" cy="475488"/>
          </a:xfrm>
          <a:prstGeom prst="rect">
            <a:avLst/>
          </a:prstGeom>
          <a:noFill/>
          <a:ln/>
        </p:spPr>
        <p:txBody>
          <a:bodyPr wrap="square" lIns="508" tIns="508" rIns="508" bIns="508" rtlCol="0" anchor="t">
            <a:normAutofit/>
          </a:bodyPr>
          <a:lstStyle/>
          <a:p>
            <a:pPr marL="0" indent="0" algn="ctr">
              <a:buNone/>
            </a:pPr>
            <a:r>
              <a:rPr lang="en-US" sz="1150" dirty="0">
                <a:solidFill>
                  <a:srgbClr val="111111"/>
                </a:solidFill>
                <a:latin typeface="Meiryo" pitchFamily="34" charset="0"/>
                <a:ea typeface="Meiryo" pitchFamily="34" charset="-122"/>
                <a:cs typeface="Meiryo" pitchFamily="34" charset="-120"/>
              </a:rPr>
              <a:t>count</a:t>
            </a:r>
            <a:endParaRPr lang="en-US" sz="1150" dirty="0"/>
          </a:p>
          <a:p>
            <a:pPr marL="0" indent="0" algn="ctr">
              <a:buNone/>
            </a:pPr>
            <a:r>
              <a:rPr lang="en-US" sz="1150" dirty="0">
                <a:solidFill>
                  <a:srgbClr val="111111"/>
                </a:solidFill>
                <a:latin typeface="Meiryo" pitchFamily="34" charset="0"/>
                <a:ea typeface="Meiryo" pitchFamily="34" charset="-122"/>
                <a:cs typeface="Meiryo" pitchFamily="34" charset="-120"/>
              </a:rPr>
              <a:t>mean/std log size</a:t>
            </a:r>
            <a:endParaRPr lang="en-US" sz="1150" dirty="0"/>
          </a:p>
          <a:p>
            <a:pPr marL="0" indent="0" algn="ctr">
              <a:buNone/>
            </a:pPr>
            <a:r>
              <a:rPr lang="en-US" sz="1150" dirty="0">
                <a:solidFill>
                  <a:srgbClr val="111111"/>
                </a:solidFill>
                <a:latin typeface="Meiryo" pitchFamily="34" charset="0"/>
                <a:ea typeface="Meiryo" pitchFamily="34" charset="-122"/>
                <a:cs typeface="Meiryo" pitchFamily="34" charset="-120"/>
              </a:rPr>
              <a:t>size hist</a:t>
            </a:r>
            <a:endParaRPr lang="en-US" sz="1150" dirty="0"/>
          </a:p>
        </p:txBody>
      </p:sp>
      <p:sp>
        <p:nvSpPr>
          <p:cNvPr id="17" name="Text 15"/>
          <p:cNvSpPr/>
          <p:nvPr/>
        </p:nvSpPr>
        <p:spPr>
          <a:xfrm>
            <a:off x="1024128" y="3639312"/>
            <a:ext cx="1097280" cy="475488"/>
          </a:xfrm>
          <a:prstGeom prst="rect">
            <a:avLst/>
          </a:prstGeom>
          <a:noFill/>
          <a:ln/>
        </p:spPr>
        <p:txBody>
          <a:bodyPr wrap="square" lIns="508" tIns="508" rIns="508" bIns="508" rtlCol="0" anchor="t">
            <a:normAutofit/>
          </a:bodyPr>
          <a:lstStyle/>
          <a:p>
            <a:pPr marL="0" indent="0" algn="ctr">
              <a:buNone/>
            </a:pPr>
            <a:r>
              <a:rPr lang="en-US" sz="1150" dirty="0">
                <a:solidFill>
                  <a:srgbClr val="111111"/>
                </a:solidFill>
                <a:latin typeface="Meiryo" pitchFamily="34" charset="0"/>
                <a:ea typeface="Meiryo" pitchFamily="34" charset="-122"/>
                <a:cs typeface="Meiryo" pitchFamily="34" charset="-120"/>
              </a:rPr>
              <a:t>count</a:t>
            </a:r>
            <a:endParaRPr lang="en-US" sz="1150" dirty="0"/>
          </a:p>
          <a:p>
            <a:pPr marL="0" indent="0" algn="ctr">
              <a:buNone/>
            </a:pPr>
            <a:r>
              <a:rPr lang="en-US" sz="1150" dirty="0">
                <a:solidFill>
                  <a:srgbClr val="111111"/>
                </a:solidFill>
                <a:latin typeface="Meiryo" pitchFamily="34" charset="0"/>
                <a:ea typeface="Meiryo" pitchFamily="34" charset="-122"/>
                <a:cs typeface="Meiryo" pitchFamily="34" charset="-120"/>
              </a:rPr>
              <a:t>mean/std log size</a:t>
            </a:r>
            <a:endParaRPr lang="en-US" sz="1150" dirty="0"/>
          </a:p>
          <a:p>
            <a:pPr marL="0" indent="0" algn="ctr">
              <a:buNone/>
            </a:pPr>
            <a:r>
              <a:rPr lang="en-US" sz="1150" dirty="0">
                <a:solidFill>
                  <a:srgbClr val="111111"/>
                </a:solidFill>
                <a:latin typeface="Meiryo" pitchFamily="34" charset="0"/>
                <a:ea typeface="Meiryo" pitchFamily="34" charset="-122"/>
                <a:cs typeface="Meiryo" pitchFamily="34" charset="-120"/>
              </a:rPr>
              <a:t>size hist</a:t>
            </a:r>
            <a:endParaRPr lang="en-US" sz="1150" dirty="0"/>
          </a:p>
        </p:txBody>
      </p:sp>
      <p:sp>
        <p:nvSpPr>
          <p:cNvPr id="18" name="Shape 16"/>
          <p:cNvSpPr/>
          <p:nvPr/>
        </p:nvSpPr>
        <p:spPr>
          <a:xfrm>
            <a:off x="3154680" y="1572768"/>
            <a:ext cx="1920240" cy="1353312"/>
          </a:xfrm>
          <a:prstGeom prst="roundRect">
            <a:avLst>
              <a:gd name="adj" fmla="val 4054"/>
            </a:avLst>
          </a:prstGeom>
          <a:solidFill>
            <a:srgbClr val="FFFFFF"/>
          </a:solidFill>
          <a:ln w="12700">
            <a:solidFill>
              <a:srgbClr val="CAD8E0"/>
            </a:solidFill>
            <a:prstDash val="solid"/>
          </a:ln>
        </p:spPr>
      </p:sp>
      <p:sp>
        <p:nvSpPr>
          <p:cNvPr id="19" name="Text 17"/>
          <p:cNvSpPr/>
          <p:nvPr/>
        </p:nvSpPr>
        <p:spPr>
          <a:xfrm>
            <a:off x="3282696" y="1645920"/>
            <a:ext cx="16642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xy backbone</a:t>
            </a:r>
            <a:endParaRPr lang="en-US" sz="1400" dirty="0"/>
          </a:p>
        </p:txBody>
      </p:sp>
      <p:sp>
        <p:nvSpPr>
          <p:cNvPr id="20" name="Text 18"/>
          <p:cNvSpPr/>
          <p:nvPr/>
        </p:nvSpPr>
        <p:spPr>
          <a:xfrm>
            <a:off x="3383280" y="2084832"/>
            <a:ext cx="1463040" cy="228600"/>
          </a:xfrm>
          <a:prstGeom prst="rect">
            <a:avLst/>
          </a:prstGeom>
          <a:noFill/>
          <a:ln/>
        </p:spPr>
        <p:txBody>
          <a:bodyPr wrap="square" lIns="508" tIns="508" rIns="508" bIns="508" rtlCol="0" anchor="t">
            <a:normAutofit/>
          </a:bodyPr>
          <a:lstStyle/>
          <a:p>
            <a:pPr marL="0" indent="0" algn="ctr">
              <a:buNone/>
            </a:pPr>
            <a:r>
              <a:rPr lang="en-US" sz="1350" dirty="0">
                <a:solidFill>
                  <a:srgbClr val="111111"/>
                </a:solidFill>
                <a:latin typeface="Meiryo" pitchFamily="34" charset="0"/>
                <a:ea typeface="Meiryo" pitchFamily="34" charset="-122"/>
                <a:cs typeface="Meiryo" pitchFamily="34" charset="-120"/>
              </a:rPr>
              <a:t>Tiny U-Net / Conv blocks</a:t>
            </a:r>
            <a:endParaRPr lang="en-US" sz="1350" dirty="0"/>
          </a:p>
        </p:txBody>
      </p:sp>
      <p:sp>
        <p:nvSpPr>
          <p:cNvPr id="21" name="Shape 19"/>
          <p:cNvSpPr/>
          <p:nvPr/>
        </p:nvSpPr>
        <p:spPr>
          <a:xfrm>
            <a:off x="3154680" y="3127248"/>
            <a:ext cx="1920240" cy="1353312"/>
          </a:xfrm>
          <a:prstGeom prst="roundRect">
            <a:avLst>
              <a:gd name="adj" fmla="val 4054"/>
            </a:avLst>
          </a:prstGeom>
          <a:solidFill>
            <a:srgbClr val="FFFFFF"/>
          </a:solidFill>
          <a:ln w="12700">
            <a:solidFill>
              <a:srgbClr val="CAD8E0"/>
            </a:solidFill>
            <a:prstDash val="solid"/>
          </a:ln>
        </p:spPr>
      </p:sp>
      <p:sp>
        <p:nvSpPr>
          <p:cNvPr id="22" name="Text 20"/>
          <p:cNvSpPr/>
          <p:nvPr/>
        </p:nvSpPr>
        <p:spPr>
          <a:xfrm>
            <a:off x="3282696" y="3200400"/>
            <a:ext cx="16642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rt backbone</a:t>
            </a:r>
            <a:endParaRPr lang="en-US" sz="1400" dirty="0"/>
          </a:p>
        </p:txBody>
      </p:sp>
      <p:sp>
        <p:nvSpPr>
          <p:cNvPr id="23" name="Text 21"/>
          <p:cNvSpPr/>
          <p:nvPr/>
        </p:nvSpPr>
        <p:spPr>
          <a:xfrm>
            <a:off x="3383280" y="3639312"/>
            <a:ext cx="1463040" cy="228600"/>
          </a:xfrm>
          <a:prstGeom prst="rect">
            <a:avLst/>
          </a:prstGeom>
          <a:noFill/>
          <a:ln/>
        </p:spPr>
        <p:txBody>
          <a:bodyPr wrap="square" lIns="508" tIns="508" rIns="508" bIns="508" rtlCol="0" anchor="t">
            <a:normAutofit/>
          </a:bodyPr>
          <a:lstStyle/>
          <a:p>
            <a:pPr marL="0" indent="0" algn="ctr">
              <a:buNone/>
            </a:pPr>
            <a:r>
              <a:rPr lang="en-US" sz="1350" dirty="0">
                <a:solidFill>
                  <a:srgbClr val="111111"/>
                </a:solidFill>
                <a:latin typeface="Meiryo" pitchFamily="34" charset="0"/>
                <a:ea typeface="Meiryo" pitchFamily="34" charset="-122"/>
                <a:cs typeface="Meiryo" pitchFamily="34" charset="-120"/>
              </a:rPr>
              <a:t>Tiny U-Net / Conv blocks</a:t>
            </a:r>
            <a:endParaRPr lang="en-US" sz="1350" dirty="0"/>
          </a:p>
        </p:txBody>
      </p:sp>
      <p:sp>
        <p:nvSpPr>
          <p:cNvPr id="24" name="Shape 22"/>
          <p:cNvSpPr/>
          <p:nvPr/>
        </p:nvSpPr>
        <p:spPr>
          <a:xfrm>
            <a:off x="5989320" y="2331720"/>
            <a:ext cx="2148840" cy="1371600"/>
          </a:xfrm>
          <a:prstGeom prst="roundRect">
            <a:avLst>
              <a:gd name="adj" fmla="val 4000"/>
            </a:avLst>
          </a:prstGeom>
          <a:solidFill>
            <a:srgbClr val="F7FAFC"/>
          </a:solidFill>
          <a:ln w="12700">
            <a:solidFill>
              <a:srgbClr val="CAD8E0"/>
            </a:solidFill>
            <a:prstDash val="solid"/>
          </a:ln>
        </p:spPr>
      </p:sp>
      <p:sp>
        <p:nvSpPr>
          <p:cNvPr id="25" name="Text 23"/>
          <p:cNvSpPr/>
          <p:nvPr/>
        </p:nvSpPr>
        <p:spPr>
          <a:xfrm>
            <a:off x="6117336" y="2404872"/>
            <a:ext cx="18928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global branch</a:t>
            </a:r>
            <a:endParaRPr lang="en-US" sz="1400" dirty="0"/>
          </a:p>
        </p:txBody>
      </p:sp>
      <p:sp>
        <p:nvSpPr>
          <p:cNvPr id="26" name="Text 24"/>
          <p:cNvSpPr/>
          <p:nvPr/>
        </p:nvSpPr>
        <p:spPr>
          <a:xfrm>
            <a:off x="6309360" y="2816352"/>
            <a:ext cx="1554480" cy="228600"/>
          </a:xfrm>
          <a:prstGeom prst="rect">
            <a:avLst/>
          </a:prstGeom>
          <a:noFill/>
          <a:ln/>
        </p:spPr>
        <p:txBody>
          <a:bodyPr wrap="square" lIns="508" tIns="508" rIns="508" bIns="508" rtlCol="0" anchor="t">
            <a:normAutofit/>
          </a:bodyPr>
          <a:lstStyle/>
          <a:p>
            <a:pPr marL="0" indent="0" algn="ctr">
              <a:buNone/>
            </a:pPr>
            <a:r>
              <a:rPr lang="en-US" sz="1450" dirty="0">
                <a:solidFill>
                  <a:srgbClr val="111111"/>
                </a:solidFill>
                <a:latin typeface="Meiryo" pitchFamily="34" charset="0"/>
                <a:ea typeface="Meiryo" pitchFamily="34" charset="-122"/>
                <a:cs typeface="Meiryo" pitchFamily="34" charset="-120"/>
              </a:rPr>
              <a:t>global pooling + MLP</a:t>
            </a:r>
            <a:endParaRPr lang="en-US" sz="1450" dirty="0"/>
          </a:p>
        </p:txBody>
      </p:sp>
      <p:sp>
        <p:nvSpPr>
          <p:cNvPr id="27" name="Shape 25"/>
          <p:cNvSpPr/>
          <p:nvPr/>
        </p:nvSpPr>
        <p:spPr>
          <a:xfrm>
            <a:off x="9098280" y="1325880"/>
            <a:ext cx="1874520" cy="3291840"/>
          </a:xfrm>
          <a:prstGeom prst="roundRect">
            <a:avLst>
              <a:gd name="adj" fmla="val 2927"/>
            </a:avLst>
          </a:prstGeom>
          <a:solidFill>
            <a:srgbClr val="FFFFFF"/>
          </a:solidFill>
          <a:ln w="12700">
            <a:solidFill>
              <a:srgbClr val="CAD8E0"/>
            </a:solidFill>
            <a:prstDash val="solid"/>
          </a:ln>
        </p:spPr>
      </p:sp>
      <p:sp>
        <p:nvSpPr>
          <p:cNvPr id="28" name="Text 26"/>
          <p:cNvSpPr/>
          <p:nvPr/>
        </p:nvSpPr>
        <p:spPr>
          <a:xfrm>
            <a:off x="9226296" y="1399032"/>
            <a:ext cx="16184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multi-head outputs</a:t>
            </a:r>
            <a:endParaRPr lang="en-US" sz="1400" dirty="0"/>
          </a:p>
        </p:txBody>
      </p:sp>
      <p:sp>
        <p:nvSpPr>
          <p:cNvPr id="29" name="Text 27"/>
          <p:cNvSpPr/>
          <p:nvPr/>
        </p:nvSpPr>
        <p:spPr>
          <a:xfrm>
            <a:off x="9281160" y="1691640"/>
            <a:ext cx="1508760" cy="2331720"/>
          </a:xfrm>
          <a:prstGeom prst="rect">
            <a:avLst/>
          </a:prstGeom>
          <a:noFill/>
          <a:ln/>
        </p:spPr>
        <p:txBody>
          <a:bodyPr wrap="square" lIns="508" tIns="508" rIns="508" bIns="508" rtlCol="0" anchor="t">
            <a:normAutofit/>
          </a:bodyPr>
          <a:lstStyle/>
          <a:p>
            <a:pPr marL="0" indent="0" algn="l">
              <a:buNone/>
            </a:pPr>
            <a:r>
              <a:rPr lang="en-US" sz="1430" dirty="0">
                <a:solidFill>
                  <a:srgbClr val="111111"/>
                </a:solidFill>
                <a:latin typeface="Meiryo" pitchFamily="34" charset="0"/>
                <a:ea typeface="Meiryo" pitchFamily="34" charset="-122"/>
                <a:cs typeface="Meiryo" pitchFamily="34" charset="-120"/>
              </a:rPr>
              <a:t>• presence_logits</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size_prior_logits</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geom_pred</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mu_xy</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mu_rt</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size_model/profile</a:t>
            </a:r>
            <a:endParaRPr lang="en-US" sz="1430" dirty="0"/>
          </a:p>
        </p:txBody>
      </p:sp>
      <p:sp>
        <p:nvSpPr>
          <p:cNvPr id="30" name="Shape 28"/>
          <p:cNvSpPr/>
          <p:nvPr/>
        </p:nvSpPr>
        <p:spPr>
          <a:xfrm>
            <a:off x="868680" y="4800600"/>
            <a:ext cx="10195560" cy="868680"/>
          </a:xfrm>
          <a:prstGeom prst="roundRect">
            <a:avLst>
              <a:gd name="adj" fmla="val 6316"/>
            </a:avLst>
          </a:prstGeom>
          <a:solidFill>
            <a:srgbClr val="EEF6FB"/>
          </a:solidFill>
          <a:ln w="12700">
            <a:solidFill>
              <a:srgbClr val="CAD8E0"/>
            </a:solidFill>
            <a:prstDash val="solid"/>
          </a:ln>
        </p:spPr>
      </p:sp>
      <p:sp>
        <p:nvSpPr>
          <p:cNvPr id="31" name="Text 29"/>
          <p:cNvSpPr/>
          <p:nvPr/>
        </p:nvSpPr>
        <p:spPr>
          <a:xfrm>
            <a:off x="1051560" y="5056632"/>
            <a:ext cx="9875520" cy="237744"/>
          </a:xfrm>
          <a:prstGeom prst="rect">
            <a:avLst/>
          </a:prstGeom>
          <a:noFill/>
          <a:ln/>
        </p:spPr>
        <p:txBody>
          <a:bodyPr wrap="square" lIns="508" tIns="508" rIns="508" bIns="508" rtlCol="0" anchor="t">
            <a:normAutofit/>
          </a:bodyPr>
          <a:lstStyle/>
          <a:p>
            <a:pPr marL="0" indent="0" algn="ctr">
              <a:buNone/>
            </a:pPr>
            <a:r>
              <a:rPr lang="en-US" sz="1420" dirty="0">
                <a:solidFill>
                  <a:srgbClr val="111111"/>
                </a:solidFill>
                <a:latin typeface="Meiryo" pitchFamily="34" charset="0"/>
                <a:ea typeface="Meiryo" pitchFamily="34" charset="-122"/>
                <a:cs typeface="Meiryo" pitchFamily="34" charset="-120"/>
              </a:rPr>
              <a:t>実装レベルでは、xy_backbone・rt_backbone・global_mlp・presence_head・size_prior_head・geom_head・intensity_head・size_residual_head を備える。</a:t>
            </a:r>
            <a:endParaRPr lang="en-US" sz="1420" dirty="0"/>
          </a:p>
        </p:txBody>
      </p:sp>
      <p:sp>
        <p:nvSpPr>
          <p:cNvPr id="32" name="Text 30"/>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16</a:t>
            </a:r>
            <a:endParaRPr lang="en-US" sz="1000" dirty="0"/>
          </a:p>
        </p:txBody>
      </p:sp>
      <p:sp>
        <p:nvSpPr>
          <p:cNvPr id="33" name="Text 31"/>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提案手法④ 空間×サイズの因子分解ロジック</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Factorization Logic</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mu(c,k,b) = lambda(c,k) × softmax(log q(k,b) + delta(c,k,b))</a:t>
            </a:r>
            <a:endParaRPr lang="en-US" sz="1400" dirty="0"/>
          </a:p>
        </p:txBody>
      </p:sp>
      <p:sp>
        <p:nvSpPr>
          <p:cNvPr id="7" name="Shape 5"/>
          <p:cNvSpPr/>
          <p:nvPr/>
        </p:nvSpPr>
        <p:spPr>
          <a:xfrm>
            <a:off x="914400" y="1645920"/>
            <a:ext cx="2331720" cy="2971800"/>
          </a:xfrm>
          <a:prstGeom prst="roundRect">
            <a:avLst>
              <a:gd name="adj" fmla="val 2353"/>
            </a:avLst>
          </a:prstGeom>
          <a:solidFill>
            <a:srgbClr val="F9FBFD"/>
          </a:solidFill>
          <a:ln w="12700">
            <a:solidFill>
              <a:srgbClr val="CAD8E0"/>
            </a:solidFill>
            <a:prstDash val="solid"/>
          </a:ln>
        </p:spPr>
      </p:sp>
      <p:sp>
        <p:nvSpPr>
          <p:cNvPr id="8" name="Text 6"/>
          <p:cNvSpPr/>
          <p:nvPr/>
        </p:nvSpPr>
        <p:spPr>
          <a:xfrm>
            <a:off x="1051560" y="1874520"/>
            <a:ext cx="2057400" cy="475488"/>
          </a:xfrm>
          <a:prstGeom prst="rect">
            <a:avLst/>
          </a:prstGeom>
          <a:noFill/>
          <a:ln/>
        </p:spPr>
        <p:txBody>
          <a:bodyPr wrap="square" lIns="0" tIns="0" rIns="0" bIns="0" rtlCol="0" anchor="ctr"/>
          <a:lstStyle/>
          <a:p>
            <a:pPr marL="0" indent="0" algn="ctr">
              <a:buNone/>
            </a:pPr>
            <a:r>
              <a:rPr lang="en-US" sz="1800" b="1" dirty="0">
                <a:solidFill>
                  <a:srgbClr val="0B3C5D"/>
                </a:solidFill>
                <a:latin typeface="Meiryo" pitchFamily="34" charset="0"/>
                <a:ea typeface="Meiryo" pitchFamily="34" charset="-122"/>
                <a:cs typeface="Meiryo" pitchFamily="34" charset="-120"/>
              </a:rPr>
              <a:t>lambda</a:t>
            </a:r>
            <a:endParaRPr lang="en-US" sz="1800" dirty="0"/>
          </a:p>
          <a:p>
            <a:pPr marL="0" indent="0" algn="ctr">
              <a:buNone/>
            </a:pPr>
            <a:r>
              <a:rPr lang="en-US" sz="1800" b="1" dirty="0">
                <a:solidFill>
                  <a:srgbClr val="0B3C5D"/>
                </a:solidFill>
                <a:latin typeface="Meiryo" pitchFamily="34" charset="0"/>
                <a:ea typeface="Meiryo" pitchFamily="34" charset="-122"/>
                <a:cs typeface="Meiryo" pitchFamily="34" charset="-120"/>
              </a:rPr>
              <a:t>空間強度</a:t>
            </a:r>
            <a:endParaRPr lang="en-US" sz="1800" dirty="0"/>
          </a:p>
        </p:txBody>
      </p:sp>
      <p:sp>
        <p:nvSpPr>
          <p:cNvPr id="9" name="Shape 7"/>
          <p:cNvSpPr/>
          <p:nvPr/>
        </p:nvSpPr>
        <p:spPr>
          <a:xfrm>
            <a:off x="1325880" y="2468880"/>
            <a:ext cx="246888" cy="246888"/>
          </a:xfrm>
          <a:prstGeom prst="rect">
            <a:avLst/>
          </a:prstGeom>
          <a:solidFill>
            <a:srgbClr val="EEF7FD"/>
          </a:solidFill>
          <a:ln w="12700">
            <a:solidFill>
              <a:srgbClr val="FFFFFF"/>
            </a:solidFill>
            <a:prstDash val="solid"/>
          </a:ln>
        </p:spPr>
      </p:sp>
      <p:sp>
        <p:nvSpPr>
          <p:cNvPr id="10" name="Shape 8"/>
          <p:cNvSpPr/>
          <p:nvPr/>
        </p:nvSpPr>
        <p:spPr>
          <a:xfrm>
            <a:off x="1627632" y="2468880"/>
            <a:ext cx="246888" cy="246888"/>
          </a:xfrm>
          <a:prstGeom prst="rect">
            <a:avLst/>
          </a:prstGeom>
          <a:solidFill>
            <a:srgbClr val="D7F0FF"/>
          </a:solidFill>
          <a:ln w="12700">
            <a:solidFill>
              <a:srgbClr val="FFFFFF"/>
            </a:solidFill>
            <a:prstDash val="solid"/>
          </a:ln>
        </p:spPr>
      </p:sp>
      <p:sp>
        <p:nvSpPr>
          <p:cNvPr id="11" name="Shape 9"/>
          <p:cNvSpPr/>
          <p:nvPr/>
        </p:nvSpPr>
        <p:spPr>
          <a:xfrm>
            <a:off x="1929384" y="2468880"/>
            <a:ext cx="246888" cy="246888"/>
          </a:xfrm>
          <a:prstGeom prst="rect">
            <a:avLst/>
          </a:prstGeom>
          <a:solidFill>
            <a:srgbClr val="9CDCFF"/>
          </a:solidFill>
          <a:ln w="12700">
            <a:solidFill>
              <a:srgbClr val="FFFFFF"/>
            </a:solidFill>
            <a:prstDash val="solid"/>
          </a:ln>
        </p:spPr>
      </p:sp>
      <p:sp>
        <p:nvSpPr>
          <p:cNvPr id="12" name="Shape 10"/>
          <p:cNvSpPr/>
          <p:nvPr/>
        </p:nvSpPr>
        <p:spPr>
          <a:xfrm>
            <a:off x="2231136" y="2468880"/>
            <a:ext cx="246888" cy="246888"/>
          </a:xfrm>
          <a:prstGeom prst="rect">
            <a:avLst/>
          </a:prstGeom>
          <a:solidFill>
            <a:srgbClr val="55C1F5"/>
          </a:solidFill>
          <a:ln w="12700">
            <a:solidFill>
              <a:srgbClr val="FFFFFF"/>
            </a:solidFill>
            <a:prstDash val="solid"/>
          </a:ln>
        </p:spPr>
      </p:sp>
      <p:sp>
        <p:nvSpPr>
          <p:cNvPr id="13" name="Shape 11"/>
          <p:cNvSpPr/>
          <p:nvPr/>
        </p:nvSpPr>
        <p:spPr>
          <a:xfrm>
            <a:off x="1325880" y="2770632"/>
            <a:ext cx="246888" cy="246888"/>
          </a:xfrm>
          <a:prstGeom prst="rect">
            <a:avLst/>
          </a:prstGeom>
          <a:solidFill>
            <a:srgbClr val="D7F0FF"/>
          </a:solidFill>
          <a:ln w="12700">
            <a:solidFill>
              <a:srgbClr val="FFFFFF"/>
            </a:solidFill>
            <a:prstDash val="solid"/>
          </a:ln>
        </p:spPr>
      </p:sp>
      <p:sp>
        <p:nvSpPr>
          <p:cNvPr id="14" name="Shape 12"/>
          <p:cNvSpPr/>
          <p:nvPr/>
        </p:nvSpPr>
        <p:spPr>
          <a:xfrm>
            <a:off x="1627632" y="2770632"/>
            <a:ext cx="246888" cy="246888"/>
          </a:xfrm>
          <a:prstGeom prst="rect">
            <a:avLst/>
          </a:prstGeom>
          <a:solidFill>
            <a:srgbClr val="9CDCFF"/>
          </a:solidFill>
          <a:ln w="12700">
            <a:solidFill>
              <a:srgbClr val="FFFFFF"/>
            </a:solidFill>
            <a:prstDash val="solid"/>
          </a:ln>
        </p:spPr>
      </p:sp>
      <p:sp>
        <p:nvSpPr>
          <p:cNvPr id="15" name="Shape 13"/>
          <p:cNvSpPr/>
          <p:nvPr/>
        </p:nvSpPr>
        <p:spPr>
          <a:xfrm>
            <a:off x="1929384" y="2770632"/>
            <a:ext cx="246888" cy="246888"/>
          </a:xfrm>
          <a:prstGeom prst="rect">
            <a:avLst/>
          </a:prstGeom>
          <a:solidFill>
            <a:srgbClr val="55C1F5"/>
          </a:solidFill>
          <a:ln w="12700">
            <a:solidFill>
              <a:srgbClr val="FFFFFF"/>
            </a:solidFill>
            <a:prstDash val="solid"/>
          </a:ln>
        </p:spPr>
      </p:sp>
      <p:sp>
        <p:nvSpPr>
          <p:cNvPr id="16" name="Shape 14"/>
          <p:cNvSpPr/>
          <p:nvPr/>
        </p:nvSpPr>
        <p:spPr>
          <a:xfrm>
            <a:off x="2231136" y="2770632"/>
            <a:ext cx="246888" cy="246888"/>
          </a:xfrm>
          <a:prstGeom prst="rect">
            <a:avLst/>
          </a:prstGeom>
          <a:solidFill>
            <a:srgbClr val="EEF7FD"/>
          </a:solidFill>
          <a:ln w="12700">
            <a:solidFill>
              <a:srgbClr val="FFFFFF"/>
            </a:solidFill>
            <a:prstDash val="solid"/>
          </a:ln>
        </p:spPr>
      </p:sp>
      <p:sp>
        <p:nvSpPr>
          <p:cNvPr id="17" name="Shape 15"/>
          <p:cNvSpPr/>
          <p:nvPr/>
        </p:nvSpPr>
        <p:spPr>
          <a:xfrm>
            <a:off x="1325880" y="3072384"/>
            <a:ext cx="246888" cy="246888"/>
          </a:xfrm>
          <a:prstGeom prst="rect">
            <a:avLst/>
          </a:prstGeom>
          <a:solidFill>
            <a:srgbClr val="9CDCFF"/>
          </a:solidFill>
          <a:ln w="12700">
            <a:solidFill>
              <a:srgbClr val="FFFFFF"/>
            </a:solidFill>
            <a:prstDash val="solid"/>
          </a:ln>
        </p:spPr>
      </p:sp>
      <p:sp>
        <p:nvSpPr>
          <p:cNvPr id="18" name="Shape 16"/>
          <p:cNvSpPr/>
          <p:nvPr/>
        </p:nvSpPr>
        <p:spPr>
          <a:xfrm>
            <a:off x="1627632" y="3072384"/>
            <a:ext cx="246888" cy="246888"/>
          </a:xfrm>
          <a:prstGeom prst="rect">
            <a:avLst/>
          </a:prstGeom>
          <a:solidFill>
            <a:srgbClr val="55C1F5"/>
          </a:solidFill>
          <a:ln w="12700">
            <a:solidFill>
              <a:srgbClr val="FFFFFF"/>
            </a:solidFill>
            <a:prstDash val="solid"/>
          </a:ln>
        </p:spPr>
      </p:sp>
      <p:sp>
        <p:nvSpPr>
          <p:cNvPr id="19" name="Shape 17"/>
          <p:cNvSpPr/>
          <p:nvPr/>
        </p:nvSpPr>
        <p:spPr>
          <a:xfrm>
            <a:off x="1929384" y="3072384"/>
            <a:ext cx="246888" cy="246888"/>
          </a:xfrm>
          <a:prstGeom prst="rect">
            <a:avLst/>
          </a:prstGeom>
          <a:solidFill>
            <a:srgbClr val="EEF7FD"/>
          </a:solidFill>
          <a:ln w="12700">
            <a:solidFill>
              <a:srgbClr val="FFFFFF"/>
            </a:solidFill>
            <a:prstDash val="solid"/>
          </a:ln>
        </p:spPr>
      </p:sp>
      <p:sp>
        <p:nvSpPr>
          <p:cNvPr id="20" name="Shape 18"/>
          <p:cNvSpPr/>
          <p:nvPr/>
        </p:nvSpPr>
        <p:spPr>
          <a:xfrm>
            <a:off x="2231136" y="3072384"/>
            <a:ext cx="246888" cy="246888"/>
          </a:xfrm>
          <a:prstGeom prst="rect">
            <a:avLst/>
          </a:prstGeom>
          <a:solidFill>
            <a:srgbClr val="D7F0FF"/>
          </a:solidFill>
          <a:ln w="12700">
            <a:solidFill>
              <a:srgbClr val="FFFFFF"/>
            </a:solidFill>
            <a:prstDash val="solid"/>
          </a:ln>
        </p:spPr>
      </p:sp>
      <p:sp>
        <p:nvSpPr>
          <p:cNvPr id="21" name="Shape 19"/>
          <p:cNvSpPr/>
          <p:nvPr/>
        </p:nvSpPr>
        <p:spPr>
          <a:xfrm>
            <a:off x="1325880" y="3374136"/>
            <a:ext cx="246888" cy="246888"/>
          </a:xfrm>
          <a:prstGeom prst="rect">
            <a:avLst/>
          </a:prstGeom>
          <a:solidFill>
            <a:srgbClr val="55C1F5"/>
          </a:solidFill>
          <a:ln w="12700">
            <a:solidFill>
              <a:srgbClr val="FFFFFF"/>
            </a:solidFill>
            <a:prstDash val="solid"/>
          </a:ln>
        </p:spPr>
      </p:sp>
      <p:sp>
        <p:nvSpPr>
          <p:cNvPr id="22" name="Shape 20"/>
          <p:cNvSpPr/>
          <p:nvPr/>
        </p:nvSpPr>
        <p:spPr>
          <a:xfrm>
            <a:off x="1627632" y="3374136"/>
            <a:ext cx="246888" cy="246888"/>
          </a:xfrm>
          <a:prstGeom prst="rect">
            <a:avLst/>
          </a:prstGeom>
          <a:solidFill>
            <a:srgbClr val="EEF7FD"/>
          </a:solidFill>
          <a:ln w="12700">
            <a:solidFill>
              <a:srgbClr val="FFFFFF"/>
            </a:solidFill>
            <a:prstDash val="solid"/>
          </a:ln>
        </p:spPr>
      </p:sp>
      <p:sp>
        <p:nvSpPr>
          <p:cNvPr id="23" name="Shape 21"/>
          <p:cNvSpPr/>
          <p:nvPr/>
        </p:nvSpPr>
        <p:spPr>
          <a:xfrm>
            <a:off x="1929384" y="3374136"/>
            <a:ext cx="246888" cy="246888"/>
          </a:xfrm>
          <a:prstGeom prst="rect">
            <a:avLst/>
          </a:prstGeom>
          <a:solidFill>
            <a:srgbClr val="D7F0FF"/>
          </a:solidFill>
          <a:ln w="12700">
            <a:solidFill>
              <a:srgbClr val="FFFFFF"/>
            </a:solidFill>
            <a:prstDash val="solid"/>
          </a:ln>
        </p:spPr>
      </p:sp>
      <p:sp>
        <p:nvSpPr>
          <p:cNvPr id="24" name="Shape 22"/>
          <p:cNvSpPr/>
          <p:nvPr/>
        </p:nvSpPr>
        <p:spPr>
          <a:xfrm>
            <a:off x="2231136" y="3374136"/>
            <a:ext cx="246888" cy="246888"/>
          </a:xfrm>
          <a:prstGeom prst="rect">
            <a:avLst/>
          </a:prstGeom>
          <a:solidFill>
            <a:srgbClr val="9CDCFF"/>
          </a:solidFill>
          <a:ln w="12700">
            <a:solidFill>
              <a:srgbClr val="FFFFFF"/>
            </a:solidFill>
            <a:prstDash val="solid"/>
          </a:ln>
        </p:spPr>
      </p:sp>
      <p:sp>
        <p:nvSpPr>
          <p:cNvPr id="25" name="Text 23"/>
          <p:cNvSpPr/>
          <p:nvPr/>
        </p:nvSpPr>
        <p:spPr>
          <a:xfrm>
            <a:off x="1133856" y="3822192"/>
            <a:ext cx="1874520" cy="502920"/>
          </a:xfrm>
          <a:prstGeom prst="rect">
            <a:avLst/>
          </a:prstGeom>
          <a:noFill/>
          <a:ln/>
        </p:spPr>
        <p:txBody>
          <a:bodyPr wrap="square" lIns="508" tIns="508" rIns="508" bIns="508" rtlCol="0" anchor="t">
            <a:normAutofit/>
          </a:bodyPr>
          <a:lstStyle/>
          <a:p>
            <a:pPr marL="0" indent="0" algn="ctr">
              <a:buNone/>
            </a:pPr>
            <a:r>
              <a:rPr lang="en-US" sz="1350" dirty="0">
                <a:solidFill>
                  <a:srgbClr val="111111"/>
                </a:solidFill>
                <a:latin typeface="Meiryo" pitchFamily="34" charset="0"/>
                <a:ea typeface="Meiryo" pitchFamily="34" charset="-122"/>
                <a:cs typeface="Meiryo" pitchFamily="34" charset="-120"/>
              </a:rPr>
              <a:t>セルごと・パターンごとの spatial intensity</a:t>
            </a:r>
            <a:endParaRPr lang="en-US" sz="1350" dirty="0"/>
          </a:p>
        </p:txBody>
      </p:sp>
      <p:sp>
        <p:nvSpPr>
          <p:cNvPr id="26" name="Shape 24"/>
          <p:cNvSpPr/>
          <p:nvPr/>
        </p:nvSpPr>
        <p:spPr>
          <a:xfrm>
            <a:off x="3794760" y="1645920"/>
            <a:ext cx="2331720" cy="2971800"/>
          </a:xfrm>
          <a:prstGeom prst="roundRect">
            <a:avLst>
              <a:gd name="adj" fmla="val 2353"/>
            </a:avLst>
          </a:prstGeom>
          <a:solidFill>
            <a:srgbClr val="F9FBFD"/>
          </a:solidFill>
          <a:ln w="12700">
            <a:solidFill>
              <a:srgbClr val="CAD8E0"/>
            </a:solidFill>
            <a:prstDash val="solid"/>
          </a:ln>
        </p:spPr>
      </p:sp>
      <p:sp>
        <p:nvSpPr>
          <p:cNvPr id="27" name="Text 25"/>
          <p:cNvSpPr/>
          <p:nvPr/>
        </p:nvSpPr>
        <p:spPr>
          <a:xfrm>
            <a:off x="3931920" y="1874520"/>
            <a:ext cx="2057400" cy="475488"/>
          </a:xfrm>
          <a:prstGeom prst="rect">
            <a:avLst/>
          </a:prstGeom>
          <a:noFill/>
          <a:ln/>
        </p:spPr>
        <p:txBody>
          <a:bodyPr wrap="square" lIns="0" tIns="0" rIns="0" bIns="0" rtlCol="0" anchor="ctr"/>
          <a:lstStyle/>
          <a:p>
            <a:pPr marL="0" indent="0" algn="ctr">
              <a:buNone/>
            </a:pPr>
            <a:r>
              <a:rPr lang="en-US" sz="1800" b="1" dirty="0">
                <a:solidFill>
                  <a:srgbClr val="0B3C5D"/>
                </a:solidFill>
                <a:latin typeface="Meiryo" pitchFamily="34" charset="0"/>
                <a:ea typeface="Meiryo" pitchFamily="34" charset="-122"/>
                <a:cs typeface="Meiryo" pitchFamily="34" charset="-120"/>
              </a:rPr>
              <a:t>q</a:t>
            </a:r>
            <a:endParaRPr lang="en-US" sz="1800" dirty="0"/>
          </a:p>
          <a:p>
            <a:pPr marL="0" indent="0" algn="ctr">
              <a:buNone/>
            </a:pPr>
            <a:r>
              <a:rPr lang="en-US" sz="1800" b="1" dirty="0">
                <a:solidFill>
                  <a:srgbClr val="0B3C5D"/>
                </a:solidFill>
                <a:latin typeface="Meiryo" pitchFamily="34" charset="0"/>
                <a:ea typeface="Meiryo" pitchFamily="34" charset="-122"/>
                <a:cs typeface="Meiryo" pitchFamily="34" charset="-120"/>
              </a:rPr>
              <a:t>global size prior</a:t>
            </a:r>
            <a:endParaRPr lang="en-US" sz="1800" dirty="0"/>
          </a:p>
        </p:txBody>
      </p:sp>
      <p:sp>
        <p:nvSpPr>
          <p:cNvPr id="28" name="Text 26"/>
          <p:cNvSpPr/>
          <p:nvPr/>
        </p:nvSpPr>
        <p:spPr>
          <a:xfrm>
            <a:off x="4160520" y="2514600"/>
            <a:ext cx="539496" cy="231648"/>
          </a:xfrm>
          <a:prstGeom prst="rect">
            <a:avLst/>
          </a:prstGeom>
          <a:noFill/>
          <a:ln/>
        </p:spPr>
        <p:txBody>
          <a:bodyPr wrap="square" lIns="0" tIns="0" rIns="0" bIns="0" rtlCol="0" anchor="ctr">
            <a:normAutofit/>
          </a:bodyPr>
          <a:lstStyle/>
          <a:p>
            <a:pPr marL="0" indent="0">
              <a:buNone/>
            </a:pPr>
            <a:r>
              <a:rPr lang="en-US" sz="1100" dirty="0">
                <a:solidFill>
                  <a:srgbClr val="111111"/>
                </a:solidFill>
                <a:latin typeface="Meiryo" pitchFamily="34" charset="0"/>
                <a:ea typeface="Meiryo" pitchFamily="34" charset="-122"/>
                <a:cs typeface="Meiryo" pitchFamily="34" charset="-120"/>
              </a:rPr>
              <a:t>small</a:t>
            </a:r>
            <a:endParaRPr lang="en-US" sz="1100" dirty="0"/>
          </a:p>
        </p:txBody>
      </p:sp>
      <p:sp>
        <p:nvSpPr>
          <p:cNvPr id="29" name="Shape 27"/>
          <p:cNvSpPr/>
          <p:nvPr/>
        </p:nvSpPr>
        <p:spPr>
          <a:xfrm>
            <a:off x="4754880" y="2542032"/>
            <a:ext cx="320040" cy="176784"/>
          </a:xfrm>
          <a:prstGeom prst="roundRect">
            <a:avLst>
              <a:gd name="adj" fmla="val 15517"/>
            </a:avLst>
          </a:prstGeom>
          <a:solidFill>
            <a:srgbClr val="ECF2F6"/>
          </a:solidFill>
          <a:ln w="12700">
            <a:solidFill>
              <a:srgbClr val="ECF2F6"/>
            </a:solidFill>
            <a:prstDash val="solid"/>
          </a:ln>
        </p:spPr>
      </p:sp>
      <p:sp>
        <p:nvSpPr>
          <p:cNvPr id="30" name="Shape 28"/>
          <p:cNvSpPr/>
          <p:nvPr/>
        </p:nvSpPr>
        <p:spPr>
          <a:xfrm>
            <a:off x="4754880" y="2542032"/>
            <a:ext cx="160020" cy="176784"/>
          </a:xfrm>
          <a:prstGeom prst="roundRect">
            <a:avLst>
              <a:gd name="adj" fmla="val 17143"/>
            </a:avLst>
          </a:prstGeom>
          <a:solidFill>
            <a:srgbClr val="4FC3F7"/>
          </a:solidFill>
          <a:ln w="12700">
            <a:solidFill>
              <a:srgbClr val="4FC3F7"/>
            </a:solidFill>
            <a:prstDash val="solid"/>
          </a:ln>
        </p:spPr>
      </p:sp>
      <p:sp>
        <p:nvSpPr>
          <p:cNvPr id="31" name="Text 29"/>
          <p:cNvSpPr/>
          <p:nvPr/>
        </p:nvSpPr>
        <p:spPr>
          <a:xfrm>
            <a:off x="5166360" y="2514600"/>
            <a:ext cx="548640" cy="231648"/>
          </a:xfrm>
          <a:prstGeom prst="rect">
            <a:avLst/>
          </a:prstGeom>
          <a:noFill/>
          <a:ln/>
        </p:spPr>
        <p:txBody>
          <a:bodyPr wrap="square" lIns="0" tIns="0" rIns="0" bIns="0" rtlCol="0" anchor="ctr"/>
          <a:lstStyle/>
          <a:p>
            <a:pPr marL="0" indent="0" algn="r">
              <a:buNone/>
            </a:pPr>
            <a:r>
              <a:rPr lang="en-US" sz="1100" dirty="0">
                <a:solidFill>
                  <a:srgbClr val="5F6B6D"/>
                </a:solidFill>
                <a:latin typeface="Meiryo" pitchFamily="34" charset="0"/>
                <a:ea typeface="Meiryo" pitchFamily="34" charset="-122"/>
                <a:cs typeface="Meiryo" pitchFamily="34" charset="-120"/>
              </a:rPr>
              <a:t>2</a:t>
            </a:r>
            <a:endParaRPr lang="en-US" sz="1100" dirty="0"/>
          </a:p>
        </p:txBody>
      </p:sp>
      <p:sp>
        <p:nvSpPr>
          <p:cNvPr id="32" name="Text 30"/>
          <p:cNvSpPr/>
          <p:nvPr/>
        </p:nvSpPr>
        <p:spPr>
          <a:xfrm>
            <a:off x="4160520" y="2874264"/>
            <a:ext cx="539496" cy="231648"/>
          </a:xfrm>
          <a:prstGeom prst="rect">
            <a:avLst/>
          </a:prstGeom>
          <a:noFill/>
          <a:ln/>
        </p:spPr>
        <p:txBody>
          <a:bodyPr wrap="square" lIns="0" tIns="0" rIns="0" bIns="0" rtlCol="0" anchor="ctr">
            <a:normAutofit/>
          </a:bodyPr>
          <a:lstStyle/>
          <a:p>
            <a:pPr marL="0" indent="0">
              <a:buNone/>
            </a:pPr>
            <a:r>
              <a:rPr lang="en-US" sz="1100" dirty="0">
                <a:solidFill>
                  <a:srgbClr val="111111"/>
                </a:solidFill>
                <a:latin typeface="Meiryo" pitchFamily="34" charset="0"/>
                <a:ea typeface="Meiryo" pitchFamily="34" charset="-122"/>
                <a:cs typeface="Meiryo" pitchFamily="34" charset="-120"/>
              </a:rPr>
              <a:t>mid</a:t>
            </a:r>
            <a:endParaRPr lang="en-US" sz="1100" dirty="0"/>
          </a:p>
        </p:txBody>
      </p:sp>
      <p:sp>
        <p:nvSpPr>
          <p:cNvPr id="33" name="Shape 31"/>
          <p:cNvSpPr/>
          <p:nvPr/>
        </p:nvSpPr>
        <p:spPr>
          <a:xfrm>
            <a:off x="4754880" y="2901696"/>
            <a:ext cx="320040" cy="176784"/>
          </a:xfrm>
          <a:prstGeom prst="roundRect">
            <a:avLst>
              <a:gd name="adj" fmla="val 15517"/>
            </a:avLst>
          </a:prstGeom>
          <a:solidFill>
            <a:srgbClr val="ECF2F6"/>
          </a:solidFill>
          <a:ln w="12700">
            <a:solidFill>
              <a:srgbClr val="ECF2F6"/>
            </a:solidFill>
            <a:prstDash val="solid"/>
          </a:ln>
        </p:spPr>
      </p:sp>
      <p:sp>
        <p:nvSpPr>
          <p:cNvPr id="34" name="Shape 32"/>
          <p:cNvSpPr/>
          <p:nvPr/>
        </p:nvSpPr>
        <p:spPr>
          <a:xfrm>
            <a:off x="4754880" y="2901696"/>
            <a:ext cx="320040" cy="176784"/>
          </a:xfrm>
          <a:prstGeom prst="roundRect">
            <a:avLst>
              <a:gd name="adj" fmla="val 15517"/>
            </a:avLst>
          </a:prstGeom>
          <a:solidFill>
            <a:srgbClr val="F4A261"/>
          </a:solidFill>
          <a:ln w="12700">
            <a:solidFill>
              <a:srgbClr val="F4A261"/>
            </a:solidFill>
            <a:prstDash val="solid"/>
          </a:ln>
        </p:spPr>
      </p:sp>
      <p:sp>
        <p:nvSpPr>
          <p:cNvPr id="35" name="Text 33"/>
          <p:cNvSpPr/>
          <p:nvPr/>
        </p:nvSpPr>
        <p:spPr>
          <a:xfrm>
            <a:off x="5166360" y="2874264"/>
            <a:ext cx="548640" cy="231648"/>
          </a:xfrm>
          <a:prstGeom prst="rect">
            <a:avLst/>
          </a:prstGeom>
          <a:noFill/>
          <a:ln/>
        </p:spPr>
        <p:txBody>
          <a:bodyPr wrap="square" lIns="0" tIns="0" rIns="0" bIns="0" rtlCol="0" anchor="ctr"/>
          <a:lstStyle/>
          <a:p>
            <a:pPr marL="0" indent="0" algn="r">
              <a:buNone/>
            </a:pPr>
            <a:r>
              <a:rPr lang="en-US" sz="1100" dirty="0">
                <a:solidFill>
                  <a:srgbClr val="5F6B6D"/>
                </a:solidFill>
                <a:latin typeface="Meiryo" pitchFamily="34" charset="0"/>
                <a:ea typeface="Meiryo" pitchFamily="34" charset="-122"/>
                <a:cs typeface="Meiryo" pitchFamily="34" charset="-120"/>
              </a:rPr>
              <a:t>4</a:t>
            </a:r>
            <a:endParaRPr lang="en-US" sz="1100" dirty="0"/>
          </a:p>
        </p:txBody>
      </p:sp>
      <p:sp>
        <p:nvSpPr>
          <p:cNvPr id="36" name="Text 34"/>
          <p:cNvSpPr/>
          <p:nvPr/>
        </p:nvSpPr>
        <p:spPr>
          <a:xfrm>
            <a:off x="4160520" y="3233928"/>
            <a:ext cx="539496" cy="231648"/>
          </a:xfrm>
          <a:prstGeom prst="rect">
            <a:avLst/>
          </a:prstGeom>
          <a:noFill/>
          <a:ln/>
        </p:spPr>
        <p:txBody>
          <a:bodyPr wrap="square" lIns="0" tIns="0" rIns="0" bIns="0" rtlCol="0" anchor="ctr">
            <a:normAutofit/>
          </a:bodyPr>
          <a:lstStyle/>
          <a:p>
            <a:pPr marL="0" indent="0">
              <a:buNone/>
            </a:pPr>
            <a:r>
              <a:rPr lang="en-US" sz="1100" dirty="0">
                <a:solidFill>
                  <a:srgbClr val="111111"/>
                </a:solidFill>
                <a:latin typeface="Meiryo" pitchFamily="34" charset="0"/>
                <a:ea typeface="Meiryo" pitchFamily="34" charset="-122"/>
                <a:cs typeface="Meiryo" pitchFamily="34" charset="-120"/>
              </a:rPr>
              <a:t>large</a:t>
            </a:r>
            <a:endParaRPr lang="en-US" sz="1100" dirty="0"/>
          </a:p>
        </p:txBody>
      </p:sp>
      <p:sp>
        <p:nvSpPr>
          <p:cNvPr id="37" name="Shape 35"/>
          <p:cNvSpPr/>
          <p:nvPr/>
        </p:nvSpPr>
        <p:spPr>
          <a:xfrm>
            <a:off x="4754880" y="3261360"/>
            <a:ext cx="320040" cy="176784"/>
          </a:xfrm>
          <a:prstGeom prst="roundRect">
            <a:avLst>
              <a:gd name="adj" fmla="val 15517"/>
            </a:avLst>
          </a:prstGeom>
          <a:solidFill>
            <a:srgbClr val="ECF2F6"/>
          </a:solidFill>
          <a:ln w="12700">
            <a:solidFill>
              <a:srgbClr val="ECF2F6"/>
            </a:solidFill>
            <a:prstDash val="solid"/>
          </a:ln>
        </p:spPr>
      </p:sp>
      <p:sp>
        <p:nvSpPr>
          <p:cNvPr id="38" name="Shape 36"/>
          <p:cNvSpPr/>
          <p:nvPr/>
        </p:nvSpPr>
        <p:spPr>
          <a:xfrm>
            <a:off x="4754880" y="3261360"/>
            <a:ext cx="80010" cy="176784"/>
          </a:xfrm>
          <a:prstGeom prst="roundRect">
            <a:avLst>
              <a:gd name="adj" fmla="val 34286"/>
            </a:avLst>
          </a:prstGeom>
          <a:solidFill>
            <a:srgbClr val="2A9D8F"/>
          </a:solidFill>
          <a:ln w="12700">
            <a:solidFill>
              <a:srgbClr val="2A9D8F"/>
            </a:solidFill>
            <a:prstDash val="solid"/>
          </a:ln>
        </p:spPr>
      </p:sp>
      <p:sp>
        <p:nvSpPr>
          <p:cNvPr id="39" name="Text 37"/>
          <p:cNvSpPr/>
          <p:nvPr/>
        </p:nvSpPr>
        <p:spPr>
          <a:xfrm>
            <a:off x="5166360" y="3233928"/>
            <a:ext cx="548640" cy="231648"/>
          </a:xfrm>
          <a:prstGeom prst="rect">
            <a:avLst/>
          </a:prstGeom>
          <a:noFill/>
          <a:ln/>
        </p:spPr>
        <p:txBody>
          <a:bodyPr wrap="square" lIns="0" tIns="0" rIns="0" bIns="0" rtlCol="0" anchor="ctr"/>
          <a:lstStyle/>
          <a:p>
            <a:pPr marL="0" indent="0" algn="r">
              <a:buNone/>
            </a:pPr>
            <a:r>
              <a:rPr lang="en-US" sz="1100" dirty="0">
                <a:solidFill>
                  <a:srgbClr val="5F6B6D"/>
                </a:solidFill>
                <a:latin typeface="Meiryo" pitchFamily="34" charset="0"/>
                <a:ea typeface="Meiryo" pitchFamily="34" charset="-122"/>
                <a:cs typeface="Meiryo" pitchFamily="34" charset="-120"/>
              </a:rPr>
              <a:t>1</a:t>
            </a:r>
            <a:endParaRPr lang="en-US" sz="1100" dirty="0"/>
          </a:p>
        </p:txBody>
      </p:sp>
      <p:sp>
        <p:nvSpPr>
          <p:cNvPr id="40" name="Text 38"/>
          <p:cNvSpPr/>
          <p:nvPr/>
        </p:nvSpPr>
        <p:spPr>
          <a:xfrm>
            <a:off x="4014216" y="3822192"/>
            <a:ext cx="1874520" cy="502920"/>
          </a:xfrm>
          <a:prstGeom prst="rect">
            <a:avLst/>
          </a:prstGeom>
          <a:noFill/>
          <a:ln/>
        </p:spPr>
        <p:txBody>
          <a:bodyPr wrap="square" lIns="508" tIns="508" rIns="508" bIns="508" rtlCol="0" anchor="t">
            <a:normAutofit/>
          </a:bodyPr>
          <a:lstStyle/>
          <a:p>
            <a:pPr marL="0" indent="0" algn="ctr">
              <a:buNone/>
            </a:pPr>
            <a:r>
              <a:rPr lang="en-US" sz="1350" dirty="0">
                <a:solidFill>
                  <a:srgbClr val="111111"/>
                </a:solidFill>
                <a:latin typeface="Meiryo" pitchFamily="34" charset="0"/>
                <a:ea typeface="Meiryo" pitchFamily="34" charset="-122"/>
                <a:cs typeface="Meiryo" pitchFamily="34" charset="-120"/>
              </a:rPr>
              <a:t>pattern/sample 単位の粒径事前分布</a:t>
            </a:r>
            <a:endParaRPr lang="en-US" sz="1350" dirty="0"/>
          </a:p>
        </p:txBody>
      </p:sp>
      <p:sp>
        <p:nvSpPr>
          <p:cNvPr id="41" name="Shape 39"/>
          <p:cNvSpPr/>
          <p:nvPr/>
        </p:nvSpPr>
        <p:spPr>
          <a:xfrm>
            <a:off x="6675120" y="1645920"/>
            <a:ext cx="2331720" cy="2971800"/>
          </a:xfrm>
          <a:prstGeom prst="roundRect">
            <a:avLst>
              <a:gd name="adj" fmla="val 2353"/>
            </a:avLst>
          </a:prstGeom>
          <a:solidFill>
            <a:srgbClr val="F9FBFD"/>
          </a:solidFill>
          <a:ln w="12700">
            <a:solidFill>
              <a:srgbClr val="CAD8E0"/>
            </a:solidFill>
            <a:prstDash val="solid"/>
          </a:ln>
        </p:spPr>
      </p:sp>
      <p:sp>
        <p:nvSpPr>
          <p:cNvPr id="42" name="Text 40"/>
          <p:cNvSpPr/>
          <p:nvPr/>
        </p:nvSpPr>
        <p:spPr>
          <a:xfrm>
            <a:off x="6812280" y="1874520"/>
            <a:ext cx="2057400" cy="475488"/>
          </a:xfrm>
          <a:prstGeom prst="rect">
            <a:avLst/>
          </a:prstGeom>
          <a:noFill/>
          <a:ln/>
        </p:spPr>
        <p:txBody>
          <a:bodyPr wrap="square" lIns="0" tIns="0" rIns="0" bIns="0" rtlCol="0" anchor="ctr"/>
          <a:lstStyle/>
          <a:p>
            <a:pPr marL="0" indent="0" algn="ctr">
              <a:buNone/>
            </a:pPr>
            <a:r>
              <a:rPr lang="en-US" sz="1800" b="1" dirty="0">
                <a:solidFill>
                  <a:srgbClr val="0B3C5D"/>
                </a:solidFill>
                <a:latin typeface="Meiryo" pitchFamily="34" charset="0"/>
                <a:ea typeface="Meiryo" pitchFamily="34" charset="-122"/>
                <a:cs typeface="Meiryo" pitchFamily="34" charset="-120"/>
              </a:rPr>
              <a:t>delta</a:t>
            </a:r>
            <a:endParaRPr lang="en-US" sz="1800" dirty="0"/>
          </a:p>
          <a:p>
            <a:pPr marL="0" indent="0" algn="ctr">
              <a:buNone/>
            </a:pPr>
            <a:r>
              <a:rPr lang="en-US" sz="1800" b="1" dirty="0">
                <a:solidFill>
                  <a:srgbClr val="0B3C5D"/>
                </a:solidFill>
                <a:latin typeface="Meiryo" pitchFamily="34" charset="0"/>
                <a:ea typeface="Meiryo" pitchFamily="34" charset="-122"/>
                <a:cs typeface="Meiryo" pitchFamily="34" charset="-120"/>
              </a:rPr>
              <a:t>local residual</a:t>
            </a:r>
            <a:endParaRPr lang="en-US" sz="1800" dirty="0"/>
          </a:p>
        </p:txBody>
      </p:sp>
      <p:sp>
        <p:nvSpPr>
          <p:cNvPr id="43" name="Shape 41"/>
          <p:cNvSpPr/>
          <p:nvPr/>
        </p:nvSpPr>
        <p:spPr>
          <a:xfrm>
            <a:off x="7086600" y="2514600"/>
            <a:ext cx="246888" cy="274320"/>
          </a:xfrm>
          <a:prstGeom prst="rect">
            <a:avLst/>
          </a:prstGeom>
          <a:solidFill>
            <a:srgbClr val="A7E6D8"/>
          </a:solidFill>
          <a:ln w="12700">
            <a:solidFill>
              <a:srgbClr val="FFFFFF"/>
            </a:solidFill>
            <a:prstDash val="solid"/>
          </a:ln>
        </p:spPr>
      </p:sp>
      <p:sp>
        <p:nvSpPr>
          <p:cNvPr id="44" name="Shape 42"/>
          <p:cNvSpPr/>
          <p:nvPr/>
        </p:nvSpPr>
        <p:spPr>
          <a:xfrm>
            <a:off x="7388352" y="2514600"/>
            <a:ext cx="246888" cy="274320"/>
          </a:xfrm>
          <a:prstGeom prst="rect">
            <a:avLst/>
          </a:prstGeom>
          <a:solidFill>
            <a:srgbClr val="ECF2F6"/>
          </a:solidFill>
          <a:ln w="12700">
            <a:solidFill>
              <a:srgbClr val="FFFFFF"/>
            </a:solidFill>
            <a:prstDash val="solid"/>
          </a:ln>
        </p:spPr>
      </p:sp>
      <p:sp>
        <p:nvSpPr>
          <p:cNvPr id="45" name="Shape 43"/>
          <p:cNvSpPr/>
          <p:nvPr/>
        </p:nvSpPr>
        <p:spPr>
          <a:xfrm>
            <a:off x="7690104" y="2514600"/>
            <a:ext cx="246888" cy="274320"/>
          </a:xfrm>
          <a:prstGeom prst="rect">
            <a:avLst/>
          </a:prstGeom>
          <a:solidFill>
            <a:srgbClr val="ECF2F6"/>
          </a:solidFill>
          <a:ln w="12700">
            <a:solidFill>
              <a:srgbClr val="FFFFFF"/>
            </a:solidFill>
            <a:prstDash val="solid"/>
          </a:ln>
        </p:spPr>
      </p:sp>
      <p:sp>
        <p:nvSpPr>
          <p:cNvPr id="46" name="Shape 44"/>
          <p:cNvSpPr/>
          <p:nvPr/>
        </p:nvSpPr>
        <p:spPr>
          <a:xfrm>
            <a:off x="7991856" y="2514600"/>
            <a:ext cx="246888" cy="274320"/>
          </a:xfrm>
          <a:prstGeom prst="rect">
            <a:avLst/>
          </a:prstGeom>
          <a:solidFill>
            <a:srgbClr val="E7F8F3"/>
          </a:solidFill>
          <a:ln w="12700">
            <a:solidFill>
              <a:srgbClr val="FFFFFF"/>
            </a:solidFill>
            <a:prstDash val="solid"/>
          </a:ln>
        </p:spPr>
      </p:sp>
      <p:sp>
        <p:nvSpPr>
          <p:cNvPr id="47" name="Shape 45"/>
          <p:cNvSpPr/>
          <p:nvPr/>
        </p:nvSpPr>
        <p:spPr>
          <a:xfrm>
            <a:off x="7086600" y="2862072"/>
            <a:ext cx="246888" cy="274320"/>
          </a:xfrm>
          <a:prstGeom prst="rect">
            <a:avLst/>
          </a:prstGeom>
          <a:solidFill>
            <a:srgbClr val="ECF2F6"/>
          </a:solidFill>
          <a:ln w="12700">
            <a:solidFill>
              <a:srgbClr val="FFFFFF"/>
            </a:solidFill>
            <a:prstDash val="solid"/>
          </a:ln>
        </p:spPr>
      </p:sp>
      <p:sp>
        <p:nvSpPr>
          <p:cNvPr id="48" name="Shape 46"/>
          <p:cNvSpPr/>
          <p:nvPr/>
        </p:nvSpPr>
        <p:spPr>
          <a:xfrm>
            <a:off x="7388352" y="2862072"/>
            <a:ext cx="246888" cy="274320"/>
          </a:xfrm>
          <a:prstGeom prst="rect">
            <a:avLst/>
          </a:prstGeom>
          <a:solidFill>
            <a:srgbClr val="A7E6D8"/>
          </a:solidFill>
          <a:ln w="12700">
            <a:solidFill>
              <a:srgbClr val="FFFFFF"/>
            </a:solidFill>
            <a:prstDash val="solid"/>
          </a:ln>
        </p:spPr>
      </p:sp>
      <p:sp>
        <p:nvSpPr>
          <p:cNvPr id="49" name="Shape 47"/>
          <p:cNvSpPr/>
          <p:nvPr/>
        </p:nvSpPr>
        <p:spPr>
          <a:xfrm>
            <a:off x="7690104" y="2862072"/>
            <a:ext cx="246888" cy="274320"/>
          </a:xfrm>
          <a:prstGeom prst="rect">
            <a:avLst/>
          </a:prstGeom>
          <a:solidFill>
            <a:srgbClr val="E7F8F3"/>
          </a:solidFill>
          <a:ln w="12700">
            <a:solidFill>
              <a:srgbClr val="FFFFFF"/>
            </a:solidFill>
            <a:prstDash val="solid"/>
          </a:ln>
        </p:spPr>
      </p:sp>
      <p:sp>
        <p:nvSpPr>
          <p:cNvPr id="50" name="Shape 48"/>
          <p:cNvSpPr/>
          <p:nvPr/>
        </p:nvSpPr>
        <p:spPr>
          <a:xfrm>
            <a:off x="7991856" y="2862072"/>
            <a:ext cx="246888" cy="274320"/>
          </a:xfrm>
          <a:prstGeom prst="rect">
            <a:avLst/>
          </a:prstGeom>
          <a:solidFill>
            <a:srgbClr val="ECF2F6"/>
          </a:solidFill>
          <a:ln w="12700">
            <a:solidFill>
              <a:srgbClr val="FFFFFF"/>
            </a:solidFill>
            <a:prstDash val="solid"/>
          </a:ln>
        </p:spPr>
      </p:sp>
      <p:sp>
        <p:nvSpPr>
          <p:cNvPr id="51" name="Shape 49"/>
          <p:cNvSpPr/>
          <p:nvPr/>
        </p:nvSpPr>
        <p:spPr>
          <a:xfrm>
            <a:off x="7086600" y="3209544"/>
            <a:ext cx="246888" cy="274320"/>
          </a:xfrm>
          <a:prstGeom prst="rect">
            <a:avLst/>
          </a:prstGeom>
          <a:solidFill>
            <a:srgbClr val="ECF2F6"/>
          </a:solidFill>
          <a:ln w="12700">
            <a:solidFill>
              <a:srgbClr val="FFFFFF"/>
            </a:solidFill>
            <a:prstDash val="solid"/>
          </a:ln>
        </p:spPr>
      </p:sp>
      <p:sp>
        <p:nvSpPr>
          <p:cNvPr id="52" name="Shape 50"/>
          <p:cNvSpPr/>
          <p:nvPr/>
        </p:nvSpPr>
        <p:spPr>
          <a:xfrm>
            <a:off x="7388352" y="3209544"/>
            <a:ext cx="246888" cy="274320"/>
          </a:xfrm>
          <a:prstGeom prst="rect">
            <a:avLst/>
          </a:prstGeom>
          <a:solidFill>
            <a:srgbClr val="E7F8F3"/>
          </a:solidFill>
          <a:ln w="12700">
            <a:solidFill>
              <a:srgbClr val="FFFFFF"/>
            </a:solidFill>
            <a:prstDash val="solid"/>
          </a:ln>
        </p:spPr>
      </p:sp>
      <p:sp>
        <p:nvSpPr>
          <p:cNvPr id="53" name="Shape 51"/>
          <p:cNvSpPr/>
          <p:nvPr/>
        </p:nvSpPr>
        <p:spPr>
          <a:xfrm>
            <a:off x="7690104" y="3209544"/>
            <a:ext cx="246888" cy="274320"/>
          </a:xfrm>
          <a:prstGeom prst="rect">
            <a:avLst/>
          </a:prstGeom>
          <a:solidFill>
            <a:srgbClr val="A7E6D8"/>
          </a:solidFill>
          <a:ln w="12700">
            <a:solidFill>
              <a:srgbClr val="FFFFFF"/>
            </a:solidFill>
            <a:prstDash val="solid"/>
          </a:ln>
        </p:spPr>
      </p:sp>
      <p:sp>
        <p:nvSpPr>
          <p:cNvPr id="54" name="Shape 52"/>
          <p:cNvSpPr/>
          <p:nvPr/>
        </p:nvSpPr>
        <p:spPr>
          <a:xfrm>
            <a:off x="7991856" y="3209544"/>
            <a:ext cx="246888" cy="274320"/>
          </a:xfrm>
          <a:prstGeom prst="rect">
            <a:avLst/>
          </a:prstGeom>
          <a:solidFill>
            <a:srgbClr val="ECF2F6"/>
          </a:solidFill>
          <a:ln w="12700">
            <a:solidFill>
              <a:srgbClr val="FFFFFF"/>
            </a:solidFill>
            <a:prstDash val="solid"/>
          </a:ln>
        </p:spPr>
      </p:sp>
      <p:sp>
        <p:nvSpPr>
          <p:cNvPr id="55" name="Text 53"/>
          <p:cNvSpPr/>
          <p:nvPr/>
        </p:nvSpPr>
        <p:spPr>
          <a:xfrm>
            <a:off x="6894576" y="3822192"/>
            <a:ext cx="1874520" cy="502920"/>
          </a:xfrm>
          <a:prstGeom prst="rect">
            <a:avLst/>
          </a:prstGeom>
          <a:noFill/>
          <a:ln/>
        </p:spPr>
        <p:txBody>
          <a:bodyPr wrap="square" lIns="508" tIns="508" rIns="508" bIns="508" rtlCol="0" anchor="t">
            <a:normAutofit/>
          </a:bodyPr>
          <a:lstStyle/>
          <a:p>
            <a:pPr marL="0" indent="0" algn="ctr">
              <a:buNone/>
            </a:pPr>
            <a:r>
              <a:rPr lang="en-US" sz="1350" dirty="0">
                <a:solidFill>
                  <a:srgbClr val="111111"/>
                </a:solidFill>
                <a:latin typeface="Meiryo" pitchFamily="34" charset="0"/>
                <a:ea typeface="Meiryo" pitchFamily="34" charset="-122"/>
                <a:cs typeface="Meiryo" pitchFamily="34" charset="-120"/>
              </a:rPr>
              <a:t>局所セルでのサイズシフト・補正</a:t>
            </a:r>
            <a:endParaRPr lang="en-US" sz="1350" dirty="0"/>
          </a:p>
        </p:txBody>
      </p:sp>
      <p:sp>
        <p:nvSpPr>
          <p:cNvPr id="56" name="Shape 54"/>
          <p:cNvSpPr/>
          <p:nvPr/>
        </p:nvSpPr>
        <p:spPr>
          <a:xfrm>
            <a:off x="3401568" y="2834640"/>
            <a:ext cx="256032" cy="237744"/>
          </a:xfrm>
          <a:prstGeom prst="chevron">
            <a:avLst/>
          </a:prstGeom>
          <a:solidFill>
            <a:srgbClr val="D7E3EA"/>
          </a:solidFill>
          <a:ln w="12700">
            <a:solidFill>
              <a:srgbClr val="D7E3EA"/>
            </a:solidFill>
            <a:prstDash val="solid"/>
          </a:ln>
        </p:spPr>
      </p:sp>
      <p:sp>
        <p:nvSpPr>
          <p:cNvPr id="57" name="Shape 55"/>
          <p:cNvSpPr/>
          <p:nvPr/>
        </p:nvSpPr>
        <p:spPr>
          <a:xfrm>
            <a:off x="6281928" y="2834640"/>
            <a:ext cx="256032" cy="237744"/>
          </a:xfrm>
          <a:prstGeom prst="chevron">
            <a:avLst/>
          </a:prstGeom>
          <a:solidFill>
            <a:srgbClr val="D7E3EA"/>
          </a:solidFill>
          <a:ln w="12700">
            <a:solidFill>
              <a:srgbClr val="D7E3EA"/>
            </a:solidFill>
            <a:prstDash val="solid"/>
          </a:ln>
        </p:spPr>
      </p:sp>
      <p:sp>
        <p:nvSpPr>
          <p:cNvPr id="58" name="Shape 56"/>
          <p:cNvSpPr/>
          <p:nvPr/>
        </p:nvSpPr>
        <p:spPr>
          <a:xfrm>
            <a:off x="9281160" y="1645920"/>
            <a:ext cx="1783080" cy="2971800"/>
          </a:xfrm>
          <a:prstGeom prst="roundRect">
            <a:avLst>
              <a:gd name="adj" fmla="val 3077"/>
            </a:avLst>
          </a:prstGeom>
          <a:solidFill>
            <a:srgbClr val="F7FAFC"/>
          </a:solidFill>
          <a:ln w="12700">
            <a:solidFill>
              <a:srgbClr val="CAD8E0"/>
            </a:solidFill>
            <a:prstDash val="solid"/>
          </a:ln>
        </p:spPr>
      </p:sp>
      <p:sp>
        <p:nvSpPr>
          <p:cNvPr id="59" name="Text 57"/>
          <p:cNvSpPr/>
          <p:nvPr/>
        </p:nvSpPr>
        <p:spPr>
          <a:xfrm>
            <a:off x="9409176" y="1719072"/>
            <a:ext cx="15270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利点</a:t>
            </a:r>
            <a:endParaRPr lang="en-US" sz="1400" dirty="0"/>
          </a:p>
        </p:txBody>
      </p:sp>
      <p:sp>
        <p:nvSpPr>
          <p:cNvPr id="60" name="Text 58"/>
          <p:cNvSpPr/>
          <p:nvPr/>
        </p:nvSpPr>
        <p:spPr>
          <a:xfrm>
            <a:off x="9400032" y="2084832"/>
            <a:ext cx="1417320" cy="1645920"/>
          </a:xfrm>
          <a:prstGeom prst="rect">
            <a:avLst/>
          </a:prstGeom>
          <a:noFill/>
          <a:ln/>
        </p:spPr>
        <p:txBody>
          <a:bodyPr wrap="square" lIns="508" tIns="508" rIns="508" bIns="508" rtlCol="0" anchor="t">
            <a:normAutofit/>
          </a:bodyPr>
          <a:lstStyle/>
          <a:p>
            <a:pPr marL="0" indent="0" algn="l">
              <a:buNone/>
            </a:pPr>
            <a:r>
              <a:rPr lang="en-US" sz="1400" dirty="0">
                <a:solidFill>
                  <a:srgbClr val="111111"/>
                </a:solidFill>
                <a:latin typeface="Meiryo" pitchFamily="34" charset="0"/>
                <a:ea typeface="Meiryo" pitchFamily="34" charset="-122"/>
                <a:cs typeface="Meiryo" pitchFamily="34" charset="-120"/>
              </a:rPr>
              <a:t>• 低粒子数でも size prior が支えになる</a:t>
            </a:r>
            <a:endParaRPr lang="en-US" sz="1400" dirty="0"/>
          </a:p>
          <a:p>
            <a:pPr marL="0" indent="0" algn="l">
              <a:buNone/>
            </a:pPr>
            <a:r>
              <a:rPr lang="en-US" sz="1400" dirty="0">
                <a:solidFill>
                  <a:srgbClr val="111111"/>
                </a:solidFill>
                <a:latin typeface="Meiryo" pitchFamily="34" charset="0"/>
                <a:ea typeface="Meiryo" pitchFamily="34" charset="-122"/>
                <a:cs typeface="Meiryo" pitchFamily="34" charset="-120"/>
              </a:rPr>
              <a:t>• 空間とサイズの意味を混ぜにくい</a:t>
            </a:r>
            <a:endParaRPr lang="en-US" sz="1400" dirty="0"/>
          </a:p>
          <a:p>
            <a:pPr marL="0" indent="0" algn="l">
              <a:buNone/>
            </a:pPr>
            <a:r>
              <a:rPr lang="en-US" sz="1400" dirty="0">
                <a:solidFill>
                  <a:srgbClr val="111111"/>
                </a:solidFill>
                <a:latin typeface="Meiryo" pitchFamily="34" charset="0"/>
                <a:ea typeface="Meiryo" pitchFamily="34" charset="-122"/>
                <a:cs typeface="Meiryo" pitchFamily="34" charset="-120"/>
              </a:rPr>
              <a:t>• 同じ位置でもサイズ差を表現可能</a:t>
            </a:r>
            <a:endParaRPr lang="en-US" sz="1400" dirty="0"/>
          </a:p>
        </p:txBody>
      </p:sp>
      <p:sp>
        <p:nvSpPr>
          <p:cNvPr id="61" name="Shape 59"/>
          <p:cNvSpPr/>
          <p:nvPr/>
        </p:nvSpPr>
        <p:spPr>
          <a:xfrm>
            <a:off x="914400" y="4892040"/>
            <a:ext cx="10195560" cy="777240"/>
          </a:xfrm>
          <a:prstGeom prst="roundRect">
            <a:avLst>
              <a:gd name="adj" fmla="val 7059"/>
            </a:avLst>
          </a:prstGeom>
          <a:solidFill>
            <a:srgbClr val="EEF6FB"/>
          </a:solidFill>
          <a:ln w="12700">
            <a:solidFill>
              <a:srgbClr val="CAD8E0"/>
            </a:solidFill>
            <a:prstDash val="solid"/>
          </a:ln>
        </p:spPr>
      </p:sp>
      <p:sp>
        <p:nvSpPr>
          <p:cNvPr id="62" name="Text 60"/>
          <p:cNvSpPr/>
          <p:nvPr/>
        </p:nvSpPr>
        <p:spPr>
          <a:xfrm>
            <a:off x="1097280" y="5102352"/>
            <a:ext cx="9829800" cy="201168"/>
          </a:xfrm>
          <a:prstGeom prst="rect">
            <a:avLst/>
          </a:prstGeom>
          <a:noFill/>
          <a:ln/>
        </p:spPr>
        <p:txBody>
          <a:bodyPr wrap="square" lIns="508" tIns="508" rIns="508" bIns="508" rtlCol="0" anchor="t">
            <a:normAutofit/>
          </a:bodyPr>
          <a:lstStyle/>
          <a:p>
            <a:pPr marL="0" indent="0" algn="ctr">
              <a:buNone/>
            </a:pPr>
            <a:r>
              <a:rPr lang="en-US" sz="1450" dirty="0">
                <a:solidFill>
                  <a:srgbClr val="111111"/>
                </a:solidFill>
                <a:latin typeface="Meiryo" pitchFamily="34" charset="0"/>
                <a:ea typeface="Meiryo" pitchFamily="34" charset="-122"/>
                <a:cs typeface="Meiryo" pitchFamily="34" charset="-120"/>
              </a:rPr>
              <a:t>この因子分解が、単純2D count や等方3D voxel との差別化ポイントであり、低粒子数条件でも「size-aware 原因切り分け」を成立させる。</a:t>
            </a:r>
            <a:endParaRPr lang="en-US" sz="1450" dirty="0"/>
          </a:p>
        </p:txBody>
      </p:sp>
      <p:sp>
        <p:nvSpPr>
          <p:cNvPr id="63" name="Text 61"/>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17</a:t>
            </a:r>
            <a:endParaRPr lang="en-US" sz="1000" dirty="0"/>
          </a:p>
        </p:txBody>
      </p:sp>
      <p:sp>
        <p:nvSpPr>
          <p:cNvPr id="64" name="Text 62"/>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提案手法⑤ 不確かさ推定と製造アクション分岐</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Uncertainty Gating</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10972800" cy="4983480"/>
          </a:xfrm>
          <a:prstGeom prst="roundRect">
            <a:avLst>
              <a:gd name="adj" fmla="val 110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124712"/>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信頼度を介した安全な運用</a:t>
            </a:r>
            <a:endParaRPr lang="en-US" sz="1400" dirty="0"/>
          </a:p>
        </p:txBody>
      </p:sp>
      <p:sp>
        <p:nvSpPr>
          <p:cNvPr id="7" name="Shape 5"/>
          <p:cNvSpPr/>
          <p:nvPr/>
        </p:nvSpPr>
        <p:spPr>
          <a:xfrm>
            <a:off x="2011680" y="2606040"/>
            <a:ext cx="1005840" cy="0"/>
          </a:xfrm>
          <a:prstGeom prst="line">
            <a:avLst/>
          </a:prstGeom>
          <a:noFill/>
          <a:ln w="12700">
            <a:solidFill>
              <a:srgbClr val="D7E3EA"/>
            </a:solidFill>
            <a:prstDash val="solid"/>
            <a:tailEnd type="triangle"/>
          </a:ln>
        </p:spPr>
      </p:sp>
      <p:sp>
        <p:nvSpPr>
          <p:cNvPr id="8" name="Shape 6"/>
          <p:cNvSpPr/>
          <p:nvPr/>
        </p:nvSpPr>
        <p:spPr>
          <a:xfrm>
            <a:off x="4572000" y="2606040"/>
            <a:ext cx="1005840" cy="0"/>
          </a:xfrm>
          <a:prstGeom prst="line">
            <a:avLst/>
          </a:prstGeom>
          <a:noFill/>
          <a:ln w="12700">
            <a:solidFill>
              <a:srgbClr val="D7E3EA"/>
            </a:solidFill>
            <a:prstDash val="solid"/>
            <a:tailEnd type="triangle"/>
          </a:ln>
        </p:spPr>
      </p:sp>
      <p:sp>
        <p:nvSpPr>
          <p:cNvPr id="9" name="Shape 7"/>
          <p:cNvSpPr/>
          <p:nvPr/>
        </p:nvSpPr>
        <p:spPr>
          <a:xfrm>
            <a:off x="7132320" y="2606040"/>
            <a:ext cx="1005840" cy="0"/>
          </a:xfrm>
          <a:prstGeom prst="line">
            <a:avLst/>
          </a:prstGeom>
          <a:noFill/>
          <a:ln w="12700">
            <a:solidFill>
              <a:srgbClr val="D7E3EA"/>
            </a:solidFill>
            <a:prstDash val="solid"/>
            <a:tailEnd type="triangle"/>
          </a:ln>
        </p:spPr>
      </p:sp>
      <p:sp>
        <p:nvSpPr>
          <p:cNvPr id="10" name="Shape 8"/>
          <p:cNvSpPr/>
          <p:nvPr/>
        </p:nvSpPr>
        <p:spPr>
          <a:xfrm>
            <a:off x="914400" y="1920240"/>
            <a:ext cx="1097280" cy="1371600"/>
          </a:xfrm>
          <a:prstGeom prst="roundRect">
            <a:avLst>
              <a:gd name="adj" fmla="val 5000"/>
            </a:avLst>
          </a:prstGeom>
          <a:solidFill>
            <a:srgbClr val="F9FBFD"/>
          </a:solidFill>
          <a:ln w="12700">
            <a:solidFill>
              <a:srgbClr val="CAD8E0"/>
            </a:solidFill>
            <a:prstDash val="solid"/>
          </a:ln>
        </p:spPr>
      </p:sp>
      <p:sp>
        <p:nvSpPr>
          <p:cNvPr id="11" name="Text 9"/>
          <p:cNvSpPr/>
          <p:nvPr/>
        </p:nvSpPr>
        <p:spPr>
          <a:xfrm>
            <a:off x="1042416" y="1993392"/>
            <a:ext cx="8412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HSSF</a:t>
            </a:r>
            <a:endParaRPr lang="en-US" sz="1400" dirty="0"/>
          </a:p>
        </p:txBody>
      </p:sp>
      <p:sp>
        <p:nvSpPr>
          <p:cNvPr id="12" name="Text 10"/>
          <p:cNvSpPr/>
          <p:nvPr/>
        </p:nvSpPr>
        <p:spPr>
          <a:xfrm>
            <a:off x="1024128" y="2331720"/>
            <a:ext cx="868680" cy="384048"/>
          </a:xfrm>
          <a:prstGeom prst="rect">
            <a:avLst/>
          </a:prstGeom>
          <a:noFill/>
          <a:ln/>
        </p:spPr>
        <p:txBody>
          <a:bodyPr wrap="square" lIns="508" tIns="508" rIns="508" bIns="508" rtlCol="0" anchor="t">
            <a:normAutofit/>
          </a:bodyPr>
          <a:lstStyle/>
          <a:p>
            <a:pPr marL="0" indent="0" algn="ctr">
              <a:buNone/>
            </a:pPr>
            <a:r>
              <a:rPr lang="en-US" sz="1300" dirty="0">
                <a:solidFill>
                  <a:srgbClr val="111111"/>
                </a:solidFill>
                <a:latin typeface="Meiryo" pitchFamily="34" charset="0"/>
                <a:ea typeface="Meiryo" pitchFamily="34" charset="-122"/>
                <a:cs typeface="Meiryo" pitchFamily="34" charset="-120"/>
              </a:rPr>
              <a:t>presence</a:t>
            </a:r>
            <a:endParaRPr lang="en-US" sz="1300" dirty="0"/>
          </a:p>
          <a:p>
            <a:pPr marL="0" indent="0" algn="ctr">
              <a:buNone/>
            </a:pPr>
            <a:r>
              <a:rPr lang="en-US" sz="1300" dirty="0">
                <a:solidFill>
                  <a:srgbClr val="111111"/>
                </a:solidFill>
                <a:latin typeface="Meiryo" pitchFamily="34" charset="0"/>
                <a:ea typeface="Meiryo" pitchFamily="34" charset="-122"/>
                <a:cs typeface="Meiryo" pitchFamily="34" charset="-120"/>
              </a:rPr>
              <a:t>mu_xy / mu_rt</a:t>
            </a:r>
            <a:endParaRPr lang="en-US" sz="1300" dirty="0"/>
          </a:p>
        </p:txBody>
      </p:sp>
      <p:sp>
        <p:nvSpPr>
          <p:cNvPr id="13" name="Shape 11"/>
          <p:cNvSpPr/>
          <p:nvPr/>
        </p:nvSpPr>
        <p:spPr>
          <a:xfrm>
            <a:off x="3017520" y="1828800"/>
            <a:ext cx="1554480" cy="1554480"/>
          </a:xfrm>
          <a:prstGeom prst="roundRect">
            <a:avLst>
              <a:gd name="adj" fmla="val 3529"/>
            </a:avLst>
          </a:prstGeom>
          <a:solidFill>
            <a:srgbClr val="F9FBFD"/>
          </a:solidFill>
          <a:ln w="12700">
            <a:solidFill>
              <a:srgbClr val="CAD8E0"/>
            </a:solidFill>
            <a:prstDash val="solid"/>
          </a:ln>
        </p:spPr>
      </p:sp>
      <p:sp>
        <p:nvSpPr>
          <p:cNvPr id="14" name="Text 12"/>
          <p:cNvSpPr/>
          <p:nvPr/>
        </p:nvSpPr>
        <p:spPr>
          <a:xfrm>
            <a:off x="3145536" y="1901952"/>
            <a:ext cx="12984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uncertainty</a:t>
            </a:r>
            <a:endParaRPr lang="en-US" sz="1400" dirty="0"/>
          </a:p>
          <a:p>
            <a:pPr marL="0" indent="0">
              <a:buNone/>
            </a:pPr>
            <a:r>
              <a:rPr lang="en-US" sz="1400" b="1" dirty="0">
                <a:solidFill>
                  <a:srgbClr val="0B3C5D"/>
                </a:solidFill>
                <a:latin typeface="Meiryo" pitchFamily="34" charset="0"/>
                <a:ea typeface="Meiryo" pitchFamily="34" charset="-122"/>
                <a:cs typeface="Meiryo" pitchFamily="34" charset="-120"/>
              </a:rPr>
              <a:t>score</a:t>
            </a:r>
            <a:endParaRPr lang="en-US" sz="1400" dirty="0"/>
          </a:p>
        </p:txBody>
      </p:sp>
      <p:sp>
        <p:nvSpPr>
          <p:cNvPr id="15" name="Text 13"/>
          <p:cNvSpPr/>
          <p:nvPr/>
        </p:nvSpPr>
        <p:spPr>
          <a:xfrm>
            <a:off x="3246120" y="2331720"/>
            <a:ext cx="1097280" cy="685800"/>
          </a:xfrm>
          <a:prstGeom prst="rect">
            <a:avLst/>
          </a:prstGeom>
          <a:noFill/>
          <a:ln/>
        </p:spPr>
        <p:txBody>
          <a:bodyPr wrap="square" lIns="508" tIns="508" rIns="508" bIns="508" rtlCol="0" anchor="t">
            <a:normAutofit/>
          </a:bodyPr>
          <a:lstStyle/>
          <a:p>
            <a:pPr marL="0" indent="0" algn="l">
              <a:buNone/>
            </a:pPr>
            <a:r>
              <a:rPr lang="en-US" sz="1250" dirty="0">
                <a:solidFill>
                  <a:srgbClr val="111111"/>
                </a:solidFill>
                <a:latin typeface="Meiryo" pitchFamily="34" charset="0"/>
                <a:ea typeface="Meiryo" pitchFamily="34" charset="-122"/>
                <a:cs typeface="Meiryo" pitchFamily="34" charset="-120"/>
              </a:rPr>
              <a:t>• entropy</a:t>
            </a:r>
            <a:endParaRPr lang="en-US" sz="1250" dirty="0"/>
          </a:p>
          <a:p>
            <a:pPr marL="0" indent="0" algn="l">
              <a:buNone/>
            </a:pPr>
            <a:r>
              <a:rPr lang="en-US" sz="1250" dirty="0">
                <a:solidFill>
                  <a:srgbClr val="111111"/>
                </a:solidFill>
                <a:latin typeface="Meiryo" pitchFamily="34" charset="0"/>
                <a:ea typeface="Meiryo" pitchFamily="34" charset="-122"/>
                <a:cs typeface="Meiryo" pitchFamily="34" charset="-120"/>
              </a:rPr>
              <a:t>• ensemble var</a:t>
            </a:r>
            <a:endParaRPr lang="en-US" sz="1250" dirty="0"/>
          </a:p>
          <a:p>
            <a:pPr marL="0" indent="0" algn="l">
              <a:buNone/>
            </a:pPr>
            <a:r>
              <a:rPr lang="en-US" sz="1250" dirty="0">
                <a:solidFill>
                  <a:srgbClr val="111111"/>
                </a:solidFill>
                <a:latin typeface="Meiryo" pitchFamily="34" charset="0"/>
                <a:ea typeface="Meiryo" pitchFamily="34" charset="-122"/>
                <a:cs typeface="Meiryo" pitchFamily="34" charset="-120"/>
              </a:rPr>
              <a:t>• xy/rt gap</a:t>
            </a:r>
            <a:endParaRPr lang="en-US" sz="1250" dirty="0"/>
          </a:p>
          <a:p>
            <a:pPr marL="0" indent="0" algn="l">
              <a:buNone/>
            </a:pPr>
            <a:r>
              <a:rPr lang="en-US" sz="1250" dirty="0">
                <a:solidFill>
                  <a:srgbClr val="111111"/>
                </a:solidFill>
                <a:latin typeface="Meiryo" pitchFamily="34" charset="0"/>
                <a:ea typeface="Meiryo" pitchFamily="34" charset="-122"/>
                <a:cs typeface="Meiryo" pitchFamily="34" charset="-120"/>
              </a:rPr>
              <a:t>• resp entropy</a:t>
            </a:r>
            <a:endParaRPr lang="en-US" sz="1250" dirty="0"/>
          </a:p>
        </p:txBody>
      </p:sp>
      <p:sp>
        <p:nvSpPr>
          <p:cNvPr id="16" name="Shape 14"/>
          <p:cNvSpPr/>
          <p:nvPr/>
        </p:nvSpPr>
        <p:spPr>
          <a:xfrm>
            <a:off x="5577840" y="1691640"/>
            <a:ext cx="1554480" cy="1828800"/>
          </a:xfrm>
          <a:prstGeom prst="roundRect">
            <a:avLst>
              <a:gd name="adj" fmla="val 3529"/>
            </a:avLst>
          </a:prstGeom>
          <a:solidFill>
            <a:srgbClr val="FFFFFF"/>
          </a:solidFill>
          <a:ln w="12700">
            <a:solidFill>
              <a:srgbClr val="CAD8E0"/>
            </a:solidFill>
            <a:prstDash val="solid"/>
          </a:ln>
        </p:spPr>
      </p:sp>
      <p:sp>
        <p:nvSpPr>
          <p:cNvPr id="17" name="Text 15"/>
          <p:cNvSpPr/>
          <p:nvPr/>
        </p:nvSpPr>
        <p:spPr>
          <a:xfrm>
            <a:off x="5705856" y="1764792"/>
            <a:ext cx="12984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判定</a:t>
            </a:r>
            <a:endParaRPr lang="en-US" sz="1400" dirty="0"/>
          </a:p>
        </p:txBody>
      </p:sp>
      <p:sp>
        <p:nvSpPr>
          <p:cNvPr id="18" name="Text 16"/>
          <p:cNvSpPr/>
          <p:nvPr/>
        </p:nvSpPr>
        <p:spPr>
          <a:xfrm>
            <a:off x="5989320" y="2148840"/>
            <a:ext cx="731520" cy="164592"/>
          </a:xfrm>
          <a:prstGeom prst="rect">
            <a:avLst/>
          </a:prstGeom>
          <a:noFill/>
          <a:ln/>
        </p:spPr>
        <p:txBody>
          <a:bodyPr wrap="square" lIns="0" tIns="0" rIns="0" bIns="0" rtlCol="0" anchor="ctr"/>
          <a:lstStyle/>
          <a:p>
            <a:pPr marL="0" indent="0" algn="ctr">
              <a:buNone/>
            </a:pPr>
            <a:r>
              <a:rPr lang="en-US" sz="1400" b="1" dirty="0">
                <a:solidFill>
                  <a:srgbClr val="2A9D8F"/>
                </a:solidFill>
                <a:latin typeface="Meiryo" pitchFamily="34" charset="0"/>
                <a:ea typeface="Meiryo" pitchFamily="34" charset="-122"/>
                <a:cs typeface="Meiryo" pitchFamily="34" charset="-120"/>
              </a:rPr>
              <a:t>U &lt; U1</a:t>
            </a:r>
            <a:endParaRPr lang="en-US" sz="1400" dirty="0"/>
          </a:p>
        </p:txBody>
      </p:sp>
      <p:sp>
        <p:nvSpPr>
          <p:cNvPr id="19" name="Text 17"/>
          <p:cNvSpPr/>
          <p:nvPr/>
        </p:nvSpPr>
        <p:spPr>
          <a:xfrm>
            <a:off x="5897880" y="2788920"/>
            <a:ext cx="914400" cy="164592"/>
          </a:xfrm>
          <a:prstGeom prst="rect">
            <a:avLst/>
          </a:prstGeom>
          <a:noFill/>
          <a:ln/>
        </p:spPr>
        <p:txBody>
          <a:bodyPr wrap="square" lIns="0" tIns="0" rIns="0" bIns="0" rtlCol="0" anchor="ctr"/>
          <a:lstStyle/>
          <a:p>
            <a:pPr marL="0" indent="0" algn="ctr">
              <a:buNone/>
            </a:pPr>
            <a:r>
              <a:rPr lang="en-US" sz="1400" b="1" dirty="0">
                <a:solidFill>
                  <a:srgbClr val="E76F51"/>
                </a:solidFill>
                <a:latin typeface="Meiryo" pitchFamily="34" charset="0"/>
                <a:ea typeface="Meiryo" pitchFamily="34" charset="-122"/>
                <a:cs typeface="Meiryo" pitchFamily="34" charset="-120"/>
              </a:rPr>
              <a:t>U &gt;= U1</a:t>
            </a:r>
            <a:endParaRPr lang="en-US" sz="1400" dirty="0"/>
          </a:p>
        </p:txBody>
      </p:sp>
      <p:sp>
        <p:nvSpPr>
          <p:cNvPr id="20" name="Shape 18"/>
          <p:cNvSpPr/>
          <p:nvPr/>
        </p:nvSpPr>
        <p:spPr>
          <a:xfrm>
            <a:off x="8183880" y="1508760"/>
            <a:ext cx="2743200" cy="2194560"/>
          </a:xfrm>
          <a:prstGeom prst="roundRect">
            <a:avLst>
              <a:gd name="adj" fmla="val 2500"/>
            </a:avLst>
          </a:prstGeom>
          <a:solidFill>
            <a:srgbClr val="FFFFFF"/>
          </a:solidFill>
          <a:ln w="12700">
            <a:solidFill>
              <a:srgbClr val="CAD8E0"/>
            </a:solidFill>
            <a:prstDash val="solid"/>
          </a:ln>
        </p:spPr>
      </p:sp>
      <p:sp>
        <p:nvSpPr>
          <p:cNvPr id="21" name="Text 19"/>
          <p:cNvSpPr/>
          <p:nvPr/>
        </p:nvSpPr>
        <p:spPr>
          <a:xfrm>
            <a:off x="8311896" y="1581912"/>
            <a:ext cx="24871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アクション例</a:t>
            </a:r>
            <a:endParaRPr lang="en-US" sz="1400" dirty="0"/>
          </a:p>
        </p:txBody>
      </p:sp>
      <p:sp>
        <p:nvSpPr>
          <p:cNvPr id="22" name="Text 20"/>
          <p:cNvSpPr/>
          <p:nvPr/>
        </p:nvSpPr>
        <p:spPr>
          <a:xfrm>
            <a:off x="8394192" y="1920240"/>
            <a:ext cx="2331720" cy="1325880"/>
          </a:xfrm>
          <a:prstGeom prst="rect">
            <a:avLst/>
          </a:prstGeom>
          <a:noFill/>
          <a:ln/>
        </p:spPr>
        <p:txBody>
          <a:bodyPr wrap="square" lIns="508" tIns="508" rIns="508" bIns="508" rtlCol="0" anchor="t">
            <a:normAutofit/>
          </a:bodyPr>
          <a:lstStyle/>
          <a:p>
            <a:pPr marL="0" indent="0" algn="l">
              <a:buNone/>
            </a:pPr>
            <a:r>
              <a:rPr lang="en-US" sz="1400" dirty="0">
                <a:solidFill>
                  <a:srgbClr val="111111"/>
                </a:solidFill>
                <a:latin typeface="Meiryo" pitchFamily="34" charset="0"/>
                <a:ea typeface="Meiryo" pitchFamily="34" charset="-122"/>
                <a:cs typeface="Meiryo" pitchFamily="34" charset="-120"/>
              </a:rPr>
              <a:t>• 高信頼: 装置A点検候補 / 工程Bレビュー候補</a:t>
            </a:r>
            <a:endParaRPr lang="en-US" sz="1400" dirty="0"/>
          </a:p>
          <a:p>
            <a:pPr marL="0" indent="0" algn="l">
              <a:buNone/>
            </a:pPr>
            <a:r>
              <a:rPr lang="en-US" sz="1400" dirty="0">
                <a:solidFill>
                  <a:srgbClr val="111111"/>
                </a:solidFill>
                <a:latin typeface="Meiryo" pitchFamily="34" charset="0"/>
                <a:ea typeface="Meiryo" pitchFamily="34" charset="-122"/>
                <a:cs typeface="Meiryo" pitchFamily="34" charset="-120"/>
              </a:rPr>
              <a:t>• 中信頼: 追加計測要求</a:t>
            </a:r>
            <a:endParaRPr lang="en-US" sz="1400" dirty="0"/>
          </a:p>
          <a:p>
            <a:pPr marL="0" indent="0" algn="l">
              <a:buNone/>
            </a:pPr>
            <a:r>
              <a:rPr lang="en-US" sz="1400" dirty="0">
                <a:solidFill>
                  <a:srgbClr val="111111"/>
                </a:solidFill>
                <a:latin typeface="Meiryo" pitchFamily="34" charset="0"/>
                <a:ea typeface="Meiryo" pitchFamily="34" charset="-122"/>
                <a:cs typeface="Meiryo" pitchFamily="34" charset="-120"/>
              </a:rPr>
              <a:t>• 低信頼: 人手レビュー + 再学習キュー</a:t>
            </a:r>
            <a:endParaRPr lang="en-US" sz="1400" dirty="0"/>
          </a:p>
        </p:txBody>
      </p:sp>
      <p:sp>
        <p:nvSpPr>
          <p:cNvPr id="23" name="Shape 21"/>
          <p:cNvSpPr/>
          <p:nvPr/>
        </p:nvSpPr>
        <p:spPr>
          <a:xfrm>
            <a:off x="914400" y="4069080"/>
            <a:ext cx="10012680" cy="1371600"/>
          </a:xfrm>
          <a:prstGeom prst="roundRect">
            <a:avLst>
              <a:gd name="adj" fmla="val 4000"/>
            </a:avLst>
          </a:prstGeom>
          <a:solidFill>
            <a:srgbClr val="F7FAFC"/>
          </a:solidFill>
          <a:ln w="12700">
            <a:solidFill>
              <a:srgbClr val="CAD8E0"/>
            </a:solidFill>
            <a:prstDash val="solid"/>
          </a:ln>
        </p:spPr>
      </p:sp>
      <p:sp>
        <p:nvSpPr>
          <p:cNvPr id="24" name="Text 22"/>
          <p:cNvSpPr/>
          <p:nvPr/>
        </p:nvSpPr>
        <p:spPr>
          <a:xfrm>
            <a:off x="1042416" y="4142232"/>
            <a:ext cx="97566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特許で押さえたい点</a:t>
            </a:r>
            <a:endParaRPr lang="en-US" sz="1400" dirty="0"/>
          </a:p>
        </p:txBody>
      </p:sp>
      <p:sp>
        <p:nvSpPr>
          <p:cNvPr id="25" name="Text 23"/>
          <p:cNvSpPr/>
          <p:nvPr/>
        </p:nvSpPr>
        <p:spPr>
          <a:xfrm>
            <a:off x="1097280" y="4407408"/>
            <a:ext cx="9555480" cy="86868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AI分類結果それ自体ではなく、不確かさを条件にして製造オペレーションを分岐させる。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誤アクション抑制と工数最適化の両方に効く。</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レビュー結果や追加計測結果を履歴化し、再学習や設計改善へ循環させる。</a:t>
            </a:r>
            <a:endParaRPr lang="en-US" sz="1450" dirty="0"/>
          </a:p>
        </p:txBody>
      </p:sp>
      <p:sp>
        <p:nvSpPr>
          <p:cNvPr id="26" name="Text 24"/>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18</a:t>
            </a:r>
            <a:endParaRPr lang="en-US" sz="1000" dirty="0"/>
          </a:p>
        </p:txBody>
      </p:sp>
      <p:sp>
        <p:nvSpPr>
          <p:cNvPr id="27" name="Text 25"/>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提案手法⑥ ParametricMarkedMixture による説明分解</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Explainer</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ウェハごとに active pattern を幾何パラメータへ落とし込む</a:t>
            </a:r>
            <a:endParaRPr lang="en-US" sz="1400" dirty="0"/>
          </a:p>
        </p:txBody>
      </p:sp>
      <p:sp>
        <p:nvSpPr>
          <p:cNvPr id="7" name="Shape 5"/>
          <p:cNvSpPr/>
          <p:nvPr/>
        </p:nvSpPr>
        <p:spPr>
          <a:xfrm>
            <a:off x="914400" y="1572768"/>
            <a:ext cx="1508760" cy="1600200"/>
          </a:xfrm>
          <a:prstGeom prst="roundRect">
            <a:avLst>
              <a:gd name="adj" fmla="val 3636"/>
            </a:avLst>
          </a:prstGeom>
          <a:solidFill>
            <a:srgbClr val="F9FBFD"/>
          </a:solidFill>
          <a:ln w="12700">
            <a:solidFill>
              <a:srgbClr val="CAD8E0"/>
            </a:solidFill>
            <a:prstDash val="solid"/>
          </a:ln>
        </p:spPr>
      </p:sp>
      <p:sp>
        <p:nvSpPr>
          <p:cNvPr id="8" name="Shape 6"/>
          <p:cNvSpPr/>
          <p:nvPr/>
        </p:nvSpPr>
        <p:spPr>
          <a:xfrm>
            <a:off x="1188720" y="1783080"/>
            <a:ext cx="685800" cy="685800"/>
          </a:xfrm>
          <a:prstGeom prst="ellipse">
            <a:avLst/>
          </a:prstGeom>
          <a:solidFill>
            <a:srgbClr val="FFFFFF"/>
          </a:solidFill>
          <a:ln w="12700">
            <a:solidFill>
              <a:srgbClr val="BBC9D1"/>
            </a:solidFill>
            <a:prstDash val="solid"/>
          </a:ln>
        </p:spPr>
      </p:sp>
      <p:sp>
        <p:nvSpPr>
          <p:cNvPr id="9" name="Shape 7"/>
          <p:cNvSpPr/>
          <p:nvPr/>
        </p:nvSpPr>
        <p:spPr>
          <a:xfrm>
            <a:off x="1325880" y="1920240"/>
            <a:ext cx="411480" cy="411480"/>
          </a:xfrm>
          <a:prstGeom prst="donut">
            <a:avLst/>
          </a:prstGeom>
          <a:solidFill>
            <a:srgbClr val="4FC3F7">
              <a:alpha val="65000"/>
            </a:srgbClr>
          </a:solidFill>
          <a:ln w="12700">
            <a:solidFill>
              <a:srgbClr val="4FC3F7"/>
            </a:solidFill>
            <a:prstDash val="solid"/>
          </a:ln>
        </p:spPr>
      </p:sp>
      <p:sp>
        <p:nvSpPr>
          <p:cNvPr id="10" name="Text 8"/>
          <p:cNvSpPr/>
          <p:nvPr/>
        </p:nvSpPr>
        <p:spPr>
          <a:xfrm>
            <a:off x="1143000" y="2606040"/>
            <a:ext cx="1051560" cy="164592"/>
          </a:xfrm>
          <a:prstGeom prst="rect">
            <a:avLst/>
          </a:prstGeom>
          <a:noFill/>
          <a:ln/>
        </p:spPr>
        <p:txBody>
          <a:bodyPr wrap="square" lIns="0" tIns="0" rIns="0" bIns="0" rtlCol="0" anchor="ctr"/>
          <a:lstStyle/>
          <a:p>
            <a:pPr marL="0" indent="0" algn="ctr">
              <a:buNone/>
            </a:pPr>
            <a:r>
              <a:rPr lang="en-US" sz="1350" b="1" dirty="0">
                <a:solidFill>
                  <a:srgbClr val="0B3C5D"/>
                </a:solidFill>
                <a:latin typeface="Meiryo" pitchFamily="34" charset="0"/>
                <a:ea typeface="Meiryo" pitchFamily="34" charset="-122"/>
                <a:cs typeface="Meiryo" pitchFamily="34" charset="-120"/>
              </a:rPr>
              <a:t>Ring</a:t>
            </a:r>
            <a:endParaRPr lang="en-US" sz="1350" dirty="0"/>
          </a:p>
        </p:txBody>
      </p:sp>
      <p:sp>
        <p:nvSpPr>
          <p:cNvPr id="11" name="Shape 9"/>
          <p:cNvSpPr/>
          <p:nvPr/>
        </p:nvSpPr>
        <p:spPr>
          <a:xfrm>
            <a:off x="2788920" y="1572768"/>
            <a:ext cx="1508760" cy="1600200"/>
          </a:xfrm>
          <a:prstGeom prst="roundRect">
            <a:avLst>
              <a:gd name="adj" fmla="val 3636"/>
            </a:avLst>
          </a:prstGeom>
          <a:solidFill>
            <a:srgbClr val="F9FBFD"/>
          </a:solidFill>
          <a:ln w="12700">
            <a:solidFill>
              <a:srgbClr val="CAD8E0"/>
            </a:solidFill>
            <a:prstDash val="solid"/>
          </a:ln>
        </p:spPr>
      </p:sp>
      <p:sp>
        <p:nvSpPr>
          <p:cNvPr id="12" name="Shape 10"/>
          <p:cNvSpPr/>
          <p:nvPr/>
        </p:nvSpPr>
        <p:spPr>
          <a:xfrm>
            <a:off x="3063240" y="1783080"/>
            <a:ext cx="685800" cy="685800"/>
          </a:xfrm>
          <a:prstGeom prst="ellipse">
            <a:avLst/>
          </a:prstGeom>
          <a:solidFill>
            <a:srgbClr val="FFFFFF"/>
          </a:solidFill>
          <a:ln w="12700">
            <a:solidFill>
              <a:srgbClr val="BBC9D1"/>
            </a:solidFill>
            <a:prstDash val="solid"/>
          </a:ln>
        </p:spPr>
      </p:sp>
      <p:sp>
        <p:nvSpPr>
          <p:cNvPr id="13" name="Shape 11"/>
          <p:cNvSpPr/>
          <p:nvPr/>
        </p:nvSpPr>
        <p:spPr>
          <a:xfrm rot="18000000">
            <a:off x="3296412" y="1933956"/>
            <a:ext cx="219456" cy="288036"/>
          </a:xfrm>
          <a:prstGeom prst="pieWedge">
            <a:avLst/>
          </a:prstGeom>
          <a:solidFill>
            <a:srgbClr val="F4A261">
              <a:alpha val="75000"/>
            </a:srgbClr>
          </a:solidFill>
          <a:ln w="12700">
            <a:solidFill>
              <a:srgbClr val="F4A261"/>
            </a:solidFill>
            <a:prstDash val="solid"/>
          </a:ln>
        </p:spPr>
      </p:sp>
      <p:sp>
        <p:nvSpPr>
          <p:cNvPr id="14" name="Text 12"/>
          <p:cNvSpPr/>
          <p:nvPr/>
        </p:nvSpPr>
        <p:spPr>
          <a:xfrm>
            <a:off x="3017520" y="2606040"/>
            <a:ext cx="1051560" cy="164592"/>
          </a:xfrm>
          <a:prstGeom prst="rect">
            <a:avLst/>
          </a:prstGeom>
          <a:noFill/>
          <a:ln/>
        </p:spPr>
        <p:txBody>
          <a:bodyPr wrap="square" lIns="0" tIns="0" rIns="0" bIns="0" rtlCol="0" anchor="ctr"/>
          <a:lstStyle/>
          <a:p>
            <a:pPr marL="0" indent="0" algn="ctr">
              <a:buNone/>
            </a:pPr>
            <a:r>
              <a:rPr lang="en-US" sz="1350" b="1" dirty="0">
                <a:solidFill>
                  <a:srgbClr val="0B3C5D"/>
                </a:solidFill>
                <a:latin typeface="Meiryo" pitchFamily="34" charset="0"/>
                <a:ea typeface="Meiryo" pitchFamily="34" charset="-122"/>
                <a:cs typeface="Meiryo" pitchFamily="34" charset="-120"/>
              </a:rPr>
              <a:t>Sector</a:t>
            </a:r>
            <a:endParaRPr lang="en-US" sz="1350" dirty="0"/>
          </a:p>
        </p:txBody>
      </p:sp>
      <p:sp>
        <p:nvSpPr>
          <p:cNvPr id="15" name="Shape 13"/>
          <p:cNvSpPr/>
          <p:nvPr/>
        </p:nvSpPr>
        <p:spPr>
          <a:xfrm>
            <a:off x="4663440" y="1572768"/>
            <a:ext cx="1508760" cy="1600200"/>
          </a:xfrm>
          <a:prstGeom prst="roundRect">
            <a:avLst>
              <a:gd name="adj" fmla="val 3636"/>
            </a:avLst>
          </a:prstGeom>
          <a:solidFill>
            <a:srgbClr val="F9FBFD"/>
          </a:solidFill>
          <a:ln w="12700">
            <a:solidFill>
              <a:srgbClr val="CAD8E0"/>
            </a:solidFill>
            <a:prstDash val="solid"/>
          </a:ln>
        </p:spPr>
      </p:sp>
      <p:sp>
        <p:nvSpPr>
          <p:cNvPr id="16" name="Shape 14"/>
          <p:cNvSpPr/>
          <p:nvPr/>
        </p:nvSpPr>
        <p:spPr>
          <a:xfrm>
            <a:off x="4937760" y="1783080"/>
            <a:ext cx="685800" cy="685800"/>
          </a:xfrm>
          <a:prstGeom prst="ellipse">
            <a:avLst/>
          </a:prstGeom>
          <a:solidFill>
            <a:srgbClr val="FFFFFF"/>
          </a:solidFill>
          <a:ln w="12700">
            <a:solidFill>
              <a:srgbClr val="BBC9D1"/>
            </a:solidFill>
            <a:prstDash val="solid"/>
          </a:ln>
        </p:spPr>
      </p:sp>
      <p:sp>
        <p:nvSpPr>
          <p:cNvPr id="17" name="Shape 15"/>
          <p:cNvSpPr/>
          <p:nvPr/>
        </p:nvSpPr>
        <p:spPr>
          <a:xfrm>
            <a:off x="5074920" y="2297430"/>
            <a:ext cx="411480" cy="0"/>
          </a:xfrm>
          <a:prstGeom prst="line">
            <a:avLst/>
          </a:prstGeom>
          <a:noFill/>
          <a:ln w="12700">
            <a:solidFill>
              <a:srgbClr val="2A9D8F"/>
            </a:solidFill>
            <a:prstDash val="solid"/>
          </a:ln>
        </p:spPr>
      </p:sp>
      <p:sp>
        <p:nvSpPr>
          <p:cNvPr id="18" name="Text 16"/>
          <p:cNvSpPr/>
          <p:nvPr/>
        </p:nvSpPr>
        <p:spPr>
          <a:xfrm>
            <a:off x="4892040" y="2606040"/>
            <a:ext cx="1051560" cy="164592"/>
          </a:xfrm>
          <a:prstGeom prst="rect">
            <a:avLst/>
          </a:prstGeom>
          <a:noFill/>
          <a:ln/>
        </p:spPr>
        <p:txBody>
          <a:bodyPr wrap="square" lIns="0" tIns="0" rIns="0" bIns="0" rtlCol="0" anchor="ctr"/>
          <a:lstStyle/>
          <a:p>
            <a:pPr marL="0" indent="0" algn="ctr">
              <a:buNone/>
            </a:pPr>
            <a:r>
              <a:rPr lang="en-US" sz="1350" b="1" dirty="0">
                <a:solidFill>
                  <a:srgbClr val="0B3C5D"/>
                </a:solidFill>
                <a:latin typeface="Meiryo" pitchFamily="34" charset="0"/>
                <a:ea typeface="Meiryo" pitchFamily="34" charset="-122"/>
                <a:cs typeface="Meiryo" pitchFamily="34" charset="-120"/>
              </a:rPr>
              <a:t>Line</a:t>
            </a:r>
            <a:endParaRPr lang="en-US" sz="1350" dirty="0"/>
          </a:p>
        </p:txBody>
      </p:sp>
      <p:sp>
        <p:nvSpPr>
          <p:cNvPr id="19" name="Shape 17"/>
          <p:cNvSpPr/>
          <p:nvPr/>
        </p:nvSpPr>
        <p:spPr>
          <a:xfrm>
            <a:off x="6537960" y="1572768"/>
            <a:ext cx="1508760" cy="1600200"/>
          </a:xfrm>
          <a:prstGeom prst="roundRect">
            <a:avLst>
              <a:gd name="adj" fmla="val 3636"/>
            </a:avLst>
          </a:prstGeom>
          <a:solidFill>
            <a:srgbClr val="F9FBFD"/>
          </a:solidFill>
          <a:ln w="12700">
            <a:solidFill>
              <a:srgbClr val="CAD8E0"/>
            </a:solidFill>
            <a:prstDash val="solid"/>
          </a:ln>
        </p:spPr>
      </p:sp>
      <p:sp>
        <p:nvSpPr>
          <p:cNvPr id="20" name="Shape 18"/>
          <p:cNvSpPr/>
          <p:nvPr/>
        </p:nvSpPr>
        <p:spPr>
          <a:xfrm>
            <a:off x="6812280" y="1783080"/>
            <a:ext cx="685800" cy="685800"/>
          </a:xfrm>
          <a:prstGeom prst="ellipse">
            <a:avLst/>
          </a:prstGeom>
          <a:solidFill>
            <a:srgbClr val="FFFFFF"/>
          </a:solidFill>
          <a:ln w="12700">
            <a:solidFill>
              <a:srgbClr val="BBC9D1"/>
            </a:solidFill>
            <a:prstDash val="solid"/>
          </a:ln>
        </p:spPr>
      </p:sp>
      <p:sp>
        <p:nvSpPr>
          <p:cNvPr id="21" name="Shape 19"/>
          <p:cNvSpPr/>
          <p:nvPr/>
        </p:nvSpPr>
        <p:spPr>
          <a:xfrm>
            <a:off x="7072884" y="2043684"/>
            <a:ext cx="164592" cy="164592"/>
          </a:xfrm>
          <a:prstGeom prst="ellipse">
            <a:avLst/>
          </a:prstGeom>
          <a:solidFill>
            <a:srgbClr val="D9534F">
              <a:alpha val="85000"/>
            </a:srgbClr>
          </a:solidFill>
          <a:ln w="12700">
            <a:solidFill>
              <a:srgbClr val="D9534F"/>
            </a:solidFill>
            <a:prstDash val="solid"/>
          </a:ln>
        </p:spPr>
      </p:sp>
      <p:sp>
        <p:nvSpPr>
          <p:cNvPr id="22" name="Text 20"/>
          <p:cNvSpPr/>
          <p:nvPr/>
        </p:nvSpPr>
        <p:spPr>
          <a:xfrm>
            <a:off x="6766560" y="2606040"/>
            <a:ext cx="1051560" cy="164592"/>
          </a:xfrm>
          <a:prstGeom prst="rect">
            <a:avLst/>
          </a:prstGeom>
          <a:noFill/>
          <a:ln/>
        </p:spPr>
        <p:txBody>
          <a:bodyPr wrap="square" lIns="0" tIns="0" rIns="0" bIns="0" rtlCol="0" anchor="ctr"/>
          <a:lstStyle/>
          <a:p>
            <a:pPr marL="0" indent="0" algn="ctr">
              <a:buNone/>
            </a:pPr>
            <a:r>
              <a:rPr lang="en-US" sz="1350" b="1" dirty="0">
                <a:solidFill>
                  <a:srgbClr val="0B3C5D"/>
                </a:solidFill>
                <a:latin typeface="Meiryo" pitchFamily="34" charset="0"/>
                <a:ea typeface="Meiryo" pitchFamily="34" charset="-122"/>
                <a:cs typeface="Meiryo" pitchFamily="34" charset="-120"/>
              </a:rPr>
              <a:t>Hotspot</a:t>
            </a:r>
            <a:endParaRPr lang="en-US" sz="1350" dirty="0"/>
          </a:p>
        </p:txBody>
      </p:sp>
      <p:sp>
        <p:nvSpPr>
          <p:cNvPr id="23" name="Shape 21"/>
          <p:cNvSpPr/>
          <p:nvPr/>
        </p:nvSpPr>
        <p:spPr>
          <a:xfrm>
            <a:off x="8412480" y="1572768"/>
            <a:ext cx="1508760" cy="1600200"/>
          </a:xfrm>
          <a:prstGeom prst="roundRect">
            <a:avLst>
              <a:gd name="adj" fmla="val 3636"/>
            </a:avLst>
          </a:prstGeom>
          <a:solidFill>
            <a:srgbClr val="F9FBFD"/>
          </a:solidFill>
          <a:ln w="12700">
            <a:solidFill>
              <a:srgbClr val="CAD8E0"/>
            </a:solidFill>
            <a:prstDash val="solid"/>
          </a:ln>
        </p:spPr>
      </p:sp>
      <p:sp>
        <p:nvSpPr>
          <p:cNvPr id="24" name="Shape 22"/>
          <p:cNvSpPr/>
          <p:nvPr/>
        </p:nvSpPr>
        <p:spPr>
          <a:xfrm>
            <a:off x="8686800" y="1783080"/>
            <a:ext cx="685800" cy="685800"/>
          </a:xfrm>
          <a:prstGeom prst="ellipse">
            <a:avLst/>
          </a:prstGeom>
          <a:solidFill>
            <a:srgbClr val="FFFFFF"/>
          </a:solidFill>
          <a:ln w="12700">
            <a:solidFill>
              <a:srgbClr val="BBC9D1"/>
            </a:solidFill>
            <a:prstDash val="solid"/>
          </a:ln>
        </p:spPr>
      </p:sp>
      <p:sp>
        <p:nvSpPr>
          <p:cNvPr id="25" name="Shape 23"/>
          <p:cNvSpPr/>
          <p:nvPr/>
        </p:nvSpPr>
        <p:spPr>
          <a:xfrm rot="1200000">
            <a:off x="8906256" y="1879092"/>
            <a:ext cx="288036" cy="288036"/>
          </a:xfrm>
          <a:prstGeom prst="moon">
            <a:avLst/>
          </a:prstGeom>
          <a:solidFill>
            <a:srgbClr val="E9C46A">
              <a:alpha val="85000"/>
            </a:srgbClr>
          </a:solidFill>
          <a:ln w="12700">
            <a:solidFill>
              <a:srgbClr val="E9C46A"/>
            </a:solidFill>
            <a:prstDash val="solid"/>
          </a:ln>
        </p:spPr>
      </p:sp>
      <p:sp>
        <p:nvSpPr>
          <p:cNvPr id="26" name="Text 24"/>
          <p:cNvSpPr/>
          <p:nvPr/>
        </p:nvSpPr>
        <p:spPr>
          <a:xfrm>
            <a:off x="8641080" y="2606040"/>
            <a:ext cx="1051560" cy="164592"/>
          </a:xfrm>
          <a:prstGeom prst="rect">
            <a:avLst/>
          </a:prstGeom>
          <a:noFill/>
          <a:ln/>
        </p:spPr>
        <p:txBody>
          <a:bodyPr wrap="square" lIns="0" tIns="0" rIns="0" bIns="0" rtlCol="0" anchor="ctr"/>
          <a:lstStyle/>
          <a:p>
            <a:pPr marL="0" indent="0" algn="ctr">
              <a:buNone/>
            </a:pPr>
            <a:r>
              <a:rPr lang="en-US" sz="1350" b="1" dirty="0">
                <a:solidFill>
                  <a:srgbClr val="0B3C5D"/>
                </a:solidFill>
                <a:latin typeface="Meiryo" pitchFamily="34" charset="0"/>
                <a:ea typeface="Meiryo" pitchFamily="34" charset="-122"/>
                <a:cs typeface="Meiryo" pitchFamily="34" charset="-120"/>
              </a:rPr>
              <a:t>Crescent</a:t>
            </a:r>
            <a:endParaRPr lang="en-US" sz="1350" dirty="0"/>
          </a:p>
        </p:txBody>
      </p:sp>
      <p:sp>
        <p:nvSpPr>
          <p:cNvPr id="27" name="Shape 25"/>
          <p:cNvSpPr/>
          <p:nvPr/>
        </p:nvSpPr>
        <p:spPr>
          <a:xfrm>
            <a:off x="10195560" y="1572768"/>
            <a:ext cx="960120" cy="1600200"/>
          </a:xfrm>
          <a:prstGeom prst="roundRect">
            <a:avLst>
              <a:gd name="adj" fmla="val 5714"/>
            </a:avLst>
          </a:prstGeom>
          <a:solidFill>
            <a:srgbClr val="F7FAFC"/>
          </a:solidFill>
          <a:ln w="12700">
            <a:solidFill>
              <a:srgbClr val="CAD8E0"/>
            </a:solidFill>
            <a:prstDash val="solid"/>
          </a:ln>
        </p:spPr>
      </p:sp>
      <p:sp>
        <p:nvSpPr>
          <p:cNvPr id="28" name="Text 26"/>
          <p:cNvSpPr/>
          <p:nvPr/>
        </p:nvSpPr>
        <p:spPr>
          <a:xfrm>
            <a:off x="10323576" y="1645920"/>
            <a:ext cx="704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出力</a:t>
            </a:r>
            <a:endParaRPr lang="en-US" sz="1400" dirty="0"/>
          </a:p>
        </p:txBody>
      </p:sp>
      <p:sp>
        <p:nvSpPr>
          <p:cNvPr id="29" name="Text 27"/>
          <p:cNvSpPr/>
          <p:nvPr/>
        </p:nvSpPr>
        <p:spPr>
          <a:xfrm>
            <a:off x="10314432" y="1965960"/>
            <a:ext cx="731520" cy="822960"/>
          </a:xfrm>
          <a:prstGeom prst="rect">
            <a:avLst/>
          </a:prstGeom>
          <a:noFill/>
          <a:ln/>
        </p:spPr>
        <p:txBody>
          <a:bodyPr wrap="square" lIns="508" tIns="508" rIns="508" bIns="508" rtlCol="0" anchor="t">
            <a:normAutofit/>
          </a:bodyPr>
          <a:lstStyle/>
          <a:p>
            <a:pPr marL="0" indent="0" algn="l">
              <a:buNone/>
            </a:pPr>
            <a:r>
              <a:rPr lang="en-US" sz="1300" dirty="0">
                <a:solidFill>
                  <a:srgbClr val="111111"/>
                </a:solidFill>
                <a:latin typeface="Meiryo" pitchFamily="34" charset="0"/>
                <a:ea typeface="Meiryo" pitchFamily="34" charset="-122"/>
                <a:cs typeface="Meiryo" pitchFamily="34" charset="-120"/>
              </a:rPr>
              <a:t>• A_k</a:t>
            </a:r>
            <a:endParaRPr lang="en-US" sz="1300" dirty="0"/>
          </a:p>
          <a:p>
            <a:pPr marL="0" indent="0" algn="l">
              <a:buNone/>
            </a:pPr>
            <a:r>
              <a:rPr lang="en-US" sz="1300" dirty="0">
                <a:solidFill>
                  <a:srgbClr val="111111"/>
                </a:solidFill>
                <a:latin typeface="Meiryo" pitchFamily="34" charset="0"/>
                <a:ea typeface="Meiryo" pitchFamily="34" charset="-122"/>
                <a:cs typeface="Meiryo" pitchFamily="34" charset="-120"/>
              </a:rPr>
              <a:t>• theta_k</a:t>
            </a:r>
            <a:endParaRPr lang="en-US" sz="1300" dirty="0"/>
          </a:p>
          <a:p>
            <a:pPr marL="0" indent="0" algn="l">
              <a:buNone/>
            </a:pPr>
            <a:r>
              <a:rPr lang="en-US" sz="1300" dirty="0">
                <a:solidFill>
                  <a:srgbClr val="111111"/>
                </a:solidFill>
                <a:latin typeface="Meiryo" pitchFamily="34" charset="0"/>
                <a:ea typeface="Meiryo" pitchFamily="34" charset="-122"/>
                <a:cs typeface="Meiryo" pitchFamily="34" charset="-120"/>
              </a:rPr>
              <a:t>• phi_k</a:t>
            </a:r>
            <a:endParaRPr lang="en-US" sz="1300" dirty="0"/>
          </a:p>
          <a:p>
            <a:pPr marL="0" indent="0" algn="l">
              <a:buNone/>
            </a:pPr>
            <a:r>
              <a:rPr lang="en-US" sz="1300" dirty="0">
                <a:solidFill>
                  <a:srgbClr val="111111"/>
                </a:solidFill>
                <a:latin typeface="Meiryo" pitchFamily="34" charset="0"/>
                <a:ea typeface="Meiryo" pitchFamily="34" charset="-122"/>
                <a:cs typeface="Meiryo" pitchFamily="34" charset="-120"/>
              </a:rPr>
              <a:t>• resp</a:t>
            </a:r>
            <a:endParaRPr lang="en-US" sz="1300" dirty="0"/>
          </a:p>
        </p:txBody>
      </p:sp>
      <p:sp>
        <p:nvSpPr>
          <p:cNvPr id="30" name="Shape 28"/>
          <p:cNvSpPr/>
          <p:nvPr/>
        </p:nvSpPr>
        <p:spPr>
          <a:xfrm>
            <a:off x="9829800" y="2148840"/>
            <a:ext cx="256032" cy="237744"/>
          </a:xfrm>
          <a:prstGeom prst="chevron">
            <a:avLst/>
          </a:prstGeom>
          <a:solidFill>
            <a:srgbClr val="D7E3EA"/>
          </a:solidFill>
          <a:ln w="12700">
            <a:solidFill>
              <a:srgbClr val="D7E3EA"/>
            </a:solidFill>
            <a:prstDash val="solid"/>
          </a:ln>
        </p:spPr>
      </p:sp>
      <p:sp>
        <p:nvSpPr>
          <p:cNvPr id="31" name="Shape 29"/>
          <p:cNvSpPr/>
          <p:nvPr/>
        </p:nvSpPr>
        <p:spPr>
          <a:xfrm>
            <a:off x="914400" y="3703320"/>
            <a:ext cx="4846320" cy="1645920"/>
          </a:xfrm>
          <a:prstGeom prst="roundRect">
            <a:avLst>
              <a:gd name="adj" fmla="val 3333"/>
            </a:avLst>
          </a:prstGeom>
          <a:solidFill>
            <a:srgbClr val="F7FAFC"/>
          </a:solidFill>
          <a:ln w="12700">
            <a:solidFill>
              <a:srgbClr val="CAD8E0"/>
            </a:solidFill>
            <a:prstDash val="solid"/>
          </a:ln>
        </p:spPr>
      </p:sp>
      <p:sp>
        <p:nvSpPr>
          <p:cNvPr id="32" name="Text 30"/>
          <p:cNvSpPr/>
          <p:nvPr/>
        </p:nvSpPr>
        <p:spPr>
          <a:xfrm>
            <a:off x="1042416" y="3776472"/>
            <a:ext cx="45902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説明器の役割</a:t>
            </a:r>
            <a:endParaRPr lang="en-US" sz="1400" dirty="0"/>
          </a:p>
        </p:txBody>
      </p:sp>
      <p:sp>
        <p:nvSpPr>
          <p:cNvPr id="33" name="Text 31"/>
          <p:cNvSpPr/>
          <p:nvPr/>
        </p:nvSpPr>
        <p:spPr>
          <a:xfrm>
            <a:off x="1078992" y="4023360"/>
            <a:ext cx="4480560" cy="105156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主学習器の上位ラベルと幾何初期値を受け、sample 単位で refine。</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pattern family ごとの spatial kernel と size kernel を最適化。</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粒子責務、geometry parameter、size parameter を返す。</a:t>
            </a:r>
            <a:endParaRPr lang="en-US" sz="1450" dirty="0"/>
          </a:p>
        </p:txBody>
      </p:sp>
      <p:sp>
        <p:nvSpPr>
          <p:cNvPr id="34" name="Shape 32"/>
          <p:cNvSpPr/>
          <p:nvPr/>
        </p:nvSpPr>
        <p:spPr>
          <a:xfrm>
            <a:off x="5989320" y="3703320"/>
            <a:ext cx="5074920" cy="1645920"/>
          </a:xfrm>
          <a:prstGeom prst="roundRect">
            <a:avLst>
              <a:gd name="adj" fmla="val 3333"/>
            </a:avLst>
          </a:prstGeom>
          <a:solidFill>
            <a:srgbClr val="FFFFFF"/>
          </a:solidFill>
          <a:ln w="12700">
            <a:solidFill>
              <a:srgbClr val="CAD8E0"/>
            </a:solidFill>
            <a:prstDash val="solid"/>
          </a:ln>
        </p:spPr>
      </p:sp>
      <p:sp>
        <p:nvSpPr>
          <p:cNvPr id="35" name="Text 33"/>
          <p:cNvSpPr/>
          <p:nvPr/>
        </p:nvSpPr>
        <p:spPr>
          <a:xfrm>
            <a:off x="6117336" y="3776472"/>
            <a:ext cx="48188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発明上の意味</a:t>
            </a:r>
            <a:endParaRPr lang="en-US" sz="1400" dirty="0"/>
          </a:p>
        </p:txBody>
      </p:sp>
      <p:sp>
        <p:nvSpPr>
          <p:cNvPr id="36" name="Text 34"/>
          <p:cNvSpPr/>
          <p:nvPr/>
        </p:nvSpPr>
        <p:spPr>
          <a:xfrm>
            <a:off x="6172200" y="4041648"/>
            <a:ext cx="4663440" cy="86868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「AIがそう言った」ではなく、リング半径・幅、セクタ中心角、ホットスポット位置などの説明に変換。</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製造技術者・装置設計者が、原因仮説として読める形で結果を受け取れる。</a:t>
            </a:r>
            <a:endParaRPr lang="en-US" sz="1450" dirty="0"/>
          </a:p>
        </p:txBody>
      </p:sp>
      <p:sp>
        <p:nvSpPr>
          <p:cNvPr id="37" name="Text 35"/>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19</a:t>
            </a:r>
            <a:endParaRPr lang="en-US" sz="1000" dirty="0"/>
          </a:p>
        </p:txBody>
      </p:sp>
      <p:sp>
        <p:nvSpPr>
          <p:cNvPr id="38" name="Text 36"/>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主学習器 + 説明器の連携</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Predictor + Explainer</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高速推定 → 説明分解 → 行動提案</a:t>
            </a:r>
            <a:endParaRPr lang="en-US" sz="1400" dirty="0"/>
          </a:p>
        </p:txBody>
      </p:sp>
      <p:sp>
        <p:nvSpPr>
          <p:cNvPr id="7" name="Shape 5"/>
          <p:cNvSpPr/>
          <p:nvPr/>
        </p:nvSpPr>
        <p:spPr>
          <a:xfrm>
            <a:off x="914400" y="1554480"/>
            <a:ext cx="2468880" cy="3611880"/>
          </a:xfrm>
          <a:prstGeom prst="roundRect">
            <a:avLst>
              <a:gd name="adj" fmla="val 2222"/>
            </a:avLst>
          </a:prstGeom>
          <a:solidFill>
            <a:srgbClr val="F5FBFF"/>
          </a:solidFill>
          <a:ln w="12700">
            <a:solidFill>
              <a:srgbClr val="CAD8E0"/>
            </a:solidFill>
            <a:prstDash val="solid"/>
          </a:ln>
        </p:spPr>
      </p:sp>
      <p:sp>
        <p:nvSpPr>
          <p:cNvPr id="8" name="Text 6"/>
          <p:cNvSpPr/>
          <p:nvPr/>
        </p:nvSpPr>
        <p:spPr>
          <a:xfrm>
            <a:off x="1143000" y="1828800"/>
            <a:ext cx="2011680" cy="475488"/>
          </a:xfrm>
          <a:prstGeom prst="rect">
            <a:avLst/>
          </a:prstGeom>
          <a:noFill/>
          <a:ln/>
        </p:spPr>
        <p:txBody>
          <a:bodyPr wrap="square" lIns="0" tIns="0" rIns="0" bIns="0" rtlCol="0" anchor="ctr"/>
          <a:lstStyle/>
          <a:p>
            <a:pPr marL="0" indent="0" algn="ctr">
              <a:buNone/>
            </a:pPr>
            <a:r>
              <a:rPr lang="en-US" sz="2000" b="1" dirty="0">
                <a:solidFill>
                  <a:srgbClr val="0B3C5D"/>
                </a:solidFill>
                <a:latin typeface="Meiryo" pitchFamily="34" charset="0"/>
                <a:ea typeface="Meiryo" pitchFamily="34" charset="-122"/>
                <a:cs typeface="Meiryo" pitchFamily="34" charset="-120"/>
              </a:rPr>
              <a:t>Stage 1</a:t>
            </a:r>
            <a:endParaRPr lang="en-US" sz="2000" dirty="0"/>
          </a:p>
          <a:p>
            <a:pPr marL="0" indent="0" algn="ctr">
              <a:buNone/>
            </a:pPr>
            <a:r>
              <a:rPr lang="en-US" sz="2000" b="1" dirty="0">
                <a:solidFill>
                  <a:srgbClr val="0B3C5D"/>
                </a:solidFill>
                <a:latin typeface="Meiryo" pitchFamily="34" charset="0"/>
                <a:ea typeface="Meiryo" pitchFamily="34" charset="-122"/>
                <a:cs typeface="Meiryo" pitchFamily="34" charset="-120"/>
              </a:rPr>
              <a:t>Fast Scan</a:t>
            </a:r>
            <a:endParaRPr lang="en-US" sz="2000" dirty="0"/>
          </a:p>
        </p:txBody>
      </p:sp>
      <p:sp>
        <p:nvSpPr>
          <p:cNvPr id="9" name="Shape 7"/>
          <p:cNvSpPr/>
          <p:nvPr/>
        </p:nvSpPr>
        <p:spPr>
          <a:xfrm>
            <a:off x="1783080" y="2359152"/>
            <a:ext cx="731520" cy="237744"/>
          </a:xfrm>
          <a:prstGeom prst="roundRect">
            <a:avLst>
              <a:gd name="adj" fmla="val 30769"/>
            </a:avLst>
          </a:prstGeom>
          <a:solidFill>
            <a:srgbClr val="4FC3F7"/>
          </a:solidFill>
          <a:ln w="12700">
            <a:solidFill>
              <a:srgbClr val="4FC3F7"/>
            </a:solidFill>
            <a:prstDash val="solid"/>
          </a:ln>
        </p:spPr>
      </p:sp>
      <p:sp>
        <p:nvSpPr>
          <p:cNvPr id="10" name="Text 8"/>
          <p:cNvSpPr/>
          <p:nvPr/>
        </p:nvSpPr>
        <p:spPr>
          <a:xfrm>
            <a:off x="1783080" y="2386584"/>
            <a:ext cx="731520"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map</a:t>
            </a:r>
            <a:endParaRPr lang="en-US" sz="1050" dirty="0"/>
          </a:p>
        </p:txBody>
      </p:sp>
      <p:sp>
        <p:nvSpPr>
          <p:cNvPr id="11" name="Text 9"/>
          <p:cNvSpPr/>
          <p:nvPr/>
        </p:nvSpPr>
        <p:spPr>
          <a:xfrm>
            <a:off x="1170432" y="2743200"/>
            <a:ext cx="1920240" cy="1371600"/>
          </a:xfrm>
          <a:prstGeom prst="rect">
            <a:avLst/>
          </a:prstGeom>
          <a:noFill/>
          <a:ln/>
        </p:spPr>
        <p:txBody>
          <a:bodyPr wrap="square" lIns="508" tIns="508" rIns="508" bIns="508" rtlCol="0" anchor="t">
            <a:normAutofit/>
          </a:bodyPr>
          <a:lstStyle/>
          <a:p>
            <a:pPr marL="0" indent="0" algn="l">
              <a:buNone/>
            </a:pPr>
            <a:r>
              <a:rPr lang="en-US" sz="1500" dirty="0">
                <a:solidFill>
                  <a:srgbClr val="111111"/>
                </a:solidFill>
                <a:latin typeface="Meiryo" pitchFamily="34" charset="0"/>
                <a:ea typeface="Meiryo" pitchFamily="34" charset="-122"/>
                <a:cs typeface="Meiryo" pitchFamily="34" charset="-120"/>
              </a:rPr>
              <a:t>• dual-grid入力</a:t>
            </a:r>
            <a:endParaRPr lang="en-US" sz="1500" dirty="0"/>
          </a:p>
          <a:p>
            <a:pPr marL="0" indent="0" algn="l">
              <a:buNone/>
            </a:pPr>
            <a:r>
              <a:rPr lang="en-US" sz="1500" dirty="0">
                <a:solidFill>
                  <a:srgbClr val="111111"/>
                </a:solidFill>
                <a:latin typeface="Meiryo" pitchFamily="34" charset="0"/>
                <a:ea typeface="Meiryo" pitchFamily="34" charset="-122"/>
                <a:cs typeface="Meiryo" pitchFamily="34" charset="-120"/>
              </a:rPr>
              <a:t>• presence / cause map</a:t>
            </a:r>
            <a:endParaRPr lang="en-US" sz="1500" dirty="0"/>
          </a:p>
          <a:p>
            <a:pPr marL="0" indent="0" algn="l">
              <a:buNone/>
            </a:pPr>
            <a:r>
              <a:rPr lang="en-US" sz="1500" dirty="0">
                <a:solidFill>
                  <a:srgbClr val="111111"/>
                </a:solidFill>
                <a:latin typeface="Meiryo" pitchFamily="34" charset="0"/>
                <a:ea typeface="Meiryo" pitchFamily="34" charset="-122"/>
                <a:cs typeface="Meiryo" pitchFamily="34" charset="-120"/>
              </a:rPr>
              <a:t>• uncertainty</a:t>
            </a:r>
            <a:endParaRPr lang="en-US" sz="1500" dirty="0"/>
          </a:p>
        </p:txBody>
      </p:sp>
      <p:sp>
        <p:nvSpPr>
          <p:cNvPr id="12" name="Shape 10"/>
          <p:cNvSpPr/>
          <p:nvPr/>
        </p:nvSpPr>
        <p:spPr>
          <a:xfrm>
            <a:off x="3520440" y="2834640"/>
            <a:ext cx="347472" cy="274320"/>
          </a:xfrm>
          <a:prstGeom prst="chevron">
            <a:avLst/>
          </a:prstGeom>
          <a:solidFill>
            <a:srgbClr val="D7E3EA"/>
          </a:solidFill>
          <a:ln w="12700">
            <a:solidFill>
              <a:srgbClr val="D7E3EA"/>
            </a:solidFill>
            <a:prstDash val="solid"/>
          </a:ln>
        </p:spPr>
      </p:sp>
      <p:sp>
        <p:nvSpPr>
          <p:cNvPr id="13" name="Shape 11"/>
          <p:cNvSpPr/>
          <p:nvPr/>
        </p:nvSpPr>
        <p:spPr>
          <a:xfrm>
            <a:off x="3977640" y="1554480"/>
            <a:ext cx="2468880" cy="3611880"/>
          </a:xfrm>
          <a:prstGeom prst="roundRect">
            <a:avLst>
              <a:gd name="adj" fmla="val 2222"/>
            </a:avLst>
          </a:prstGeom>
          <a:solidFill>
            <a:srgbClr val="FFF8F0"/>
          </a:solidFill>
          <a:ln w="12700">
            <a:solidFill>
              <a:srgbClr val="CAD8E0"/>
            </a:solidFill>
            <a:prstDash val="solid"/>
          </a:ln>
        </p:spPr>
      </p:sp>
      <p:sp>
        <p:nvSpPr>
          <p:cNvPr id="14" name="Text 12"/>
          <p:cNvSpPr/>
          <p:nvPr/>
        </p:nvSpPr>
        <p:spPr>
          <a:xfrm>
            <a:off x="4206240" y="1828800"/>
            <a:ext cx="2011680" cy="475488"/>
          </a:xfrm>
          <a:prstGeom prst="rect">
            <a:avLst/>
          </a:prstGeom>
          <a:noFill/>
          <a:ln/>
        </p:spPr>
        <p:txBody>
          <a:bodyPr wrap="square" lIns="0" tIns="0" rIns="0" bIns="0" rtlCol="0" anchor="ctr"/>
          <a:lstStyle/>
          <a:p>
            <a:pPr marL="0" indent="0" algn="ctr">
              <a:buNone/>
            </a:pPr>
            <a:r>
              <a:rPr lang="en-US" sz="2000" b="1" dirty="0">
                <a:solidFill>
                  <a:srgbClr val="0B3C5D"/>
                </a:solidFill>
                <a:latin typeface="Meiryo" pitchFamily="34" charset="0"/>
                <a:ea typeface="Meiryo" pitchFamily="34" charset="-122"/>
                <a:cs typeface="Meiryo" pitchFamily="34" charset="-120"/>
              </a:rPr>
              <a:t>Stage 2</a:t>
            </a:r>
            <a:endParaRPr lang="en-US" sz="2000" dirty="0"/>
          </a:p>
          <a:p>
            <a:pPr marL="0" indent="0" algn="ctr">
              <a:buNone/>
            </a:pPr>
            <a:r>
              <a:rPr lang="en-US" sz="2000" b="1" dirty="0">
                <a:solidFill>
                  <a:srgbClr val="0B3C5D"/>
                </a:solidFill>
                <a:latin typeface="Meiryo" pitchFamily="34" charset="0"/>
                <a:ea typeface="Meiryo" pitchFamily="34" charset="-122"/>
                <a:cs typeface="Meiryo" pitchFamily="34" charset="-120"/>
              </a:rPr>
              <a:t>Explain</a:t>
            </a:r>
            <a:endParaRPr lang="en-US" sz="2000" dirty="0"/>
          </a:p>
        </p:txBody>
      </p:sp>
      <p:sp>
        <p:nvSpPr>
          <p:cNvPr id="15" name="Shape 13"/>
          <p:cNvSpPr/>
          <p:nvPr/>
        </p:nvSpPr>
        <p:spPr>
          <a:xfrm>
            <a:off x="4846320" y="2359152"/>
            <a:ext cx="731520" cy="237744"/>
          </a:xfrm>
          <a:prstGeom prst="roundRect">
            <a:avLst>
              <a:gd name="adj" fmla="val 30769"/>
            </a:avLst>
          </a:prstGeom>
          <a:solidFill>
            <a:srgbClr val="F4A261"/>
          </a:solidFill>
          <a:ln w="12700">
            <a:solidFill>
              <a:srgbClr val="F4A261"/>
            </a:solidFill>
            <a:prstDash val="solid"/>
          </a:ln>
        </p:spPr>
      </p:sp>
      <p:sp>
        <p:nvSpPr>
          <p:cNvPr id="16" name="Text 14"/>
          <p:cNvSpPr/>
          <p:nvPr/>
        </p:nvSpPr>
        <p:spPr>
          <a:xfrm>
            <a:off x="4846320" y="2386584"/>
            <a:ext cx="731520" cy="146304"/>
          </a:xfrm>
          <a:prstGeom prst="rect">
            <a:avLst/>
          </a:prstGeom>
          <a:noFill/>
          <a:ln/>
        </p:spPr>
        <p:txBody>
          <a:bodyPr wrap="square" lIns="0" tIns="0" rIns="0" bIns="0" rtlCol="0" anchor="ctr">
            <a:normAutofit/>
          </a:bodyPr>
          <a:lstStyle/>
          <a:p>
            <a:pPr marL="0" indent="0" algn="ctr">
              <a:buNone/>
            </a:pPr>
            <a:r>
              <a:rPr lang="en-US" sz="1050" dirty="0">
                <a:solidFill>
                  <a:srgbClr val="0B3C5D"/>
                </a:solidFill>
                <a:latin typeface="Meiryo" pitchFamily="34" charset="0"/>
                <a:ea typeface="Meiryo" pitchFamily="34" charset="-122"/>
                <a:cs typeface="Meiryo" pitchFamily="34" charset="-120"/>
              </a:rPr>
              <a:t>param</a:t>
            </a:r>
            <a:endParaRPr lang="en-US" sz="1050" dirty="0"/>
          </a:p>
        </p:txBody>
      </p:sp>
      <p:sp>
        <p:nvSpPr>
          <p:cNvPr id="17" name="Text 15"/>
          <p:cNvSpPr/>
          <p:nvPr/>
        </p:nvSpPr>
        <p:spPr>
          <a:xfrm>
            <a:off x="4233672" y="2743200"/>
            <a:ext cx="1920240" cy="1371600"/>
          </a:xfrm>
          <a:prstGeom prst="rect">
            <a:avLst/>
          </a:prstGeom>
          <a:noFill/>
          <a:ln/>
        </p:spPr>
        <p:txBody>
          <a:bodyPr wrap="square" lIns="508" tIns="508" rIns="508" bIns="508" rtlCol="0" anchor="t">
            <a:normAutofit/>
          </a:bodyPr>
          <a:lstStyle/>
          <a:p>
            <a:pPr marL="0" indent="0" algn="l">
              <a:buNone/>
            </a:pPr>
            <a:r>
              <a:rPr lang="en-US" sz="1500" dirty="0">
                <a:solidFill>
                  <a:srgbClr val="111111"/>
                </a:solidFill>
                <a:latin typeface="Meiryo" pitchFamily="34" charset="0"/>
                <a:ea typeface="Meiryo" pitchFamily="34" charset="-122"/>
                <a:cs typeface="Meiryo" pitchFamily="34" charset="-120"/>
              </a:rPr>
              <a:t>• active label選定</a:t>
            </a:r>
            <a:endParaRPr lang="en-US" sz="1500" dirty="0"/>
          </a:p>
          <a:p>
            <a:pPr marL="0" indent="0" algn="l">
              <a:buNone/>
            </a:pPr>
            <a:r>
              <a:rPr lang="en-US" sz="1500" dirty="0">
                <a:solidFill>
                  <a:srgbClr val="111111"/>
                </a:solidFill>
                <a:latin typeface="Meiryo" pitchFamily="34" charset="0"/>
                <a:ea typeface="Meiryo" pitchFamily="34" charset="-122"/>
                <a:cs typeface="Meiryo" pitchFamily="34" charset="-120"/>
              </a:rPr>
              <a:t>• geometry/size fitting</a:t>
            </a:r>
            <a:endParaRPr lang="en-US" sz="1500" dirty="0"/>
          </a:p>
          <a:p>
            <a:pPr marL="0" indent="0" algn="l">
              <a:buNone/>
            </a:pPr>
            <a:r>
              <a:rPr lang="en-US" sz="1500" dirty="0">
                <a:solidFill>
                  <a:srgbClr val="111111"/>
                </a:solidFill>
                <a:latin typeface="Meiryo" pitchFamily="34" charset="0"/>
                <a:ea typeface="Meiryo" pitchFamily="34" charset="-122"/>
                <a:cs typeface="Meiryo" pitchFamily="34" charset="-120"/>
              </a:rPr>
              <a:t>• particle responsibility</a:t>
            </a:r>
            <a:endParaRPr lang="en-US" sz="1500" dirty="0"/>
          </a:p>
        </p:txBody>
      </p:sp>
      <p:sp>
        <p:nvSpPr>
          <p:cNvPr id="18" name="Shape 16"/>
          <p:cNvSpPr/>
          <p:nvPr/>
        </p:nvSpPr>
        <p:spPr>
          <a:xfrm>
            <a:off x="6583680" y="2834640"/>
            <a:ext cx="347472" cy="274320"/>
          </a:xfrm>
          <a:prstGeom prst="chevron">
            <a:avLst/>
          </a:prstGeom>
          <a:solidFill>
            <a:srgbClr val="D7E3EA"/>
          </a:solidFill>
          <a:ln w="12700">
            <a:solidFill>
              <a:srgbClr val="D7E3EA"/>
            </a:solidFill>
            <a:prstDash val="solid"/>
          </a:ln>
        </p:spPr>
      </p:sp>
      <p:sp>
        <p:nvSpPr>
          <p:cNvPr id="19" name="Shape 17"/>
          <p:cNvSpPr/>
          <p:nvPr/>
        </p:nvSpPr>
        <p:spPr>
          <a:xfrm>
            <a:off x="7040880" y="1554480"/>
            <a:ext cx="2468880" cy="3611880"/>
          </a:xfrm>
          <a:prstGeom prst="roundRect">
            <a:avLst>
              <a:gd name="adj" fmla="val 2222"/>
            </a:avLst>
          </a:prstGeom>
          <a:solidFill>
            <a:srgbClr val="F4FBF8"/>
          </a:solidFill>
          <a:ln w="12700">
            <a:solidFill>
              <a:srgbClr val="CAD8E0"/>
            </a:solidFill>
            <a:prstDash val="solid"/>
          </a:ln>
        </p:spPr>
      </p:sp>
      <p:sp>
        <p:nvSpPr>
          <p:cNvPr id="20" name="Text 18"/>
          <p:cNvSpPr/>
          <p:nvPr/>
        </p:nvSpPr>
        <p:spPr>
          <a:xfrm>
            <a:off x="7269480" y="1828800"/>
            <a:ext cx="2011680" cy="475488"/>
          </a:xfrm>
          <a:prstGeom prst="rect">
            <a:avLst/>
          </a:prstGeom>
          <a:noFill/>
          <a:ln/>
        </p:spPr>
        <p:txBody>
          <a:bodyPr wrap="square" lIns="0" tIns="0" rIns="0" bIns="0" rtlCol="0" anchor="ctr"/>
          <a:lstStyle/>
          <a:p>
            <a:pPr marL="0" indent="0" algn="ctr">
              <a:buNone/>
            </a:pPr>
            <a:r>
              <a:rPr lang="en-US" sz="2000" b="1" dirty="0">
                <a:solidFill>
                  <a:srgbClr val="0B3C5D"/>
                </a:solidFill>
                <a:latin typeface="Meiryo" pitchFamily="34" charset="0"/>
                <a:ea typeface="Meiryo" pitchFamily="34" charset="-122"/>
                <a:cs typeface="Meiryo" pitchFamily="34" charset="-120"/>
              </a:rPr>
              <a:t>Stage 3</a:t>
            </a:r>
            <a:endParaRPr lang="en-US" sz="2000" dirty="0"/>
          </a:p>
          <a:p>
            <a:pPr marL="0" indent="0" algn="ctr">
              <a:buNone/>
            </a:pPr>
            <a:r>
              <a:rPr lang="en-US" sz="2000" b="1" dirty="0">
                <a:solidFill>
                  <a:srgbClr val="0B3C5D"/>
                </a:solidFill>
                <a:latin typeface="Meiryo" pitchFamily="34" charset="0"/>
                <a:ea typeface="Meiryo" pitchFamily="34" charset="-122"/>
                <a:cs typeface="Meiryo" pitchFamily="34" charset="-120"/>
              </a:rPr>
              <a:t>Action</a:t>
            </a:r>
            <a:endParaRPr lang="en-US" sz="2000" dirty="0"/>
          </a:p>
        </p:txBody>
      </p:sp>
      <p:sp>
        <p:nvSpPr>
          <p:cNvPr id="21" name="Shape 19"/>
          <p:cNvSpPr/>
          <p:nvPr/>
        </p:nvSpPr>
        <p:spPr>
          <a:xfrm>
            <a:off x="7909560" y="2359152"/>
            <a:ext cx="731520" cy="237744"/>
          </a:xfrm>
          <a:prstGeom prst="roundRect">
            <a:avLst>
              <a:gd name="adj" fmla="val 30769"/>
            </a:avLst>
          </a:prstGeom>
          <a:solidFill>
            <a:srgbClr val="2A9D8F"/>
          </a:solidFill>
          <a:ln w="12700">
            <a:solidFill>
              <a:srgbClr val="2A9D8F"/>
            </a:solidFill>
            <a:prstDash val="solid"/>
          </a:ln>
        </p:spPr>
      </p:sp>
      <p:sp>
        <p:nvSpPr>
          <p:cNvPr id="22" name="Text 20"/>
          <p:cNvSpPr/>
          <p:nvPr/>
        </p:nvSpPr>
        <p:spPr>
          <a:xfrm>
            <a:off x="7909560" y="2386584"/>
            <a:ext cx="731520" cy="146304"/>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Meiryo" pitchFamily="34" charset="0"/>
                <a:ea typeface="Meiryo" pitchFamily="34" charset="-122"/>
                <a:cs typeface="Meiryo" pitchFamily="34" charset="-120"/>
              </a:rPr>
              <a:t>action</a:t>
            </a:r>
            <a:endParaRPr lang="en-US" sz="1050" dirty="0"/>
          </a:p>
        </p:txBody>
      </p:sp>
      <p:sp>
        <p:nvSpPr>
          <p:cNvPr id="23" name="Text 21"/>
          <p:cNvSpPr/>
          <p:nvPr/>
        </p:nvSpPr>
        <p:spPr>
          <a:xfrm>
            <a:off x="7296912" y="2743200"/>
            <a:ext cx="1920240" cy="1371600"/>
          </a:xfrm>
          <a:prstGeom prst="rect">
            <a:avLst/>
          </a:prstGeom>
          <a:noFill/>
          <a:ln/>
        </p:spPr>
        <p:txBody>
          <a:bodyPr wrap="square" lIns="508" tIns="508" rIns="508" bIns="508" rtlCol="0" anchor="t">
            <a:normAutofit/>
          </a:bodyPr>
          <a:lstStyle/>
          <a:p>
            <a:pPr marL="0" indent="0" algn="l">
              <a:buNone/>
            </a:pPr>
            <a:r>
              <a:rPr lang="en-US" sz="1500" dirty="0">
                <a:solidFill>
                  <a:srgbClr val="111111"/>
                </a:solidFill>
                <a:latin typeface="Meiryo" pitchFamily="34" charset="0"/>
                <a:ea typeface="Meiryo" pitchFamily="34" charset="-122"/>
                <a:cs typeface="Meiryo" pitchFamily="34" charset="-120"/>
              </a:rPr>
              <a:t>• report生成</a:t>
            </a:r>
            <a:endParaRPr lang="en-US" sz="1500" dirty="0"/>
          </a:p>
          <a:p>
            <a:pPr marL="0" indent="0" algn="l">
              <a:buNone/>
            </a:pPr>
            <a:r>
              <a:rPr lang="en-US" sz="1500" dirty="0">
                <a:solidFill>
                  <a:srgbClr val="111111"/>
                </a:solidFill>
                <a:latin typeface="Meiryo" pitchFamily="34" charset="0"/>
                <a:ea typeface="Meiryo" pitchFamily="34" charset="-122"/>
                <a:cs typeface="Meiryo" pitchFamily="34" charset="-120"/>
              </a:rPr>
              <a:t>• 追加計測/点検分岐</a:t>
            </a:r>
            <a:endParaRPr lang="en-US" sz="1500" dirty="0"/>
          </a:p>
          <a:p>
            <a:pPr marL="0" indent="0" algn="l">
              <a:buNone/>
            </a:pPr>
            <a:r>
              <a:rPr lang="en-US" sz="1500" dirty="0">
                <a:solidFill>
                  <a:srgbClr val="111111"/>
                </a:solidFill>
                <a:latin typeface="Meiryo" pitchFamily="34" charset="0"/>
                <a:ea typeface="Meiryo" pitchFamily="34" charset="-122"/>
                <a:cs typeface="Meiryo" pitchFamily="34" charset="-120"/>
              </a:rPr>
              <a:t>• 履歴DB/再学習</a:t>
            </a:r>
            <a:endParaRPr lang="en-US" sz="1500" dirty="0"/>
          </a:p>
        </p:txBody>
      </p:sp>
      <p:sp>
        <p:nvSpPr>
          <p:cNvPr id="24" name="Shape 22"/>
          <p:cNvSpPr/>
          <p:nvPr/>
        </p:nvSpPr>
        <p:spPr>
          <a:xfrm>
            <a:off x="9738360" y="1554480"/>
            <a:ext cx="1417320" cy="3611880"/>
          </a:xfrm>
          <a:prstGeom prst="roundRect">
            <a:avLst>
              <a:gd name="adj" fmla="val 3871"/>
            </a:avLst>
          </a:prstGeom>
          <a:solidFill>
            <a:srgbClr val="FFFFFF"/>
          </a:solidFill>
          <a:ln w="12700">
            <a:solidFill>
              <a:srgbClr val="CAD8E0"/>
            </a:solidFill>
            <a:prstDash val="solid"/>
          </a:ln>
        </p:spPr>
      </p:sp>
      <p:sp>
        <p:nvSpPr>
          <p:cNvPr id="25" name="Text 23"/>
          <p:cNvSpPr/>
          <p:nvPr/>
        </p:nvSpPr>
        <p:spPr>
          <a:xfrm>
            <a:off x="9866376" y="1627632"/>
            <a:ext cx="11612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出力例</a:t>
            </a:r>
            <a:endParaRPr lang="en-US" sz="1400" dirty="0"/>
          </a:p>
        </p:txBody>
      </p:sp>
      <p:sp>
        <p:nvSpPr>
          <p:cNvPr id="26" name="Text 24"/>
          <p:cNvSpPr/>
          <p:nvPr/>
        </p:nvSpPr>
        <p:spPr>
          <a:xfrm>
            <a:off x="9921240" y="2194560"/>
            <a:ext cx="1051560" cy="1645920"/>
          </a:xfrm>
          <a:prstGeom prst="rect">
            <a:avLst/>
          </a:prstGeom>
          <a:noFill/>
          <a:ln/>
        </p:spPr>
        <p:txBody>
          <a:bodyPr wrap="square" lIns="508" tIns="508" rIns="508" bIns="508" rtlCol="0" anchor="t">
            <a:normAutofit/>
          </a:bodyPr>
          <a:lstStyle/>
          <a:p>
            <a:pPr marL="0" indent="0" algn="l">
              <a:buNone/>
            </a:pPr>
            <a:r>
              <a:rPr lang="en-US" sz="1350" dirty="0">
                <a:solidFill>
                  <a:srgbClr val="111111"/>
                </a:solidFill>
                <a:latin typeface="Meiryo" pitchFamily="34" charset="0"/>
                <a:ea typeface="Meiryo" pitchFamily="34" charset="-122"/>
                <a:cs typeface="Meiryo" pitchFamily="34" charset="-120"/>
              </a:rPr>
              <a:t>• cause map</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geom table</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size prior</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particle posterior</a:t>
            </a:r>
            <a:endParaRPr lang="en-US" sz="1350" dirty="0"/>
          </a:p>
          <a:p>
            <a:pPr marL="0" indent="0" algn="l">
              <a:buNone/>
            </a:pPr>
            <a:r>
              <a:rPr lang="en-US" sz="1350" dirty="0">
                <a:solidFill>
                  <a:srgbClr val="111111"/>
                </a:solidFill>
                <a:latin typeface="Meiryo" pitchFamily="34" charset="0"/>
                <a:ea typeface="Meiryo" pitchFamily="34" charset="-122"/>
                <a:cs typeface="Meiryo" pitchFamily="34" charset="-120"/>
              </a:rPr>
              <a:t>• confidence</a:t>
            </a:r>
            <a:endParaRPr lang="en-US" sz="1350" dirty="0"/>
          </a:p>
        </p:txBody>
      </p:sp>
      <p:sp>
        <p:nvSpPr>
          <p:cNvPr id="27" name="Shape 25"/>
          <p:cNvSpPr/>
          <p:nvPr/>
        </p:nvSpPr>
        <p:spPr>
          <a:xfrm>
            <a:off x="914400" y="5413248"/>
            <a:ext cx="10241280" cy="502920"/>
          </a:xfrm>
          <a:prstGeom prst="roundRect">
            <a:avLst>
              <a:gd name="adj" fmla="val 10909"/>
            </a:avLst>
          </a:prstGeom>
          <a:solidFill>
            <a:srgbClr val="EEF6FB"/>
          </a:solidFill>
          <a:ln w="12700">
            <a:solidFill>
              <a:srgbClr val="CAD8E0"/>
            </a:solidFill>
            <a:prstDash val="solid"/>
          </a:ln>
        </p:spPr>
      </p:sp>
      <p:sp>
        <p:nvSpPr>
          <p:cNvPr id="28" name="Text 26"/>
          <p:cNvSpPr/>
          <p:nvPr/>
        </p:nvSpPr>
        <p:spPr>
          <a:xfrm>
            <a:off x="1097280" y="5559552"/>
            <a:ext cx="9875520" cy="164592"/>
          </a:xfrm>
          <a:prstGeom prst="rect">
            <a:avLst/>
          </a:prstGeom>
          <a:noFill/>
          <a:ln/>
        </p:spPr>
        <p:txBody>
          <a:bodyPr wrap="square" lIns="508" tIns="508" rIns="508" bIns="508" rtlCol="0" anchor="t">
            <a:normAutofit/>
          </a:bodyPr>
          <a:lstStyle/>
          <a:p>
            <a:pPr marL="0" indent="0" algn="ctr">
              <a:buNone/>
            </a:pPr>
            <a:r>
              <a:rPr lang="en-US" sz="1410" dirty="0">
                <a:solidFill>
                  <a:srgbClr val="111111"/>
                </a:solidFill>
                <a:latin typeface="Meiryo" pitchFamily="34" charset="0"/>
                <a:ea typeface="Meiryo" pitchFamily="34" charset="-122"/>
                <a:cs typeface="Meiryo" pitchFamily="34" charset="-120"/>
              </a:rPr>
              <a:t>特許的には、主学習器単独ではなく「主学習器 + 説明器 + uncertainty gating + manufacturing action」の連鎖としてまとめると芯が立つ。</a:t>
            </a:r>
            <a:endParaRPr lang="en-US" sz="1410" dirty="0"/>
          </a:p>
        </p:txBody>
      </p:sp>
      <p:sp>
        <p:nvSpPr>
          <p:cNvPr id="29" name="Text 27"/>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20</a:t>
            </a:r>
            <a:endParaRPr lang="en-US" sz="1000" dirty="0"/>
          </a:p>
        </p:txBody>
      </p:sp>
      <p:sp>
        <p:nvSpPr>
          <p:cNvPr id="30" name="Text 28"/>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従来技術との対比</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Comparison Table</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51560"/>
            <a:ext cx="10972800" cy="4937760"/>
          </a:xfrm>
          <a:prstGeom prst="roundRect">
            <a:avLst>
              <a:gd name="adj" fmla="val 111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124712"/>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各方式の対応範囲</a:t>
            </a:r>
            <a:endParaRPr lang="en-US" sz="1400" dirty="0"/>
          </a:p>
        </p:txBody>
      </p:sp>
      <p:sp>
        <p:nvSpPr>
          <p:cNvPr id="7" name="Shape 5"/>
          <p:cNvSpPr/>
          <p:nvPr/>
        </p:nvSpPr>
        <p:spPr>
          <a:xfrm>
            <a:off x="914400" y="1554480"/>
            <a:ext cx="1744980" cy="658368"/>
          </a:xfrm>
          <a:prstGeom prst="rect">
            <a:avLst/>
          </a:prstGeom>
          <a:solidFill>
            <a:srgbClr val="ECF3F8"/>
          </a:solidFill>
          <a:ln w="12700">
            <a:solidFill>
              <a:srgbClr val="CAD8E0"/>
            </a:solidFill>
            <a:prstDash val="solid"/>
          </a:ln>
        </p:spPr>
      </p:sp>
      <p:sp>
        <p:nvSpPr>
          <p:cNvPr id="8" name="Text 6"/>
          <p:cNvSpPr/>
          <p:nvPr/>
        </p:nvSpPr>
        <p:spPr>
          <a:xfrm>
            <a:off x="950976" y="1600200"/>
            <a:ext cx="1671828" cy="566928"/>
          </a:xfrm>
          <a:prstGeom prst="rect">
            <a:avLst/>
          </a:prstGeom>
          <a:noFill/>
          <a:ln/>
        </p:spPr>
        <p:txBody>
          <a:bodyPr wrap="square" lIns="0" tIns="0" rIns="0" bIns="0" rtlCol="0" anchor="ctr">
            <a:normAutofit/>
          </a:bodyPr>
          <a:lstStyle/>
          <a:p>
            <a:pPr marL="0" indent="0" algn="ctr">
              <a:buNone/>
            </a:pPr>
            <a:r>
              <a:rPr lang="en-US" sz="1120" b="1" dirty="0">
                <a:solidFill>
                  <a:srgbClr val="0B3C5D"/>
                </a:solidFill>
                <a:latin typeface="Meiryo" pitchFamily="34" charset="0"/>
                <a:ea typeface="Meiryo" pitchFamily="34" charset="-122"/>
                <a:cs typeface="Meiryo" pitchFamily="34" charset="-120"/>
              </a:rPr>
              <a:t>方式</a:t>
            </a:r>
            <a:endParaRPr lang="en-US" sz="1120" dirty="0"/>
          </a:p>
        </p:txBody>
      </p:sp>
      <p:sp>
        <p:nvSpPr>
          <p:cNvPr id="9" name="Shape 7"/>
          <p:cNvSpPr/>
          <p:nvPr/>
        </p:nvSpPr>
        <p:spPr>
          <a:xfrm>
            <a:off x="2659380" y="1554480"/>
            <a:ext cx="1744980" cy="658368"/>
          </a:xfrm>
          <a:prstGeom prst="rect">
            <a:avLst/>
          </a:prstGeom>
          <a:solidFill>
            <a:srgbClr val="ECF3F8"/>
          </a:solidFill>
          <a:ln w="12700">
            <a:solidFill>
              <a:srgbClr val="CAD8E0"/>
            </a:solidFill>
            <a:prstDash val="solid"/>
          </a:ln>
        </p:spPr>
      </p:sp>
      <p:sp>
        <p:nvSpPr>
          <p:cNvPr id="10" name="Text 8"/>
          <p:cNvSpPr/>
          <p:nvPr/>
        </p:nvSpPr>
        <p:spPr>
          <a:xfrm>
            <a:off x="2695956" y="1600200"/>
            <a:ext cx="1671828" cy="566928"/>
          </a:xfrm>
          <a:prstGeom prst="rect">
            <a:avLst/>
          </a:prstGeom>
          <a:noFill/>
          <a:ln/>
        </p:spPr>
        <p:txBody>
          <a:bodyPr wrap="square" lIns="0" tIns="0" rIns="0" bIns="0" rtlCol="0" anchor="ctr">
            <a:normAutofit/>
          </a:bodyPr>
          <a:lstStyle/>
          <a:p>
            <a:pPr marL="0" indent="0" algn="ctr">
              <a:buNone/>
            </a:pPr>
            <a:r>
              <a:rPr lang="en-US" sz="1120" b="1" dirty="0">
                <a:solidFill>
                  <a:srgbClr val="0B3C5D"/>
                </a:solidFill>
                <a:latin typeface="Meiryo" pitchFamily="34" charset="0"/>
                <a:ea typeface="Meiryo" pitchFamily="34" charset="-122"/>
                <a:cs typeface="Meiryo" pitchFamily="34" charset="-120"/>
              </a:rPr>
              <a:t>低粒子数</a:t>
            </a:r>
            <a:endParaRPr lang="en-US" sz="1120" dirty="0"/>
          </a:p>
        </p:txBody>
      </p:sp>
      <p:sp>
        <p:nvSpPr>
          <p:cNvPr id="11" name="Shape 9"/>
          <p:cNvSpPr/>
          <p:nvPr/>
        </p:nvSpPr>
        <p:spPr>
          <a:xfrm>
            <a:off x="4404360" y="1554480"/>
            <a:ext cx="1744980" cy="658368"/>
          </a:xfrm>
          <a:prstGeom prst="rect">
            <a:avLst/>
          </a:prstGeom>
          <a:solidFill>
            <a:srgbClr val="ECF3F8"/>
          </a:solidFill>
          <a:ln w="12700">
            <a:solidFill>
              <a:srgbClr val="CAD8E0"/>
            </a:solidFill>
            <a:prstDash val="solid"/>
          </a:ln>
        </p:spPr>
      </p:sp>
      <p:sp>
        <p:nvSpPr>
          <p:cNvPr id="12" name="Text 10"/>
          <p:cNvSpPr/>
          <p:nvPr/>
        </p:nvSpPr>
        <p:spPr>
          <a:xfrm>
            <a:off x="4440936" y="1600200"/>
            <a:ext cx="1671828" cy="566928"/>
          </a:xfrm>
          <a:prstGeom prst="rect">
            <a:avLst/>
          </a:prstGeom>
          <a:noFill/>
          <a:ln/>
        </p:spPr>
        <p:txBody>
          <a:bodyPr wrap="square" lIns="0" tIns="0" rIns="0" bIns="0" rtlCol="0" anchor="ctr">
            <a:normAutofit/>
          </a:bodyPr>
          <a:lstStyle/>
          <a:p>
            <a:pPr marL="0" indent="0" algn="ctr">
              <a:buNone/>
            </a:pPr>
            <a:r>
              <a:rPr lang="en-US" sz="1120" b="1" dirty="0">
                <a:solidFill>
                  <a:srgbClr val="0B3C5D"/>
                </a:solidFill>
                <a:latin typeface="Meiryo" pitchFamily="34" charset="0"/>
                <a:ea typeface="Meiryo" pitchFamily="34" charset="-122"/>
                <a:cs typeface="Meiryo" pitchFamily="34" charset="-120"/>
              </a:rPr>
              <a:t>サイズ要因</a:t>
            </a:r>
            <a:endParaRPr lang="en-US" sz="1120" dirty="0"/>
          </a:p>
        </p:txBody>
      </p:sp>
      <p:sp>
        <p:nvSpPr>
          <p:cNvPr id="13" name="Shape 11"/>
          <p:cNvSpPr/>
          <p:nvPr/>
        </p:nvSpPr>
        <p:spPr>
          <a:xfrm>
            <a:off x="6149340" y="1554480"/>
            <a:ext cx="1744980" cy="658368"/>
          </a:xfrm>
          <a:prstGeom prst="rect">
            <a:avLst/>
          </a:prstGeom>
          <a:solidFill>
            <a:srgbClr val="ECF3F8"/>
          </a:solidFill>
          <a:ln w="12700">
            <a:solidFill>
              <a:srgbClr val="CAD8E0"/>
            </a:solidFill>
            <a:prstDash val="solid"/>
          </a:ln>
        </p:spPr>
      </p:sp>
      <p:sp>
        <p:nvSpPr>
          <p:cNvPr id="14" name="Text 12"/>
          <p:cNvSpPr/>
          <p:nvPr/>
        </p:nvSpPr>
        <p:spPr>
          <a:xfrm>
            <a:off x="6185916" y="1600200"/>
            <a:ext cx="1671828" cy="566928"/>
          </a:xfrm>
          <a:prstGeom prst="rect">
            <a:avLst/>
          </a:prstGeom>
          <a:noFill/>
          <a:ln/>
        </p:spPr>
        <p:txBody>
          <a:bodyPr wrap="square" lIns="0" tIns="0" rIns="0" bIns="0" rtlCol="0" anchor="ctr">
            <a:normAutofit/>
          </a:bodyPr>
          <a:lstStyle/>
          <a:p>
            <a:pPr marL="0" indent="0" algn="ctr">
              <a:buNone/>
            </a:pPr>
            <a:r>
              <a:rPr lang="en-US" sz="1120" b="1" dirty="0">
                <a:solidFill>
                  <a:srgbClr val="0B3C5D"/>
                </a:solidFill>
                <a:latin typeface="Meiryo" pitchFamily="34" charset="0"/>
                <a:ea typeface="Meiryo" pitchFamily="34" charset="-122"/>
                <a:cs typeface="Meiryo" pitchFamily="34" charset="-120"/>
              </a:rPr>
              <a:t>混合要因</a:t>
            </a:r>
            <a:endParaRPr lang="en-US" sz="1120" dirty="0"/>
          </a:p>
        </p:txBody>
      </p:sp>
      <p:sp>
        <p:nvSpPr>
          <p:cNvPr id="15" name="Shape 13"/>
          <p:cNvSpPr/>
          <p:nvPr/>
        </p:nvSpPr>
        <p:spPr>
          <a:xfrm>
            <a:off x="7894320" y="1554480"/>
            <a:ext cx="1744980" cy="658368"/>
          </a:xfrm>
          <a:prstGeom prst="rect">
            <a:avLst/>
          </a:prstGeom>
          <a:solidFill>
            <a:srgbClr val="ECF3F8"/>
          </a:solidFill>
          <a:ln w="12700">
            <a:solidFill>
              <a:srgbClr val="CAD8E0"/>
            </a:solidFill>
            <a:prstDash val="solid"/>
          </a:ln>
        </p:spPr>
      </p:sp>
      <p:sp>
        <p:nvSpPr>
          <p:cNvPr id="16" name="Text 14"/>
          <p:cNvSpPr/>
          <p:nvPr/>
        </p:nvSpPr>
        <p:spPr>
          <a:xfrm>
            <a:off x="7930896" y="1600200"/>
            <a:ext cx="1671828" cy="566928"/>
          </a:xfrm>
          <a:prstGeom prst="rect">
            <a:avLst/>
          </a:prstGeom>
          <a:noFill/>
          <a:ln/>
        </p:spPr>
        <p:txBody>
          <a:bodyPr wrap="square" lIns="0" tIns="0" rIns="0" bIns="0" rtlCol="0" anchor="ctr">
            <a:normAutofit/>
          </a:bodyPr>
          <a:lstStyle/>
          <a:p>
            <a:pPr marL="0" indent="0" algn="ctr">
              <a:buNone/>
            </a:pPr>
            <a:r>
              <a:rPr lang="en-US" sz="1120" b="1" dirty="0">
                <a:solidFill>
                  <a:srgbClr val="0B3C5D"/>
                </a:solidFill>
                <a:latin typeface="Meiryo" pitchFamily="34" charset="0"/>
                <a:ea typeface="Meiryo" pitchFamily="34" charset="-122"/>
                <a:cs typeface="Meiryo" pitchFamily="34" charset="-120"/>
              </a:rPr>
              <a:t>説明性</a:t>
            </a:r>
            <a:endParaRPr lang="en-US" sz="1120" dirty="0"/>
          </a:p>
        </p:txBody>
      </p:sp>
      <p:sp>
        <p:nvSpPr>
          <p:cNvPr id="17" name="Shape 15"/>
          <p:cNvSpPr/>
          <p:nvPr/>
        </p:nvSpPr>
        <p:spPr>
          <a:xfrm>
            <a:off x="9639300" y="1554480"/>
            <a:ext cx="1744980" cy="658368"/>
          </a:xfrm>
          <a:prstGeom prst="rect">
            <a:avLst/>
          </a:prstGeom>
          <a:solidFill>
            <a:srgbClr val="ECF3F8"/>
          </a:solidFill>
          <a:ln w="12700">
            <a:solidFill>
              <a:srgbClr val="CAD8E0"/>
            </a:solidFill>
            <a:prstDash val="solid"/>
          </a:ln>
        </p:spPr>
      </p:sp>
      <p:sp>
        <p:nvSpPr>
          <p:cNvPr id="18" name="Text 16"/>
          <p:cNvSpPr/>
          <p:nvPr/>
        </p:nvSpPr>
        <p:spPr>
          <a:xfrm>
            <a:off x="9675876" y="1600200"/>
            <a:ext cx="1671828" cy="566928"/>
          </a:xfrm>
          <a:prstGeom prst="rect">
            <a:avLst/>
          </a:prstGeom>
          <a:noFill/>
          <a:ln/>
        </p:spPr>
        <p:txBody>
          <a:bodyPr wrap="square" lIns="0" tIns="0" rIns="0" bIns="0" rtlCol="0" anchor="ctr">
            <a:normAutofit/>
          </a:bodyPr>
          <a:lstStyle/>
          <a:p>
            <a:pPr marL="0" indent="0" algn="ctr">
              <a:buNone/>
            </a:pPr>
            <a:r>
              <a:rPr lang="en-US" sz="1120" b="1" dirty="0">
                <a:solidFill>
                  <a:srgbClr val="0B3C5D"/>
                </a:solidFill>
                <a:latin typeface="Meiryo" pitchFamily="34" charset="0"/>
                <a:ea typeface="Meiryo" pitchFamily="34" charset="-122"/>
                <a:cs typeface="Meiryo" pitchFamily="34" charset="-120"/>
              </a:rPr>
              <a:t>アクション接続</a:t>
            </a:r>
            <a:endParaRPr lang="en-US" sz="1120" dirty="0"/>
          </a:p>
        </p:txBody>
      </p:sp>
      <p:sp>
        <p:nvSpPr>
          <p:cNvPr id="19" name="Shape 17"/>
          <p:cNvSpPr/>
          <p:nvPr/>
        </p:nvSpPr>
        <p:spPr>
          <a:xfrm>
            <a:off x="914400" y="2212848"/>
            <a:ext cx="1744980" cy="658368"/>
          </a:xfrm>
          <a:prstGeom prst="rect">
            <a:avLst/>
          </a:prstGeom>
          <a:solidFill>
            <a:srgbClr val="F9FBFC"/>
          </a:solidFill>
          <a:ln w="12700">
            <a:solidFill>
              <a:srgbClr val="CAD8E0"/>
            </a:solidFill>
            <a:prstDash val="solid"/>
          </a:ln>
        </p:spPr>
      </p:sp>
      <p:sp>
        <p:nvSpPr>
          <p:cNvPr id="20" name="Text 18"/>
          <p:cNvSpPr/>
          <p:nvPr/>
        </p:nvSpPr>
        <p:spPr>
          <a:xfrm>
            <a:off x="950976" y="2249424"/>
            <a:ext cx="1671828" cy="585216"/>
          </a:xfrm>
          <a:prstGeom prst="rect">
            <a:avLst/>
          </a:prstGeom>
          <a:noFill/>
          <a:ln/>
        </p:spPr>
        <p:txBody>
          <a:bodyPr wrap="square" lIns="0" tIns="0" rIns="0" bIns="0" rtlCol="0" anchor="ctr">
            <a:normAutofit/>
          </a:bodyPr>
          <a:lstStyle/>
          <a:p>
            <a:pPr marL="0" indent="0">
              <a:buNone/>
            </a:pPr>
            <a:r>
              <a:rPr lang="en-US" sz="1120" dirty="0">
                <a:solidFill>
                  <a:srgbClr val="111111"/>
                </a:solidFill>
                <a:latin typeface="Meiryo" pitchFamily="34" charset="0"/>
                <a:ea typeface="Meiryo" pitchFamily="34" charset="-122"/>
                <a:cs typeface="Meiryo" pitchFamily="34" charset="-120"/>
              </a:rPr>
              <a:t>画像分類</a:t>
            </a:r>
            <a:endParaRPr lang="en-US" sz="1120" dirty="0"/>
          </a:p>
        </p:txBody>
      </p:sp>
      <p:sp>
        <p:nvSpPr>
          <p:cNvPr id="21" name="Shape 19"/>
          <p:cNvSpPr/>
          <p:nvPr/>
        </p:nvSpPr>
        <p:spPr>
          <a:xfrm>
            <a:off x="2659380" y="2212848"/>
            <a:ext cx="1744980" cy="658368"/>
          </a:xfrm>
          <a:prstGeom prst="rect">
            <a:avLst/>
          </a:prstGeom>
          <a:solidFill>
            <a:srgbClr val="FFF5E8"/>
          </a:solidFill>
          <a:ln w="12700">
            <a:solidFill>
              <a:srgbClr val="CAD8E0"/>
            </a:solidFill>
            <a:prstDash val="solid"/>
          </a:ln>
        </p:spPr>
      </p:sp>
      <p:sp>
        <p:nvSpPr>
          <p:cNvPr id="22" name="Text 20"/>
          <p:cNvSpPr/>
          <p:nvPr/>
        </p:nvSpPr>
        <p:spPr>
          <a:xfrm>
            <a:off x="2677668" y="2231136"/>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23" name="Shape 21"/>
          <p:cNvSpPr/>
          <p:nvPr/>
        </p:nvSpPr>
        <p:spPr>
          <a:xfrm>
            <a:off x="4404360" y="2212848"/>
            <a:ext cx="1744980" cy="658368"/>
          </a:xfrm>
          <a:prstGeom prst="rect">
            <a:avLst/>
          </a:prstGeom>
          <a:solidFill>
            <a:srgbClr val="F8ECEB"/>
          </a:solidFill>
          <a:ln w="12700">
            <a:solidFill>
              <a:srgbClr val="CAD8E0"/>
            </a:solidFill>
            <a:prstDash val="solid"/>
          </a:ln>
        </p:spPr>
      </p:sp>
      <p:sp>
        <p:nvSpPr>
          <p:cNvPr id="24" name="Text 22"/>
          <p:cNvSpPr/>
          <p:nvPr/>
        </p:nvSpPr>
        <p:spPr>
          <a:xfrm>
            <a:off x="4422648" y="2231136"/>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25" name="Shape 23"/>
          <p:cNvSpPr/>
          <p:nvPr/>
        </p:nvSpPr>
        <p:spPr>
          <a:xfrm>
            <a:off x="6149340" y="2212848"/>
            <a:ext cx="1744980" cy="658368"/>
          </a:xfrm>
          <a:prstGeom prst="rect">
            <a:avLst/>
          </a:prstGeom>
          <a:solidFill>
            <a:srgbClr val="FFF5E8"/>
          </a:solidFill>
          <a:ln w="12700">
            <a:solidFill>
              <a:srgbClr val="CAD8E0"/>
            </a:solidFill>
            <a:prstDash val="solid"/>
          </a:ln>
        </p:spPr>
      </p:sp>
      <p:sp>
        <p:nvSpPr>
          <p:cNvPr id="26" name="Text 24"/>
          <p:cNvSpPr/>
          <p:nvPr/>
        </p:nvSpPr>
        <p:spPr>
          <a:xfrm>
            <a:off x="6167628" y="2231136"/>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27" name="Shape 25"/>
          <p:cNvSpPr/>
          <p:nvPr/>
        </p:nvSpPr>
        <p:spPr>
          <a:xfrm>
            <a:off x="7894320" y="2212848"/>
            <a:ext cx="1744980" cy="658368"/>
          </a:xfrm>
          <a:prstGeom prst="rect">
            <a:avLst/>
          </a:prstGeom>
          <a:solidFill>
            <a:srgbClr val="FFF5E8"/>
          </a:solidFill>
          <a:ln w="12700">
            <a:solidFill>
              <a:srgbClr val="CAD8E0"/>
            </a:solidFill>
            <a:prstDash val="solid"/>
          </a:ln>
        </p:spPr>
      </p:sp>
      <p:sp>
        <p:nvSpPr>
          <p:cNvPr id="28" name="Text 26"/>
          <p:cNvSpPr/>
          <p:nvPr/>
        </p:nvSpPr>
        <p:spPr>
          <a:xfrm>
            <a:off x="7912608" y="2231136"/>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29" name="Shape 27"/>
          <p:cNvSpPr/>
          <p:nvPr/>
        </p:nvSpPr>
        <p:spPr>
          <a:xfrm>
            <a:off x="9639300" y="2212848"/>
            <a:ext cx="1744980" cy="658368"/>
          </a:xfrm>
          <a:prstGeom prst="rect">
            <a:avLst/>
          </a:prstGeom>
          <a:solidFill>
            <a:srgbClr val="F8ECEB"/>
          </a:solidFill>
          <a:ln w="12700">
            <a:solidFill>
              <a:srgbClr val="CAD8E0"/>
            </a:solidFill>
            <a:prstDash val="solid"/>
          </a:ln>
        </p:spPr>
      </p:sp>
      <p:sp>
        <p:nvSpPr>
          <p:cNvPr id="30" name="Text 28"/>
          <p:cNvSpPr/>
          <p:nvPr/>
        </p:nvSpPr>
        <p:spPr>
          <a:xfrm>
            <a:off x="9657588" y="2231136"/>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31" name="Shape 29"/>
          <p:cNvSpPr/>
          <p:nvPr/>
        </p:nvSpPr>
        <p:spPr>
          <a:xfrm>
            <a:off x="914400" y="2871216"/>
            <a:ext cx="1744980" cy="658368"/>
          </a:xfrm>
          <a:prstGeom prst="rect">
            <a:avLst/>
          </a:prstGeom>
          <a:solidFill>
            <a:srgbClr val="F9FBFC"/>
          </a:solidFill>
          <a:ln w="12700">
            <a:solidFill>
              <a:srgbClr val="CAD8E0"/>
            </a:solidFill>
            <a:prstDash val="solid"/>
          </a:ln>
        </p:spPr>
      </p:sp>
      <p:sp>
        <p:nvSpPr>
          <p:cNvPr id="32" name="Text 30"/>
          <p:cNvSpPr/>
          <p:nvPr/>
        </p:nvSpPr>
        <p:spPr>
          <a:xfrm>
            <a:off x="950976" y="2907792"/>
            <a:ext cx="1671828" cy="585216"/>
          </a:xfrm>
          <a:prstGeom prst="rect">
            <a:avLst/>
          </a:prstGeom>
          <a:noFill/>
          <a:ln/>
        </p:spPr>
        <p:txBody>
          <a:bodyPr wrap="square" lIns="0" tIns="0" rIns="0" bIns="0" rtlCol="0" anchor="ctr">
            <a:normAutofit/>
          </a:bodyPr>
          <a:lstStyle/>
          <a:p>
            <a:pPr marL="0" indent="0">
              <a:buNone/>
            </a:pPr>
            <a:r>
              <a:rPr lang="en-US" sz="1120" dirty="0">
                <a:solidFill>
                  <a:srgbClr val="111111"/>
                </a:solidFill>
                <a:latin typeface="Meiryo" pitchFamily="34" charset="0"/>
                <a:ea typeface="Meiryo" pitchFamily="34" charset="-122"/>
                <a:cs typeface="Meiryo" pitchFamily="34" charset="-120"/>
              </a:rPr>
              <a:t>点群 / GNN</a:t>
            </a:r>
            <a:endParaRPr lang="en-US" sz="1120" dirty="0"/>
          </a:p>
        </p:txBody>
      </p:sp>
      <p:sp>
        <p:nvSpPr>
          <p:cNvPr id="33" name="Shape 31"/>
          <p:cNvSpPr/>
          <p:nvPr/>
        </p:nvSpPr>
        <p:spPr>
          <a:xfrm>
            <a:off x="2659380" y="2871216"/>
            <a:ext cx="1744980" cy="658368"/>
          </a:xfrm>
          <a:prstGeom prst="rect">
            <a:avLst/>
          </a:prstGeom>
          <a:solidFill>
            <a:srgbClr val="FFF5E8"/>
          </a:solidFill>
          <a:ln w="12700">
            <a:solidFill>
              <a:srgbClr val="CAD8E0"/>
            </a:solidFill>
            <a:prstDash val="solid"/>
          </a:ln>
        </p:spPr>
      </p:sp>
      <p:sp>
        <p:nvSpPr>
          <p:cNvPr id="34" name="Text 32"/>
          <p:cNvSpPr/>
          <p:nvPr/>
        </p:nvSpPr>
        <p:spPr>
          <a:xfrm>
            <a:off x="2677668" y="2889504"/>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35" name="Shape 33"/>
          <p:cNvSpPr/>
          <p:nvPr/>
        </p:nvSpPr>
        <p:spPr>
          <a:xfrm>
            <a:off x="4404360" y="2871216"/>
            <a:ext cx="1744980" cy="658368"/>
          </a:xfrm>
          <a:prstGeom prst="rect">
            <a:avLst/>
          </a:prstGeom>
          <a:solidFill>
            <a:srgbClr val="FFF5E8"/>
          </a:solidFill>
          <a:ln w="12700">
            <a:solidFill>
              <a:srgbClr val="CAD8E0"/>
            </a:solidFill>
            <a:prstDash val="solid"/>
          </a:ln>
        </p:spPr>
      </p:sp>
      <p:sp>
        <p:nvSpPr>
          <p:cNvPr id="36" name="Text 34"/>
          <p:cNvSpPr/>
          <p:nvPr/>
        </p:nvSpPr>
        <p:spPr>
          <a:xfrm>
            <a:off x="4422648" y="2889504"/>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37" name="Shape 35"/>
          <p:cNvSpPr/>
          <p:nvPr/>
        </p:nvSpPr>
        <p:spPr>
          <a:xfrm>
            <a:off x="6149340" y="2871216"/>
            <a:ext cx="1744980" cy="658368"/>
          </a:xfrm>
          <a:prstGeom prst="rect">
            <a:avLst/>
          </a:prstGeom>
          <a:solidFill>
            <a:srgbClr val="FFF5E8"/>
          </a:solidFill>
          <a:ln w="12700">
            <a:solidFill>
              <a:srgbClr val="CAD8E0"/>
            </a:solidFill>
            <a:prstDash val="solid"/>
          </a:ln>
        </p:spPr>
      </p:sp>
      <p:sp>
        <p:nvSpPr>
          <p:cNvPr id="38" name="Text 36"/>
          <p:cNvSpPr/>
          <p:nvPr/>
        </p:nvSpPr>
        <p:spPr>
          <a:xfrm>
            <a:off x="6167628" y="2889504"/>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39" name="Shape 37"/>
          <p:cNvSpPr/>
          <p:nvPr/>
        </p:nvSpPr>
        <p:spPr>
          <a:xfrm>
            <a:off x="7894320" y="2871216"/>
            <a:ext cx="1744980" cy="658368"/>
          </a:xfrm>
          <a:prstGeom prst="rect">
            <a:avLst/>
          </a:prstGeom>
          <a:solidFill>
            <a:srgbClr val="FFF5E8"/>
          </a:solidFill>
          <a:ln w="12700">
            <a:solidFill>
              <a:srgbClr val="CAD8E0"/>
            </a:solidFill>
            <a:prstDash val="solid"/>
          </a:ln>
        </p:spPr>
      </p:sp>
      <p:sp>
        <p:nvSpPr>
          <p:cNvPr id="40" name="Text 38"/>
          <p:cNvSpPr/>
          <p:nvPr/>
        </p:nvSpPr>
        <p:spPr>
          <a:xfrm>
            <a:off x="7912608" y="2889504"/>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41" name="Shape 39"/>
          <p:cNvSpPr/>
          <p:nvPr/>
        </p:nvSpPr>
        <p:spPr>
          <a:xfrm>
            <a:off x="9639300" y="2871216"/>
            <a:ext cx="1744980" cy="658368"/>
          </a:xfrm>
          <a:prstGeom prst="rect">
            <a:avLst/>
          </a:prstGeom>
          <a:solidFill>
            <a:srgbClr val="FFF5E8"/>
          </a:solidFill>
          <a:ln w="12700">
            <a:solidFill>
              <a:srgbClr val="CAD8E0"/>
            </a:solidFill>
            <a:prstDash val="solid"/>
          </a:ln>
        </p:spPr>
      </p:sp>
      <p:sp>
        <p:nvSpPr>
          <p:cNvPr id="42" name="Text 40"/>
          <p:cNvSpPr/>
          <p:nvPr/>
        </p:nvSpPr>
        <p:spPr>
          <a:xfrm>
            <a:off x="9657588" y="2889504"/>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43" name="Shape 41"/>
          <p:cNvSpPr/>
          <p:nvPr/>
        </p:nvSpPr>
        <p:spPr>
          <a:xfrm>
            <a:off x="914400" y="3529584"/>
            <a:ext cx="1744980" cy="658368"/>
          </a:xfrm>
          <a:prstGeom prst="rect">
            <a:avLst/>
          </a:prstGeom>
          <a:solidFill>
            <a:srgbClr val="F9FBFC"/>
          </a:solidFill>
          <a:ln w="12700">
            <a:solidFill>
              <a:srgbClr val="CAD8E0"/>
            </a:solidFill>
            <a:prstDash val="solid"/>
          </a:ln>
        </p:spPr>
      </p:sp>
      <p:sp>
        <p:nvSpPr>
          <p:cNvPr id="44" name="Text 42"/>
          <p:cNvSpPr/>
          <p:nvPr/>
        </p:nvSpPr>
        <p:spPr>
          <a:xfrm>
            <a:off x="950976" y="3566160"/>
            <a:ext cx="1671828" cy="585216"/>
          </a:xfrm>
          <a:prstGeom prst="rect">
            <a:avLst/>
          </a:prstGeom>
          <a:noFill/>
          <a:ln/>
        </p:spPr>
        <p:txBody>
          <a:bodyPr wrap="square" lIns="0" tIns="0" rIns="0" bIns="0" rtlCol="0" anchor="ctr">
            <a:normAutofit/>
          </a:bodyPr>
          <a:lstStyle/>
          <a:p>
            <a:pPr marL="0" indent="0">
              <a:buNone/>
            </a:pPr>
            <a:r>
              <a:rPr lang="en-US" sz="1120" dirty="0">
                <a:solidFill>
                  <a:srgbClr val="111111"/>
                </a:solidFill>
                <a:latin typeface="Meiryo" pitchFamily="34" charset="0"/>
                <a:ea typeface="Meiryo" pitchFamily="34" charset="-122"/>
                <a:cs typeface="Meiryo" pitchFamily="34" charset="-120"/>
              </a:rPr>
              <a:t>統計ルール</a:t>
            </a:r>
            <a:endParaRPr lang="en-US" sz="1120" dirty="0"/>
          </a:p>
        </p:txBody>
      </p:sp>
      <p:sp>
        <p:nvSpPr>
          <p:cNvPr id="45" name="Shape 43"/>
          <p:cNvSpPr/>
          <p:nvPr/>
        </p:nvSpPr>
        <p:spPr>
          <a:xfrm>
            <a:off x="2659380" y="3529584"/>
            <a:ext cx="1744980" cy="658368"/>
          </a:xfrm>
          <a:prstGeom prst="rect">
            <a:avLst/>
          </a:prstGeom>
          <a:solidFill>
            <a:srgbClr val="E8F7F1"/>
          </a:solidFill>
          <a:ln w="12700">
            <a:solidFill>
              <a:srgbClr val="CAD8E0"/>
            </a:solidFill>
            <a:prstDash val="solid"/>
          </a:ln>
        </p:spPr>
      </p:sp>
      <p:sp>
        <p:nvSpPr>
          <p:cNvPr id="46" name="Text 44"/>
          <p:cNvSpPr/>
          <p:nvPr/>
        </p:nvSpPr>
        <p:spPr>
          <a:xfrm>
            <a:off x="2677668" y="3547872"/>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47" name="Shape 45"/>
          <p:cNvSpPr/>
          <p:nvPr/>
        </p:nvSpPr>
        <p:spPr>
          <a:xfrm>
            <a:off x="4404360" y="3529584"/>
            <a:ext cx="1744980" cy="658368"/>
          </a:xfrm>
          <a:prstGeom prst="rect">
            <a:avLst/>
          </a:prstGeom>
          <a:solidFill>
            <a:srgbClr val="F8ECEB"/>
          </a:solidFill>
          <a:ln w="12700">
            <a:solidFill>
              <a:srgbClr val="CAD8E0"/>
            </a:solidFill>
            <a:prstDash val="solid"/>
          </a:ln>
        </p:spPr>
      </p:sp>
      <p:sp>
        <p:nvSpPr>
          <p:cNvPr id="48" name="Text 46"/>
          <p:cNvSpPr/>
          <p:nvPr/>
        </p:nvSpPr>
        <p:spPr>
          <a:xfrm>
            <a:off x="4422648" y="3547872"/>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49" name="Shape 47"/>
          <p:cNvSpPr/>
          <p:nvPr/>
        </p:nvSpPr>
        <p:spPr>
          <a:xfrm>
            <a:off x="6149340" y="3529584"/>
            <a:ext cx="1744980" cy="658368"/>
          </a:xfrm>
          <a:prstGeom prst="rect">
            <a:avLst/>
          </a:prstGeom>
          <a:solidFill>
            <a:srgbClr val="F8ECEB"/>
          </a:solidFill>
          <a:ln w="12700">
            <a:solidFill>
              <a:srgbClr val="CAD8E0"/>
            </a:solidFill>
            <a:prstDash val="solid"/>
          </a:ln>
        </p:spPr>
      </p:sp>
      <p:sp>
        <p:nvSpPr>
          <p:cNvPr id="50" name="Text 48"/>
          <p:cNvSpPr/>
          <p:nvPr/>
        </p:nvSpPr>
        <p:spPr>
          <a:xfrm>
            <a:off x="6167628" y="3547872"/>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51" name="Shape 49"/>
          <p:cNvSpPr/>
          <p:nvPr/>
        </p:nvSpPr>
        <p:spPr>
          <a:xfrm>
            <a:off x="7894320" y="3529584"/>
            <a:ext cx="1744980" cy="658368"/>
          </a:xfrm>
          <a:prstGeom prst="rect">
            <a:avLst/>
          </a:prstGeom>
          <a:solidFill>
            <a:srgbClr val="E8F7F1"/>
          </a:solidFill>
          <a:ln w="12700">
            <a:solidFill>
              <a:srgbClr val="CAD8E0"/>
            </a:solidFill>
            <a:prstDash val="solid"/>
          </a:ln>
        </p:spPr>
      </p:sp>
      <p:sp>
        <p:nvSpPr>
          <p:cNvPr id="52" name="Text 50"/>
          <p:cNvSpPr/>
          <p:nvPr/>
        </p:nvSpPr>
        <p:spPr>
          <a:xfrm>
            <a:off x="7912608" y="3547872"/>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53" name="Shape 51"/>
          <p:cNvSpPr/>
          <p:nvPr/>
        </p:nvSpPr>
        <p:spPr>
          <a:xfrm>
            <a:off x="9639300" y="3529584"/>
            <a:ext cx="1744980" cy="658368"/>
          </a:xfrm>
          <a:prstGeom prst="rect">
            <a:avLst/>
          </a:prstGeom>
          <a:solidFill>
            <a:srgbClr val="FFF5E8"/>
          </a:solidFill>
          <a:ln w="12700">
            <a:solidFill>
              <a:srgbClr val="CAD8E0"/>
            </a:solidFill>
            <a:prstDash val="solid"/>
          </a:ln>
        </p:spPr>
      </p:sp>
      <p:sp>
        <p:nvSpPr>
          <p:cNvPr id="54" name="Text 52"/>
          <p:cNvSpPr/>
          <p:nvPr/>
        </p:nvSpPr>
        <p:spPr>
          <a:xfrm>
            <a:off x="9657588" y="3547872"/>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55" name="Shape 53"/>
          <p:cNvSpPr/>
          <p:nvPr/>
        </p:nvSpPr>
        <p:spPr>
          <a:xfrm>
            <a:off x="914400" y="4187952"/>
            <a:ext cx="1744980" cy="658368"/>
          </a:xfrm>
          <a:prstGeom prst="rect">
            <a:avLst/>
          </a:prstGeom>
          <a:solidFill>
            <a:srgbClr val="F9FBFC"/>
          </a:solidFill>
          <a:ln w="12700">
            <a:solidFill>
              <a:srgbClr val="CAD8E0"/>
            </a:solidFill>
            <a:prstDash val="solid"/>
          </a:ln>
        </p:spPr>
      </p:sp>
      <p:sp>
        <p:nvSpPr>
          <p:cNvPr id="56" name="Text 54"/>
          <p:cNvSpPr/>
          <p:nvPr/>
        </p:nvSpPr>
        <p:spPr>
          <a:xfrm>
            <a:off x="950976" y="4224528"/>
            <a:ext cx="1671828" cy="585216"/>
          </a:xfrm>
          <a:prstGeom prst="rect">
            <a:avLst/>
          </a:prstGeom>
          <a:noFill/>
          <a:ln/>
        </p:spPr>
        <p:txBody>
          <a:bodyPr wrap="square" lIns="0" tIns="0" rIns="0" bIns="0" rtlCol="0" anchor="ctr">
            <a:normAutofit/>
          </a:bodyPr>
          <a:lstStyle/>
          <a:p>
            <a:pPr marL="0" indent="0">
              <a:buNone/>
            </a:pPr>
            <a:r>
              <a:rPr lang="en-US" sz="1120" dirty="0">
                <a:solidFill>
                  <a:srgbClr val="111111"/>
                </a:solidFill>
                <a:latin typeface="Meiryo" pitchFamily="34" charset="0"/>
                <a:ea typeface="Meiryo" pitchFamily="34" charset="-122"/>
                <a:cs typeface="Meiryo" pitchFamily="34" charset="-120"/>
              </a:rPr>
              <a:t>本提案</a:t>
            </a:r>
            <a:endParaRPr lang="en-US" sz="1120" dirty="0"/>
          </a:p>
        </p:txBody>
      </p:sp>
      <p:sp>
        <p:nvSpPr>
          <p:cNvPr id="57" name="Shape 55"/>
          <p:cNvSpPr/>
          <p:nvPr/>
        </p:nvSpPr>
        <p:spPr>
          <a:xfrm>
            <a:off x="2659380" y="4187952"/>
            <a:ext cx="1744980" cy="658368"/>
          </a:xfrm>
          <a:prstGeom prst="rect">
            <a:avLst/>
          </a:prstGeom>
          <a:solidFill>
            <a:srgbClr val="E8F7F1"/>
          </a:solidFill>
          <a:ln w="12700">
            <a:solidFill>
              <a:srgbClr val="CAD8E0"/>
            </a:solidFill>
            <a:prstDash val="solid"/>
          </a:ln>
        </p:spPr>
      </p:sp>
      <p:sp>
        <p:nvSpPr>
          <p:cNvPr id="58" name="Text 56"/>
          <p:cNvSpPr/>
          <p:nvPr/>
        </p:nvSpPr>
        <p:spPr>
          <a:xfrm>
            <a:off x="2677668" y="4206240"/>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59" name="Shape 57"/>
          <p:cNvSpPr/>
          <p:nvPr/>
        </p:nvSpPr>
        <p:spPr>
          <a:xfrm>
            <a:off x="4404360" y="4187952"/>
            <a:ext cx="1744980" cy="658368"/>
          </a:xfrm>
          <a:prstGeom prst="rect">
            <a:avLst/>
          </a:prstGeom>
          <a:solidFill>
            <a:srgbClr val="E8F7F1"/>
          </a:solidFill>
          <a:ln w="12700">
            <a:solidFill>
              <a:srgbClr val="CAD8E0"/>
            </a:solidFill>
            <a:prstDash val="solid"/>
          </a:ln>
        </p:spPr>
      </p:sp>
      <p:sp>
        <p:nvSpPr>
          <p:cNvPr id="60" name="Text 58"/>
          <p:cNvSpPr/>
          <p:nvPr/>
        </p:nvSpPr>
        <p:spPr>
          <a:xfrm>
            <a:off x="4422648" y="4206240"/>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61" name="Shape 59"/>
          <p:cNvSpPr/>
          <p:nvPr/>
        </p:nvSpPr>
        <p:spPr>
          <a:xfrm>
            <a:off x="6149340" y="4187952"/>
            <a:ext cx="1744980" cy="658368"/>
          </a:xfrm>
          <a:prstGeom prst="rect">
            <a:avLst/>
          </a:prstGeom>
          <a:solidFill>
            <a:srgbClr val="E8F7F1"/>
          </a:solidFill>
          <a:ln w="12700">
            <a:solidFill>
              <a:srgbClr val="CAD8E0"/>
            </a:solidFill>
            <a:prstDash val="solid"/>
          </a:ln>
        </p:spPr>
      </p:sp>
      <p:sp>
        <p:nvSpPr>
          <p:cNvPr id="62" name="Text 60"/>
          <p:cNvSpPr/>
          <p:nvPr/>
        </p:nvSpPr>
        <p:spPr>
          <a:xfrm>
            <a:off x="6167628" y="4206240"/>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7894320" y="4187952"/>
            <a:ext cx="1744980" cy="658368"/>
          </a:xfrm>
          <a:prstGeom prst="rect">
            <a:avLst/>
          </a:prstGeom>
          <a:solidFill>
            <a:srgbClr val="E8F7F1"/>
          </a:solidFill>
          <a:ln w="12700">
            <a:solidFill>
              <a:srgbClr val="CAD8E0"/>
            </a:solidFill>
            <a:prstDash val="solid"/>
          </a:ln>
        </p:spPr>
      </p:sp>
      <p:sp>
        <p:nvSpPr>
          <p:cNvPr id="64" name="Text 62"/>
          <p:cNvSpPr/>
          <p:nvPr/>
        </p:nvSpPr>
        <p:spPr>
          <a:xfrm>
            <a:off x="7912608" y="4206240"/>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65" name="Shape 63"/>
          <p:cNvSpPr/>
          <p:nvPr/>
        </p:nvSpPr>
        <p:spPr>
          <a:xfrm>
            <a:off x="9639300" y="4187952"/>
            <a:ext cx="1744980" cy="658368"/>
          </a:xfrm>
          <a:prstGeom prst="rect">
            <a:avLst/>
          </a:prstGeom>
          <a:solidFill>
            <a:srgbClr val="E8F7F1"/>
          </a:solidFill>
          <a:ln w="12700">
            <a:solidFill>
              <a:srgbClr val="CAD8E0"/>
            </a:solidFill>
            <a:prstDash val="solid"/>
          </a:ln>
        </p:spPr>
      </p:sp>
      <p:sp>
        <p:nvSpPr>
          <p:cNvPr id="66" name="Text 64"/>
          <p:cNvSpPr/>
          <p:nvPr/>
        </p:nvSpPr>
        <p:spPr>
          <a:xfrm>
            <a:off x="9657588" y="4206240"/>
            <a:ext cx="1708404" cy="621792"/>
          </a:xfrm>
          <a:prstGeom prst="rect">
            <a:avLst/>
          </a:prstGeom>
          <a:noFill/>
          <a:ln/>
        </p:spPr>
        <p:txBody>
          <a:bodyPr wrap="square" lIns="0" tIns="0" rIns="0" bIns="0" rtlCol="0" anchor="ctr">
            <a:normAutofit/>
          </a:bodyPr>
          <a:lstStyle/>
          <a:p>
            <a:pPr marL="0" indent="0" algn="ctr">
              <a:buNone/>
            </a:pPr>
            <a:r>
              <a:rPr lang="en-US" sz="1300" dirty="0">
                <a:solidFill>
                  <a:srgbClr val="0B3C5D"/>
                </a:solidFill>
                <a:latin typeface="Meiryo" pitchFamily="34" charset="0"/>
                <a:ea typeface="Meiryo" pitchFamily="34" charset="-122"/>
                <a:cs typeface="Meiryo" pitchFamily="34" charset="-120"/>
              </a:rPr>
              <a:t>○</a:t>
            </a:r>
            <a:endParaRPr lang="en-US" sz="1300" dirty="0"/>
          </a:p>
        </p:txBody>
      </p:sp>
      <p:sp>
        <p:nvSpPr>
          <p:cNvPr id="67" name="Shape 65"/>
          <p:cNvSpPr/>
          <p:nvPr/>
        </p:nvSpPr>
        <p:spPr>
          <a:xfrm>
            <a:off x="914400" y="5074920"/>
            <a:ext cx="10424160" cy="685800"/>
          </a:xfrm>
          <a:prstGeom prst="roundRect">
            <a:avLst>
              <a:gd name="adj" fmla="val 8000"/>
            </a:avLst>
          </a:prstGeom>
          <a:solidFill>
            <a:srgbClr val="F7FAFC"/>
          </a:solidFill>
          <a:ln w="12700">
            <a:solidFill>
              <a:srgbClr val="CAD8E0"/>
            </a:solidFill>
            <a:prstDash val="solid"/>
          </a:ln>
        </p:spPr>
      </p:sp>
      <p:sp>
        <p:nvSpPr>
          <p:cNvPr id="68" name="Text 66"/>
          <p:cNvSpPr/>
          <p:nvPr/>
        </p:nvSpPr>
        <p:spPr>
          <a:xfrm>
            <a:off x="1097280" y="5285232"/>
            <a:ext cx="10058400" cy="164592"/>
          </a:xfrm>
          <a:prstGeom prst="rect">
            <a:avLst/>
          </a:prstGeom>
          <a:noFill/>
          <a:ln/>
        </p:spPr>
        <p:txBody>
          <a:bodyPr wrap="square" lIns="508" tIns="508" rIns="508" bIns="508" rtlCol="0" anchor="t">
            <a:normAutofit/>
          </a:bodyPr>
          <a:lstStyle/>
          <a:p>
            <a:pPr marL="0" indent="0" algn="ctr">
              <a:buNone/>
            </a:pPr>
            <a:r>
              <a:rPr lang="en-US" sz="1430" dirty="0">
                <a:solidFill>
                  <a:srgbClr val="111111"/>
                </a:solidFill>
                <a:latin typeface="Meiryo" pitchFamily="34" charset="0"/>
                <a:ea typeface="Meiryo" pitchFamily="34" charset="-122"/>
                <a:cs typeface="Meiryo" pitchFamily="34" charset="-120"/>
              </a:rPr>
              <a:t>差分候補: dual-grid + size factorization + explanatory fitter + uncertainty gating の組合せにより、単独方式の穴を相補的に埋める。</a:t>
            </a:r>
            <a:endParaRPr lang="en-US" sz="1430" dirty="0"/>
          </a:p>
        </p:txBody>
      </p:sp>
      <p:sp>
        <p:nvSpPr>
          <p:cNvPr id="69" name="Text 67"/>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21</a:t>
            </a:r>
            <a:endParaRPr lang="en-US" sz="1000" dirty="0"/>
          </a:p>
        </p:txBody>
      </p:sp>
      <p:sp>
        <p:nvSpPr>
          <p:cNvPr id="70" name="Text 68"/>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課題 → 提案手段 → 効果 の対応関係</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Problem-Solution-Effect</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従来課題に対する発明の打ち手</a:t>
            </a:r>
            <a:endParaRPr lang="en-US" sz="1400" dirty="0"/>
          </a:p>
        </p:txBody>
      </p:sp>
      <p:sp>
        <p:nvSpPr>
          <p:cNvPr id="7" name="Shape 5"/>
          <p:cNvSpPr/>
          <p:nvPr/>
        </p:nvSpPr>
        <p:spPr>
          <a:xfrm>
            <a:off x="914400" y="1572768"/>
            <a:ext cx="2148840" cy="658368"/>
          </a:xfrm>
          <a:prstGeom prst="roundRect">
            <a:avLst>
              <a:gd name="adj" fmla="val 8333"/>
            </a:avLst>
          </a:prstGeom>
          <a:solidFill>
            <a:srgbClr val="FFF8F0"/>
          </a:solidFill>
          <a:ln w="12700">
            <a:solidFill>
              <a:srgbClr val="F4A261"/>
            </a:solidFill>
            <a:prstDash val="solid"/>
          </a:ln>
        </p:spPr>
      </p:sp>
      <p:sp>
        <p:nvSpPr>
          <p:cNvPr id="8" name="Text 6"/>
          <p:cNvSpPr/>
          <p:nvPr/>
        </p:nvSpPr>
        <p:spPr>
          <a:xfrm>
            <a:off x="1051560" y="1773936"/>
            <a:ext cx="1828800" cy="182880"/>
          </a:xfrm>
          <a:prstGeom prst="rect">
            <a:avLst/>
          </a:prstGeom>
          <a:noFill/>
          <a:ln/>
        </p:spPr>
        <p:txBody>
          <a:bodyPr wrap="square" lIns="508" tIns="508" rIns="508" bIns="508" rtlCol="0" anchor="t">
            <a:normAutofit/>
          </a:bodyPr>
          <a:lstStyle/>
          <a:p>
            <a:pPr marL="0" indent="0" algn="ctr">
              <a:buNone/>
            </a:pPr>
            <a:r>
              <a:rPr lang="en-US" sz="1550" b="1" dirty="0">
                <a:solidFill>
                  <a:srgbClr val="111111"/>
                </a:solidFill>
                <a:latin typeface="Meiryo" pitchFamily="34" charset="0"/>
                <a:ea typeface="Meiryo" pitchFamily="34" charset="-122"/>
                <a:cs typeface="Meiryo" pitchFamily="34" charset="-120"/>
              </a:rPr>
              <a:t>疎データ</a:t>
            </a:r>
            <a:endParaRPr lang="en-US" sz="1550" dirty="0"/>
          </a:p>
        </p:txBody>
      </p:sp>
      <p:sp>
        <p:nvSpPr>
          <p:cNvPr id="9" name="Shape 7"/>
          <p:cNvSpPr/>
          <p:nvPr/>
        </p:nvSpPr>
        <p:spPr>
          <a:xfrm>
            <a:off x="3246120" y="1773936"/>
            <a:ext cx="329184" cy="237744"/>
          </a:xfrm>
          <a:prstGeom prst="chevron">
            <a:avLst/>
          </a:prstGeom>
          <a:solidFill>
            <a:srgbClr val="D7E3EA"/>
          </a:solidFill>
          <a:ln w="12700">
            <a:solidFill>
              <a:srgbClr val="D7E3EA"/>
            </a:solidFill>
            <a:prstDash val="solid"/>
          </a:ln>
        </p:spPr>
      </p:sp>
      <p:sp>
        <p:nvSpPr>
          <p:cNvPr id="10" name="Shape 8"/>
          <p:cNvSpPr/>
          <p:nvPr/>
        </p:nvSpPr>
        <p:spPr>
          <a:xfrm>
            <a:off x="3703320" y="1572768"/>
            <a:ext cx="3429000" cy="658368"/>
          </a:xfrm>
          <a:prstGeom prst="roundRect">
            <a:avLst>
              <a:gd name="adj" fmla="val 8333"/>
            </a:avLst>
          </a:prstGeom>
          <a:solidFill>
            <a:srgbClr val="F5FBFF"/>
          </a:solidFill>
          <a:ln w="12700">
            <a:solidFill>
              <a:srgbClr val="4FC3F7"/>
            </a:solidFill>
            <a:prstDash val="solid"/>
          </a:ln>
        </p:spPr>
      </p:sp>
      <p:sp>
        <p:nvSpPr>
          <p:cNvPr id="11" name="Text 9"/>
          <p:cNvSpPr/>
          <p:nvPr/>
        </p:nvSpPr>
        <p:spPr>
          <a:xfrm>
            <a:off x="3858768" y="1773936"/>
            <a:ext cx="306324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dual-grid + size hist</a:t>
            </a:r>
            <a:endParaRPr lang="en-US" sz="1500" dirty="0"/>
          </a:p>
        </p:txBody>
      </p:sp>
      <p:sp>
        <p:nvSpPr>
          <p:cNvPr id="12" name="Shape 10"/>
          <p:cNvSpPr/>
          <p:nvPr/>
        </p:nvSpPr>
        <p:spPr>
          <a:xfrm>
            <a:off x="7315200" y="1773936"/>
            <a:ext cx="329184" cy="237744"/>
          </a:xfrm>
          <a:prstGeom prst="chevron">
            <a:avLst/>
          </a:prstGeom>
          <a:solidFill>
            <a:srgbClr val="D7E3EA"/>
          </a:solidFill>
          <a:ln w="12700">
            <a:solidFill>
              <a:srgbClr val="D7E3EA"/>
            </a:solidFill>
            <a:prstDash val="solid"/>
          </a:ln>
        </p:spPr>
      </p:sp>
      <p:sp>
        <p:nvSpPr>
          <p:cNvPr id="13" name="Shape 11"/>
          <p:cNvSpPr/>
          <p:nvPr/>
        </p:nvSpPr>
        <p:spPr>
          <a:xfrm>
            <a:off x="7772400" y="1572768"/>
            <a:ext cx="3246120" cy="658368"/>
          </a:xfrm>
          <a:prstGeom prst="roundRect">
            <a:avLst>
              <a:gd name="adj" fmla="val 8333"/>
            </a:avLst>
          </a:prstGeom>
          <a:solidFill>
            <a:srgbClr val="F4FBF8"/>
          </a:solidFill>
          <a:ln w="12700">
            <a:solidFill>
              <a:srgbClr val="2A9D8F"/>
            </a:solidFill>
            <a:prstDash val="solid"/>
          </a:ln>
        </p:spPr>
      </p:sp>
      <p:sp>
        <p:nvSpPr>
          <p:cNvPr id="14" name="Text 12"/>
          <p:cNvSpPr/>
          <p:nvPr/>
        </p:nvSpPr>
        <p:spPr>
          <a:xfrm>
            <a:off x="7936992" y="1773936"/>
            <a:ext cx="288036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低粒子数でも cause map を保持</a:t>
            </a:r>
            <a:endParaRPr lang="en-US" sz="1500" dirty="0"/>
          </a:p>
        </p:txBody>
      </p:sp>
      <p:sp>
        <p:nvSpPr>
          <p:cNvPr id="15" name="Shape 13"/>
          <p:cNvSpPr/>
          <p:nvPr/>
        </p:nvSpPr>
        <p:spPr>
          <a:xfrm>
            <a:off x="914400" y="2441448"/>
            <a:ext cx="2148840" cy="658368"/>
          </a:xfrm>
          <a:prstGeom prst="roundRect">
            <a:avLst>
              <a:gd name="adj" fmla="val 8333"/>
            </a:avLst>
          </a:prstGeom>
          <a:solidFill>
            <a:srgbClr val="FFF8F0"/>
          </a:solidFill>
          <a:ln w="12700">
            <a:solidFill>
              <a:srgbClr val="F4A261"/>
            </a:solidFill>
            <a:prstDash val="solid"/>
          </a:ln>
        </p:spPr>
      </p:sp>
      <p:sp>
        <p:nvSpPr>
          <p:cNvPr id="16" name="Text 14"/>
          <p:cNvSpPr/>
          <p:nvPr/>
        </p:nvSpPr>
        <p:spPr>
          <a:xfrm>
            <a:off x="1051560" y="2642616"/>
            <a:ext cx="1828800" cy="182880"/>
          </a:xfrm>
          <a:prstGeom prst="rect">
            <a:avLst/>
          </a:prstGeom>
          <a:noFill/>
          <a:ln/>
        </p:spPr>
        <p:txBody>
          <a:bodyPr wrap="square" lIns="508" tIns="508" rIns="508" bIns="508" rtlCol="0" anchor="t">
            <a:normAutofit/>
          </a:bodyPr>
          <a:lstStyle/>
          <a:p>
            <a:pPr marL="0" indent="0" algn="ctr">
              <a:buNone/>
            </a:pPr>
            <a:r>
              <a:rPr lang="en-US" sz="1550" b="1" dirty="0">
                <a:solidFill>
                  <a:srgbClr val="111111"/>
                </a:solidFill>
                <a:latin typeface="Meiryo" pitchFamily="34" charset="0"/>
                <a:ea typeface="Meiryo" pitchFamily="34" charset="-122"/>
                <a:cs typeface="Meiryo" pitchFamily="34" charset="-120"/>
              </a:rPr>
              <a:t>位置×サイズの曖昧さ</a:t>
            </a:r>
            <a:endParaRPr lang="en-US" sz="1550" dirty="0"/>
          </a:p>
        </p:txBody>
      </p:sp>
      <p:sp>
        <p:nvSpPr>
          <p:cNvPr id="17" name="Shape 15"/>
          <p:cNvSpPr/>
          <p:nvPr/>
        </p:nvSpPr>
        <p:spPr>
          <a:xfrm>
            <a:off x="3246120" y="2642616"/>
            <a:ext cx="329184" cy="237744"/>
          </a:xfrm>
          <a:prstGeom prst="chevron">
            <a:avLst/>
          </a:prstGeom>
          <a:solidFill>
            <a:srgbClr val="D7E3EA"/>
          </a:solidFill>
          <a:ln w="12700">
            <a:solidFill>
              <a:srgbClr val="D7E3EA"/>
            </a:solidFill>
            <a:prstDash val="solid"/>
          </a:ln>
        </p:spPr>
      </p:sp>
      <p:sp>
        <p:nvSpPr>
          <p:cNvPr id="18" name="Shape 16"/>
          <p:cNvSpPr/>
          <p:nvPr/>
        </p:nvSpPr>
        <p:spPr>
          <a:xfrm>
            <a:off x="3703320" y="2441448"/>
            <a:ext cx="3429000" cy="658368"/>
          </a:xfrm>
          <a:prstGeom prst="roundRect">
            <a:avLst>
              <a:gd name="adj" fmla="val 8333"/>
            </a:avLst>
          </a:prstGeom>
          <a:solidFill>
            <a:srgbClr val="F5FBFF"/>
          </a:solidFill>
          <a:ln w="12700">
            <a:solidFill>
              <a:srgbClr val="4FC3F7"/>
            </a:solidFill>
            <a:prstDash val="solid"/>
          </a:ln>
        </p:spPr>
      </p:sp>
      <p:sp>
        <p:nvSpPr>
          <p:cNvPr id="19" name="Text 17"/>
          <p:cNvSpPr/>
          <p:nvPr/>
        </p:nvSpPr>
        <p:spPr>
          <a:xfrm>
            <a:off x="3858768" y="2642616"/>
            <a:ext cx="306324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global size prior + local residual</a:t>
            </a:r>
            <a:endParaRPr lang="en-US" sz="1500" dirty="0"/>
          </a:p>
        </p:txBody>
      </p:sp>
      <p:sp>
        <p:nvSpPr>
          <p:cNvPr id="20" name="Shape 18"/>
          <p:cNvSpPr/>
          <p:nvPr/>
        </p:nvSpPr>
        <p:spPr>
          <a:xfrm>
            <a:off x="7315200" y="2642616"/>
            <a:ext cx="329184" cy="237744"/>
          </a:xfrm>
          <a:prstGeom prst="chevron">
            <a:avLst/>
          </a:prstGeom>
          <a:solidFill>
            <a:srgbClr val="D7E3EA"/>
          </a:solidFill>
          <a:ln w="12700">
            <a:solidFill>
              <a:srgbClr val="D7E3EA"/>
            </a:solidFill>
            <a:prstDash val="solid"/>
          </a:ln>
        </p:spPr>
      </p:sp>
      <p:sp>
        <p:nvSpPr>
          <p:cNvPr id="21" name="Shape 19"/>
          <p:cNvSpPr/>
          <p:nvPr/>
        </p:nvSpPr>
        <p:spPr>
          <a:xfrm>
            <a:off x="7772400" y="2441448"/>
            <a:ext cx="3246120" cy="658368"/>
          </a:xfrm>
          <a:prstGeom prst="roundRect">
            <a:avLst>
              <a:gd name="adj" fmla="val 8333"/>
            </a:avLst>
          </a:prstGeom>
          <a:solidFill>
            <a:srgbClr val="F4FBF8"/>
          </a:solidFill>
          <a:ln w="12700">
            <a:solidFill>
              <a:srgbClr val="2A9D8F"/>
            </a:solidFill>
            <a:prstDash val="solid"/>
          </a:ln>
        </p:spPr>
      </p:sp>
      <p:sp>
        <p:nvSpPr>
          <p:cNvPr id="22" name="Text 20"/>
          <p:cNvSpPr/>
          <p:nvPr/>
        </p:nvSpPr>
        <p:spPr>
          <a:xfrm>
            <a:off x="7936992" y="2642616"/>
            <a:ext cx="288036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同位置での size 起因差を表現</a:t>
            </a:r>
            <a:endParaRPr lang="en-US" sz="1500" dirty="0"/>
          </a:p>
        </p:txBody>
      </p:sp>
      <p:sp>
        <p:nvSpPr>
          <p:cNvPr id="23" name="Shape 21"/>
          <p:cNvSpPr/>
          <p:nvPr/>
        </p:nvSpPr>
        <p:spPr>
          <a:xfrm>
            <a:off x="914400" y="3310128"/>
            <a:ext cx="2148840" cy="658368"/>
          </a:xfrm>
          <a:prstGeom prst="roundRect">
            <a:avLst>
              <a:gd name="adj" fmla="val 8333"/>
            </a:avLst>
          </a:prstGeom>
          <a:solidFill>
            <a:srgbClr val="FFF8F0"/>
          </a:solidFill>
          <a:ln w="12700">
            <a:solidFill>
              <a:srgbClr val="F4A261"/>
            </a:solidFill>
            <a:prstDash val="solid"/>
          </a:ln>
        </p:spPr>
      </p:sp>
      <p:sp>
        <p:nvSpPr>
          <p:cNvPr id="24" name="Text 22"/>
          <p:cNvSpPr/>
          <p:nvPr/>
        </p:nvSpPr>
        <p:spPr>
          <a:xfrm>
            <a:off x="1051560" y="3511296"/>
            <a:ext cx="1828800" cy="182880"/>
          </a:xfrm>
          <a:prstGeom prst="rect">
            <a:avLst/>
          </a:prstGeom>
          <a:noFill/>
          <a:ln/>
        </p:spPr>
        <p:txBody>
          <a:bodyPr wrap="square" lIns="508" tIns="508" rIns="508" bIns="508" rtlCol="0" anchor="t">
            <a:normAutofit/>
          </a:bodyPr>
          <a:lstStyle/>
          <a:p>
            <a:pPr marL="0" indent="0" algn="ctr">
              <a:buNone/>
            </a:pPr>
            <a:r>
              <a:rPr lang="en-US" sz="1550" b="1" dirty="0">
                <a:solidFill>
                  <a:srgbClr val="111111"/>
                </a:solidFill>
                <a:latin typeface="Meiryo" pitchFamily="34" charset="0"/>
                <a:ea typeface="Meiryo" pitchFamily="34" charset="-122"/>
                <a:cs typeface="Meiryo" pitchFamily="34" charset="-120"/>
              </a:rPr>
              <a:t>混合要因</a:t>
            </a:r>
            <a:endParaRPr lang="en-US" sz="1550" dirty="0"/>
          </a:p>
        </p:txBody>
      </p:sp>
      <p:sp>
        <p:nvSpPr>
          <p:cNvPr id="25" name="Shape 23"/>
          <p:cNvSpPr/>
          <p:nvPr/>
        </p:nvSpPr>
        <p:spPr>
          <a:xfrm>
            <a:off x="3246120" y="3511296"/>
            <a:ext cx="329184" cy="237744"/>
          </a:xfrm>
          <a:prstGeom prst="chevron">
            <a:avLst/>
          </a:prstGeom>
          <a:solidFill>
            <a:srgbClr val="D7E3EA"/>
          </a:solidFill>
          <a:ln w="12700">
            <a:solidFill>
              <a:srgbClr val="D7E3EA"/>
            </a:solidFill>
            <a:prstDash val="solid"/>
          </a:ln>
        </p:spPr>
      </p:sp>
      <p:sp>
        <p:nvSpPr>
          <p:cNvPr id="26" name="Shape 24"/>
          <p:cNvSpPr/>
          <p:nvPr/>
        </p:nvSpPr>
        <p:spPr>
          <a:xfrm>
            <a:off x="3703320" y="3310128"/>
            <a:ext cx="3429000" cy="658368"/>
          </a:xfrm>
          <a:prstGeom prst="roundRect">
            <a:avLst>
              <a:gd name="adj" fmla="val 8333"/>
            </a:avLst>
          </a:prstGeom>
          <a:solidFill>
            <a:srgbClr val="F5FBFF"/>
          </a:solidFill>
          <a:ln w="12700">
            <a:solidFill>
              <a:srgbClr val="4FC3F7"/>
            </a:solidFill>
            <a:prstDash val="solid"/>
          </a:ln>
        </p:spPr>
      </p:sp>
      <p:sp>
        <p:nvSpPr>
          <p:cNvPr id="27" name="Text 25"/>
          <p:cNvSpPr/>
          <p:nvPr/>
        </p:nvSpPr>
        <p:spPr>
          <a:xfrm>
            <a:off x="3858768" y="3511296"/>
            <a:ext cx="306324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MarkedMixture + responsibility</a:t>
            </a:r>
            <a:endParaRPr lang="en-US" sz="1500" dirty="0"/>
          </a:p>
        </p:txBody>
      </p:sp>
      <p:sp>
        <p:nvSpPr>
          <p:cNvPr id="28" name="Shape 26"/>
          <p:cNvSpPr/>
          <p:nvPr/>
        </p:nvSpPr>
        <p:spPr>
          <a:xfrm>
            <a:off x="7315200" y="3511296"/>
            <a:ext cx="329184" cy="237744"/>
          </a:xfrm>
          <a:prstGeom prst="chevron">
            <a:avLst/>
          </a:prstGeom>
          <a:solidFill>
            <a:srgbClr val="D7E3EA"/>
          </a:solidFill>
          <a:ln w="12700">
            <a:solidFill>
              <a:srgbClr val="D7E3EA"/>
            </a:solidFill>
            <a:prstDash val="solid"/>
          </a:ln>
        </p:spPr>
      </p:sp>
      <p:sp>
        <p:nvSpPr>
          <p:cNvPr id="29" name="Shape 27"/>
          <p:cNvSpPr/>
          <p:nvPr/>
        </p:nvSpPr>
        <p:spPr>
          <a:xfrm>
            <a:off x="7772400" y="3310128"/>
            <a:ext cx="3246120" cy="658368"/>
          </a:xfrm>
          <a:prstGeom prst="roundRect">
            <a:avLst>
              <a:gd name="adj" fmla="val 8333"/>
            </a:avLst>
          </a:prstGeom>
          <a:solidFill>
            <a:srgbClr val="F4FBF8"/>
          </a:solidFill>
          <a:ln w="12700">
            <a:solidFill>
              <a:srgbClr val="2A9D8F"/>
            </a:solidFill>
            <a:prstDash val="solid"/>
          </a:ln>
        </p:spPr>
      </p:sp>
      <p:sp>
        <p:nvSpPr>
          <p:cNvPr id="30" name="Text 28"/>
          <p:cNvSpPr/>
          <p:nvPr/>
        </p:nvSpPr>
        <p:spPr>
          <a:xfrm>
            <a:off x="7936992" y="3511296"/>
            <a:ext cx="288036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二次原因・局所原因を説明可能</a:t>
            </a:r>
            <a:endParaRPr lang="en-US" sz="1500" dirty="0"/>
          </a:p>
        </p:txBody>
      </p:sp>
      <p:sp>
        <p:nvSpPr>
          <p:cNvPr id="31" name="Shape 29"/>
          <p:cNvSpPr/>
          <p:nvPr/>
        </p:nvSpPr>
        <p:spPr>
          <a:xfrm>
            <a:off x="914400" y="4178808"/>
            <a:ext cx="2148840" cy="658368"/>
          </a:xfrm>
          <a:prstGeom prst="roundRect">
            <a:avLst>
              <a:gd name="adj" fmla="val 8333"/>
            </a:avLst>
          </a:prstGeom>
          <a:solidFill>
            <a:srgbClr val="FFF8F0"/>
          </a:solidFill>
          <a:ln w="12700">
            <a:solidFill>
              <a:srgbClr val="F4A261"/>
            </a:solidFill>
            <a:prstDash val="solid"/>
          </a:ln>
        </p:spPr>
      </p:sp>
      <p:sp>
        <p:nvSpPr>
          <p:cNvPr id="32" name="Text 30"/>
          <p:cNvSpPr/>
          <p:nvPr/>
        </p:nvSpPr>
        <p:spPr>
          <a:xfrm>
            <a:off x="1051560" y="4379976"/>
            <a:ext cx="1828800" cy="182880"/>
          </a:xfrm>
          <a:prstGeom prst="rect">
            <a:avLst/>
          </a:prstGeom>
          <a:noFill/>
          <a:ln/>
        </p:spPr>
        <p:txBody>
          <a:bodyPr wrap="square" lIns="508" tIns="508" rIns="508" bIns="508" rtlCol="0" anchor="t">
            <a:normAutofit/>
          </a:bodyPr>
          <a:lstStyle/>
          <a:p>
            <a:pPr marL="0" indent="0" algn="ctr">
              <a:buNone/>
            </a:pPr>
            <a:r>
              <a:rPr lang="en-US" sz="1550" b="1" dirty="0">
                <a:solidFill>
                  <a:srgbClr val="111111"/>
                </a:solidFill>
                <a:latin typeface="Meiryo" pitchFamily="34" charset="0"/>
                <a:ea typeface="Meiryo" pitchFamily="34" charset="-122"/>
                <a:cs typeface="Meiryo" pitchFamily="34" charset="-120"/>
              </a:rPr>
              <a:t>運用リスク</a:t>
            </a:r>
            <a:endParaRPr lang="en-US" sz="1550" dirty="0"/>
          </a:p>
        </p:txBody>
      </p:sp>
      <p:sp>
        <p:nvSpPr>
          <p:cNvPr id="33" name="Shape 31"/>
          <p:cNvSpPr/>
          <p:nvPr/>
        </p:nvSpPr>
        <p:spPr>
          <a:xfrm>
            <a:off x="3246120" y="4379976"/>
            <a:ext cx="329184" cy="237744"/>
          </a:xfrm>
          <a:prstGeom prst="chevron">
            <a:avLst/>
          </a:prstGeom>
          <a:solidFill>
            <a:srgbClr val="D7E3EA"/>
          </a:solidFill>
          <a:ln w="12700">
            <a:solidFill>
              <a:srgbClr val="D7E3EA"/>
            </a:solidFill>
            <a:prstDash val="solid"/>
          </a:ln>
        </p:spPr>
      </p:sp>
      <p:sp>
        <p:nvSpPr>
          <p:cNvPr id="34" name="Shape 32"/>
          <p:cNvSpPr/>
          <p:nvPr/>
        </p:nvSpPr>
        <p:spPr>
          <a:xfrm>
            <a:off x="3703320" y="4178808"/>
            <a:ext cx="3429000" cy="658368"/>
          </a:xfrm>
          <a:prstGeom prst="roundRect">
            <a:avLst>
              <a:gd name="adj" fmla="val 8333"/>
            </a:avLst>
          </a:prstGeom>
          <a:solidFill>
            <a:srgbClr val="F5FBFF"/>
          </a:solidFill>
          <a:ln w="12700">
            <a:solidFill>
              <a:srgbClr val="4FC3F7"/>
            </a:solidFill>
            <a:prstDash val="solid"/>
          </a:ln>
        </p:spPr>
      </p:sp>
      <p:sp>
        <p:nvSpPr>
          <p:cNvPr id="35" name="Text 33"/>
          <p:cNvSpPr/>
          <p:nvPr/>
        </p:nvSpPr>
        <p:spPr>
          <a:xfrm>
            <a:off x="3858768" y="4379976"/>
            <a:ext cx="306324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uncertainty gating</a:t>
            </a:r>
            <a:endParaRPr lang="en-US" sz="1500" dirty="0"/>
          </a:p>
        </p:txBody>
      </p:sp>
      <p:sp>
        <p:nvSpPr>
          <p:cNvPr id="36" name="Shape 34"/>
          <p:cNvSpPr/>
          <p:nvPr/>
        </p:nvSpPr>
        <p:spPr>
          <a:xfrm>
            <a:off x="7315200" y="4379976"/>
            <a:ext cx="329184" cy="237744"/>
          </a:xfrm>
          <a:prstGeom prst="chevron">
            <a:avLst/>
          </a:prstGeom>
          <a:solidFill>
            <a:srgbClr val="D7E3EA"/>
          </a:solidFill>
          <a:ln w="12700">
            <a:solidFill>
              <a:srgbClr val="D7E3EA"/>
            </a:solidFill>
            <a:prstDash val="solid"/>
          </a:ln>
        </p:spPr>
      </p:sp>
      <p:sp>
        <p:nvSpPr>
          <p:cNvPr id="37" name="Shape 35"/>
          <p:cNvSpPr/>
          <p:nvPr/>
        </p:nvSpPr>
        <p:spPr>
          <a:xfrm>
            <a:off x="7772400" y="4178808"/>
            <a:ext cx="3246120" cy="658368"/>
          </a:xfrm>
          <a:prstGeom prst="roundRect">
            <a:avLst>
              <a:gd name="adj" fmla="val 8333"/>
            </a:avLst>
          </a:prstGeom>
          <a:solidFill>
            <a:srgbClr val="F4FBF8"/>
          </a:solidFill>
          <a:ln w="12700">
            <a:solidFill>
              <a:srgbClr val="2A9D8F"/>
            </a:solidFill>
            <a:prstDash val="solid"/>
          </a:ln>
        </p:spPr>
      </p:sp>
      <p:sp>
        <p:nvSpPr>
          <p:cNvPr id="38" name="Text 36"/>
          <p:cNvSpPr/>
          <p:nvPr/>
        </p:nvSpPr>
        <p:spPr>
          <a:xfrm>
            <a:off x="7936992" y="4379976"/>
            <a:ext cx="288036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誤介入抑制とレビュー最適化</a:t>
            </a:r>
            <a:endParaRPr lang="en-US" sz="1500" dirty="0"/>
          </a:p>
        </p:txBody>
      </p:sp>
      <p:sp>
        <p:nvSpPr>
          <p:cNvPr id="39" name="Text 37"/>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22</a:t>
            </a:r>
            <a:endParaRPr lang="en-US" sz="1000" dirty="0"/>
          </a:p>
        </p:txBody>
      </p:sp>
      <p:sp>
        <p:nvSpPr>
          <p:cNvPr id="40" name="Text 38"/>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活用イメージ① 工程監視・ロット監視</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Use Case 1</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想定活用: lot / recipe 単位の前兆把握</a:t>
            </a:r>
            <a:endParaRPr lang="en-US" sz="1400" dirty="0"/>
          </a:p>
        </p:txBody>
      </p:sp>
      <p:sp>
        <p:nvSpPr>
          <p:cNvPr id="7" name="Shape 5"/>
          <p:cNvSpPr/>
          <p:nvPr/>
        </p:nvSpPr>
        <p:spPr>
          <a:xfrm>
            <a:off x="868680" y="1572768"/>
            <a:ext cx="1417320" cy="1417320"/>
          </a:xfrm>
          <a:prstGeom prst="ellipse">
            <a:avLst/>
          </a:prstGeom>
          <a:solidFill>
            <a:srgbClr val="FFFFFF"/>
          </a:solidFill>
          <a:ln w="12700">
            <a:solidFill>
              <a:srgbClr val="BBC9D1"/>
            </a:solidFill>
            <a:prstDash val="solid"/>
          </a:ln>
        </p:spPr>
      </p:sp>
      <p:sp>
        <p:nvSpPr>
          <p:cNvPr id="8" name="Shape 6"/>
          <p:cNvSpPr/>
          <p:nvPr/>
        </p:nvSpPr>
        <p:spPr>
          <a:xfrm>
            <a:off x="1152144" y="1856232"/>
            <a:ext cx="850392" cy="850392"/>
          </a:xfrm>
          <a:prstGeom prst="donut">
            <a:avLst/>
          </a:prstGeom>
          <a:solidFill>
            <a:srgbClr val="4FC3F7">
              <a:alpha val="65000"/>
            </a:srgbClr>
          </a:solidFill>
          <a:ln w="12700">
            <a:solidFill>
              <a:srgbClr val="4FC3F7"/>
            </a:solidFill>
            <a:prstDash val="solid"/>
          </a:ln>
        </p:spPr>
      </p:sp>
      <p:sp>
        <p:nvSpPr>
          <p:cNvPr id="9" name="Shape 7"/>
          <p:cNvSpPr/>
          <p:nvPr/>
        </p:nvSpPr>
        <p:spPr>
          <a:xfrm>
            <a:off x="2514600" y="1389888"/>
            <a:ext cx="2651760" cy="4251960"/>
          </a:xfrm>
          <a:prstGeom prst="roundRect">
            <a:avLst>
              <a:gd name="adj" fmla="val 2069"/>
            </a:avLst>
          </a:prstGeom>
          <a:solidFill>
            <a:srgbClr val="FFF8F0"/>
          </a:solidFill>
          <a:ln w="12700">
            <a:solidFill>
              <a:srgbClr val="F4A261"/>
            </a:solidFill>
            <a:prstDash val="solid"/>
          </a:ln>
        </p:spPr>
      </p:sp>
      <p:sp>
        <p:nvSpPr>
          <p:cNvPr id="10" name="Text 8"/>
          <p:cNvSpPr/>
          <p:nvPr/>
        </p:nvSpPr>
        <p:spPr>
          <a:xfrm>
            <a:off x="2642616" y="1463040"/>
            <a:ext cx="2395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現場課題</a:t>
            </a:r>
            <a:endParaRPr lang="en-US" sz="1400" dirty="0"/>
          </a:p>
        </p:txBody>
      </p:sp>
      <p:sp>
        <p:nvSpPr>
          <p:cNvPr id="11" name="Text 9"/>
          <p:cNvSpPr/>
          <p:nvPr/>
        </p:nvSpPr>
        <p:spPr>
          <a:xfrm>
            <a:off x="2697480" y="1764792"/>
            <a:ext cx="2286000" cy="352044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ロット内で ring/sector の傾向が徐々に強くなっても、単一ラベルでは前兆が見えにくい。</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粒子数だけのSPCでは、形の変化と size 帯の変化を分けて見にくい。</a:t>
            </a:r>
            <a:endParaRPr lang="en-US" sz="1450" dirty="0"/>
          </a:p>
        </p:txBody>
      </p:sp>
      <p:sp>
        <p:nvSpPr>
          <p:cNvPr id="12" name="Shape 10"/>
          <p:cNvSpPr/>
          <p:nvPr/>
        </p:nvSpPr>
        <p:spPr>
          <a:xfrm>
            <a:off x="5376672" y="2743200"/>
            <a:ext cx="365760" cy="292608"/>
          </a:xfrm>
          <a:prstGeom prst="chevron">
            <a:avLst/>
          </a:prstGeom>
          <a:solidFill>
            <a:srgbClr val="D7E3EA"/>
          </a:solidFill>
          <a:ln w="12700">
            <a:solidFill>
              <a:srgbClr val="D7E3EA"/>
            </a:solidFill>
            <a:prstDash val="solid"/>
          </a:ln>
        </p:spPr>
      </p:sp>
      <p:sp>
        <p:nvSpPr>
          <p:cNvPr id="13" name="Shape 11"/>
          <p:cNvSpPr/>
          <p:nvPr/>
        </p:nvSpPr>
        <p:spPr>
          <a:xfrm>
            <a:off x="5806440" y="1389888"/>
            <a:ext cx="2651760" cy="4251960"/>
          </a:xfrm>
          <a:prstGeom prst="roundRect">
            <a:avLst>
              <a:gd name="adj" fmla="val 2069"/>
            </a:avLst>
          </a:prstGeom>
          <a:solidFill>
            <a:srgbClr val="F5FBFF"/>
          </a:solidFill>
          <a:ln w="12700">
            <a:solidFill>
              <a:srgbClr val="4FC3F7"/>
            </a:solidFill>
            <a:prstDash val="solid"/>
          </a:ln>
        </p:spPr>
      </p:sp>
      <p:sp>
        <p:nvSpPr>
          <p:cNvPr id="14" name="Text 12"/>
          <p:cNvSpPr/>
          <p:nvPr/>
        </p:nvSpPr>
        <p:spPr>
          <a:xfrm>
            <a:off x="5934456" y="1463040"/>
            <a:ext cx="2395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提案手法の使い方</a:t>
            </a:r>
            <a:endParaRPr lang="en-US" sz="1400" dirty="0"/>
          </a:p>
        </p:txBody>
      </p:sp>
      <p:sp>
        <p:nvSpPr>
          <p:cNvPr id="15" name="Text 13"/>
          <p:cNvSpPr/>
          <p:nvPr/>
        </p:nvSpPr>
        <p:spPr>
          <a:xfrm>
            <a:off x="5989320" y="1764792"/>
            <a:ext cx="2286000" cy="352044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各ウェハを dual-grid 化し、cause map と size prior を時系列で比較する。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uncertainty が低いウェハは自動でドリフト候補へ登録する。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MarkedMixture の半径・角度パラメータ推移を監視指標にする。</a:t>
            </a:r>
            <a:endParaRPr lang="en-US" sz="1450" dirty="0"/>
          </a:p>
        </p:txBody>
      </p:sp>
      <p:sp>
        <p:nvSpPr>
          <p:cNvPr id="16" name="Shape 14"/>
          <p:cNvSpPr/>
          <p:nvPr/>
        </p:nvSpPr>
        <p:spPr>
          <a:xfrm>
            <a:off x="8668512" y="2743200"/>
            <a:ext cx="365760" cy="292608"/>
          </a:xfrm>
          <a:prstGeom prst="chevron">
            <a:avLst/>
          </a:prstGeom>
          <a:solidFill>
            <a:srgbClr val="D7E3EA"/>
          </a:solidFill>
          <a:ln w="12700">
            <a:solidFill>
              <a:srgbClr val="D7E3EA"/>
            </a:solidFill>
            <a:prstDash val="solid"/>
          </a:ln>
        </p:spPr>
      </p:sp>
      <p:sp>
        <p:nvSpPr>
          <p:cNvPr id="17" name="Shape 15"/>
          <p:cNvSpPr/>
          <p:nvPr/>
        </p:nvSpPr>
        <p:spPr>
          <a:xfrm>
            <a:off x="9098280" y="1389888"/>
            <a:ext cx="2103120" cy="4251960"/>
          </a:xfrm>
          <a:prstGeom prst="roundRect">
            <a:avLst>
              <a:gd name="adj" fmla="val 2609"/>
            </a:avLst>
          </a:prstGeom>
          <a:solidFill>
            <a:srgbClr val="F4FBF8"/>
          </a:solidFill>
          <a:ln w="12700">
            <a:solidFill>
              <a:srgbClr val="2A9D8F"/>
            </a:solidFill>
            <a:prstDash val="solid"/>
          </a:ln>
        </p:spPr>
      </p:sp>
      <p:sp>
        <p:nvSpPr>
          <p:cNvPr id="18" name="Text 16"/>
          <p:cNvSpPr/>
          <p:nvPr/>
        </p:nvSpPr>
        <p:spPr>
          <a:xfrm>
            <a:off x="9226296" y="1463040"/>
            <a:ext cx="1847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期待効果</a:t>
            </a:r>
            <a:endParaRPr lang="en-US" sz="1400" dirty="0"/>
          </a:p>
        </p:txBody>
      </p:sp>
      <p:sp>
        <p:nvSpPr>
          <p:cNvPr id="19" name="Text 17"/>
          <p:cNvSpPr/>
          <p:nvPr/>
        </p:nvSpPr>
        <p:spPr>
          <a:xfrm>
            <a:off x="9253728" y="1764792"/>
            <a:ext cx="1792224" cy="347472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工程ドリフトの前兆検知</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追加レビュー対象の絞り込み</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原因 family ごとの時系列可視化</a:t>
            </a:r>
            <a:endParaRPr lang="en-US" sz="1420" dirty="0"/>
          </a:p>
        </p:txBody>
      </p:sp>
      <p:sp>
        <p:nvSpPr>
          <p:cNvPr id="20" name="Shape 18"/>
          <p:cNvSpPr/>
          <p:nvPr/>
        </p:nvSpPr>
        <p:spPr>
          <a:xfrm>
            <a:off x="868680" y="5102352"/>
            <a:ext cx="1188720" cy="411480"/>
          </a:xfrm>
          <a:prstGeom prst="roundRect">
            <a:avLst>
              <a:gd name="adj" fmla="val 13333"/>
            </a:avLst>
          </a:prstGeom>
          <a:solidFill>
            <a:srgbClr val="EEF6FB"/>
          </a:solidFill>
          <a:ln w="12700">
            <a:solidFill>
              <a:srgbClr val="CAD8E0"/>
            </a:solidFill>
            <a:prstDash val="solid"/>
          </a:ln>
        </p:spPr>
      </p:sp>
      <p:sp>
        <p:nvSpPr>
          <p:cNvPr id="21" name="Text 19"/>
          <p:cNvSpPr/>
          <p:nvPr/>
        </p:nvSpPr>
        <p:spPr>
          <a:xfrm>
            <a:off x="960120" y="5230368"/>
            <a:ext cx="1005840" cy="128016"/>
          </a:xfrm>
          <a:prstGeom prst="rect">
            <a:avLst/>
          </a:prstGeom>
          <a:noFill/>
          <a:ln/>
        </p:spPr>
        <p:txBody>
          <a:bodyPr wrap="square" lIns="0" tIns="0" rIns="0" bIns="0" rtlCol="0" anchor="ctr"/>
          <a:lstStyle/>
          <a:p>
            <a:pPr marL="0" indent="0" algn="ctr">
              <a:buNone/>
            </a:pPr>
            <a:r>
              <a:rPr lang="en-US" sz="1100" dirty="0">
                <a:solidFill>
                  <a:srgbClr val="5F6B6D"/>
                </a:solidFill>
                <a:latin typeface="Meiryo" pitchFamily="34" charset="0"/>
                <a:ea typeface="Meiryo" pitchFamily="34" charset="-122"/>
                <a:cs typeface="Meiryo" pitchFamily="34" charset="-120"/>
              </a:rPr>
              <a:t>Lot A → Lot B → Lot C</a:t>
            </a:r>
            <a:endParaRPr lang="en-US" sz="1100" dirty="0"/>
          </a:p>
        </p:txBody>
      </p:sp>
      <p:sp>
        <p:nvSpPr>
          <p:cNvPr id="22" name="Text 20"/>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23</a:t>
            </a:r>
            <a:endParaRPr lang="en-US" sz="1000" dirty="0"/>
          </a:p>
        </p:txBody>
      </p:sp>
      <p:sp>
        <p:nvSpPr>
          <p:cNvPr id="23" name="Text 21"/>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活用イメージ② 装置保全・点検優先度付け</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Use Case 2</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想定活用: 装置A / 装置B の異常切り分け</a:t>
            </a:r>
            <a:endParaRPr lang="en-US" sz="1400" dirty="0"/>
          </a:p>
        </p:txBody>
      </p:sp>
      <p:sp>
        <p:nvSpPr>
          <p:cNvPr id="7" name="Shape 5"/>
          <p:cNvSpPr/>
          <p:nvPr/>
        </p:nvSpPr>
        <p:spPr>
          <a:xfrm>
            <a:off x="868680" y="1572768"/>
            <a:ext cx="1417320" cy="1417320"/>
          </a:xfrm>
          <a:prstGeom prst="ellipse">
            <a:avLst/>
          </a:prstGeom>
          <a:solidFill>
            <a:srgbClr val="FFFFFF"/>
          </a:solidFill>
          <a:ln w="12700">
            <a:solidFill>
              <a:srgbClr val="BBC9D1"/>
            </a:solidFill>
            <a:prstDash val="solid"/>
          </a:ln>
        </p:spPr>
      </p:sp>
      <p:sp>
        <p:nvSpPr>
          <p:cNvPr id="8" name="Shape 6"/>
          <p:cNvSpPr/>
          <p:nvPr/>
        </p:nvSpPr>
        <p:spPr>
          <a:xfrm>
            <a:off x="1407262" y="2111350"/>
            <a:ext cx="340157" cy="340157"/>
          </a:xfrm>
          <a:prstGeom prst="ellipse">
            <a:avLst/>
          </a:prstGeom>
          <a:solidFill>
            <a:srgbClr val="4FC3F7">
              <a:alpha val="85000"/>
            </a:srgbClr>
          </a:solidFill>
          <a:ln w="12700">
            <a:solidFill>
              <a:srgbClr val="4FC3F7"/>
            </a:solidFill>
            <a:prstDash val="solid"/>
          </a:ln>
        </p:spPr>
      </p:sp>
      <p:sp>
        <p:nvSpPr>
          <p:cNvPr id="9" name="Shape 7"/>
          <p:cNvSpPr/>
          <p:nvPr/>
        </p:nvSpPr>
        <p:spPr>
          <a:xfrm>
            <a:off x="2514600" y="1389888"/>
            <a:ext cx="2651760" cy="4251960"/>
          </a:xfrm>
          <a:prstGeom prst="roundRect">
            <a:avLst>
              <a:gd name="adj" fmla="val 2069"/>
            </a:avLst>
          </a:prstGeom>
          <a:solidFill>
            <a:srgbClr val="FFF8F0"/>
          </a:solidFill>
          <a:ln w="12700">
            <a:solidFill>
              <a:srgbClr val="F4A261"/>
            </a:solidFill>
            <a:prstDash val="solid"/>
          </a:ln>
        </p:spPr>
      </p:sp>
      <p:sp>
        <p:nvSpPr>
          <p:cNvPr id="10" name="Text 8"/>
          <p:cNvSpPr/>
          <p:nvPr/>
        </p:nvSpPr>
        <p:spPr>
          <a:xfrm>
            <a:off x="2642616" y="1463040"/>
            <a:ext cx="2395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現場課題</a:t>
            </a:r>
            <a:endParaRPr lang="en-US" sz="1400" dirty="0"/>
          </a:p>
        </p:txBody>
      </p:sp>
      <p:sp>
        <p:nvSpPr>
          <p:cNvPr id="11" name="Text 9"/>
          <p:cNvSpPr/>
          <p:nvPr/>
        </p:nvSpPr>
        <p:spPr>
          <a:xfrm>
            <a:off x="2697480" y="1764792"/>
            <a:ext cx="2286000" cy="352044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装置A/Bで粒子増加が起きても、単純な count だけでは点検優先順位が付けにくい。</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同じ「増加」でも hotspot, edge spray, line 系では保全アクションが異なる。</a:t>
            </a:r>
            <a:endParaRPr lang="en-US" sz="1450" dirty="0"/>
          </a:p>
        </p:txBody>
      </p:sp>
      <p:sp>
        <p:nvSpPr>
          <p:cNvPr id="12" name="Shape 10"/>
          <p:cNvSpPr/>
          <p:nvPr/>
        </p:nvSpPr>
        <p:spPr>
          <a:xfrm>
            <a:off x="5376672" y="2743200"/>
            <a:ext cx="365760" cy="292608"/>
          </a:xfrm>
          <a:prstGeom prst="chevron">
            <a:avLst/>
          </a:prstGeom>
          <a:solidFill>
            <a:srgbClr val="D7E3EA"/>
          </a:solidFill>
          <a:ln w="12700">
            <a:solidFill>
              <a:srgbClr val="D7E3EA"/>
            </a:solidFill>
            <a:prstDash val="solid"/>
          </a:ln>
        </p:spPr>
      </p:sp>
      <p:sp>
        <p:nvSpPr>
          <p:cNvPr id="13" name="Shape 11"/>
          <p:cNvSpPr/>
          <p:nvPr/>
        </p:nvSpPr>
        <p:spPr>
          <a:xfrm>
            <a:off x="5806440" y="1389888"/>
            <a:ext cx="2651760" cy="4251960"/>
          </a:xfrm>
          <a:prstGeom prst="roundRect">
            <a:avLst>
              <a:gd name="adj" fmla="val 2069"/>
            </a:avLst>
          </a:prstGeom>
          <a:solidFill>
            <a:srgbClr val="F5FBFF"/>
          </a:solidFill>
          <a:ln w="12700">
            <a:solidFill>
              <a:srgbClr val="4FC3F7"/>
            </a:solidFill>
            <a:prstDash val="solid"/>
          </a:ln>
        </p:spPr>
      </p:sp>
      <p:sp>
        <p:nvSpPr>
          <p:cNvPr id="14" name="Text 12"/>
          <p:cNvSpPr/>
          <p:nvPr/>
        </p:nvSpPr>
        <p:spPr>
          <a:xfrm>
            <a:off x="5934456" y="1463040"/>
            <a:ext cx="2395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提案手法の使い方</a:t>
            </a:r>
            <a:endParaRPr lang="en-US" sz="1400" dirty="0"/>
          </a:p>
        </p:txBody>
      </p:sp>
      <p:sp>
        <p:nvSpPr>
          <p:cNvPr id="15" name="Text 13"/>
          <p:cNvSpPr/>
          <p:nvPr/>
        </p:nvSpPr>
        <p:spPr>
          <a:xfrm>
            <a:off x="5989320" y="1764792"/>
            <a:ext cx="2286000" cy="352044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tool ごとに active pattern family と uncertainty を集計する。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高信頼の hotspot/edge 起源は装置点検候補へ直結する。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低信頼サンプルだけ追加計測へ回す。</a:t>
            </a:r>
            <a:endParaRPr lang="en-US" sz="1450" dirty="0"/>
          </a:p>
        </p:txBody>
      </p:sp>
      <p:sp>
        <p:nvSpPr>
          <p:cNvPr id="16" name="Shape 14"/>
          <p:cNvSpPr/>
          <p:nvPr/>
        </p:nvSpPr>
        <p:spPr>
          <a:xfrm>
            <a:off x="8668512" y="2743200"/>
            <a:ext cx="365760" cy="292608"/>
          </a:xfrm>
          <a:prstGeom prst="chevron">
            <a:avLst/>
          </a:prstGeom>
          <a:solidFill>
            <a:srgbClr val="D7E3EA"/>
          </a:solidFill>
          <a:ln w="12700">
            <a:solidFill>
              <a:srgbClr val="D7E3EA"/>
            </a:solidFill>
            <a:prstDash val="solid"/>
          </a:ln>
        </p:spPr>
      </p:sp>
      <p:sp>
        <p:nvSpPr>
          <p:cNvPr id="17" name="Shape 15"/>
          <p:cNvSpPr/>
          <p:nvPr/>
        </p:nvSpPr>
        <p:spPr>
          <a:xfrm>
            <a:off x="9098280" y="1389888"/>
            <a:ext cx="2103120" cy="4251960"/>
          </a:xfrm>
          <a:prstGeom prst="roundRect">
            <a:avLst>
              <a:gd name="adj" fmla="val 2609"/>
            </a:avLst>
          </a:prstGeom>
          <a:solidFill>
            <a:srgbClr val="F4FBF8"/>
          </a:solidFill>
          <a:ln w="12700">
            <a:solidFill>
              <a:srgbClr val="2A9D8F"/>
            </a:solidFill>
            <a:prstDash val="solid"/>
          </a:ln>
        </p:spPr>
      </p:sp>
      <p:sp>
        <p:nvSpPr>
          <p:cNvPr id="18" name="Text 16"/>
          <p:cNvSpPr/>
          <p:nvPr/>
        </p:nvSpPr>
        <p:spPr>
          <a:xfrm>
            <a:off x="9226296" y="1463040"/>
            <a:ext cx="1847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期待効果</a:t>
            </a:r>
            <a:endParaRPr lang="en-US" sz="1400" dirty="0"/>
          </a:p>
        </p:txBody>
      </p:sp>
      <p:sp>
        <p:nvSpPr>
          <p:cNvPr id="19" name="Text 17"/>
          <p:cNvSpPr/>
          <p:nvPr/>
        </p:nvSpPr>
        <p:spPr>
          <a:xfrm>
            <a:off x="9253728" y="1764792"/>
            <a:ext cx="1792224" cy="347472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不要点検の抑制</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点検順位の明確化</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装置差の可視化</a:t>
            </a:r>
            <a:endParaRPr lang="en-US" sz="1420" dirty="0"/>
          </a:p>
        </p:txBody>
      </p:sp>
      <p:sp>
        <p:nvSpPr>
          <p:cNvPr id="20" name="Shape 18"/>
          <p:cNvSpPr/>
          <p:nvPr/>
        </p:nvSpPr>
        <p:spPr>
          <a:xfrm>
            <a:off x="868680" y="5010912"/>
            <a:ext cx="1280160" cy="502920"/>
          </a:xfrm>
          <a:prstGeom prst="roundRect">
            <a:avLst>
              <a:gd name="adj" fmla="val 10909"/>
            </a:avLst>
          </a:prstGeom>
          <a:solidFill>
            <a:srgbClr val="EEF6FB"/>
          </a:solidFill>
          <a:ln w="12700">
            <a:solidFill>
              <a:srgbClr val="CAD8E0"/>
            </a:solidFill>
            <a:prstDash val="solid"/>
          </a:ln>
        </p:spPr>
      </p:sp>
      <p:sp>
        <p:nvSpPr>
          <p:cNvPr id="21" name="Text 19"/>
          <p:cNvSpPr/>
          <p:nvPr/>
        </p:nvSpPr>
        <p:spPr>
          <a:xfrm>
            <a:off x="996696" y="5084064"/>
            <a:ext cx="10241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Tool A/B</a:t>
            </a:r>
            <a:endParaRPr lang="en-US" sz="1400" dirty="0"/>
          </a:p>
        </p:txBody>
      </p:sp>
      <p:sp>
        <p:nvSpPr>
          <p:cNvPr id="22" name="Text 20"/>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24</a:t>
            </a:r>
            <a:endParaRPr lang="en-US" sz="1000" dirty="0"/>
          </a:p>
        </p:txBody>
      </p:sp>
      <p:sp>
        <p:nvSpPr>
          <p:cNvPr id="23" name="Text 21"/>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活用イメージ③ 追加計測・レビュー優先度付け</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Use Case 3</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想定活用: triage queue の自動生成</a:t>
            </a:r>
            <a:endParaRPr lang="en-US" sz="1400" dirty="0"/>
          </a:p>
        </p:txBody>
      </p:sp>
      <p:sp>
        <p:nvSpPr>
          <p:cNvPr id="7" name="Shape 5"/>
          <p:cNvSpPr/>
          <p:nvPr/>
        </p:nvSpPr>
        <p:spPr>
          <a:xfrm>
            <a:off x="868680" y="1572768"/>
            <a:ext cx="1417320" cy="1417320"/>
          </a:xfrm>
          <a:prstGeom prst="ellipse">
            <a:avLst/>
          </a:prstGeom>
          <a:solidFill>
            <a:srgbClr val="FFFFFF"/>
          </a:solidFill>
          <a:ln w="12700">
            <a:solidFill>
              <a:srgbClr val="BBC9D1"/>
            </a:solidFill>
            <a:prstDash val="solid"/>
          </a:ln>
        </p:spPr>
      </p:sp>
      <p:sp>
        <p:nvSpPr>
          <p:cNvPr id="8" name="Shape 6"/>
          <p:cNvSpPr/>
          <p:nvPr/>
        </p:nvSpPr>
        <p:spPr>
          <a:xfrm>
            <a:off x="1123798" y="1827886"/>
            <a:ext cx="907085" cy="907085"/>
          </a:xfrm>
          <a:prstGeom prst="donut">
            <a:avLst/>
          </a:prstGeom>
          <a:solidFill>
            <a:srgbClr val="4FC3F7">
              <a:alpha val="45000"/>
            </a:srgbClr>
          </a:solidFill>
          <a:ln w="12700">
            <a:solidFill>
              <a:srgbClr val="4FC3F7"/>
            </a:solidFill>
            <a:prstDash val="solid"/>
          </a:ln>
        </p:spPr>
      </p:sp>
      <p:sp>
        <p:nvSpPr>
          <p:cNvPr id="9" name="Shape 7"/>
          <p:cNvSpPr/>
          <p:nvPr/>
        </p:nvSpPr>
        <p:spPr>
          <a:xfrm>
            <a:off x="1719072" y="1969618"/>
            <a:ext cx="255118" cy="255118"/>
          </a:xfrm>
          <a:prstGeom prst="ellipse">
            <a:avLst/>
          </a:prstGeom>
          <a:solidFill>
            <a:srgbClr val="E76F51">
              <a:alpha val="90000"/>
            </a:srgbClr>
          </a:solidFill>
          <a:ln w="12700">
            <a:solidFill>
              <a:srgbClr val="E76F51"/>
            </a:solidFill>
            <a:prstDash val="solid"/>
          </a:ln>
        </p:spPr>
      </p:sp>
      <p:sp>
        <p:nvSpPr>
          <p:cNvPr id="10" name="Shape 8"/>
          <p:cNvSpPr/>
          <p:nvPr/>
        </p:nvSpPr>
        <p:spPr>
          <a:xfrm>
            <a:off x="2514600" y="1389888"/>
            <a:ext cx="2651760" cy="4251960"/>
          </a:xfrm>
          <a:prstGeom prst="roundRect">
            <a:avLst>
              <a:gd name="adj" fmla="val 2069"/>
            </a:avLst>
          </a:prstGeom>
          <a:solidFill>
            <a:srgbClr val="FFF8F0"/>
          </a:solidFill>
          <a:ln w="12700">
            <a:solidFill>
              <a:srgbClr val="F4A261"/>
            </a:solidFill>
            <a:prstDash val="solid"/>
          </a:ln>
        </p:spPr>
      </p:sp>
      <p:sp>
        <p:nvSpPr>
          <p:cNvPr id="11" name="Text 9"/>
          <p:cNvSpPr/>
          <p:nvPr/>
        </p:nvSpPr>
        <p:spPr>
          <a:xfrm>
            <a:off x="2642616" y="1463040"/>
            <a:ext cx="2395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現場課題</a:t>
            </a:r>
            <a:endParaRPr lang="en-US" sz="1400" dirty="0"/>
          </a:p>
        </p:txBody>
      </p:sp>
      <p:sp>
        <p:nvSpPr>
          <p:cNvPr id="12" name="Text 10"/>
          <p:cNvSpPr/>
          <p:nvPr/>
        </p:nvSpPr>
        <p:spPr>
          <a:xfrm>
            <a:off x="2697480" y="1764792"/>
            <a:ext cx="2286000" cy="352044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全ウェハを同じ重さで人手レビューすると工数が大きい。</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単一ラベルのAIでは、どのウェハを再検査すべきか決めにくい。</a:t>
            </a:r>
            <a:endParaRPr lang="en-US" sz="1450" dirty="0"/>
          </a:p>
        </p:txBody>
      </p:sp>
      <p:sp>
        <p:nvSpPr>
          <p:cNvPr id="13" name="Shape 11"/>
          <p:cNvSpPr/>
          <p:nvPr/>
        </p:nvSpPr>
        <p:spPr>
          <a:xfrm>
            <a:off x="5376672" y="2743200"/>
            <a:ext cx="365760" cy="292608"/>
          </a:xfrm>
          <a:prstGeom prst="chevron">
            <a:avLst/>
          </a:prstGeom>
          <a:solidFill>
            <a:srgbClr val="D7E3EA"/>
          </a:solidFill>
          <a:ln w="12700">
            <a:solidFill>
              <a:srgbClr val="D7E3EA"/>
            </a:solidFill>
            <a:prstDash val="solid"/>
          </a:ln>
        </p:spPr>
      </p:sp>
      <p:sp>
        <p:nvSpPr>
          <p:cNvPr id="14" name="Shape 12"/>
          <p:cNvSpPr/>
          <p:nvPr/>
        </p:nvSpPr>
        <p:spPr>
          <a:xfrm>
            <a:off x="5806440" y="1389888"/>
            <a:ext cx="2651760" cy="4251960"/>
          </a:xfrm>
          <a:prstGeom prst="roundRect">
            <a:avLst>
              <a:gd name="adj" fmla="val 2069"/>
            </a:avLst>
          </a:prstGeom>
          <a:solidFill>
            <a:srgbClr val="F5FBFF"/>
          </a:solidFill>
          <a:ln w="12700">
            <a:solidFill>
              <a:srgbClr val="4FC3F7"/>
            </a:solidFill>
            <a:prstDash val="solid"/>
          </a:ln>
        </p:spPr>
      </p:sp>
      <p:sp>
        <p:nvSpPr>
          <p:cNvPr id="15" name="Text 13"/>
          <p:cNvSpPr/>
          <p:nvPr/>
        </p:nvSpPr>
        <p:spPr>
          <a:xfrm>
            <a:off x="5934456" y="1463040"/>
            <a:ext cx="2395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提案手法の使い方</a:t>
            </a:r>
            <a:endParaRPr lang="en-US" sz="1400" dirty="0"/>
          </a:p>
        </p:txBody>
      </p:sp>
      <p:sp>
        <p:nvSpPr>
          <p:cNvPr id="16" name="Text 14"/>
          <p:cNvSpPr/>
          <p:nvPr/>
        </p:nvSpPr>
        <p:spPr>
          <a:xfrm>
            <a:off x="5989320" y="1764792"/>
            <a:ext cx="2286000" cy="352044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presence と uncertainty を組み合わせて triage queue を作る。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High risk / low confidence サンプルのみを SEM や再検査へ送る。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説明器の責務分布をレビュー画面に表示する。</a:t>
            </a:r>
            <a:endParaRPr lang="en-US" sz="1450" dirty="0"/>
          </a:p>
        </p:txBody>
      </p:sp>
      <p:sp>
        <p:nvSpPr>
          <p:cNvPr id="17" name="Shape 15"/>
          <p:cNvSpPr/>
          <p:nvPr/>
        </p:nvSpPr>
        <p:spPr>
          <a:xfrm>
            <a:off x="8668512" y="2743200"/>
            <a:ext cx="365760" cy="292608"/>
          </a:xfrm>
          <a:prstGeom prst="chevron">
            <a:avLst/>
          </a:prstGeom>
          <a:solidFill>
            <a:srgbClr val="D7E3EA"/>
          </a:solidFill>
          <a:ln w="12700">
            <a:solidFill>
              <a:srgbClr val="D7E3EA"/>
            </a:solidFill>
            <a:prstDash val="solid"/>
          </a:ln>
        </p:spPr>
      </p:sp>
      <p:sp>
        <p:nvSpPr>
          <p:cNvPr id="18" name="Shape 16"/>
          <p:cNvSpPr/>
          <p:nvPr/>
        </p:nvSpPr>
        <p:spPr>
          <a:xfrm>
            <a:off x="9098280" y="1389888"/>
            <a:ext cx="2103120" cy="4251960"/>
          </a:xfrm>
          <a:prstGeom prst="roundRect">
            <a:avLst>
              <a:gd name="adj" fmla="val 2609"/>
            </a:avLst>
          </a:prstGeom>
          <a:solidFill>
            <a:srgbClr val="F4FBF8"/>
          </a:solidFill>
          <a:ln w="12700">
            <a:solidFill>
              <a:srgbClr val="2A9D8F"/>
            </a:solidFill>
            <a:prstDash val="solid"/>
          </a:ln>
        </p:spPr>
      </p:sp>
      <p:sp>
        <p:nvSpPr>
          <p:cNvPr id="19" name="Text 17"/>
          <p:cNvSpPr/>
          <p:nvPr/>
        </p:nvSpPr>
        <p:spPr>
          <a:xfrm>
            <a:off x="9226296" y="1463040"/>
            <a:ext cx="1847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期待効果</a:t>
            </a:r>
            <a:endParaRPr lang="en-US" sz="1400" dirty="0"/>
          </a:p>
        </p:txBody>
      </p:sp>
      <p:sp>
        <p:nvSpPr>
          <p:cNvPr id="20" name="Text 18"/>
          <p:cNvSpPr/>
          <p:nvPr/>
        </p:nvSpPr>
        <p:spPr>
          <a:xfrm>
            <a:off x="9253728" y="1764792"/>
            <a:ext cx="1792224" cy="347472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レビュー工数削減</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再検査対象の優先順位化</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学習データ更新の効率化</a:t>
            </a:r>
            <a:endParaRPr lang="en-US" sz="1420" dirty="0"/>
          </a:p>
        </p:txBody>
      </p:sp>
      <p:sp>
        <p:nvSpPr>
          <p:cNvPr id="21" name="Shape 19"/>
          <p:cNvSpPr/>
          <p:nvPr/>
        </p:nvSpPr>
        <p:spPr>
          <a:xfrm>
            <a:off x="868680" y="5010912"/>
            <a:ext cx="1554480" cy="502920"/>
          </a:xfrm>
          <a:prstGeom prst="roundRect">
            <a:avLst>
              <a:gd name="adj" fmla="val 10909"/>
            </a:avLst>
          </a:prstGeom>
          <a:solidFill>
            <a:srgbClr val="EEF6FB"/>
          </a:solidFill>
          <a:ln w="12700">
            <a:solidFill>
              <a:srgbClr val="CAD8E0"/>
            </a:solidFill>
            <a:prstDash val="solid"/>
          </a:ln>
        </p:spPr>
      </p:sp>
      <p:sp>
        <p:nvSpPr>
          <p:cNvPr id="22" name="Text 20"/>
          <p:cNvSpPr/>
          <p:nvPr/>
        </p:nvSpPr>
        <p:spPr>
          <a:xfrm>
            <a:off x="996696" y="5084064"/>
            <a:ext cx="12984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High / Medium / Low</a:t>
            </a:r>
            <a:endParaRPr lang="en-US" sz="1400" dirty="0"/>
          </a:p>
        </p:txBody>
      </p:sp>
      <p:sp>
        <p:nvSpPr>
          <p:cNvPr id="23" name="Text 21"/>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25</a:t>
            </a:r>
            <a:endParaRPr lang="en-US" sz="1000" dirty="0"/>
          </a:p>
        </p:txBody>
      </p:sp>
      <p:sp>
        <p:nvSpPr>
          <p:cNvPr id="24" name="Text 22"/>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活用イメージ④ 装置設計フィードバック</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Use Case 4</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想定活用: 装置構成要素へのフィードバック</a:t>
            </a:r>
            <a:endParaRPr lang="en-US" sz="1400" dirty="0"/>
          </a:p>
        </p:txBody>
      </p:sp>
      <p:sp>
        <p:nvSpPr>
          <p:cNvPr id="7" name="Shape 5"/>
          <p:cNvSpPr/>
          <p:nvPr/>
        </p:nvSpPr>
        <p:spPr>
          <a:xfrm>
            <a:off x="868680" y="1572768"/>
            <a:ext cx="1417320" cy="1417320"/>
          </a:xfrm>
          <a:prstGeom prst="ellipse">
            <a:avLst/>
          </a:prstGeom>
          <a:solidFill>
            <a:srgbClr val="FFFFFF"/>
          </a:solidFill>
          <a:ln w="12700">
            <a:solidFill>
              <a:srgbClr val="BBC9D1"/>
            </a:solidFill>
            <a:prstDash val="solid"/>
          </a:ln>
        </p:spPr>
      </p:sp>
      <p:sp>
        <p:nvSpPr>
          <p:cNvPr id="8" name="Shape 6"/>
          <p:cNvSpPr/>
          <p:nvPr/>
        </p:nvSpPr>
        <p:spPr>
          <a:xfrm>
            <a:off x="2030882" y="1827886"/>
            <a:ext cx="0" cy="396850"/>
          </a:xfrm>
          <a:prstGeom prst="line">
            <a:avLst/>
          </a:prstGeom>
          <a:noFill/>
          <a:ln w="12700">
            <a:solidFill>
              <a:srgbClr val="4FC3F7"/>
            </a:solidFill>
            <a:prstDash val="solid"/>
          </a:ln>
        </p:spPr>
      </p:sp>
      <p:sp>
        <p:nvSpPr>
          <p:cNvPr id="9" name="Shape 7"/>
          <p:cNvSpPr/>
          <p:nvPr/>
        </p:nvSpPr>
        <p:spPr>
          <a:xfrm>
            <a:off x="2030882" y="1912925"/>
            <a:ext cx="0" cy="198425"/>
          </a:xfrm>
          <a:prstGeom prst="line">
            <a:avLst/>
          </a:prstGeom>
          <a:noFill/>
          <a:ln w="12700">
            <a:solidFill>
              <a:srgbClr val="4FC3F7"/>
            </a:solidFill>
            <a:prstDash val="solid"/>
          </a:ln>
        </p:spPr>
      </p:sp>
      <p:sp>
        <p:nvSpPr>
          <p:cNvPr id="10" name="Shape 8"/>
          <p:cNvSpPr/>
          <p:nvPr/>
        </p:nvSpPr>
        <p:spPr>
          <a:xfrm>
            <a:off x="2030882" y="1997964"/>
            <a:ext cx="0" cy="0"/>
          </a:xfrm>
          <a:prstGeom prst="line">
            <a:avLst/>
          </a:prstGeom>
          <a:noFill/>
          <a:ln w="12700">
            <a:solidFill>
              <a:srgbClr val="4FC3F7"/>
            </a:solidFill>
            <a:prstDash val="solid"/>
          </a:ln>
        </p:spPr>
      </p:sp>
      <p:sp>
        <p:nvSpPr>
          <p:cNvPr id="11" name="Shape 9"/>
          <p:cNvSpPr/>
          <p:nvPr/>
        </p:nvSpPr>
        <p:spPr>
          <a:xfrm>
            <a:off x="2514600" y="1389888"/>
            <a:ext cx="2651760" cy="4251960"/>
          </a:xfrm>
          <a:prstGeom prst="roundRect">
            <a:avLst>
              <a:gd name="adj" fmla="val 2069"/>
            </a:avLst>
          </a:prstGeom>
          <a:solidFill>
            <a:srgbClr val="FFF8F0"/>
          </a:solidFill>
          <a:ln w="12700">
            <a:solidFill>
              <a:srgbClr val="F4A261"/>
            </a:solidFill>
            <a:prstDash val="solid"/>
          </a:ln>
        </p:spPr>
      </p:sp>
      <p:sp>
        <p:nvSpPr>
          <p:cNvPr id="12" name="Text 10"/>
          <p:cNvSpPr/>
          <p:nvPr/>
        </p:nvSpPr>
        <p:spPr>
          <a:xfrm>
            <a:off x="2642616" y="1463040"/>
            <a:ext cx="2395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現場課題</a:t>
            </a:r>
            <a:endParaRPr lang="en-US" sz="1400" dirty="0"/>
          </a:p>
        </p:txBody>
      </p:sp>
      <p:sp>
        <p:nvSpPr>
          <p:cNvPr id="13" name="Text 11"/>
          <p:cNvSpPr/>
          <p:nvPr/>
        </p:nvSpPr>
        <p:spPr>
          <a:xfrm>
            <a:off x="2697480" y="1764792"/>
            <a:ext cx="2286000" cy="352044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歩留まり悪化時に「どの設計要素がどの pattern family を生みやすいか」を結び付けにくい。</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従来は count 変化しか残らず、形や size 帯の変化が設計部門へ伝わりにくい。</a:t>
            </a:r>
            <a:endParaRPr lang="en-US" sz="1450" dirty="0"/>
          </a:p>
        </p:txBody>
      </p:sp>
      <p:sp>
        <p:nvSpPr>
          <p:cNvPr id="14" name="Shape 12"/>
          <p:cNvSpPr/>
          <p:nvPr/>
        </p:nvSpPr>
        <p:spPr>
          <a:xfrm>
            <a:off x="5376672" y="2743200"/>
            <a:ext cx="365760" cy="292608"/>
          </a:xfrm>
          <a:prstGeom prst="chevron">
            <a:avLst/>
          </a:prstGeom>
          <a:solidFill>
            <a:srgbClr val="D7E3EA"/>
          </a:solidFill>
          <a:ln w="12700">
            <a:solidFill>
              <a:srgbClr val="D7E3EA"/>
            </a:solidFill>
            <a:prstDash val="solid"/>
          </a:ln>
        </p:spPr>
      </p:sp>
      <p:sp>
        <p:nvSpPr>
          <p:cNvPr id="15" name="Shape 13"/>
          <p:cNvSpPr/>
          <p:nvPr/>
        </p:nvSpPr>
        <p:spPr>
          <a:xfrm>
            <a:off x="5806440" y="1389888"/>
            <a:ext cx="2651760" cy="4251960"/>
          </a:xfrm>
          <a:prstGeom prst="roundRect">
            <a:avLst>
              <a:gd name="adj" fmla="val 2069"/>
            </a:avLst>
          </a:prstGeom>
          <a:solidFill>
            <a:srgbClr val="F5FBFF"/>
          </a:solidFill>
          <a:ln w="12700">
            <a:solidFill>
              <a:srgbClr val="4FC3F7"/>
            </a:solidFill>
            <a:prstDash val="solid"/>
          </a:ln>
        </p:spPr>
      </p:sp>
      <p:sp>
        <p:nvSpPr>
          <p:cNvPr id="16" name="Text 14"/>
          <p:cNvSpPr/>
          <p:nvPr/>
        </p:nvSpPr>
        <p:spPr>
          <a:xfrm>
            <a:off x="5934456" y="1463040"/>
            <a:ext cx="23957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提案手法の使い方</a:t>
            </a:r>
            <a:endParaRPr lang="en-US" sz="1400" dirty="0"/>
          </a:p>
        </p:txBody>
      </p:sp>
      <p:sp>
        <p:nvSpPr>
          <p:cNvPr id="17" name="Text 15"/>
          <p:cNvSpPr/>
          <p:nvPr/>
        </p:nvSpPr>
        <p:spPr>
          <a:xfrm>
            <a:off x="5989320" y="1764792"/>
            <a:ext cx="2286000" cy="352044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pattern family / geometry parameter / size profile を装置構成要素ごとに履歴化する。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設計変更前後で ring, spray, hotspot の発生傾向を比較する。</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高頻度 family を設計レビューの入力にする。</a:t>
            </a:r>
            <a:endParaRPr lang="en-US" sz="1450" dirty="0"/>
          </a:p>
        </p:txBody>
      </p:sp>
      <p:sp>
        <p:nvSpPr>
          <p:cNvPr id="18" name="Shape 16"/>
          <p:cNvSpPr/>
          <p:nvPr/>
        </p:nvSpPr>
        <p:spPr>
          <a:xfrm>
            <a:off x="8668512" y="2743200"/>
            <a:ext cx="365760" cy="292608"/>
          </a:xfrm>
          <a:prstGeom prst="chevron">
            <a:avLst/>
          </a:prstGeom>
          <a:solidFill>
            <a:srgbClr val="D7E3EA"/>
          </a:solidFill>
          <a:ln w="12700">
            <a:solidFill>
              <a:srgbClr val="D7E3EA"/>
            </a:solidFill>
            <a:prstDash val="solid"/>
          </a:ln>
        </p:spPr>
      </p:sp>
      <p:sp>
        <p:nvSpPr>
          <p:cNvPr id="19" name="Shape 17"/>
          <p:cNvSpPr/>
          <p:nvPr/>
        </p:nvSpPr>
        <p:spPr>
          <a:xfrm>
            <a:off x="9098280" y="1389888"/>
            <a:ext cx="2103120" cy="4251960"/>
          </a:xfrm>
          <a:prstGeom prst="roundRect">
            <a:avLst>
              <a:gd name="adj" fmla="val 2609"/>
            </a:avLst>
          </a:prstGeom>
          <a:solidFill>
            <a:srgbClr val="F4FBF8"/>
          </a:solidFill>
          <a:ln w="12700">
            <a:solidFill>
              <a:srgbClr val="2A9D8F"/>
            </a:solidFill>
            <a:prstDash val="solid"/>
          </a:ln>
        </p:spPr>
      </p:sp>
      <p:sp>
        <p:nvSpPr>
          <p:cNvPr id="20" name="Text 18"/>
          <p:cNvSpPr/>
          <p:nvPr/>
        </p:nvSpPr>
        <p:spPr>
          <a:xfrm>
            <a:off x="9226296" y="1463040"/>
            <a:ext cx="1847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期待効果</a:t>
            </a:r>
            <a:endParaRPr lang="en-US" sz="1400" dirty="0"/>
          </a:p>
        </p:txBody>
      </p:sp>
      <p:sp>
        <p:nvSpPr>
          <p:cNvPr id="21" name="Text 19"/>
          <p:cNvSpPr/>
          <p:nvPr/>
        </p:nvSpPr>
        <p:spPr>
          <a:xfrm>
            <a:off x="9253728" y="1764792"/>
            <a:ext cx="1792224" cy="347472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設計仮説の明確化</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変更前後比較の高速化</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製造–設計の共通言語化</a:t>
            </a:r>
            <a:endParaRPr lang="en-US" sz="1420" dirty="0"/>
          </a:p>
        </p:txBody>
      </p:sp>
      <p:sp>
        <p:nvSpPr>
          <p:cNvPr id="22" name="Shape 20"/>
          <p:cNvSpPr/>
          <p:nvPr/>
        </p:nvSpPr>
        <p:spPr>
          <a:xfrm>
            <a:off x="868680" y="5010912"/>
            <a:ext cx="1691640" cy="502920"/>
          </a:xfrm>
          <a:prstGeom prst="roundRect">
            <a:avLst>
              <a:gd name="adj" fmla="val 10909"/>
            </a:avLst>
          </a:prstGeom>
          <a:solidFill>
            <a:srgbClr val="EEF6FB"/>
          </a:solidFill>
          <a:ln w="12700">
            <a:solidFill>
              <a:srgbClr val="CAD8E0"/>
            </a:solidFill>
            <a:prstDash val="solid"/>
          </a:ln>
        </p:spPr>
      </p:sp>
      <p:sp>
        <p:nvSpPr>
          <p:cNvPr id="23" name="Text 21"/>
          <p:cNvSpPr/>
          <p:nvPr/>
        </p:nvSpPr>
        <p:spPr>
          <a:xfrm>
            <a:off x="996696" y="5084064"/>
            <a:ext cx="14356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設計変更 A/B 比較</a:t>
            </a:r>
            <a:endParaRPr lang="en-US" sz="1400" dirty="0"/>
          </a:p>
        </p:txBody>
      </p:sp>
      <p:sp>
        <p:nvSpPr>
          <p:cNvPr id="24" name="Text 22"/>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26</a:t>
            </a:r>
            <a:endParaRPr lang="en-US" sz="1000" dirty="0"/>
          </a:p>
        </p:txBody>
      </p:sp>
      <p:sp>
        <p:nvSpPr>
          <p:cNvPr id="25" name="Text 23"/>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新規性・進歩性の核 3点</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Novelty Nucleus</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発明の芯として押さえたい論点</a:t>
            </a:r>
            <a:endParaRPr lang="en-US" sz="1400" dirty="0"/>
          </a:p>
        </p:txBody>
      </p:sp>
      <p:sp>
        <p:nvSpPr>
          <p:cNvPr id="7" name="Shape 5"/>
          <p:cNvSpPr/>
          <p:nvPr/>
        </p:nvSpPr>
        <p:spPr>
          <a:xfrm>
            <a:off x="914400" y="1645920"/>
            <a:ext cx="2560320" cy="3611880"/>
          </a:xfrm>
          <a:prstGeom prst="roundRect">
            <a:avLst>
              <a:gd name="adj" fmla="val 2143"/>
            </a:avLst>
          </a:prstGeom>
          <a:solidFill>
            <a:srgbClr val="FFFFFF"/>
          </a:solidFill>
          <a:ln w="12700">
            <a:solidFill>
              <a:srgbClr val="4FC3F7"/>
            </a:solidFill>
            <a:prstDash val="solid"/>
          </a:ln>
        </p:spPr>
      </p:sp>
      <p:sp>
        <p:nvSpPr>
          <p:cNvPr id="8" name="Shape 6"/>
          <p:cNvSpPr/>
          <p:nvPr/>
        </p:nvSpPr>
        <p:spPr>
          <a:xfrm>
            <a:off x="1828800" y="1874520"/>
            <a:ext cx="731520" cy="274320"/>
          </a:xfrm>
          <a:prstGeom prst="ellipse">
            <a:avLst/>
          </a:prstGeom>
          <a:solidFill>
            <a:srgbClr val="4FC3F7">
              <a:alpha val="90000"/>
            </a:srgbClr>
          </a:solidFill>
          <a:ln w="12700">
            <a:solidFill>
              <a:srgbClr val="4FC3F7"/>
            </a:solidFill>
            <a:prstDash val="solid"/>
          </a:ln>
        </p:spPr>
      </p:sp>
      <p:sp>
        <p:nvSpPr>
          <p:cNvPr id="9" name="Text 7"/>
          <p:cNvSpPr/>
          <p:nvPr/>
        </p:nvSpPr>
        <p:spPr>
          <a:xfrm>
            <a:off x="1325880" y="2240280"/>
            <a:ext cx="1737360" cy="530352"/>
          </a:xfrm>
          <a:prstGeom prst="rect">
            <a:avLst/>
          </a:prstGeom>
          <a:noFill/>
          <a:ln/>
        </p:spPr>
        <p:txBody>
          <a:bodyPr wrap="square" lIns="0" tIns="0" rIns="0" bIns="0" rtlCol="0" anchor="ctr"/>
          <a:lstStyle/>
          <a:p>
            <a:pPr marL="0" indent="0" algn="ctr">
              <a:buNone/>
            </a:pPr>
            <a:r>
              <a:rPr lang="en-US" sz="2000" b="1" dirty="0">
                <a:solidFill>
                  <a:srgbClr val="0B3C5D"/>
                </a:solidFill>
                <a:latin typeface="Meiryo" pitchFamily="34" charset="0"/>
                <a:ea typeface="Meiryo" pitchFamily="34" charset="-122"/>
                <a:cs typeface="Meiryo" pitchFamily="34" charset="-120"/>
              </a:rPr>
              <a:t>核1</a:t>
            </a:r>
            <a:endParaRPr lang="en-US" sz="2000" dirty="0"/>
          </a:p>
          <a:p>
            <a:pPr marL="0" indent="0" algn="ctr">
              <a:buNone/>
            </a:pPr>
            <a:r>
              <a:rPr lang="en-US" sz="2000" b="1" dirty="0">
                <a:solidFill>
                  <a:srgbClr val="0B3C5D"/>
                </a:solidFill>
                <a:latin typeface="Meiryo" pitchFamily="34" charset="0"/>
                <a:ea typeface="Meiryo" pitchFamily="34" charset="-122"/>
                <a:cs typeface="Meiryo" pitchFamily="34" charset="-120"/>
              </a:rPr>
              <a:t>入力生成</a:t>
            </a:r>
            <a:endParaRPr lang="en-US" sz="2000" dirty="0"/>
          </a:p>
        </p:txBody>
      </p:sp>
      <p:sp>
        <p:nvSpPr>
          <p:cNvPr id="10" name="Text 8"/>
          <p:cNvSpPr/>
          <p:nvPr/>
        </p:nvSpPr>
        <p:spPr>
          <a:xfrm>
            <a:off x="1234440" y="2926080"/>
            <a:ext cx="1920240" cy="164592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粒子テーブル起点</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x-y + r-theta の dual-grid</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size bins / stats を別軸保持</a:t>
            </a:r>
            <a:endParaRPr lang="en-US" sz="1450" dirty="0"/>
          </a:p>
        </p:txBody>
      </p:sp>
      <p:sp>
        <p:nvSpPr>
          <p:cNvPr id="11" name="Shape 9"/>
          <p:cNvSpPr/>
          <p:nvPr/>
        </p:nvSpPr>
        <p:spPr>
          <a:xfrm>
            <a:off x="3977640" y="1645920"/>
            <a:ext cx="2560320" cy="3611880"/>
          </a:xfrm>
          <a:prstGeom prst="roundRect">
            <a:avLst>
              <a:gd name="adj" fmla="val 2143"/>
            </a:avLst>
          </a:prstGeom>
          <a:solidFill>
            <a:srgbClr val="FFFFFF"/>
          </a:solidFill>
          <a:ln w="12700">
            <a:solidFill>
              <a:srgbClr val="F4A261"/>
            </a:solidFill>
            <a:prstDash val="solid"/>
          </a:ln>
        </p:spPr>
      </p:sp>
      <p:sp>
        <p:nvSpPr>
          <p:cNvPr id="12" name="Shape 10"/>
          <p:cNvSpPr/>
          <p:nvPr/>
        </p:nvSpPr>
        <p:spPr>
          <a:xfrm>
            <a:off x="4892040" y="1874520"/>
            <a:ext cx="731520" cy="274320"/>
          </a:xfrm>
          <a:prstGeom prst="ellipse">
            <a:avLst/>
          </a:prstGeom>
          <a:solidFill>
            <a:srgbClr val="F4A261">
              <a:alpha val="90000"/>
            </a:srgbClr>
          </a:solidFill>
          <a:ln w="12700">
            <a:solidFill>
              <a:srgbClr val="F4A261"/>
            </a:solidFill>
            <a:prstDash val="solid"/>
          </a:ln>
        </p:spPr>
      </p:sp>
      <p:sp>
        <p:nvSpPr>
          <p:cNvPr id="13" name="Text 11"/>
          <p:cNvSpPr/>
          <p:nvPr/>
        </p:nvSpPr>
        <p:spPr>
          <a:xfrm>
            <a:off x="4389120" y="2240280"/>
            <a:ext cx="1737360" cy="530352"/>
          </a:xfrm>
          <a:prstGeom prst="rect">
            <a:avLst/>
          </a:prstGeom>
          <a:noFill/>
          <a:ln/>
        </p:spPr>
        <p:txBody>
          <a:bodyPr wrap="square" lIns="0" tIns="0" rIns="0" bIns="0" rtlCol="0" anchor="ctr"/>
          <a:lstStyle/>
          <a:p>
            <a:pPr marL="0" indent="0" algn="ctr">
              <a:buNone/>
            </a:pPr>
            <a:r>
              <a:rPr lang="en-US" sz="2000" b="1" dirty="0">
                <a:solidFill>
                  <a:srgbClr val="0B3C5D"/>
                </a:solidFill>
                <a:latin typeface="Meiryo" pitchFamily="34" charset="0"/>
                <a:ea typeface="Meiryo" pitchFamily="34" charset="-122"/>
                <a:cs typeface="Meiryo" pitchFamily="34" charset="-120"/>
              </a:rPr>
              <a:t>核2</a:t>
            </a:r>
            <a:endParaRPr lang="en-US" sz="2000" dirty="0"/>
          </a:p>
          <a:p>
            <a:pPr marL="0" indent="0" algn="ctr">
              <a:buNone/>
            </a:pPr>
            <a:r>
              <a:rPr lang="en-US" sz="2000" b="1" dirty="0">
                <a:solidFill>
                  <a:srgbClr val="0B3C5D"/>
                </a:solidFill>
                <a:latin typeface="Meiryo" pitchFamily="34" charset="0"/>
                <a:ea typeface="Meiryo" pitchFamily="34" charset="-122"/>
                <a:cs typeface="Meiryo" pitchFamily="34" charset="-120"/>
              </a:rPr>
              <a:t>size-aware 推定</a:t>
            </a:r>
            <a:endParaRPr lang="en-US" sz="2000" dirty="0"/>
          </a:p>
        </p:txBody>
      </p:sp>
      <p:sp>
        <p:nvSpPr>
          <p:cNvPr id="14" name="Text 12"/>
          <p:cNvSpPr/>
          <p:nvPr/>
        </p:nvSpPr>
        <p:spPr>
          <a:xfrm>
            <a:off x="4297680" y="2926080"/>
            <a:ext cx="1920240" cy="164592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lambda × q × delta の因子分解</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低粒子数でも size prior で安定</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等方3D voxel と差別化</a:t>
            </a:r>
            <a:endParaRPr lang="en-US" sz="1450" dirty="0"/>
          </a:p>
        </p:txBody>
      </p:sp>
      <p:sp>
        <p:nvSpPr>
          <p:cNvPr id="15" name="Shape 13"/>
          <p:cNvSpPr/>
          <p:nvPr/>
        </p:nvSpPr>
        <p:spPr>
          <a:xfrm>
            <a:off x="7040880" y="1645920"/>
            <a:ext cx="2560320" cy="3611880"/>
          </a:xfrm>
          <a:prstGeom prst="roundRect">
            <a:avLst>
              <a:gd name="adj" fmla="val 2143"/>
            </a:avLst>
          </a:prstGeom>
          <a:solidFill>
            <a:srgbClr val="FFFFFF"/>
          </a:solidFill>
          <a:ln w="12700">
            <a:solidFill>
              <a:srgbClr val="2A9D8F"/>
            </a:solidFill>
            <a:prstDash val="solid"/>
          </a:ln>
        </p:spPr>
      </p:sp>
      <p:sp>
        <p:nvSpPr>
          <p:cNvPr id="16" name="Shape 14"/>
          <p:cNvSpPr/>
          <p:nvPr/>
        </p:nvSpPr>
        <p:spPr>
          <a:xfrm>
            <a:off x="7955280" y="1874520"/>
            <a:ext cx="731520" cy="274320"/>
          </a:xfrm>
          <a:prstGeom prst="ellipse">
            <a:avLst/>
          </a:prstGeom>
          <a:solidFill>
            <a:srgbClr val="2A9D8F">
              <a:alpha val="90000"/>
            </a:srgbClr>
          </a:solidFill>
          <a:ln w="12700">
            <a:solidFill>
              <a:srgbClr val="2A9D8F"/>
            </a:solidFill>
            <a:prstDash val="solid"/>
          </a:ln>
        </p:spPr>
      </p:sp>
      <p:sp>
        <p:nvSpPr>
          <p:cNvPr id="17" name="Text 15"/>
          <p:cNvSpPr/>
          <p:nvPr/>
        </p:nvSpPr>
        <p:spPr>
          <a:xfrm>
            <a:off x="7452360" y="2240280"/>
            <a:ext cx="1737360" cy="530352"/>
          </a:xfrm>
          <a:prstGeom prst="rect">
            <a:avLst/>
          </a:prstGeom>
          <a:noFill/>
          <a:ln/>
        </p:spPr>
        <p:txBody>
          <a:bodyPr wrap="square" lIns="0" tIns="0" rIns="0" bIns="0" rtlCol="0" anchor="ctr"/>
          <a:lstStyle/>
          <a:p>
            <a:pPr marL="0" indent="0" algn="ctr">
              <a:buNone/>
            </a:pPr>
            <a:r>
              <a:rPr lang="en-US" sz="2000" b="1" dirty="0">
                <a:solidFill>
                  <a:srgbClr val="0B3C5D"/>
                </a:solidFill>
                <a:latin typeface="Meiryo" pitchFamily="34" charset="0"/>
                <a:ea typeface="Meiryo" pitchFamily="34" charset="-122"/>
                <a:cs typeface="Meiryo" pitchFamily="34" charset="-120"/>
              </a:rPr>
              <a:t>核3</a:t>
            </a:r>
            <a:endParaRPr lang="en-US" sz="2000" dirty="0"/>
          </a:p>
          <a:p>
            <a:pPr marL="0" indent="0" algn="ctr">
              <a:buNone/>
            </a:pPr>
            <a:r>
              <a:rPr lang="en-US" sz="2000" b="1" dirty="0">
                <a:solidFill>
                  <a:srgbClr val="0B3C5D"/>
                </a:solidFill>
                <a:latin typeface="Meiryo" pitchFamily="34" charset="0"/>
                <a:ea typeface="Meiryo" pitchFamily="34" charset="-122"/>
                <a:cs typeface="Meiryo" pitchFamily="34" charset="-120"/>
              </a:rPr>
              <a:t>説明と運用</a:t>
            </a:r>
            <a:endParaRPr lang="en-US" sz="2000" dirty="0"/>
          </a:p>
        </p:txBody>
      </p:sp>
      <p:sp>
        <p:nvSpPr>
          <p:cNvPr id="18" name="Text 16"/>
          <p:cNvSpPr/>
          <p:nvPr/>
        </p:nvSpPr>
        <p:spPr>
          <a:xfrm>
            <a:off x="7360920" y="2926080"/>
            <a:ext cx="1920240" cy="1645920"/>
          </a:xfrm>
          <a:prstGeom prst="rect">
            <a:avLst/>
          </a:prstGeom>
          <a:noFill/>
          <a:ln/>
        </p:spPr>
        <p:txBody>
          <a:bodyPr wrap="square" lIns="508" tIns="508" rIns="508" bIns="508" rtlCol="0" anchor="t">
            <a:normAutofit/>
          </a:bodyPr>
          <a:lstStyle/>
          <a:p>
            <a:pPr marL="0" indent="0" algn="l">
              <a:buNone/>
            </a:pPr>
            <a:r>
              <a:rPr lang="en-US" sz="1450" dirty="0">
                <a:solidFill>
                  <a:srgbClr val="111111"/>
                </a:solidFill>
                <a:latin typeface="Meiryo" pitchFamily="34" charset="0"/>
                <a:ea typeface="Meiryo" pitchFamily="34" charset="-122"/>
                <a:cs typeface="Meiryo" pitchFamily="34" charset="-120"/>
              </a:rPr>
              <a:t>• MarkedMixture による説明</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uncertainty gating</a:t>
            </a:r>
            <a:endParaRPr lang="en-US" sz="1450" dirty="0"/>
          </a:p>
          <a:p>
            <a:pPr marL="0" indent="0" algn="l">
              <a:buNone/>
            </a:pPr>
            <a:r>
              <a:rPr lang="en-US" sz="1450" dirty="0">
                <a:solidFill>
                  <a:srgbClr val="111111"/>
                </a:solidFill>
                <a:latin typeface="Meiryo" pitchFamily="34" charset="0"/>
                <a:ea typeface="Meiryo" pitchFamily="34" charset="-122"/>
                <a:cs typeface="Meiryo" pitchFamily="34" charset="-120"/>
              </a:rPr>
              <a:t>• 製造/設計アクション接続</a:t>
            </a:r>
            <a:endParaRPr lang="en-US" sz="1450" dirty="0"/>
          </a:p>
        </p:txBody>
      </p:sp>
      <p:sp>
        <p:nvSpPr>
          <p:cNvPr id="19" name="Shape 17"/>
          <p:cNvSpPr/>
          <p:nvPr/>
        </p:nvSpPr>
        <p:spPr>
          <a:xfrm>
            <a:off x="9784080" y="1645920"/>
            <a:ext cx="1280160" cy="3611880"/>
          </a:xfrm>
          <a:prstGeom prst="roundRect">
            <a:avLst>
              <a:gd name="adj" fmla="val 4286"/>
            </a:avLst>
          </a:prstGeom>
          <a:solidFill>
            <a:srgbClr val="F7FAFC"/>
          </a:solidFill>
          <a:ln w="12700">
            <a:solidFill>
              <a:srgbClr val="CAD8E0"/>
            </a:solidFill>
            <a:prstDash val="solid"/>
          </a:ln>
        </p:spPr>
      </p:sp>
      <p:sp>
        <p:nvSpPr>
          <p:cNvPr id="20" name="Text 18"/>
          <p:cNvSpPr/>
          <p:nvPr/>
        </p:nvSpPr>
        <p:spPr>
          <a:xfrm>
            <a:off x="9912096" y="1719072"/>
            <a:ext cx="10241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コメント</a:t>
            </a:r>
            <a:endParaRPr lang="en-US" sz="1400" dirty="0"/>
          </a:p>
        </p:txBody>
      </p:sp>
      <p:sp>
        <p:nvSpPr>
          <p:cNvPr id="21" name="Text 19"/>
          <p:cNvSpPr/>
          <p:nvPr/>
        </p:nvSpPr>
        <p:spPr>
          <a:xfrm>
            <a:off x="9893808" y="2148840"/>
            <a:ext cx="1005840" cy="2468880"/>
          </a:xfrm>
          <a:prstGeom prst="rect">
            <a:avLst/>
          </a:prstGeom>
          <a:noFill/>
          <a:ln/>
        </p:spPr>
        <p:txBody>
          <a:bodyPr wrap="square" lIns="508" tIns="508" rIns="508" bIns="508" rtlCol="0" anchor="t">
            <a:normAutofit/>
          </a:bodyPr>
          <a:lstStyle/>
          <a:p>
            <a:pPr marL="0" indent="0" algn="l">
              <a:buNone/>
            </a:pPr>
            <a:r>
              <a:rPr lang="en-US" sz="1340" dirty="0">
                <a:solidFill>
                  <a:srgbClr val="111111"/>
                </a:solidFill>
                <a:latin typeface="Meiryo" pitchFamily="34" charset="0"/>
                <a:ea typeface="Meiryo" pitchFamily="34" charset="-122"/>
                <a:cs typeface="Meiryo" pitchFamily="34" charset="-120"/>
              </a:rPr>
              <a:t>• 単独要素ではなく、組合せで進歩性を主張しやすい。</a:t>
            </a:r>
            <a:endParaRPr lang="en-US" sz="1340" dirty="0"/>
          </a:p>
          <a:p>
            <a:pPr marL="0" indent="0" algn="l">
              <a:buNone/>
            </a:pPr>
            <a:r>
              <a:rPr lang="en-US" sz="1340" dirty="0">
                <a:solidFill>
                  <a:srgbClr val="111111"/>
                </a:solidFill>
                <a:latin typeface="Meiryo" pitchFamily="34" charset="0"/>
                <a:ea typeface="Meiryo" pitchFamily="34" charset="-122"/>
                <a:cs typeface="Meiryo" pitchFamily="34" charset="-120"/>
              </a:rPr>
              <a:t>• 特に「入力生成 + 因子分解 + 説明 + 不確かさ分岐」の一体化が重要。</a:t>
            </a:r>
            <a:endParaRPr lang="en-US" sz="1340" dirty="0"/>
          </a:p>
        </p:txBody>
      </p:sp>
      <p:sp>
        <p:nvSpPr>
          <p:cNvPr id="22" name="Text 20"/>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27</a:t>
            </a:r>
            <a:endParaRPr lang="en-US" sz="1000" dirty="0"/>
          </a:p>
        </p:txBody>
      </p:sp>
      <p:sp>
        <p:nvSpPr>
          <p:cNvPr id="23" name="Text 21"/>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請求項例① 方法クレーム / 装置クレーム</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Claim Draft 1</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箇条書きで見た請求項のたたき台</a:t>
            </a:r>
            <a:endParaRPr lang="en-US" sz="1400" dirty="0"/>
          </a:p>
        </p:txBody>
      </p:sp>
      <p:sp>
        <p:nvSpPr>
          <p:cNvPr id="7" name="Shape 5"/>
          <p:cNvSpPr/>
          <p:nvPr/>
        </p:nvSpPr>
        <p:spPr>
          <a:xfrm>
            <a:off x="914400" y="1554480"/>
            <a:ext cx="4023360" cy="4297680"/>
          </a:xfrm>
          <a:prstGeom prst="roundRect">
            <a:avLst>
              <a:gd name="adj" fmla="val 1364"/>
            </a:avLst>
          </a:prstGeom>
          <a:solidFill>
            <a:srgbClr val="F9FBFD"/>
          </a:solidFill>
          <a:ln w="12700">
            <a:solidFill>
              <a:srgbClr val="CAD8E0"/>
            </a:solidFill>
            <a:prstDash val="solid"/>
          </a:ln>
        </p:spPr>
      </p:sp>
      <p:sp>
        <p:nvSpPr>
          <p:cNvPr id="8" name="Text 6"/>
          <p:cNvSpPr/>
          <p:nvPr/>
        </p:nvSpPr>
        <p:spPr>
          <a:xfrm>
            <a:off x="1042416" y="1627632"/>
            <a:ext cx="37673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独立請求項（方法）の芯</a:t>
            </a:r>
            <a:endParaRPr lang="en-US" sz="1400" dirty="0"/>
          </a:p>
        </p:txBody>
      </p:sp>
      <p:sp>
        <p:nvSpPr>
          <p:cNvPr id="9" name="Text 7"/>
          <p:cNvSpPr/>
          <p:nvPr/>
        </p:nvSpPr>
        <p:spPr>
          <a:xfrm>
            <a:off x="1078992" y="1920240"/>
            <a:ext cx="3657600" cy="3246120"/>
          </a:xfrm>
          <a:prstGeom prst="rect">
            <a:avLst/>
          </a:prstGeom>
          <a:noFill/>
          <a:ln/>
        </p:spPr>
        <p:txBody>
          <a:bodyPr wrap="square" lIns="508" tIns="508" rIns="508" bIns="508" rtlCol="0" anchor="t">
            <a:normAutofit/>
          </a:bodyPr>
          <a:lstStyle/>
          <a:p>
            <a:pPr marL="0" indent="0" algn="l">
              <a:buNone/>
            </a:pPr>
            <a:r>
              <a:rPr lang="en-US" sz="1460" dirty="0">
                <a:solidFill>
                  <a:srgbClr val="111111"/>
                </a:solidFill>
                <a:latin typeface="Meiryo" pitchFamily="34" charset="0"/>
                <a:ea typeface="Meiryo" pitchFamily="34" charset="-122"/>
                <a:cs typeface="Meiryo" pitchFamily="34" charset="-120"/>
              </a:rPr>
              <a:t>• 粒子の位置情報と粒径情報を取得する。</a:t>
            </a:r>
            <a:endParaRPr lang="en-US" sz="1460" dirty="0"/>
          </a:p>
          <a:p>
            <a:pPr marL="0" indent="0" algn="l">
              <a:buNone/>
            </a:pPr>
            <a:r>
              <a:rPr lang="en-US" sz="1460" dirty="0">
                <a:solidFill>
                  <a:srgbClr val="111111"/>
                </a:solidFill>
                <a:latin typeface="Meiryo" pitchFamily="34" charset="0"/>
                <a:ea typeface="Meiryo" pitchFamily="34" charset="-122"/>
                <a:cs typeface="Meiryo" pitchFamily="34" charset="-120"/>
              </a:rPr>
              <a:t>• 第1格子表現（x-y）と第2格子表現（r-theta）を生成する。</a:t>
            </a:r>
            <a:endParaRPr lang="en-US" sz="1460" dirty="0"/>
          </a:p>
          <a:p>
            <a:pPr marL="0" indent="0" algn="l">
              <a:buNone/>
            </a:pPr>
            <a:r>
              <a:rPr lang="en-US" sz="1460" dirty="0">
                <a:solidFill>
                  <a:srgbClr val="111111"/>
                </a:solidFill>
                <a:latin typeface="Meiryo" pitchFamily="34" charset="0"/>
                <a:ea typeface="Meiryo" pitchFamily="34" charset="-122"/>
                <a:cs typeface="Meiryo" pitchFamily="34" charset="-120"/>
              </a:rPr>
              <a:t>• 空間強度と粒径分布を因子分解して推定する。</a:t>
            </a:r>
            <a:endParaRPr lang="en-US" sz="1460" dirty="0"/>
          </a:p>
          <a:p>
            <a:pPr marL="0" indent="0" algn="l">
              <a:buNone/>
            </a:pPr>
            <a:r>
              <a:rPr lang="en-US" sz="1460" dirty="0">
                <a:solidFill>
                  <a:srgbClr val="111111"/>
                </a:solidFill>
                <a:latin typeface="Meiryo" pitchFamily="34" charset="0"/>
                <a:ea typeface="Meiryo" pitchFamily="34" charset="-122"/>
                <a:cs typeface="Meiryo" pitchFamily="34" charset="-120"/>
              </a:rPr>
              <a:t>• ウェハ上の領域ごとの原因パターン分布を出力する。</a:t>
            </a:r>
            <a:endParaRPr lang="en-US" sz="1460" dirty="0"/>
          </a:p>
          <a:p>
            <a:pPr marL="0" indent="0" algn="l">
              <a:buNone/>
            </a:pPr>
            <a:r>
              <a:rPr lang="en-US" sz="1460" dirty="0">
                <a:solidFill>
                  <a:srgbClr val="111111"/>
                </a:solidFill>
                <a:latin typeface="Meiryo" pitchFamily="34" charset="0"/>
                <a:ea typeface="Meiryo" pitchFamily="34" charset="-122"/>
                <a:cs typeface="Meiryo" pitchFamily="34" charset="-120"/>
              </a:rPr>
              <a:t>• 必要に応じて不確かさに基づき追加計測またはレビューへ分岐する。</a:t>
            </a:r>
            <a:endParaRPr lang="en-US" sz="1460" dirty="0"/>
          </a:p>
        </p:txBody>
      </p:sp>
      <p:sp>
        <p:nvSpPr>
          <p:cNvPr id="10" name="Shape 8"/>
          <p:cNvSpPr/>
          <p:nvPr/>
        </p:nvSpPr>
        <p:spPr>
          <a:xfrm>
            <a:off x="5257800" y="2240280"/>
            <a:ext cx="868680" cy="0"/>
          </a:xfrm>
          <a:prstGeom prst="line">
            <a:avLst/>
          </a:prstGeom>
          <a:noFill/>
          <a:ln w="12700">
            <a:solidFill>
              <a:srgbClr val="D7E3EA"/>
            </a:solidFill>
            <a:prstDash val="solid"/>
            <a:tailEnd type="triangle"/>
          </a:ln>
        </p:spPr>
      </p:sp>
      <p:sp>
        <p:nvSpPr>
          <p:cNvPr id="11" name="Shape 9"/>
          <p:cNvSpPr/>
          <p:nvPr/>
        </p:nvSpPr>
        <p:spPr>
          <a:xfrm>
            <a:off x="5257800" y="3657600"/>
            <a:ext cx="868680" cy="0"/>
          </a:xfrm>
          <a:prstGeom prst="line">
            <a:avLst/>
          </a:prstGeom>
          <a:noFill/>
          <a:ln w="12700">
            <a:solidFill>
              <a:srgbClr val="D7E3EA"/>
            </a:solidFill>
            <a:prstDash val="solid"/>
            <a:tailEnd type="triangle"/>
          </a:ln>
        </p:spPr>
      </p:sp>
      <p:sp>
        <p:nvSpPr>
          <p:cNvPr id="12" name="Shape 10"/>
          <p:cNvSpPr/>
          <p:nvPr/>
        </p:nvSpPr>
        <p:spPr>
          <a:xfrm>
            <a:off x="6217920" y="1554480"/>
            <a:ext cx="1828800" cy="1097280"/>
          </a:xfrm>
          <a:prstGeom prst="roundRect">
            <a:avLst>
              <a:gd name="adj" fmla="val 5000"/>
            </a:avLst>
          </a:prstGeom>
          <a:solidFill>
            <a:srgbClr val="FFF8F0"/>
          </a:solidFill>
          <a:ln w="12700">
            <a:solidFill>
              <a:srgbClr val="F4A261"/>
            </a:solidFill>
            <a:prstDash val="solid"/>
          </a:ln>
        </p:spPr>
      </p:sp>
      <p:sp>
        <p:nvSpPr>
          <p:cNvPr id="13" name="Text 11"/>
          <p:cNvSpPr/>
          <p:nvPr/>
        </p:nvSpPr>
        <p:spPr>
          <a:xfrm>
            <a:off x="6345936" y="1627632"/>
            <a:ext cx="1572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装置クレームの芯</a:t>
            </a:r>
            <a:endParaRPr lang="en-US" sz="1400" dirty="0"/>
          </a:p>
        </p:txBody>
      </p:sp>
      <p:sp>
        <p:nvSpPr>
          <p:cNvPr id="14" name="Text 12"/>
          <p:cNvSpPr/>
          <p:nvPr/>
        </p:nvSpPr>
        <p:spPr>
          <a:xfrm>
            <a:off x="6382512" y="1874520"/>
            <a:ext cx="1508760" cy="548640"/>
          </a:xfrm>
          <a:prstGeom prst="rect">
            <a:avLst/>
          </a:prstGeom>
          <a:noFill/>
          <a:ln/>
        </p:spPr>
        <p:txBody>
          <a:bodyPr wrap="square" lIns="508" tIns="508" rIns="508" bIns="508" rtlCol="0" anchor="t">
            <a:normAutofit/>
          </a:bodyPr>
          <a:lstStyle/>
          <a:p>
            <a:pPr marL="0" indent="0" algn="l">
              <a:buNone/>
            </a:pPr>
            <a:r>
              <a:rPr lang="en-US" sz="1380" dirty="0">
                <a:solidFill>
                  <a:srgbClr val="111111"/>
                </a:solidFill>
                <a:latin typeface="Meiryo" pitchFamily="34" charset="0"/>
                <a:ea typeface="Meiryo" pitchFamily="34" charset="-122"/>
                <a:cs typeface="Meiryo" pitchFamily="34" charset="-120"/>
              </a:rPr>
              <a:t>• 粒子データ取得部</a:t>
            </a:r>
            <a:endParaRPr lang="en-US" sz="1380" dirty="0"/>
          </a:p>
          <a:p>
            <a:pPr marL="0" indent="0" algn="l">
              <a:buNone/>
            </a:pPr>
            <a:r>
              <a:rPr lang="en-US" sz="1380" dirty="0">
                <a:solidFill>
                  <a:srgbClr val="111111"/>
                </a:solidFill>
                <a:latin typeface="Meiryo" pitchFamily="34" charset="0"/>
                <a:ea typeface="Meiryo" pitchFamily="34" charset="-122"/>
                <a:cs typeface="Meiryo" pitchFamily="34" charset="-120"/>
              </a:rPr>
              <a:t>• 前処理部</a:t>
            </a:r>
            <a:endParaRPr lang="en-US" sz="1380" dirty="0"/>
          </a:p>
          <a:p>
            <a:pPr marL="0" indent="0" algn="l">
              <a:buNone/>
            </a:pPr>
            <a:r>
              <a:rPr lang="en-US" sz="1380" dirty="0">
                <a:solidFill>
                  <a:srgbClr val="111111"/>
                </a:solidFill>
                <a:latin typeface="Meiryo" pitchFamily="34" charset="0"/>
                <a:ea typeface="Meiryo" pitchFamily="34" charset="-122"/>
                <a:cs typeface="Meiryo" pitchFamily="34" charset="-120"/>
              </a:rPr>
              <a:t>• 機械学習部</a:t>
            </a:r>
            <a:endParaRPr lang="en-US" sz="1380" dirty="0"/>
          </a:p>
          <a:p>
            <a:pPr marL="0" indent="0" algn="l">
              <a:buNone/>
            </a:pPr>
            <a:r>
              <a:rPr lang="en-US" sz="1380" dirty="0">
                <a:solidFill>
                  <a:srgbClr val="111111"/>
                </a:solidFill>
                <a:latin typeface="Meiryo" pitchFamily="34" charset="0"/>
                <a:ea typeface="Meiryo" pitchFamily="34" charset="-122"/>
                <a:cs typeface="Meiryo" pitchFamily="34" charset="-120"/>
              </a:rPr>
              <a:t>• 出力部</a:t>
            </a:r>
            <a:endParaRPr lang="en-US" sz="1380" dirty="0"/>
          </a:p>
        </p:txBody>
      </p:sp>
      <p:sp>
        <p:nvSpPr>
          <p:cNvPr id="15" name="Shape 13"/>
          <p:cNvSpPr/>
          <p:nvPr/>
        </p:nvSpPr>
        <p:spPr>
          <a:xfrm>
            <a:off x="6217920" y="2971800"/>
            <a:ext cx="4709160" cy="2057400"/>
          </a:xfrm>
          <a:prstGeom prst="roundRect">
            <a:avLst>
              <a:gd name="adj" fmla="val 2667"/>
            </a:avLst>
          </a:prstGeom>
          <a:solidFill>
            <a:srgbClr val="F7FAFC"/>
          </a:solidFill>
          <a:ln w="12700">
            <a:solidFill>
              <a:srgbClr val="CAD8E0"/>
            </a:solidFill>
            <a:prstDash val="solid"/>
          </a:ln>
        </p:spPr>
      </p:sp>
      <p:sp>
        <p:nvSpPr>
          <p:cNvPr id="16" name="Text 14"/>
          <p:cNvSpPr/>
          <p:nvPr/>
        </p:nvSpPr>
        <p:spPr>
          <a:xfrm>
            <a:off x="6345936" y="3044952"/>
            <a:ext cx="445312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装置クレームで押さえたい機能</a:t>
            </a:r>
            <a:endParaRPr lang="en-US" sz="1400" dirty="0"/>
          </a:p>
        </p:txBody>
      </p:sp>
      <p:sp>
        <p:nvSpPr>
          <p:cNvPr id="17" name="Text 15"/>
          <p:cNvSpPr/>
          <p:nvPr/>
        </p:nvSpPr>
        <p:spPr>
          <a:xfrm>
            <a:off x="6419088" y="3310128"/>
            <a:ext cx="4297680" cy="132588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dual-grid 前処理機能</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因子分解推定機能</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cause map 出力機能</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不確かさに応じた分岐機能</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説明器を備える実施形態</a:t>
            </a:r>
            <a:endParaRPr lang="en-US" sz="1420" dirty="0"/>
          </a:p>
        </p:txBody>
      </p:sp>
      <p:sp>
        <p:nvSpPr>
          <p:cNvPr id="18" name="Text 16"/>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28</a:t>
            </a:r>
            <a:endParaRPr lang="en-US" sz="1000" dirty="0"/>
          </a:p>
        </p:txBody>
      </p:sp>
      <p:sp>
        <p:nvSpPr>
          <p:cNvPr id="19" name="Text 17"/>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請求項例② 従属 / システム / プログラム</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Claim Draft 2</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1097280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1071676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従属項で広げたい論点</a:t>
            </a:r>
            <a:endParaRPr lang="en-US" sz="1400" dirty="0"/>
          </a:p>
        </p:txBody>
      </p:sp>
      <p:sp>
        <p:nvSpPr>
          <p:cNvPr id="7" name="Shape 5"/>
          <p:cNvSpPr/>
          <p:nvPr/>
        </p:nvSpPr>
        <p:spPr>
          <a:xfrm>
            <a:off x="914400" y="1508760"/>
            <a:ext cx="3474720" cy="4480560"/>
          </a:xfrm>
          <a:prstGeom prst="roundRect">
            <a:avLst>
              <a:gd name="adj" fmla="val 1579"/>
            </a:avLst>
          </a:prstGeom>
          <a:solidFill>
            <a:srgbClr val="F9FBFD"/>
          </a:solidFill>
          <a:ln w="12700">
            <a:solidFill>
              <a:srgbClr val="CAD8E0"/>
            </a:solidFill>
            <a:prstDash val="solid"/>
          </a:ln>
        </p:spPr>
      </p:sp>
      <p:sp>
        <p:nvSpPr>
          <p:cNvPr id="8" name="Text 6"/>
          <p:cNvSpPr/>
          <p:nvPr/>
        </p:nvSpPr>
        <p:spPr>
          <a:xfrm>
            <a:off x="1042416" y="1581912"/>
            <a:ext cx="32186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従属請求項の例</a:t>
            </a:r>
            <a:endParaRPr lang="en-US" sz="1400" dirty="0"/>
          </a:p>
        </p:txBody>
      </p:sp>
      <p:sp>
        <p:nvSpPr>
          <p:cNvPr id="9" name="Text 7"/>
          <p:cNvSpPr/>
          <p:nvPr/>
        </p:nvSpPr>
        <p:spPr>
          <a:xfrm>
            <a:off x="1078992" y="1874520"/>
            <a:ext cx="3108960" cy="3383280"/>
          </a:xfrm>
          <a:prstGeom prst="rect">
            <a:avLst/>
          </a:prstGeom>
          <a:noFill/>
          <a:ln/>
        </p:spPr>
        <p:txBody>
          <a:bodyPr wrap="square" lIns="508" tIns="508" rIns="508" bIns="508" rtlCol="0" anchor="t">
            <a:normAutofit/>
          </a:bodyPr>
          <a:lstStyle/>
          <a:p>
            <a:pPr marL="0" indent="0" algn="l">
              <a:buNone/>
            </a:pPr>
            <a:r>
              <a:rPr lang="en-US" sz="1430" dirty="0">
                <a:solidFill>
                  <a:srgbClr val="111111"/>
                </a:solidFill>
                <a:latin typeface="Meiryo" pitchFamily="34" charset="0"/>
                <a:ea typeface="Meiryo" pitchFamily="34" charset="-122"/>
                <a:cs typeface="Meiryo" pitchFamily="34" charset="-120"/>
              </a:rPr>
              <a:t>• global size prior + local residual</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uncertainty gating</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装置差補正 / ドリフト監視</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追加計測・再学習ループ</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工程条件候補・設計FB候補の出力</a:t>
            </a:r>
            <a:endParaRPr lang="en-US" sz="1430" dirty="0"/>
          </a:p>
          <a:p>
            <a:pPr marL="0" indent="0" algn="l">
              <a:buNone/>
            </a:pPr>
            <a:r>
              <a:rPr lang="en-US" sz="1430" dirty="0">
                <a:solidFill>
                  <a:srgbClr val="111111"/>
                </a:solidFill>
                <a:latin typeface="Meiryo" pitchFamily="34" charset="0"/>
                <a:ea typeface="Meiryo" pitchFamily="34" charset="-122"/>
                <a:cs typeface="Meiryo" pitchFamily="34" charset="-120"/>
              </a:rPr>
              <a:t>• synthetic data の補助教師利用</a:t>
            </a:r>
            <a:endParaRPr lang="en-US" sz="1430" dirty="0"/>
          </a:p>
        </p:txBody>
      </p:sp>
      <p:sp>
        <p:nvSpPr>
          <p:cNvPr id="10" name="Shape 8"/>
          <p:cNvSpPr/>
          <p:nvPr/>
        </p:nvSpPr>
        <p:spPr>
          <a:xfrm>
            <a:off x="4709160" y="1508760"/>
            <a:ext cx="2834640" cy="1874520"/>
          </a:xfrm>
          <a:prstGeom prst="roundRect">
            <a:avLst>
              <a:gd name="adj" fmla="val 2927"/>
            </a:avLst>
          </a:prstGeom>
          <a:solidFill>
            <a:srgbClr val="F5FBFF"/>
          </a:solidFill>
          <a:ln w="12700">
            <a:solidFill>
              <a:srgbClr val="4FC3F7"/>
            </a:solidFill>
            <a:prstDash val="solid"/>
          </a:ln>
        </p:spPr>
      </p:sp>
      <p:sp>
        <p:nvSpPr>
          <p:cNvPr id="11" name="Text 9"/>
          <p:cNvSpPr/>
          <p:nvPr/>
        </p:nvSpPr>
        <p:spPr>
          <a:xfrm>
            <a:off x="4837176" y="1581912"/>
            <a:ext cx="25786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システムクレーム</a:t>
            </a:r>
            <a:endParaRPr lang="en-US" sz="1400" dirty="0"/>
          </a:p>
        </p:txBody>
      </p:sp>
      <p:sp>
        <p:nvSpPr>
          <p:cNvPr id="12" name="Text 10"/>
          <p:cNvSpPr/>
          <p:nvPr/>
        </p:nvSpPr>
        <p:spPr>
          <a:xfrm>
            <a:off x="4892040" y="1874520"/>
            <a:ext cx="2377440" cy="100584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検査装置</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解析装置</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履歴DB</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製造アクション出力</a:t>
            </a:r>
            <a:endParaRPr lang="en-US" sz="1420" dirty="0"/>
          </a:p>
        </p:txBody>
      </p:sp>
      <p:sp>
        <p:nvSpPr>
          <p:cNvPr id="13" name="Shape 11"/>
          <p:cNvSpPr/>
          <p:nvPr/>
        </p:nvSpPr>
        <p:spPr>
          <a:xfrm>
            <a:off x="4709160" y="3657600"/>
            <a:ext cx="2834640" cy="1874520"/>
          </a:xfrm>
          <a:prstGeom prst="roundRect">
            <a:avLst>
              <a:gd name="adj" fmla="val 2927"/>
            </a:avLst>
          </a:prstGeom>
          <a:solidFill>
            <a:srgbClr val="F4FBF8"/>
          </a:solidFill>
          <a:ln w="12700">
            <a:solidFill>
              <a:srgbClr val="2A9D8F"/>
            </a:solidFill>
            <a:prstDash val="solid"/>
          </a:ln>
        </p:spPr>
      </p:sp>
      <p:sp>
        <p:nvSpPr>
          <p:cNvPr id="14" name="Text 12"/>
          <p:cNvSpPr/>
          <p:nvPr/>
        </p:nvSpPr>
        <p:spPr>
          <a:xfrm>
            <a:off x="4837176" y="3730752"/>
            <a:ext cx="257860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プログラム / 媒体クレーム</a:t>
            </a:r>
            <a:endParaRPr lang="en-US" sz="1400" dirty="0"/>
          </a:p>
        </p:txBody>
      </p:sp>
      <p:sp>
        <p:nvSpPr>
          <p:cNvPr id="15" name="Text 13"/>
          <p:cNvSpPr/>
          <p:nvPr/>
        </p:nvSpPr>
        <p:spPr>
          <a:xfrm>
            <a:off x="4892040" y="4041648"/>
            <a:ext cx="2377440" cy="91440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上記方法をコンピュータに実行させるプログラム</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そのプログラムを格納した記録媒体</a:t>
            </a:r>
            <a:endParaRPr lang="en-US" sz="1420" dirty="0"/>
          </a:p>
        </p:txBody>
      </p:sp>
      <p:sp>
        <p:nvSpPr>
          <p:cNvPr id="16" name="Shape 14"/>
          <p:cNvSpPr/>
          <p:nvPr/>
        </p:nvSpPr>
        <p:spPr>
          <a:xfrm>
            <a:off x="7818120" y="1508760"/>
            <a:ext cx="3246120" cy="4023360"/>
          </a:xfrm>
          <a:prstGeom prst="roundRect">
            <a:avLst>
              <a:gd name="adj" fmla="val 1690"/>
            </a:avLst>
          </a:prstGeom>
          <a:solidFill>
            <a:srgbClr val="F7FAFC"/>
          </a:solidFill>
          <a:ln w="12700">
            <a:solidFill>
              <a:srgbClr val="CAD8E0"/>
            </a:solidFill>
            <a:prstDash val="solid"/>
          </a:ln>
        </p:spPr>
      </p:sp>
      <p:sp>
        <p:nvSpPr>
          <p:cNvPr id="17" name="Text 15"/>
          <p:cNvSpPr/>
          <p:nvPr/>
        </p:nvSpPr>
        <p:spPr>
          <a:xfrm>
            <a:off x="7946136" y="1581912"/>
            <a:ext cx="29900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クレーム設計メモ</a:t>
            </a:r>
            <a:endParaRPr lang="en-US" sz="1400" dirty="0"/>
          </a:p>
        </p:txBody>
      </p:sp>
      <p:sp>
        <p:nvSpPr>
          <p:cNvPr id="18" name="Text 16"/>
          <p:cNvSpPr/>
          <p:nvPr/>
        </p:nvSpPr>
        <p:spPr>
          <a:xfrm>
            <a:off x="8001000" y="1874520"/>
            <a:ext cx="2834640" cy="2468880"/>
          </a:xfrm>
          <a:prstGeom prst="rect">
            <a:avLst/>
          </a:prstGeom>
          <a:noFill/>
          <a:ln/>
        </p:spPr>
        <p:txBody>
          <a:bodyPr wrap="square" lIns="508" tIns="508" rIns="508" bIns="508" rtlCol="0" anchor="t">
            <a:normAutofit/>
          </a:bodyPr>
          <a:lstStyle/>
          <a:p>
            <a:pPr marL="0" indent="0" algn="l">
              <a:buNone/>
            </a:pPr>
            <a:r>
              <a:rPr lang="en-US" sz="1410" dirty="0">
                <a:solidFill>
                  <a:srgbClr val="111111"/>
                </a:solidFill>
                <a:latin typeface="Meiryo" pitchFamily="34" charset="0"/>
                <a:ea typeface="Meiryo" pitchFamily="34" charset="-122"/>
                <a:cs typeface="Meiryo" pitchFamily="34" charset="-120"/>
              </a:rPr>
              <a:t>• 独立項は「複数空間表現」「粒径分布の因子分解」「原因パターン分布出力」を芯に置く。</a:t>
            </a:r>
            <a:endParaRPr lang="en-US" sz="1410" dirty="0"/>
          </a:p>
          <a:p>
            <a:pPr marL="0" indent="0" algn="l">
              <a:buNone/>
            </a:pPr>
            <a:r>
              <a:rPr lang="en-US" sz="1410" dirty="0">
                <a:solidFill>
                  <a:srgbClr val="111111"/>
                </a:solidFill>
                <a:latin typeface="Meiryo" pitchFamily="34" charset="0"/>
                <a:ea typeface="Meiryo" pitchFamily="34" charset="-122"/>
                <a:cs typeface="Meiryo" pitchFamily="34" charset="-120"/>
              </a:rPr>
              <a:t>• 従属項で dual-grid、説明器、不確かさ分岐、synthetic teacher、設計FB を加える。</a:t>
            </a:r>
            <a:endParaRPr lang="en-US" sz="1410" dirty="0"/>
          </a:p>
          <a:p>
            <a:pPr marL="0" indent="0" algn="l">
              <a:buNone/>
            </a:pPr>
            <a:r>
              <a:rPr lang="en-US" sz="1410" dirty="0">
                <a:solidFill>
                  <a:srgbClr val="111111"/>
                </a:solidFill>
                <a:latin typeface="Meiryo" pitchFamily="34" charset="0"/>
                <a:ea typeface="Meiryo" pitchFamily="34" charset="-122"/>
                <a:cs typeface="Meiryo" pitchFamily="34" charset="-120"/>
              </a:rPr>
              <a:t>• 回避設計されやすい点は、single-grid 化、size因子分解の省略、説明器の省略。</a:t>
            </a:r>
            <a:endParaRPr lang="en-US" sz="1410" dirty="0"/>
          </a:p>
        </p:txBody>
      </p:sp>
      <p:sp>
        <p:nvSpPr>
          <p:cNvPr id="19" name="Text 17"/>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29</a:t>
            </a:r>
            <a:endParaRPr lang="en-US" sz="1000" dirty="0"/>
          </a:p>
        </p:txBody>
      </p:sp>
      <p:sp>
        <p:nvSpPr>
          <p:cNvPr id="20" name="Text 18"/>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56032"/>
            <a:ext cx="11064240" cy="310896"/>
          </a:xfrm>
          <a:prstGeom prst="rect">
            <a:avLst/>
          </a:prstGeom>
          <a:noFill/>
          <a:ln/>
        </p:spPr>
        <p:txBody>
          <a:bodyPr wrap="square" lIns="0" tIns="0" rIns="0" bIns="0" rtlCol="0" anchor="ctr"/>
          <a:lstStyle/>
          <a:p>
            <a:pPr marL="0" indent="0">
              <a:buNone/>
            </a:pPr>
            <a:r>
              <a:rPr lang="en-US" sz="2800" dirty="0">
                <a:solidFill>
                  <a:srgbClr val="4FC3F7"/>
                </a:solidFill>
                <a:latin typeface="Meiryo" pitchFamily="34" charset="0"/>
                <a:ea typeface="Meiryo" pitchFamily="34" charset="-122"/>
                <a:cs typeface="Meiryo" pitchFamily="34" charset="-120"/>
              </a:rPr>
              <a:t>提案技術による価値とまとめ</a:t>
            </a:r>
            <a:endParaRPr lang="en-US" sz="2800" dirty="0"/>
          </a:p>
        </p:txBody>
      </p:sp>
      <p:sp>
        <p:nvSpPr>
          <p:cNvPr id="3" name="Text 1"/>
          <p:cNvSpPr/>
          <p:nvPr/>
        </p:nvSpPr>
        <p:spPr>
          <a:xfrm>
            <a:off x="10607040" y="310896"/>
            <a:ext cx="1005840" cy="201168"/>
          </a:xfrm>
          <a:prstGeom prst="rect">
            <a:avLst/>
          </a:prstGeom>
          <a:noFill/>
          <a:ln/>
        </p:spPr>
        <p:txBody>
          <a:bodyPr wrap="square" lIns="0" tIns="0" rIns="0" bIns="0" rtlCol="0" anchor="ctr"/>
          <a:lstStyle/>
          <a:p>
            <a:pPr marL="0" indent="0" algn="r">
              <a:buNone/>
            </a:pPr>
            <a:r>
              <a:rPr lang="en-US" sz="1050" dirty="0">
                <a:solidFill>
                  <a:srgbClr val="5F6B6D"/>
                </a:solidFill>
                <a:latin typeface="Meiryo" pitchFamily="34" charset="0"/>
                <a:ea typeface="Meiryo" pitchFamily="34" charset="-122"/>
                <a:cs typeface="Meiryo" pitchFamily="34" charset="-120"/>
              </a:rPr>
              <a:t>KPI / Summary</a:t>
            </a:r>
            <a:endParaRPr lang="en-US" sz="1050" dirty="0"/>
          </a:p>
        </p:txBody>
      </p:sp>
      <p:sp>
        <p:nvSpPr>
          <p:cNvPr id="4" name="Shape 2"/>
          <p:cNvSpPr/>
          <p:nvPr/>
        </p:nvSpPr>
        <p:spPr>
          <a:xfrm>
            <a:off x="502920" y="667512"/>
            <a:ext cx="11155680" cy="0"/>
          </a:xfrm>
          <a:prstGeom prst="line">
            <a:avLst/>
          </a:prstGeom>
          <a:noFill/>
          <a:ln w="12700">
            <a:solidFill>
              <a:srgbClr val="D7E3EA"/>
            </a:solidFill>
            <a:prstDash val="solid"/>
          </a:ln>
        </p:spPr>
      </p:sp>
      <p:sp>
        <p:nvSpPr>
          <p:cNvPr id="5" name="Shape 3"/>
          <p:cNvSpPr/>
          <p:nvPr/>
        </p:nvSpPr>
        <p:spPr>
          <a:xfrm>
            <a:off x="658368" y="1024128"/>
            <a:ext cx="5669280" cy="5074920"/>
          </a:xfrm>
          <a:prstGeom prst="roundRect">
            <a:avLst>
              <a:gd name="adj" fmla="val 1081"/>
            </a:avLst>
          </a:prstGeom>
          <a:solidFill>
            <a:srgbClr val="FFFFFF"/>
          </a:solidFill>
          <a:ln w="12700">
            <a:solidFill>
              <a:srgbClr val="CAD8E0"/>
            </a:solidFill>
            <a:prstDash val="solid"/>
          </a:ln>
          <a:effectLst>
            <a:outerShdw blurRad="19050" dist="12700" dir="2700000" algn="bl" rotWithShape="0">
              <a:srgbClr val="000000">
                <a:alpha val="8000"/>
              </a:srgbClr>
            </a:outerShdw>
          </a:effectLst>
        </p:spPr>
      </p:sp>
      <p:sp>
        <p:nvSpPr>
          <p:cNvPr id="6" name="Text 4"/>
          <p:cNvSpPr/>
          <p:nvPr/>
        </p:nvSpPr>
        <p:spPr>
          <a:xfrm>
            <a:off x="786384" y="1097280"/>
            <a:ext cx="541324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価値指標の例</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914400" y="1463040"/>
          <a:ext cx="5074920" cy="2423160"/>
        </p:xfrm>
        <a:graphic>
          <a:graphicData uri="http://schemas.openxmlformats.org/drawingml/2006/table">
            <a:tbl>
              <a:tblPr/>
              <a:tblGrid>
                <a:gridCol w="1097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329184">
                <a:tc>
                  <a:txBody>
                    <a:bodyPr/>
                    <a:lstStyle/>
                    <a:p>
                      <a:pPr marL="0" indent="0">
                        <a:buNone/>
                      </a:pPr>
                      <a:r>
                        <a:rPr lang="en-US" sz="1340" dirty="0">
                          <a:solidFill>
                            <a:srgbClr val="111111"/>
                          </a:solidFill>
                          <a:latin typeface="Meiryo" pitchFamily="34" charset="0"/>
                          <a:ea typeface="Meiryo" pitchFamily="34" charset="-122"/>
                          <a:cs typeface="Meiryo" pitchFamily="34" charset="-120"/>
                        </a:rPr>
                        <a:t>領域</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KPI</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期待方向</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buNone/>
                      </a:pPr>
                      <a:r>
                        <a:rPr lang="en-US" sz="1340" dirty="0">
                          <a:solidFill>
                            <a:srgbClr val="111111"/>
                          </a:solidFill>
                          <a:latin typeface="Meiryo" pitchFamily="34" charset="0"/>
                          <a:ea typeface="Meiryo" pitchFamily="34" charset="-122"/>
                          <a:cs typeface="Meiryo" pitchFamily="34" charset="-120"/>
                        </a:rPr>
                        <a:t>製造運用</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レビュー工数</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削減</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340" dirty="0">
                          <a:solidFill>
                            <a:srgbClr val="111111"/>
                          </a:solidFill>
                          <a:latin typeface="Meiryo" pitchFamily="34" charset="0"/>
                          <a:ea typeface="Meiryo" pitchFamily="34" charset="-122"/>
                          <a:cs typeface="Meiryo" pitchFamily="34" charset="-120"/>
                        </a:rPr>
                        <a:t>製造運用</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誤アクション率</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低減</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340" dirty="0">
                          <a:solidFill>
                            <a:srgbClr val="111111"/>
                          </a:solidFill>
                          <a:latin typeface="Meiryo" pitchFamily="34" charset="0"/>
                          <a:ea typeface="Meiryo" pitchFamily="34" charset="-122"/>
                          <a:cs typeface="Meiryo" pitchFamily="34" charset="-120"/>
                        </a:rPr>
                        <a:t>工程改善</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原因仮説収束時間</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短縮</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40" dirty="0">
                          <a:solidFill>
                            <a:srgbClr val="111111"/>
                          </a:solidFill>
                          <a:latin typeface="Meiryo" pitchFamily="34" charset="0"/>
                          <a:ea typeface="Meiryo" pitchFamily="34" charset="-122"/>
                          <a:cs typeface="Meiryo" pitchFamily="34" charset="-120"/>
                        </a:rPr>
                        <a:t>装置設計</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pattern別比較の明確さ</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向上</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340" dirty="0">
                          <a:solidFill>
                            <a:srgbClr val="111111"/>
                          </a:solidFill>
                          <a:latin typeface="Meiryo" pitchFamily="34" charset="0"/>
                          <a:ea typeface="Meiryo" pitchFamily="34" charset="-122"/>
                          <a:cs typeface="Meiryo" pitchFamily="34" charset="-120"/>
                        </a:rPr>
                        <a:t>AI運用</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再学習必要性検知</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tc>
                  <a:txBody>
                    <a:bodyPr/>
                    <a:lstStyle/>
                    <a:p>
                      <a:pPr marL="0" indent="0">
                        <a:buNone/>
                      </a:pPr>
                      <a:r>
                        <a:rPr lang="en-US" sz="1340" dirty="0">
                          <a:solidFill>
                            <a:srgbClr val="111111"/>
                          </a:solidFill>
                          <a:latin typeface="Meiryo" pitchFamily="34" charset="0"/>
                          <a:ea typeface="Meiryo" pitchFamily="34" charset="-122"/>
                          <a:cs typeface="Meiryo" pitchFamily="34" charset="-120"/>
                        </a:rPr>
                        <a:t>向上</a:t>
                      </a:r>
                      <a:endParaRPr lang="en-US" sz="1340" dirty="0">
                        <a:latin typeface="Meiryo" charset="0"/>
                        <a:ea typeface="Meiryo" charset="0"/>
                        <a:cs typeface="Meiryo" charset="0"/>
                      </a:endParaRPr>
                    </a:p>
                  </a:txBody>
                  <a:tcPr marL="36576" marR="36576" marT="36576" marB="36576">
                    <a:lnL w="7620" cap="flat" cmpd="sng" algn="ctr">
                      <a:solidFill>
                        <a:srgbClr val="CAD8E0"/>
                      </a:solidFill>
                      <a:prstDash val="solid"/>
                      <a:round/>
                      <a:headEnd type="none" w="med" len="med"/>
                      <a:tailEnd type="none" w="med" len="med"/>
                    </a:lnL>
                    <a:lnR w="7620" cap="flat" cmpd="sng" algn="ctr">
                      <a:solidFill>
                        <a:srgbClr val="CAD8E0"/>
                      </a:solidFill>
                      <a:prstDash val="solid"/>
                      <a:round/>
                      <a:headEnd type="none" w="med" len="med"/>
                      <a:tailEnd type="none" w="med" len="med"/>
                    </a:lnR>
                    <a:lnT w="7620" cap="flat" cmpd="sng" algn="ctr">
                      <a:solidFill>
                        <a:srgbClr val="CAD8E0"/>
                      </a:solidFill>
                      <a:prstDash val="solid"/>
                      <a:round/>
                      <a:headEnd type="none" w="med" len="med"/>
                      <a:tailEnd type="none" w="med" len="med"/>
                    </a:lnT>
                    <a:lnB w="7620" cap="flat" cmpd="sng" algn="ctr">
                      <a:solidFill>
                        <a:srgbClr val="CAD8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914400" y="4160520"/>
            <a:ext cx="5074920" cy="1417320"/>
          </a:xfrm>
          <a:prstGeom prst="roundRect">
            <a:avLst>
              <a:gd name="adj" fmla="val 3871"/>
            </a:avLst>
          </a:prstGeom>
          <a:solidFill>
            <a:srgbClr val="F7FAFC"/>
          </a:solidFill>
          <a:ln w="12700">
            <a:solidFill>
              <a:srgbClr val="CAD8E0"/>
            </a:solidFill>
            <a:prstDash val="solid"/>
          </a:ln>
        </p:spPr>
      </p:sp>
      <p:sp>
        <p:nvSpPr>
          <p:cNvPr id="9" name="Text 6"/>
          <p:cNvSpPr/>
          <p:nvPr/>
        </p:nvSpPr>
        <p:spPr>
          <a:xfrm>
            <a:off x="1042416" y="4233672"/>
            <a:ext cx="4818888"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まとめ</a:t>
            </a:r>
            <a:endParaRPr lang="en-US" sz="1400" dirty="0"/>
          </a:p>
        </p:txBody>
      </p:sp>
      <p:sp>
        <p:nvSpPr>
          <p:cNvPr id="10" name="Text 7"/>
          <p:cNvSpPr/>
          <p:nvPr/>
        </p:nvSpPr>
        <p:spPr>
          <a:xfrm>
            <a:off x="1078992" y="4480560"/>
            <a:ext cx="4663440" cy="868680"/>
          </a:xfrm>
          <a:prstGeom prst="rect">
            <a:avLst/>
          </a:prstGeom>
          <a:noFill/>
          <a:ln/>
        </p:spPr>
        <p:txBody>
          <a:bodyPr wrap="square" lIns="508" tIns="508" rIns="508" bIns="508" rtlCol="0" anchor="t">
            <a:normAutofit/>
          </a:bodyPr>
          <a:lstStyle/>
          <a:p>
            <a:pPr marL="0" indent="0" algn="l">
              <a:buNone/>
            </a:pPr>
            <a:r>
              <a:rPr lang="en-US" sz="1440" dirty="0">
                <a:solidFill>
                  <a:srgbClr val="111111"/>
                </a:solidFill>
                <a:latin typeface="Meiryo" pitchFamily="34" charset="0"/>
                <a:ea typeface="Meiryo" pitchFamily="34" charset="-122"/>
                <a:cs typeface="Meiryo" pitchFamily="34" charset="-120"/>
              </a:rPr>
              <a:t>• 本発明は、粒子テーブルから空間×サイズを因子分解して原因マップを出す。</a:t>
            </a:r>
            <a:endParaRPr lang="en-US" sz="1440" dirty="0"/>
          </a:p>
          <a:p>
            <a:pPr marL="0" indent="0" algn="l">
              <a:buNone/>
            </a:pPr>
            <a:r>
              <a:rPr lang="en-US" sz="1440" dirty="0">
                <a:solidFill>
                  <a:srgbClr val="111111"/>
                </a:solidFill>
                <a:latin typeface="Meiryo" pitchFamily="34" charset="0"/>
                <a:ea typeface="Meiryo" pitchFamily="34" charset="-122"/>
                <a:cs typeface="Meiryo" pitchFamily="34" charset="-120"/>
              </a:rPr>
              <a:t>• 説明器と不確かさを備えることで、現場実装と特許の芯を両立する。</a:t>
            </a:r>
            <a:endParaRPr lang="en-US" sz="1440" dirty="0"/>
          </a:p>
          <a:p>
            <a:pPr marL="0" indent="0" algn="l">
              <a:buNone/>
            </a:pPr>
            <a:r>
              <a:rPr lang="en-US" sz="1440" dirty="0">
                <a:solidFill>
                  <a:srgbClr val="111111"/>
                </a:solidFill>
                <a:latin typeface="Meiryo" pitchFamily="34" charset="0"/>
                <a:ea typeface="Meiryo" pitchFamily="34" charset="-122"/>
                <a:cs typeface="Meiryo" pitchFamily="34" charset="-120"/>
              </a:rPr>
              <a:t>• 次段では mixed/component-aware データを足すと、クレームの厚みが増す。</a:t>
            </a:r>
            <a:endParaRPr lang="en-US" sz="1440" dirty="0"/>
          </a:p>
        </p:txBody>
      </p:sp>
      <p:sp>
        <p:nvSpPr>
          <p:cNvPr id="11" name="Shape 8"/>
          <p:cNvSpPr/>
          <p:nvPr/>
        </p:nvSpPr>
        <p:spPr>
          <a:xfrm>
            <a:off x="6537960" y="1024128"/>
            <a:ext cx="5093208" cy="5074920"/>
          </a:xfrm>
          <a:prstGeom prst="roundRect">
            <a:avLst>
              <a:gd name="adj" fmla="val 1081"/>
            </a:avLst>
          </a:prstGeom>
          <a:solidFill>
            <a:srgbClr val="F7FAFC"/>
          </a:solidFill>
          <a:ln w="12700">
            <a:solidFill>
              <a:srgbClr val="CAD8E0"/>
            </a:solidFill>
            <a:prstDash val="solid"/>
          </a:ln>
          <a:effectLst>
            <a:outerShdw blurRad="19050" dist="12700" dir="2700000" algn="bl" rotWithShape="0">
              <a:srgbClr val="000000">
                <a:alpha val="8000"/>
              </a:srgbClr>
            </a:outerShdw>
          </a:effectLst>
        </p:spPr>
      </p:sp>
      <p:sp>
        <p:nvSpPr>
          <p:cNvPr id="12" name="Text 9"/>
          <p:cNvSpPr/>
          <p:nvPr/>
        </p:nvSpPr>
        <p:spPr>
          <a:xfrm>
            <a:off x="6665976" y="1097280"/>
            <a:ext cx="4837176" cy="182880"/>
          </a:xfrm>
          <a:prstGeom prst="rect">
            <a:avLst/>
          </a:prstGeom>
          <a:noFill/>
          <a:ln/>
        </p:spPr>
        <p:txBody>
          <a:bodyPr wrap="square" lIns="0" tIns="0" rIns="0" bIns="0" rtlCol="0" anchor="ctr">
            <a:normAutofit/>
          </a:bodyPr>
          <a:lstStyle/>
          <a:p>
            <a:pPr marL="0" indent="0">
              <a:buNone/>
            </a:pPr>
            <a:r>
              <a:rPr lang="en-US" sz="1400" b="1" dirty="0">
                <a:solidFill>
                  <a:srgbClr val="0B3C5D"/>
                </a:solidFill>
                <a:latin typeface="Meiryo" pitchFamily="34" charset="0"/>
                <a:ea typeface="Meiryo" pitchFamily="34" charset="-122"/>
                <a:cs typeface="Meiryo" pitchFamily="34" charset="-120"/>
              </a:rPr>
              <a:t>追加で詰めたい情報（優先順）</a:t>
            </a:r>
            <a:endParaRPr lang="en-US" sz="1400" dirty="0"/>
          </a:p>
        </p:txBody>
      </p:sp>
      <p:sp>
        <p:nvSpPr>
          <p:cNvPr id="13" name="Text 10"/>
          <p:cNvSpPr/>
          <p:nvPr/>
        </p:nvSpPr>
        <p:spPr>
          <a:xfrm>
            <a:off x="6720840" y="1417320"/>
            <a:ext cx="4617720" cy="2743200"/>
          </a:xfrm>
          <a:prstGeom prst="rect">
            <a:avLst/>
          </a:prstGeom>
          <a:noFill/>
          <a:ln/>
        </p:spPr>
        <p:txBody>
          <a:bodyPr wrap="square" lIns="508" tIns="508" rIns="508" bIns="508" rtlCol="0" anchor="t">
            <a:normAutofit/>
          </a:bodyPr>
          <a:lstStyle/>
          <a:p>
            <a:pPr marL="0" indent="0" algn="l">
              <a:buNone/>
            </a:pPr>
            <a:r>
              <a:rPr lang="en-US" sz="1420" dirty="0">
                <a:solidFill>
                  <a:srgbClr val="111111"/>
                </a:solidFill>
                <a:latin typeface="Meiryo" pitchFamily="34" charset="0"/>
                <a:ea typeface="Meiryo" pitchFamily="34" charset="-122"/>
                <a:cs typeface="Meiryo" pitchFamily="34" charset="-120"/>
              </a:rPr>
              <a:t>• 1. mixed データで component_label_fine / component_id を持たせるか</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2. size の原因帰属を sample / component / local のどこまで持たせるか</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3. 実運用で最終出力を cell map・particle label・両方のどれにするか</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4. uncertainty 高値時の標準オペレーション</a:t>
            </a:r>
            <a:endParaRPr lang="en-US" sz="1420" dirty="0"/>
          </a:p>
          <a:p>
            <a:pPr marL="0" indent="0" algn="l">
              <a:buNone/>
            </a:pPr>
            <a:r>
              <a:rPr lang="en-US" sz="1420" dirty="0">
                <a:solidFill>
                  <a:srgbClr val="111111"/>
                </a:solidFill>
                <a:latin typeface="Meiryo" pitchFamily="34" charset="0"/>
                <a:ea typeface="Meiryo" pitchFamily="34" charset="-122"/>
                <a:cs typeface="Meiryo" pitchFamily="34" charset="-120"/>
              </a:rPr>
              <a:t>• 5. 装置ID / 工程ID / recipeID を学習に使えるか</a:t>
            </a:r>
            <a:endParaRPr lang="en-US" sz="1420" dirty="0"/>
          </a:p>
        </p:txBody>
      </p:sp>
      <p:sp>
        <p:nvSpPr>
          <p:cNvPr id="14" name="Shape 11"/>
          <p:cNvSpPr/>
          <p:nvPr/>
        </p:nvSpPr>
        <p:spPr>
          <a:xfrm>
            <a:off x="6720840" y="4572000"/>
            <a:ext cx="4572000" cy="685800"/>
          </a:xfrm>
          <a:prstGeom prst="roundRect">
            <a:avLst>
              <a:gd name="adj" fmla="val 8000"/>
            </a:avLst>
          </a:prstGeom>
          <a:solidFill>
            <a:srgbClr val="FFFFFF"/>
          </a:solidFill>
          <a:ln w="12700">
            <a:solidFill>
              <a:srgbClr val="CAD8E0"/>
            </a:solidFill>
            <a:prstDash val="solid"/>
          </a:ln>
        </p:spPr>
      </p:sp>
      <p:sp>
        <p:nvSpPr>
          <p:cNvPr id="15" name="Text 12"/>
          <p:cNvSpPr/>
          <p:nvPr/>
        </p:nvSpPr>
        <p:spPr>
          <a:xfrm>
            <a:off x="6931152" y="4782312"/>
            <a:ext cx="4160520" cy="182880"/>
          </a:xfrm>
          <a:prstGeom prst="rect">
            <a:avLst/>
          </a:prstGeom>
          <a:noFill/>
          <a:ln/>
        </p:spPr>
        <p:txBody>
          <a:bodyPr wrap="square" lIns="508" tIns="508" rIns="508" bIns="508" rtlCol="0" anchor="t">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特許出願前には、先行技術調査と mixed 実施例の補強が有効。</a:t>
            </a:r>
            <a:endParaRPr lang="en-US" sz="1500" dirty="0"/>
          </a:p>
        </p:txBody>
      </p:sp>
      <p:sp>
        <p:nvSpPr>
          <p:cNvPr id="16" name="Text 13"/>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1000" dirty="0">
                <a:solidFill>
                  <a:srgbClr val="5F6B6D"/>
                </a:solidFill>
                <a:latin typeface="Meiryo" pitchFamily="34" charset="0"/>
                <a:ea typeface="Meiryo" pitchFamily="34" charset="-122"/>
                <a:cs typeface="Meiryo" pitchFamily="34" charset="-120"/>
              </a:rPr>
              <a:t>30</a:t>
            </a:r>
            <a:endParaRPr lang="en-US" sz="1000" dirty="0"/>
          </a:p>
        </p:txBody>
      </p:sp>
      <p:sp>
        <p:nvSpPr>
          <p:cNvPr id="17" name="Text 14"/>
          <p:cNvSpPr/>
          <p:nvPr/>
        </p:nvSpPr>
        <p:spPr>
          <a:xfrm>
            <a:off x="530352" y="6510528"/>
            <a:ext cx="1828800" cy="164592"/>
          </a:xfrm>
          <a:prstGeom prst="rect">
            <a:avLst/>
          </a:prstGeom>
          <a:noFill/>
          <a:ln/>
        </p:spPr>
        <p:txBody>
          <a:bodyPr wrap="square" lIns="0" tIns="0" rIns="0" bIns="0" rtlCol="0" anchor="ctr"/>
          <a:lstStyle/>
          <a:p>
            <a:pPr marL="0" indent="0">
              <a:buNone/>
            </a:pPr>
            <a:r>
              <a:rPr lang="en-US" sz="950" dirty="0">
                <a:solidFill>
                  <a:srgbClr val="5F6B6D"/>
                </a:solidFill>
                <a:latin typeface="Meiryo" pitchFamily="34" charset="0"/>
                <a:ea typeface="Meiryo" pitchFamily="34" charset="-122"/>
                <a:cs typeface="Meiryo" pitchFamily="34" charset="-120"/>
              </a:rPr>
              <a:t>特許開示用ドラフト</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5867</Words>
  <Application>Microsoft Macintosh PowerPoint</Application>
  <PresentationFormat>ワイド画面</PresentationFormat>
  <Paragraphs>837</Paragraphs>
  <Slides>30</Slides>
  <Notes>30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30</vt:i4>
      </vt:variant>
    </vt:vector>
  </HeadingPairs>
  <TitlesOfParts>
    <vt:vector size="33"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半導体製造×AI 特許開示書ドラフト</dc:title>
  <dc:subject>半導体製造×AI 特許開示スライド</dc:subject>
  <dc:creator>OpenAI</dc:creator>
  <cp:lastModifiedBy>kawahito</cp:lastModifiedBy>
  <cp:revision>2</cp:revision>
  <dcterms:created xsi:type="dcterms:W3CDTF">2026-03-09T21:14:28Z</dcterms:created>
  <dcterms:modified xsi:type="dcterms:W3CDTF">2026-03-09T23:28:30Z</dcterms:modified>
</cp:coreProperties>
</file>
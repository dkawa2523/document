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NIST DTSA-II: https://www.nist.gov/services-resources/software/nist-dtsa-ii
- NIST SRD 164: https://www.nist.gov/srd/nist-standard-reference-database-164
- eXSpy EDS user guide: https://hyperspy.org/exspy/user_guide/eds.html
- PENELOPE 2018 (OECD): https://www.oecd.org/en/publications/penelope-2018-a-code-system-for-monte-carlo-simulation-of-electron-and-photon-transport_32da5043-en.html
- SEM/EDS fusion review example: https://www.sciencedirect.com/science/article/pii/S0968432822001573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US7205555B2: https://patents.google.com/patent/US7205555 (EDX取得は各欠陥1〜2分、全欠陥適用は非現実的と記載)
- EP1069609A2: https://patents.google.com/patent/EP1069609A2/en (SEMで形態、EDSで組成属性を扱う一般的枠組み)
- TWI764979B: https://patents.google.com/patent/TWI764979B/en (量産環境でSEM/EDX組合せによる粒子組成把握が時間を要する旨)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DTSA-II software page: https://www.nist.gov/services-resources/software/nist-dtsa-ii
- DTSA-II 2022 publication: https://www.nist.gov/publications/simulating-electron-excited-energy-dispersive-x-ray-spectra-nist-dtsa-ii-open-source
- eXSpy EDS user guide: https://hyperspy.org/exspy/user_guide/eds.html
- PENELOPE 2018: https://www.oecd.org/en/publications/penelope-2018-a-code-system-for-monte-carlo-simulation-of-electron-and-photon-transport_32da5043-en.html
- SEM/EDS fusion example: https://www.sciencedirect.com/science/article/pii/S0968432822001573
- SEM image deep learning defect classification example: https://patents.google.com/patent/JP2021174980A/en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US7205555B2: https://patents.google.com/patent/US7205555 (EDXの長時間性と対象削減の必要性)
- eXSpy EDS docs: https://hyperspy.org/exspy/user_guide/eds.html (line fitting, calibration, quantificationの前提)
- DTSA-II 2022 publication: https://www.nist.gov/publications/simulating-electron-excited-energy-dispersive-x-ray-spectra-nist-dtsa-ii-open-source (K/L, continuum, M-shellの誤差傾向)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eXSpy EDS docs (preprocess, line intensity, calibration): https://hyperspy.org/exspy/user_guide/eds.html
- DTSA-II software page: https://www.nist.gov/services-resources/software/nist-dtsa-ii
- SRD 164: https://www.nist.gov/srd/nist-standard-reference-database-164
- XCOM: https://www.nist.gov/pml/xcom-photon-cross-sections-database
- xraylib overview: https://www.sciencedirect.com/science/article/abs/pii/S0584854711001984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NIST X-ray Transition Energies DB: https://www.nist.gov/pml/x-ray-transition-energies-database
- X-Ray Data Booklet Table 1-2: https://xdb.lbl.gov/Section1/Sec_1-2.html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DTSA-II publication: https://www.nist.gov/publications/simulating-electron-excited-energy-dispersive-x-ray-spectra-nist-dtsa-ii-open-source
- SRD 164: https://www.nist.gov/srd/nist-standard-reference-database-164
- XCOM: https://www.nist.gov/pml/xcom-photon-cross-sections-database
- xraylib overview: https://www.sciencedirect.com/science/article/abs/pii/S0584854711001984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ConInceDeep (mixture spectroscopy, overlap/weak peaks and multi-scale kernels): https://www.sciencedirect.com/science/article/pii/S0169743923000072
- FlavorFormer (hybrid CNN-Transformer for mixture spectra): https://www.sciencedirect.com/science/article/pii/S0026265X25027201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DTSA-II software page: https://www.nist.gov/services-resources/software/nist-dtsa-ii (低信頼度サンプルの再評価先として想定)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JMONSEL library-fitting example: https://www.nist.gov/publications/scanning-electron-microscope-measurement-width-and-shape-10-nm-patterned-lines-using
- Optimizing EDS image fusion to SEM images: https://www.sciencedirect.com/science/article/pii/S0968432822001573
- DTSA-II software page: https://www.nist.gov/services-resources/software/nist-dtsa-ii
- PENELOPE 2018: https://www.oecd.org/en/publications/penelope-2018-a-code-system-for-monte-carlo-simulation-of-electron-and-photon-transport_32da5043-en.html
- xraylib overview: https://www.sciencedirect.com/science/article/abs/pii/S0584854711001984
- SRD 164: https://www.nist.gov/srd/nist-standard-reference-database-164
- XCOM: https://www.nist.gov/pml/xcom-photon-cross-sections-database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Y2O3 / YF3 / YOF contamination context: https://www.mdpi.com/2079-6412/9/2/102 and https://www.mdpi.com/2079-6412/9/5/310
- X-Ray Data Booklet for example high-Z line positions: https://xdb.lbl.gov/Section1/Sec_1-2.html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Y2O3 / YOF / YF3 coatings and contamination particles under NF3 plasma: https://www.mdpi.com/2079-6412/9/2/102
- AD Y2O3 / YF3 contamination particle behavior: https://www.mdpi.com/2079-6412/9/5/310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X-Ray Data Booklet Table 1-2: https://xdb.lbl.gov/Section1/Sec_1-2.html
- NIST X-ray Transition Energies DB: https://www.nist.gov/pml/x-ray-transition-energies-database
- DTSA-II software page: https://www.nist.gov/services-resources/software/nist-dtsa-ii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JMONSEL geometry library fitting concept: https://www.nist.gov/publications/scanning-electron-microscope-measurement-width-and-shape-10-nm-patterned-lines-using
- SEM-EDS fusion and low-resolution EDS enhancement: https://www.sciencedirect.com/science/article/pii/S0968432822001573
- AB-PLS-DA for SEM-EDS multimodal fusion: https://www.sciencedirect.com/science/article/pii/S0968432823001762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DTSA-II: https://www.nist.gov/services-resources/software/nist-dtsa-ii
- eXSpy EDS docs: https://hyperspy.org/exspy/user_guide/eds.html
- PENELOPE 2018: https://www.oecd.org/en/publications/penelope-2018-a-code-system-for-monte-carlo-simulation-of-electron-and-photon-transport_32da5043-en.html
- SEM image defect classification patent category: https://patents.google.com/patent/JP2021174980A/en
- SEM/EDS fusion papers: https://www.sciencedirect.com/science/article/pii/S0968432822001573 and https://www.sciencedirect.com/science/article/pii/S0968432823001762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US7205555B2: https://patents.google.com/patent/US7205555
- DTSA-II software page: https://www.nist.gov/services-resources/software/nist-dtsa-ii
- DTSA-II 2022 publication: https://www.nist.gov/publications/simulating-electron-excited-energy-dispersive-x-ray-spectra-nist-dtsa-ii-open-source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199E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半導体製造×AI パーティクル成分推定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47472" y="612648"/>
            <a:ext cx="11496751" cy="0"/>
          </a:xfrm>
          <a:prstGeom prst="line">
            <a:avLst/>
          </a:prstGeom>
          <a:noFill/>
          <a:ln w="16510">
            <a:solidFill>
              <a:srgbClr val="8ED7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2815" y="2286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Draft / 匿名化版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97335" y="655624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2412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4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EDXスペクトルエネルギー辞書 × 人工データ生成 × 辞書ガイドAI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4356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特許開示書（発明開示〜明細書素材）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148840" y="2926080"/>
            <a:ext cx="1737360" cy="0"/>
          </a:xfrm>
          <a:prstGeom prst="line">
            <a:avLst/>
          </a:prstGeom>
          <a:noFill/>
          <a:ln w="25400">
            <a:solidFill>
              <a:srgbClr val="199EDC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623560" y="2926080"/>
            <a:ext cx="1737360" cy="0"/>
          </a:xfrm>
          <a:prstGeom prst="line">
            <a:avLst/>
          </a:prstGeom>
          <a:noFill/>
          <a:ln w="25400">
            <a:solidFill>
              <a:srgbClr val="199EDC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098280" y="2926080"/>
            <a:ext cx="1371600" cy="0"/>
          </a:xfrm>
          <a:prstGeom prst="line">
            <a:avLst/>
          </a:prstGeom>
          <a:noFill/>
          <a:ln w="25400">
            <a:solidFill>
              <a:srgbClr val="199EDC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58368" y="2331720"/>
            <a:ext cx="1417320" cy="1234440"/>
          </a:xfrm>
          <a:prstGeom prst="roundRect">
            <a:avLst>
              <a:gd name="adj" fmla="val 5926"/>
            </a:avLst>
          </a:prstGeom>
          <a:solidFill>
            <a:srgbClr val="EAF6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2468880"/>
            <a:ext cx="1188720" cy="219456"/>
          </a:xfrm>
          <a:prstGeom prst="roundRect">
            <a:avLst>
              <a:gd name="adj" fmla="val 33333"/>
            </a:avLst>
          </a:prstGeom>
          <a:solidFill>
            <a:srgbClr val="199EDC"/>
          </a:solidFill>
          <a:ln w="7620">
            <a:solidFill>
              <a:srgbClr val="199E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2496312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簡易辞書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276148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1元素1行
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energy_1~3
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10 keVまで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133088" y="2331720"/>
            <a:ext cx="1417320" cy="1234440"/>
          </a:xfrm>
          <a:prstGeom prst="roundRect">
            <a:avLst>
              <a:gd name="adj" fmla="val 5926"/>
            </a:avLst>
          </a:prstGeom>
          <a:solidFill>
            <a:srgbClr val="F3FBF6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42816" y="2468880"/>
            <a:ext cx="1188720" cy="219456"/>
          </a:xfrm>
          <a:prstGeom prst="roundRect">
            <a:avLst>
              <a:gd name="adj" fmla="val 33333"/>
            </a:avLst>
          </a:prstGeom>
          <a:solidFill>
            <a:srgbClr val="2F9B63"/>
          </a:solidFill>
          <a:ln w="7620">
            <a:solidFill>
              <a:srgbClr val="2F9B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42816" y="2496312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人工EDXデータ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97680" y="276148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dropout
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overlap
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noise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607808" y="2331720"/>
            <a:ext cx="1417320" cy="1234440"/>
          </a:xfrm>
          <a:prstGeom prst="roundRect">
            <a:avLst>
              <a:gd name="adj" fmla="val 5926"/>
            </a:avLst>
          </a:prstGeom>
          <a:solidFill>
            <a:srgbClr val="FFF9EE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17536" y="2468880"/>
            <a:ext cx="1188720" cy="219456"/>
          </a:xfrm>
          <a:prstGeom prst="roundRect">
            <a:avLst>
              <a:gd name="adj" fmla="val 33333"/>
            </a:avLst>
          </a:prstGeom>
          <a:solidFill>
            <a:srgbClr val="E39A31"/>
          </a:solidFill>
          <a:ln w="7620">
            <a:solidFill>
              <a:srgbClr val="E39A3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17536" y="2496312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辞書ガイドAI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0" y="276148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成分候補推定
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擬似成分比
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信頼度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10607040" y="2331720"/>
            <a:ext cx="1417320" cy="1234440"/>
          </a:xfrm>
          <a:prstGeom prst="roundRect">
            <a:avLst>
              <a:gd name="adj" fmla="val 5926"/>
            </a:avLst>
          </a:prstGeom>
          <a:solidFill>
            <a:srgbClr val="FFF4F3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716768" y="2468880"/>
            <a:ext cx="1188720" cy="219456"/>
          </a:xfrm>
          <a:prstGeom prst="roundRect">
            <a:avLst>
              <a:gd name="adj" fmla="val 33333"/>
            </a:avLst>
          </a:prstGeom>
          <a:solidFill>
            <a:srgbClr val="D95D5D"/>
          </a:solidFill>
          <a:ln w="7620">
            <a:solidFill>
              <a:srgbClr val="D95D5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716768" y="2496312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771632" y="276148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候補元素
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理由説明
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再評価判断</a:t>
            </a:r>
            <a:endParaRPr lang="en-US" sz="135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8368" y="4069080"/>
            <a:ext cx="4297680" cy="150876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5257800" y="4315968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4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初期版は「辞書のみ」で学習データ生成 → 実測EDX推定へ接続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5285232" y="4709160"/>
            <a:ext cx="6080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単純なピーク fitting 依存を減らし、候補抽出を高速化
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複数アンカー整合で出力理由を説明しやすい
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将来は SEM・前後スペクトル・DTSA-II/PENELOPE に段階拡張可能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199E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4象限で見る本提案の位置づけ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47472" y="612648"/>
            <a:ext cx="11496751" cy="0"/>
          </a:xfrm>
          <a:prstGeom prst="line">
            <a:avLst/>
          </a:prstGeom>
          <a:noFill/>
          <a:ln w="16510">
            <a:solidFill>
              <a:srgbClr val="8ED7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2815" y="2286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Draft / 匿名化版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97335" y="655624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251960" y="960120"/>
            <a:ext cx="0" cy="5257800"/>
          </a:xfrm>
          <a:prstGeom prst="line">
            <a:avLst/>
          </a:prstGeom>
          <a:noFill/>
          <a:ln w="15240">
            <a:solidFill>
              <a:srgbClr val="D9E4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3589020"/>
            <a:ext cx="7498080" cy="0"/>
          </a:xfrm>
          <a:prstGeom prst="line">
            <a:avLst/>
          </a:prstGeom>
          <a:noFill/>
          <a:ln w="15240">
            <a:solidFill>
              <a:srgbClr val="D9E4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960120"/>
            <a:ext cx="3749040" cy="2628900"/>
          </a:xfrm>
          <a:prstGeom prst="roundRect">
            <a:avLst/>
          </a:prstGeom>
          <a:solidFill>
            <a:srgbClr val="F8FBFE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51960" y="960120"/>
            <a:ext cx="3749040" cy="2628900"/>
          </a:xfrm>
          <a:prstGeom prst="roundRect">
            <a:avLst/>
          </a:prstGeom>
          <a:solidFill>
            <a:srgbClr val="FFF7F6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3589020"/>
            <a:ext cx="3749040" cy="2628900"/>
          </a:xfrm>
          <a:prstGeom prst="roundRect">
            <a:avLst/>
          </a:prstGeom>
          <a:solidFill>
            <a:srgbClr val="F5FBF6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51960" y="3589020"/>
            <a:ext cx="3749040" cy="2628900"/>
          </a:xfrm>
          <a:prstGeom prst="roundRect">
            <a:avLst/>
          </a:prstGeom>
          <a:solidFill>
            <a:srgbClr val="FFFBE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" y="1051560"/>
            <a:ext cx="1691640" cy="219456"/>
          </a:xfrm>
          <a:prstGeom prst="roundRect">
            <a:avLst>
              <a:gd name="adj" fmla="val 33333"/>
            </a:avLst>
          </a:prstGeom>
          <a:solidFill>
            <a:srgbClr val="199EDC"/>
          </a:solidFill>
          <a:ln w="7620">
            <a:solidFill>
              <a:srgbClr val="199E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" y="1078992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従来技術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30936" y="1380744"/>
            <a:ext cx="3493008" cy="2189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ピーク検出・分布 fitting
</a:t>
            </a:r>
            <a:endParaRPr lang="en-US" sz="1530" dirty="0"/>
          </a:p>
          <a:p>
            <a:pPr indent="0" marL="0">
              <a:buNone/>
            </a:pPr>
            <a:r>
              <a:rPr lang="en-US" sz="153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Filter-fitting / XPP 定量
</a:t>
            </a:r>
            <a:endParaRPr lang="en-US" sz="1530" dirty="0"/>
          </a:p>
          <a:p>
            <a:pPr indent="0" marL="0">
              <a:buNone/>
            </a:pPr>
            <a:r>
              <a:rPr lang="en-US" sz="153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DTSA-II / PENELOPE の物理計算
</a:t>
            </a:r>
            <a:endParaRPr lang="en-US" sz="1530" dirty="0"/>
          </a:p>
          <a:p>
            <a:pPr indent="0" marL="0">
              <a:buNone/>
            </a:pPr>
            <a:r>
              <a:rPr lang="en-US" sz="153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SEM画像分類・SEM/EDS融合</a:t>
            </a:r>
            <a:endParaRPr lang="en-US" sz="1530" dirty="0"/>
          </a:p>
        </p:txBody>
      </p:sp>
      <p:sp>
        <p:nvSpPr>
          <p:cNvPr id="15" name="Shape 13"/>
          <p:cNvSpPr/>
          <p:nvPr/>
        </p:nvSpPr>
        <p:spPr>
          <a:xfrm>
            <a:off x="4379976" y="1051560"/>
            <a:ext cx="1691640" cy="219456"/>
          </a:xfrm>
          <a:prstGeom prst="roundRect">
            <a:avLst>
              <a:gd name="adj" fmla="val 33333"/>
            </a:avLst>
          </a:prstGeom>
          <a:solidFill>
            <a:srgbClr val="D95D5D"/>
          </a:solidFill>
          <a:ln w="7620">
            <a:solidFill>
              <a:srgbClr val="D95D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79976" y="1078992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従来課題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379976" y="1380744"/>
            <a:ext cx="3493008" cy="2189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近接ピーークと副線欠落で誤同定
</a:t>
            </a:r>
            <a:endParaRPr lang="en-US" sz="1530" dirty="0"/>
          </a:p>
          <a:p>
            <a:pPr indent="0" marL="0">
              <a:buNone/>
            </a:pPr>
            <a:r>
              <a:rPr lang="en-US" sz="153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低 energy 側と基板混合で不安定
</a:t>
            </a:r>
            <a:endParaRPr lang="en-US" sz="1530" dirty="0"/>
          </a:p>
          <a:p>
            <a:pPr indent="0" marL="0">
              <a:buNone/>
            </a:pPr>
            <a:r>
              <a:rPr lang="en-US" sz="153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ラベル付き実測が少ない
</a:t>
            </a:r>
            <a:endParaRPr lang="en-US" sz="1530" dirty="0"/>
          </a:p>
          <a:p>
            <a:pPr indent="0" marL="0">
              <a:buNone/>
            </a:pPr>
            <a:r>
              <a:rPr lang="en-US" sz="153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全件の詳細解析は重い</a:t>
            </a:r>
            <a:endParaRPr lang="en-US" sz="1530" dirty="0"/>
          </a:p>
        </p:txBody>
      </p:sp>
      <p:sp>
        <p:nvSpPr>
          <p:cNvPr id="18" name="Shape 16"/>
          <p:cNvSpPr/>
          <p:nvPr/>
        </p:nvSpPr>
        <p:spPr>
          <a:xfrm>
            <a:off x="630936" y="3680460"/>
            <a:ext cx="1691640" cy="219456"/>
          </a:xfrm>
          <a:prstGeom prst="roundRect">
            <a:avLst>
              <a:gd name="adj" fmla="val 33333"/>
            </a:avLst>
          </a:prstGeom>
          <a:solidFill>
            <a:srgbClr val="2F9B63"/>
          </a:solidFill>
          <a:ln w="7620">
            <a:solidFill>
              <a:srgbClr val="2F9B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" y="3707892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提案手法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0936" y="4009644"/>
            <a:ext cx="3493008" cy="2189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1元素1行の複数アンカー辞書
</a:t>
            </a:r>
            <a:endParaRPr lang="en-US" sz="1530" dirty="0"/>
          </a:p>
          <a:p>
            <a:pPr indent="0" marL="0">
              <a:buNone/>
            </a:pPr>
            <a:r>
              <a:rPr lang="en-US" sz="153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辞書から人工 EDX データを大量生成
</a:t>
            </a:r>
            <a:endParaRPr lang="en-US" sz="1530" dirty="0"/>
          </a:p>
          <a:p>
            <a:pPr indent="0" marL="0">
              <a:buNone/>
            </a:pPr>
            <a:r>
              <a:rPr lang="en-US" sz="153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辞書ガイド AI で成分推定
</a:t>
            </a:r>
            <a:endParaRPr lang="en-US" sz="1530" dirty="0"/>
          </a:p>
          <a:p>
            <a:pPr indent="0" marL="0">
              <a:buNone/>
            </a:pPr>
            <a:r>
              <a:rPr lang="en-US" sz="153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アンカー整合で信頼度算出</a:t>
            </a:r>
            <a:endParaRPr lang="en-US" sz="1530" dirty="0"/>
          </a:p>
        </p:txBody>
      </p:sp>
      <p:sp>
        <p:nvSpPr>
          <p:cNvPr id="21" name="Shape 19"/>
          <p:cNvSpPr/>
          <p:nvPr/>
        </p:nvSpPr>
        <p:spPr>
          <a:xfrm>
            <a:off x="4379976" y="3680460"/>
            <a:ext cx="1691640" cy="219456"/>
          </a:xfrm>
          <a:prstGeom prst="roundRect">
            <a:avLst>
              <a:gd name="adj" fmla="val 33333"/>
            </a:avLst>
          </a:prstGeom>
          <a:solidFill>
            <a:srgbClr val="E39A31"/>
          </a:solidFill>
          <a:ln w="7620">
            <a:solidFill>
              <a:srgbClr val="E39A3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79976" y="3707892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提案効果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79976" y="4009644"/>
            <a:ext cx="3493008" cy="2189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候補抽出の高速化
</a:t>
            </a:r>
            <a:endParaRPr lang="en-US" sz="1530" dirty="0"/>
          </a:p>
          <a:p>
            <a:pPr indent="0" marL="0">
              <a:buNone/>
            </a:pPr>
            <a:r>
              <a:rPr lang="en-US" sz="153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低信頼度のみ再評価へ送る
</a:t>
            </a:r>
            <a:endParaRPr lang="en-US" sz="1530" dirty="0"/>
          </a:p>
          <a:p>
            <a:pPr indent="0" marL="0">
              <a:buNone/>
            </a:pPr>
            <a:r>
              <a:rPr lang="en-US" sz="153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どのアンカーが効いたかを説明可能
</a:t>
            </a:r>
            <a:endParaRPr lang="en-US" sz="1530" dirty="0"/>
          </a:p>
          <a:p>
            <a:pPr indent="0" marL="0">
              <a:buNone/>
            </a:pPr>
            <a:r>
              <a:rPr lang="en-US" sz="153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SEM/前後スペクトル/高忠実度計算へ拡張容易</a:t>
            </a:r>
            <a:endParaRPr lang="en-US" sz="1530" dirty="0"/>
          </a:p>
        </p:txBody>
      </p:sp>
      <p:sp>
        <p:nvSpPr>
          <p:cNvPr id="24" name="Shape 22"/>
          <p:cNvSpPr/>
          <p:nvPr/>
        </p:nvSpPr>
        <p:spPr>
          <a:xfrm>
            <a:off x="8229600" y="1005840"/>
            <a:ext cx="3456432" cy="1417320"/>
          </a:xfrm>
          <a:prstGeom prst="roundRect">
            <a:avLst>
              <a:gd name="adj" fmla="val 5161"/>
            </a:avLst>
          </a:prstGeom>
          <a:solidFill>
            <a:srgbClr val="F8FBFE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94192" y="1152144"/>
            <a:ext cx="1417320" cy="219456"/>
          </a:xfrm>
          <a:prstGeom prst="roundRect">
            <a:avLst>
              <a:gd name="adj" fmla="val 33333"/>
            </a:avLst>
          </a:prstGeom>
          <a:solidFill>
            <a:srgbClr val="199EDC"/>
          </a:solidFill>
          <a:ln w="7620">
            <a:solidFill>
              <a:srgbClr val="199E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94192" y="117957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本発明の芯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394192" y="15087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辞書を「共通インターフェース」にする
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人工データの作り方を発明の中心に置く
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AI確率だけでなくアンカー整合で信頼度を出す</a:t>
            </a:r>
            <a:endParaRPr lang="en-US" sz="1550" dirty="0"/>
          </a:p>
        </p:txBody>
      </p:sp>
      <p:sp>
        <p:nvSpPr>
          <p:cNvPr id="28" name="Shape 26"/>
          <p:cNvSpPr/>
          <p:nvPr/>
        </p:nvSpPr>
        <p:spPr>
          <a:xfrm>
            <a:off x="8229600" y="2615184"/>
            <a:ext cx="3456432" cy="1536192"/>
          </a:xfrm>
          <a:prstGeom prst="roundRect">
            <a:avLst>
              <a:gd name="adj" fmla="val 4762"/>
            </a:avLst>
          </a:prstGeom>
          <a:solidFill>
            <a:srgbClr val="FFF8EE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94192" y="2761488"/>
            <a:ext cx="1783080" cy="219456"/>
          </a:xfrm>
          <a:prstGeom prst="roundRect">
            <a:avLst>
              <a:gd name="adj" fmla="val 33333"/>
            </a:avLst>
          </a:prstGeom>
          <a:solidFill>
            <a:srgbClr val="E39A31"/>
          </a:solidFill>
          <a:ln w="7620">
            <a:solidFill>
              <a:srgbClr val="E39A3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94192" y="2788920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PoCで確認すること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394192" y="3108960"/>
            <a:ext cx="3072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辞書だけで候補成分を絞れるか
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副線欠落や重なりに耐えるか
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低信頼度だけを再評価へ回せるか</a:t>
            </a:r>
            <a:endParaRPr lang="en-US" sz="1550" dirty="0"/>
          </a:p>
        </p:txBody>
      </p:sp>
      <p:sp>
        <p:nvSpPr>
          <p:cNvPr id="32" name="Shape 30"/>
          <p:cNvSpPr/>
          <p:nvPr/>
        </p:nvSpPr>
        <p:spPr>
          <a:xfrm>
            <a:off x="8229600" y="4352544"/>
            <a:ext cx="3456432" cy="1828800"/>
          </a:xfrm>
          <a:prstGeom prst="roundRect">
            <a:avLst>
              <a:gd name="adj" fmla="val 4000"/>
            </a:avLst>
          </a:prstGeom>
          <a:solidFill>
            <a:srgbClr val="F5FBF6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394192" y="4498848"/>
            <a:ext cx="1325880" cy="219456"/>
          </a:xfrm>
          <a:prstGeom prst="roundRect">
            <a:avLst>
              <a:gd name="adj" fmla="val 33333"/>
            </a:avLst>
          </a:prstGeom>
          <a:solidFill>
            <a:srgbClr val="2F9B63"/>
          </a:solidFill>
          <a:ln w="7620">
            <a:solidFill>
              <a:srgbClr val="2F9B6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94192" y="4526280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将来拡張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394192" y="4864608"/>
            <a:ext cx="3072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clean wafer / 前後スペクトルで基板寄与を校正
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SEM 特徴量で形状 prior を与える
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DTSA-II / PENELOPE / xraylib / SRD164 を難例や校正に接続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199E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背景: パーティクル解析では「EDXが遅く、難しく、説明しづらい」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47472" y="612648"/>
            <a:ext cx="11496751" cy="0"/>
          </a:xfrm>
          <a:prstGeom prst="line">
            <a:avLst/>
          </a:prstGeom>
          <a:noFill/>
          <a:ln w="16510">
            <a:solidFill>
              <a:srgbClr val="8ED7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2815" y="2286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Draft / 匿名化版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97335" y="655624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508760" y="2423160"/>
            <a:ext cx="1280160" cy="0"/>
          </a:xfrm>
          <a:prstGeom prst="line">
            <a:avLst/>
          </a:prstGeom>
          <a:noFill/>
          <a:ln w="22860">
            <a:solidFill>
              <a:srgbClr val="199EDC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069080" y="2423160"/>
            <a:ext cx="1280160" cy="0"/>
          </a:xfrm>
          <a:prstGeom prst="line">
            <a:avLst/>
          </a:prstGeom>
          <a:noFill/>
          <a:ln w="22860">
            <a:solidFill>
              <a:srgbClr val="199EDC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629400" y="2423160"/>
            <a:ext cx="1280160" cy="0"/>
          </a:xfrm>
          <a:prstGeom prst="line">
            <a:avLst/>
          </a:prstGeom>
          <a:noFill/>
          <a:ln w="22860">
            <a:solidFill>
              <a:srgbClr val="199EDC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189720" y="2423160"/>
            <a:ext cx="1097280" cy="0"/>
          </a:xfrm>
          <a:prstGeom prst="line">
            <a:avLst/>
          </a:prstGeom>
          <a:noFill/>
          <a:ln w="22860">
            <a:solidFill>
              <a:srgbClr val="199EDC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02920" y="1874520"/>
            <a:ext cx="1234440" cy="1051560"/>
          </a:xfrm>
          <a:prstGeom prst="roundRect">
            <a:avLst>
              <a:gd name="adj" fmla="val 6957"/>
            </a:avLst>
          </a:prstGeom>
          <a:solidFill>
            <a:srgbClr val="EAF6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2648" y="2011680"/>
            <a:ext cx="1005840" cy="219456"/>
          </a:xfrm>
          <a:prstGeom prst="roundRect">
            <a:avLst>
              <a:gd name="adj" fmla="val 33333"/>
            </a:avLst>
          </a:prstGeom>
          <a:solidFill>
            <a:srgbClr val="199EDC"/>
          </a:solidFill>
          <a:ln w="7620">
            <a:solidFill>
              <a:srgbClr val="199E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" y="203911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検査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0936" y="2404872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光学/マップ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063240" y="1874520"/>
            <a:ext cx="1234440" cy="1051560"/>
          </a:xfrm>
          <a:prstGeom prst="roundRect">
            <a:avLst>
              <a:gd name="adj" fmla="val 6957"/>
            </a:avLst>
          </a:prstGeom>
          <a:solidFill>
            <a:srgbClr val="F6FAFD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72968" y="2011680"/>
            <a:ext cx="1005840" cy="219456"/>
          </a:xfrm>
          <a:prstGeom prst="roundRect">
            <a:avLst>
              <a:gd name="adj" fmla="val 33333"/>
            </a:avLst>
          </a:prstGeom>
          <a:solidFill>
            <a:srgbClr val="4D6B84"/>
          </a:solidFill>
          <a:ln w="7620">
            <a:solidFill>
              <a:srgbClr val="4D6B8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72968" y="203911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Review SEM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191256" y="2404872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形態確認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623560" y="1874520"/>
            <a:ext cx="1234440" cy="1051560"/>
          </a:xfrm>
          <a:prstGeom prst="roundRect">
            <a:avLst>
              <a:gd name="adj" fmla="val 6957"/>
            </a:avLst>
          </a:prstGeom>
          <a:solidFill>
            <a:srgbClr val="FFF4F3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33288" y="2011680"/>
            <a:ext cx="1005840" cy="219456"/>
          </a:xfrm>
          <a:prstGeom prst="roundRect">
            <a:avLst>
              <a:gd name="adj" fmla="val 33333"/>
            </a:avLst>
          </a:prstGeom>
          <a:solidFill>
            <a:srgbClr val="D95D5D"/>
          </a:solidFill>
          <a:ln w="7620">
            <a:solidFill>
              <a:srgbClr val="D95D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33288" y="203911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EDX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51576" y="2404872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成分確認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183880" y="1874520"/>
            <a:ext cx="1234440" cy="1051560"/>
          </a:xfrm>
          <a:prstGeom prst="roundRect">
            <a:avLst>
              <a:gd name="adj" fmla="val 6957"/>
            </a:avLst>
          </a:prstGeom>
          <a:solidFill>
            <a:srgbClr val="FFF9E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93608" y="2011680"/>
            <a:ext cx="1005840" cy="219456"/>
          </a:xfrm>
          <a:prstGeom prst="roundRect">
            <a:avLst>
              <a:gd name="adj" fmla="val 33333"/>
            </a:avLst>
          </a:prstGeom>
          <a:solidFill>
            <a:srgbClr val="E39A31"/>
          </a:solidFill>
          <a:ln w="7620">
            <a:solidFill>
              <a:srgbClr val="E39A3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93608" y="203911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原因推定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311896" y="2404872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部材/工程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10515600" y="1874520"/>
            <a:ext cx="1234440" cy="1051560"/>
          </a:xfrm>
          <a:prstGeom prst="roundRect">
            <a:avLst>
              <a:gd name="adj" fmla="val 6957"/>
            </a:avLst>
          </a:prstGeom>
          <a:solidFill>
            <a:srgbClr val="F4FBF6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625328" y="2011680"/>
            <a:ext cx="1005840" cy="219456"/>
          </a:xfrm>
          <a:prstGeom prst="roundRect">
            <a:avLst>
              <a:gd name="adj" fmla="val 33333"/>
            </a:avLst>
          </a:prstGeom>
          <a:solidFill>
            <a:srgbClr val="2F9B63"/>
          </a:solidFill>
          <a:ln w="7620">
            <a:solidFill>
              <a:srgbClr val="2F9B6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25328" y="203911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対策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643616" y="2404872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洗浄/部材交換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5596128" y="1444752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FFF1F0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50992" y="152704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D95D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工数ボトルネック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138160" y="1444752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FFF9E6"/>
          </a:solidFill>
          <a:ln w="12700">
            <a:solidFill>
              <a:srgbClr val="E39A3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93024" y="152704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E39A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説明性が重要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94360" y="3794760"/>
            <a:ext cx="5074920" cy="2103120"/>
          </a:xfrm>
          <a:prstGeom prst="roundRect">
            <a:avLst>
              <a:gd name="adj" fmla="val 3478"/>
            </a:avLst>
          </a:prstGeom>
          <a:solidFill>
            <a:srgbClr val="F8FBFE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9808" y="3950208"/>
            <a:ext cx="1325880" cy="219456"/>
          </a:xfrm>
          <a:prstGeom prst="roundRect">
            <a:avLst>
              <a:gd name="adj" fmla="val 33333"/>
            </a:avLst>
          </a:prstGeom>
          <a:solidFill>
            <a:srgbClr val="199EDC"/>
          </a:solidFill>
          <a:ln w="7620">
            <a:solidFill>
              <a:srgbClr val="199E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9808" y="3977640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モダリティ比較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49808" y="4270248"/>
            <a:ext cx="1051560" cy="402336"/>
          </a:xfrm>
          <a:prstGeom prst="roundRect">
            <a:avLst>
              <a:gd name="adj" fmla="val 4545"/>
            </a:avLst>
          </a:prstGeom>
          <a:solidFill>
            <a:srgbClr val="199EDC"/>
          </a:solidFill>
          <a:ln w="10160">
            <a:solidFill>
              <a:srgbClr val="199ED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5528" y="434340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情報源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1819656" y="4270248"/>
            <a:ext cx="1572768" cy="402336"/>
          </a:xfrm>
          <a:prstGeom prst="roundRect">
            <a:avLst>
              <a:gd name="adj" fmla="val 4545"/>
            </a:avLst>
          </a:prstGeom>
          <a:solidFill>
            <a:srgbClr val="199EDC"/>
          </a:solidFill>
          <a:ln w="10160">
            <a:solidFill>
              <a:srgbClr val="199ED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865376" y="4343400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得意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3410712" y="4270248"/>
            <a:ext cx="2286000" cy="402336"/>
          </a:xfrm>
          <a:prstGeom prst="roundRect">
            <a:avLst>
              <a:gd name="adj" fmla="val 4545"/>
            </a:avLst>
          </a:prstGeom>
          <a:solidFill>
            <a:srgbClr val="199EDC"/>
          </a:solidFill>
          <a:ln w="10160">
            <a:solidFill>
              <a:srgbClr val="199ED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56432" y="434340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弱点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749808" y="4700016"/>
            <a:ext cx="1051560" cy="402336"/>
          </a:xfrm>
          <a:prstGeom prst="roundRect">
            <a:avLst>
              <a:gd name="adj" fmla="val 4545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95528" y="4745736"/>
            <a:ext cx="960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SEM</a:t>
            </a:r>
            <a:endParaRPr lang="en-US" sz="1160" dirty="0"/>
          </a:p>
        </p:txBody>
      </p:sp>
      <p:sp>
        <p:nvSpPr>
          <p:cNvPr id="45" name="Shape 43"/>
          <p:cNvSpPr/>
          <p:nvPr/>
        </p:nvSpPr>
        <p:spPr>
          <a:xfrm>
            <a:off x="1819656" y="4700016"/>
            <a:ext cx="1572768" cy="402336"/>
          </a:xfrm>
          <a:prstGeom prst="roundRect">
            <a:avLst>
              <a:gd name="adj" fmla="val 4545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865376" y="4745736"/>
            <a:ext cx="1481328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形・サイズ・表面状態</a:t>
            </a:r>
            <a:endParaRPr lang="en-US" sz="1160" dirty="0"/>
          </a:p>
        </p:txBody>
      </p:sp>
      <p:sp>
        <p:nvSpPr>
          <p:cNvPr id="47" name="Shape 45"/>
          <p:cNvSpPr/>
          <p:nvPr/>
        </p:nvSpPr>
        <p:spPr>
          <a:xfrm>
            <a:off x="3410712" y="4700016"/>
            <a:ext cx="2286000" cy="402336"/>
          </a:xfrm>
          <a:prstGeom prst="roundRect">
            <a:avLst>
              <a:gd name="adj" fmla="val 4545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56432" y="4745736"/>
            <a:ext cx="21945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成分は直接決まらない</a:t>
            </a:r>
            <a:endParaRPr lang="en-US" sz="1160" dirty="0"/>
          </a:p>
        </p:txBody>
      </p:sp>
      <p:sp>
        <p:nvSpPr>
          <p:cNvPr id="49" name="Shape 47"/>
          <p:cNvSpPr/>
          <p:nvPr/>
        </p:nvSpPr>
        <p:spPr>
          <a:xfrm>
            <a:off x="749808" y="5129784"/>
            <a:ext cx="1051560" cy="402336"/>
          </a:xfrm>
          <a:prstGeom prst="roundRect">
            <a:avLst>
              <a:gd name="adj" fmla="val 4545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95528" y="5175504"/>
            <a:ext cx="960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EDX</a:t>
            </a:r>
            <a:endParaRPr lang="en-US" sz="1160" dirty="0"/>
          </a:p>
        </p:txBody>
      </p:sp>
      <p:sp>
        <p:nvSpPr>
          <p:cNvPr id="51" name="Shape 49"/>
          <p:cNvSpPr/>
          <p:nvPr/>
        </p:nvSpPr>
        <p:spPr>
          <a:xfrm>
            <a:off x="1819656" y="5129784"/>
            <a:ext cx="1572768" cy="402336"/>
          </a:xfrm>
          <a:prstGeom prst="roundRect">
            <a:avLst>
              <a:gd name="adj" fmla="val 4545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865376" y="5175504"/>
            <a:ext cx="1481328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元素候補・主成分</a:t>
            </a:r>
            <a:endParaRPr lang="en-US" sz="1160" dirty="0"/>
          </a:p>
        </p:txBody>
      </p:sp>
      <p:sp>
        <p:nvSpPr>
          <p:cNvPr id="53" name="Shape 51"/>
          <p:cNvSpPr/>
          <p:nvPr/>
        </p:nvSpPr>
        <p:spPr>
          <a:xfrm>
            <a:off x="3410712" y="5129784"/>
            <a:ext cx="2286000" cy="402336"/>
          </a:xfrm>
          <a:prstGeom prst="roundRect">
            <a:avLst>
              <a:gd name="adj" fmla="val 4545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456432" y="5175504"/>
            <a:ext cx="21945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重なり/吸収/基板寄与で不安定</a:t>
            </a:r>
            <a:endParaRPr lang="en-US" sz="1160" dirty="0"/>
          </a:p>
        </p:txBody>
      </p:sp>
      <p:sp>
        <p:nvSpPr>
          <p:cNvPr id="55" name="Shape 53"/>
          <p:cNvSpPr/>
          <p:nvPr/>
        </p:nvSpPr>
        <p:spPr>
          <a:xfrm>
            <a:off x="749808" y="5559552"/>
            <a:ext cx="1051560" cy="402336"/>
          </a:xfrm>
          <a:prstGeom prst="roundRect">
            <a:avLst>
              <a:gd name="adj" fmla="val 4545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95528" y="5605272"/>
            <a:ext cx="960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工程情報</a:t>
            </a:r>
            <a:endParaRPr lang="en-US" sz="1160" dirty="0"/>
          </a:p>
        </p:txBody>
      </p:sp>
      <p:sp>
        <p:nvSpPr>
          <p:cNvPr id="57" name="Shape 55"/>
          <p:cNvSpPr/>
          <p:nvPr/>
        </p:nvSpPr>
        <p:spPr>
          <a:xfrm>
            <a:off x="1819656" y="5559552"/>
            <a:ext cx="1572768" cy="402336"/>
          </a:xfrm>
          <a:prstGeom prst="roundRect">
            <a:avLst>
              <a:gd name="adj" fmla="val 4545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865376" y="5605272"/>
            <a:ext cx="1481328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原因装置や工程の絞り込み</a:t>
            </a:r>
            <a:endParaRPr lang="en-US" sz="1160" dirty="0"/>
          </a:p>
        </p:txBody>
      </p:sp>
      <p:sp>
        <p:nvSpPr>
          <p:cNvPr id="59" name="Shape 57"/>
          <p:cNvSpPr/>
          <p:nvPr/>
        </p:nvSpPr>
        <p:spPr>
          <a:xfrm>
            <a:off x="3410712" y="5559552"/>
            <a:ext cx="2286000" cy="402336"/>
          </a:xfrm>
          <a:prstGeom prst="roundRect">
            <a:avLst>
              <a:gd name="adj" fmla="val 4545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456432" y="5605272"/>
            <a:ext cx="21945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単独では粒子成分を確定しにくい</a:t>
            </a:r>
            <a:endParaRPr lang="en-US" sz="1160" dirty="0"/>
          </a:p>
        </p:txBody>
      </p:sp>
      <p:sp>
        <p:nvSpPr>
          <p:cNvPr id="61" name="Shape 59"/>
          <p:cNvSpPr/>
          <p:nvPr/>
        </p:nvSpPr>
        <p:spPr>
          <a:xfrm>
            <a:off x="5897880" y="3794760"/>
            <a:ext cx="5669280" cy="2103120"/>
          </a:xfrm>
          <a:prstGeom prst="roundRect">
            <a:avLst>
              <a:gd name="adj" fmla="val 3478"/>
            </a:avLst>
          </a:prstGeom>
          <a:solidFill>
            <a:srgbClr val="FFF8EE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053328" y="3950208"/>
            <a:ext cx="1783080" cy="219456"/>
          </a:xfrm>
          <a:prstGeom prst="roundRect">
            <a:avLst>
              <a:gd name="adj" fmla="val 33333"/>
            </a:avLst>
          </a:prstGeom>
          <a:solidFill>
            <a:srgbClr val="E39A31"/>
          </a:solidFill>
          <a:ln w="7620">
            <a:solidFill>
              <a:srgbClr val="E39A3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053328" y="3977640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なぜ特許テーマになるか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089904" y="4297680"/>
            <a:ext cx="5212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全欠陥へ詳細 EDX を適用するのは現実的でない
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SEM / EDX / 工程情報の役割分担を整理した自動化が必要
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説明可能な信頼度がないと製造技術判断に使いにくい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199E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従来技術と先行カテゴリ: 速度・忠実度・必要データのトレードオフ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47472" y="612648"/>
            <a:ext cx="11496751" cy="0"/>
          </a:xfrm>
          <a:prstGeom prst="line">
            <a:avLst/>
          </a:prstGeom>
          <a:noFill/>
          <a:ln w="16510">
            <a:solidFill>
              <a:srgbClr val="8ED7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2815" y="2286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Draft / 匿名化版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97335" y="655624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1993392" cy="3749040"/>
          </a:xfrm>
          <a:prstGeom prst="roundRect">
            <a:avLst>
              <a:gd name="adj" fmla="val 3670"/>
            </a:avLst>
          </a:prstGeom>
          <a:solidFill>
            <a:srgbClr val="EAF6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" y="1225296"/>
            <a:ext cx="1417320" cy="219456"/>
          </a:xfrm>
          <a:prstGeom prst="roundRect">
            <a:avLst>
              <a:gd name="adj" fmla="val 33333"/>
            </a:avLst>
          </a:prstGeom>
          <a:solidFill>
            <a:srgbClr val="199EDC"/>
          </a:solidFill>
          <a:ln w="7620">
            <a:solidFill>
              <a:srgbClr val="199E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1252728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ピーク検出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分布 fitting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30936" y="1627632"/>
            <a:ext cx="1737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ガウス/擬似Voigt で局所 fitting
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ルールベースで line を割当て
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軽いが近接ピークに弱い</a:t>
            </a:r>
            <a:endParaRPr lang="en-US" sz="1540" dirty="0"/>
          </a:p>
        </p:txBody>
      </p:sp>
      <p:sp>
        <p:nvSpPr>
          <p:cNvPr id="10" name="Shape 8"/>
          <p:cNvSpPr/>
          <p:nvPr/>
        </p:nvSpPr>
        <p:spPr>
          <a:xfrm>
            <a:off x="2834640" y="1078992"/>
            <a:ext cx="1993392" cy="3749040"/>
          </a:xfrm>
          <a:prstGeom prst="roundRect">
            <a:avLst>
              <a:gd name="adj" fmla="val 3670"/>
            </a:avLst>
          </a:prstGeom>
          <a:solidFill>
            <a:srgbClr val="F7FBFE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44368" y="1225296"/>
            <a:ext cx="1417320" cy="219456"/>
          </a:xfrm>
          <a:prstGeom prst="roundRect">
            <a:avLst>
              <a:gd name="adj" fmla="val 33333"/>
            </a:avLst>
          </a:prstGeom>
          <a:solidFill>
            <a:srgbClr val="4D6B84"/>
          </a:solidFill>
          <a:ln w="7620">
            <a:solidFill>
              <a:srgbClr val="4D6B8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44368" y="1252728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Filter-fitting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定量 EDX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962656" y="1627632"/>
            <a:ext cx="1737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参照スペクトルや定量補正を使用
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XPP 等で組成へ変換
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精度は高いが運用は重い</a:t>
            </a:r>
            <a:endParaRPr lang="en-US" sz="1540" dirty="0"/>
          </a:p>
        </p:txBody>
      </p:sp>
      <p:sp>
        <p:nvSpPr>
          <p:cNvPr id="14" name="Shape 12"/>
          <p:cNvSpPr/>
          <p:nvPr/>
        </p:nvSpPr>
        <p:spPr>
          <a:xfrm>
            <a:off x="5166360" y="1078992"/>
            <a:ext cx="1993392" cy="3749040"/>
          </a:xfrm>
          <a:prstGeom prst="roundRect">
            <a:avLst>
              <a:gd name="adj" fmla="val 3670"/>
            </a:avLst>
          </a:prstGeom>
          <a:solidFill>
            <a:srgbClr val="FFF4F3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76088" y="1225296"/>
            <a:ext cx="1417320" cy="219456"/>
          </a:xfrm>
          <a:prstGeom prst="roundRect">
            <a:avLst>
              <a:gd name="adj" fmla="val 33333"/>
            </a:avLst>
          </a:prstGeom>
          <a:solidFill>
            <a:srgbClr val="D95D5D"/>
          </a:solidFill>
          <a:ln w="7620">
            <a:solidFill>
              <a:srgbClr val="D95D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76088" y="1252728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物理シミュレーション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294376" y="1627632"/>
            <a:ext cx="1737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DTSA-II / PENELOPE で前向き計算
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吸収・連続X線・幾何を反映
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高忠実だが毎回回すと重い</a:t>
            </a:r>
            <a:endParaRPr lang="en-US" sz="1540" dirty="0"/>
          </a:p>
        </p:txBody>
      </p:sp>
      <p:sp>
        <p:nvSpPr>
          <p:cNvPr id="18" name="Shape 16"/>
          <p:cNvSpPr/>
          <p:nvPr/>
        </p:nvSpPr>
        <p:spPr>
          <a:xfrm>
            <a:off x="7498080" y="1078992"/>
            <a:ext cx="1993392" cy="3749040"/>
          </a:xfrm>
          <a:prstGeom prst="roundRect">
            <a:avLst>
              <a:gd name="adj" fmla="val 3670"/>
            </a:avLst>
          </a:prstGeom>
          <a:solidFill>
            <a:srgbClr val="F4FBF6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07808" y="1225296"/>
            <a:ext cx="1417320" cy="219456"/>
          </a:xfrm>
          <a:prstGeom prst="roundRect">
            <a:avLst>
              <a:gd name="adj" fmla="val 33333"/>
            </a:avLst>
          </a:prstGeom>
          <a:solidFill>
            <a:srgbClr val="2F9B63"/>
          </a:solidFill>
          <a:ln w="7620">
            <a:solidFill>
              <a:srgbClr val="2F9B6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07808" y="1252728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SEM分類 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SEM-EDS融合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626096" y="1627632"/>
            <a:ext cx="1737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画像だけ又は融合で分類・高解像化
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空間情報に強い
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EDX成分そのものの説明は別設計</a:t>
            </a:r>
            <a:endParaRPr lang="en-US" sz="1540" dirty="0"/>
          </a:p>
        </p:txBody>
      </p:sp>
      <p:sp>
        <p:nvSpPr>
          <p:cNvPr id="22" name="Shape 20"/>
          <p:cNvSpPr/>
          <p:nvPr/>
        </p:nvSpPr>
        <p:spPr>
          <a:xfrm>
            <a:off x="685800" y="5074920"/>
            <a:ext cx="4572000" cy="1325880"/>
          </a:xfrm>
          <a:prstGeom prst="roundRect">
            <a:avLst>
              <a:gd name="adj" fmla="val 5517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" y="5230368"/>
            <a:ext cx="1234440" cy="219456"/>
          </a:xfrm>
          <a:prstGeom prst="roundRect">
            <a:avLst>
              <a:gd name="adj" fmla="val 33333"/>
            </a:avLst>
          </a:prstGeom>
          <a:solidFill>
            <a:srgbClr val="199EDC"/>
          </a:solidFill>
          <a:ln w="7620">
            <a:solidFill>
              <a:srgbClr val="199ED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" y="5257800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相対位置づけ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51560" y="6181344"/>
            <a:ext cx="3840480" cy="0"/>
          </a:xfrm>
          <a:prstGeom prst="line">
            <a:avLst/>
          </a:prstGeom>
          <a:noFill/>
          <a:ln w="1397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051560" y="6181344"/>
            <a:ext cx="0" cy="-658368"/>
          </a:xfrm>
          <a:prstGeom prst="line">
            <a:avLst/>
          </a:prstGeom>
          <a:noFill/>
          <a:ln w="1397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3977640" y="6245352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速度 →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 rot="16200000">
            <a:off x="658368" y="5285232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忠実度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828800" y="5833872"/>
            <a:ext cx="146304" cy="146304"/>
          </a:xfrm>
          <a:prstGeom prst="ellipse">
            <a:avLst/>
          </a:prstGeom>
          <a:solidFill>
            <a:srgbClr val="199EDC"/>
          </a:solidFill>
          <a:ln w="7620">
            <a:solidFill>
              <a:srgbClr val="199ED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29968" y="582472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ピークfitting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651760" y="5532120"/>
            <a:ext cx="146304" cy="146304"/>
          </a:xfrm>
          <a:prstGeom prst="ellipse">
            <a:avLst/>
          </a:prstGeom>
          <a:solidFill>
            <a:srgbClr val="4D6B84"/>
          </a:solidFill>
          <a:ln w="7620">
            <a:solidFill>
              <a:srgbClr val="4D6B8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52928" y="5522976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Filter-fitting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206240" y="5413248"/>
            <a:ext cx="146304" cy="146304"/>
          </a:xfrm>
          <a:prstGeom prst="ellipse">
            <a:avLst/>
          </a:prstGeom>
          <a:solidFill>
            <a:srgbClr val="D95D5D"/>
          </a:solidFill>
          <a:ln w="7620">
            <a:solidFill>
              <a:srgbClr val="D95D5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07408" y="540410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物理sim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429000" y="5742432"/>
            <a:ext cx="146304" cy="146304"/>
          </a:xfrm>
          <a:prstGeom prst="ellipse">
            <a:avLst/>
          </a:prstGeom>
          <a:solidFill>
            <a:srgbClr val="2F9B63"/>
          </a:solidFill>
          <a:ln w="7620">
            <a:solidFill>
              <a:srgbClr val="2F9B6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0168" y="573328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SEM融合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532120" y="5074920"/>
            <a:ext cx="5806440" cy="1325880"/>
          </a:xfrm>
          <a:prstGeom prst="roundRect">
            <a:avLst>
              <a:gd name="adj" fmla="val 5517"/>
            </a:avLst>
          </a:prstGeom>
          <a:solidFill>
            <a:srgbClr val="FFF9EE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687568" y="5230368"/>
            <a:ext cx="1417320" cy="219456"/>
          </a:xfrm>
          <a:prstGeom prst="roundRect">
            <a:avLst>
              <a:gd name="adj" fmla="val 33333"/>
            </a:avLst>
          </a:prstGeom>
          <a:solidFill>
            <a:srgbClr val="E39A31"/>
          </a:solidFill>
          <a:ln w="7620">
            <a:solidFill>
              <a:srgbClr val="E39A3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87568" y="5257800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本提案の立場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742432" y="5513832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日常運転は「軽い辞書 + 学習器」で回し、難例だけを高忠実度解析へ送る
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従来カテゴリを置換するのではなく、役割分担を整理して組み合わせる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199E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従来の課題: 物理・計測・データ・運用の4要因が同時に効く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47472" y="612648"/>
            <a:ext cx="11496751" cy="0"/>
          </a:xfrm>
          <a:prstGeom prst="line">
            <a:avLst/>
          </a:prstGeom>
          <a:noFill/>
          <a:ln w="16510">
            <a:solidFill>
              <a:srgbClr val="8ED7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2815" y="2286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Draft / 匿名化版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97335" y="655624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960120" y="3703320"/>
            <a:ext cx="4709160" cy="0"/>
          </a:xfrm>
          <a:prstGeom prst="line">
            <a:avLst/>
          </a:prstGeom>
          <a:noFill/>
          <a:ln w="25400">
            <a:solidFill>
              <a:srgbClr val="D95D5D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5349240" y="356616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5D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成分推定が不安定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143000" y="2606040"/>
            <a:ext cx="685800" cy="1097280"/>
          </a:xfrm>
          <a:prstGeom prst="line">
            <a:avLst/>
          </a:prstGeom>
          <a:noFill/>
          <a:ln w="19050">
            <a:solidFill>
              <a:srgbClr val="C9D3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2606040"/>
            <a:ext cx="548640" cy="1097280"/>
          </a:xfrm>
          <a:prstGeom prst="line">
            <a:avLst/>
          </a:prstGeom>
          <a:noFill/>
          <a:ln w="19050">
            <a:solidFill>
              <a:srgbClr val="C9D3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4800600"/>
            <a:ext cx="502920" cy="-1097280"/>
          </a:xfrm>
          <a:prstGeom prst="line">
            <a:avLst/>
          </a:prstGeom>
          <a:noFill/>
          <a:ln w="19050">
            <a:solidFill>
              <a:srgbClr val="C9D3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4800600"/>
            <a:ext cx="411480" cy="-1097280"/>
          </a:xfrm>
          <a:prstGeom prst="line">
            <a:avLst/>
          </a:prstGeom>
          <a:noFill/>
          <a:ln w="19050">
            <a:solidFill>
              <a:srgbClr val="C9D3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132588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FFF4F3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1208" y="1344168"/>
            <a:ext cx="708660" cy="292608"/>
          </a:xfrm>
          <a:prstGeom prst="roundRect">
            <a:avLst>
              <a:gd name="adj" fmla="val 21875"/>
            </a:avLst>
          </a:prstGeom>
          <a:solidFill>
            <a:srgbClr val="D95D5D"/>
          </a:solidFill>
          <a:ln w="7620">
            <a:solidFill>
              <a:srgbClr val="D95D5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1389888"/>
            <a:ext cx="7086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物理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" y="1719072"/>
            <a:ext cx="1197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近接ピーーク
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低 energy 吸収
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基板混合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965960" y="132588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FFF8EE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84248" y="1344168"/>
            <a:ext cx="708660" cy="292608"/>
          </a:xfrm>
          <a:prstGeom prst="roundRect">
            <a:avLst>
              <a:gd name="adj" fmla="val 21875"/>
            </a:avLst>
          </a:prstGeom>
          <a:solidFill>
            <a:srgbClr val="E39A31"/>
          </a:solidFill>
          <a:ln w="7620">
            <a:solidFill>
              <a:srgbClr val="E39A3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39112" y="1389888"/>
            <a:ext cx="7086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計測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075688" y="1719072"/>
            <a:ext cx="1197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ドリフト
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S/N不足
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分解能差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520440" y="461772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F5FBF6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38728" y="4636008"/>
            <a:ext cx="708660" cy="292608"/>
          </a:xfrm>
          <a:prstGeom prst="roundRect">
            <a:avLst>
              <a:gd name="adj" fmla="val 21875"/>
            </a:avLst>
          </a:prstGeom>
          <a:solidFill>
            <a:srgbClr val="2F9B63"/>
          </a:solidFill>
          <a:ln w="7620">
            <a:solidFill>
              <a:srgbClr val="2F9B6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93592" y="4681728"/>
            <a:ext cx="7086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30168" y="5010912"/>
            <a:ext cx="1197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実測ラベル不足
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工程差
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装置差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074920" y="461772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F8FBFE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93208" y="4636008"/>
            <a:ext cx="800100" cy="292608"/>
          </a:xfrm>
          <a:prstGeom prst="roundRect">
            <a:avLst>
              <a:gd name="adj" fmla="val 21875"/>
            </a:avLst>
          </a:prstGeom>
          <a:solidFill>
            <a:srgbClr val="199EDC"/>
          </a:solidFill>
          <a:ln w="7620">
            <a:solidFill>
              <a:srgbClr val="199E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48072" y="4681728"/>
            <a:ext cx="8001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84648" y="5010912"/>
            <a:ext cx="1380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全件詳細解析は重い
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説明性不足
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更新負荷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995160" y="1234440"/>
            <a:ext cx="4617720" cy="5120640"/>
          </a:xfrm>
          <a:prstGeom prst="roundRect">
            <a:avLst>
              <a:gd name="adj" fmla="val 1584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50608" y="1389888"/>
            <a:ext cx="1783080" cy="219456"/>
          </a:xfrm>
          <a:prstGeom prst="roundRect">
            <a:avLst>
              <a:gd name="adj" fmla="val 33333"/>
            </a:avLst>
          </a:prstGeom>
          <a:solidFill>
            <a:srgbClr val="199EDC"/>
          </a:solidFill>
          <a:ln w="7620">
            <a:solidFill>
              <a:srgbClr val="199ED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50608" y="1417320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評価で見るべき項目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150608" y="1691640"/>
            <a:ext cx="1417320" cy="493776"/>
          </a:xfrm>
          <a:prstGeom prst="roundRect">
            <a:avLst>
              <a:gd name="adj" fmla="val 3704"/>
            </a:avLst>
          </a:prstGeom>
          <a:solidFill>
            <a:srgbClr val="199EDC"/>
          </a:solidFill>
          <a:ln w="10160">
            <a:solidFill>
              <a:srgbClr val="199ED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96328" y="1764792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観点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586216" y="1691640"/>
            <a:ext cx="2788920" cy="493776"/>
          </a:xfrm>
          <a:prstGeom prst="roundRect">
            <a:avLst>
              <a:gd name="adj" fmla="val 3704"/>
            </a:avLst>
          </a:prstGeom>
          <a:solidFill>
            <a:srgbClr val="199EDC"/>
          </a:solidFill>
          <a:ln w="10160">
            <a:solidFill>
              <a:srgbClr val="199ED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31936" y="1764792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狙い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150608" y="2212848"/>
            <a:ext cx="1417320" cy="493776"/>
          </a:xfrm>
          <a:prstGeom prst="roundRect">
            <a:avLst>
              <a:gd name="adj" fmla="val 3704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96328" y="2258568"/>
            <a:ext cx="132588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micro/macro F1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586216" y="2212848"/>
            <a:ext cx="2788920" cy="493776"/>
          </a:xfrm>
          <a:prstGeom prst="roundRect">
            <a:avLst>
              <a:gd name="adj" fmla="val 3704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31936" y="2258568"/>
            <a:ext cx="269748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元素候補を外さない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150608" y="2734056"/>
            <a:ext cx="1417320" cy="493776"/>
          </a:xfrm>
          <a:prstGeom prst="roundRect">
            <a:avLst>
              <a:gd name="adj" fmla="val 3704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96328" y="2779776"/>
            <a:ext cx="132588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Recall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586216" y="2734056"/>
            <a:ext cx="2788920" cy="493776"/>
          </a:xfrm>
          <a:prstGeom prst="roundRect">
            <a:avLst>
              <a:gd name="adj" fmla="val 3704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631936" y="2779776"/>
            <a:ext cx="269748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副線欠落でも見逃さない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150608" y="3255264"/>
            <a:ext cx="1417320" cy="493776"/>
          </a:xfrm>
          <a:prstGeom prst="roundRect">
            <a:avLst>
              <a:gd name="adj" fmla="val 3704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96328" y="3300984"/>
            <a:ext cx="132588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Top-1 accuracy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586216" y="3255264"/>
            <a:ext cx="2788920" cy="493776"/>
          </a:xfrm>
          <a:prstGeom prst="roundRect">
            <a:avLst>
              <a:gd name="adj" fmla="val 3704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31936" y="3300984"/>
            <a:ext cx="269748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主成分を誤らない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7150608" y="3776472"/>
            <a:ext cx="1417320" cy="493776"/>
          </a:xfrm>
          <a:prstGeom prst="roundRect">
            <a:avLst>
              <a:gd name="adj" fmla="val 3704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96328" y="3822192"/>
            <a:ext cx="132588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Confidence calibration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8586216" y="3776472"/>
            <a:ext cx="2788920" cy="493776"/>
          </a:xfrm>
          <a:prstGeom prst="roundRect">
            <a:avLst>
              <a:gd name="adj" fmla="val 3704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631936" y="3822192"/>
            <a:ext cx="269748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高信頼サンプルだけ自動化する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7150608" y="4297680"/>
            <a:ext cx="1417320" cy="493776"/>
          </a:xfrm>
          <a:prstGeom prst="roundRect">
            <a:avLst>
              <a:gd name="adj" fmla="val 3704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196328" y="4343400"/>
            <a:ext cx="132588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Re-eval rate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8586216" y="4297680"/>
            <a:ext cx="2788920" cy="493776"/>
          </a:xfrm>
          <a:prstGeom prst="roundRect">
            <a:avLst>
              <a:gd name="adj" fmla="val 3704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631936" y="4343400"/>
            <a:ext cx="269748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詳細再評価の量を抑える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7187184" y="4956048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4要因が同時に作用するため、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単純なピーク検出だけでは安定しにくい。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199E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スペクトル上で実際に何が難しいのか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47472" y="612648"/>
            <a:ext cx="11496751" cy="0"/>
          </a:xfrm>
          <a:prstGeom prst="line">
            <a:avLst/>
          </a:prstGeom>
          <a:noFill/>
          <a:ln w="16510">
            <a:solidFill>
              <a:srgbClr val="8ED7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2815" y="2286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Draft / 匿名化版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97335" y="655624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06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0080" y="1143000"/>
            <a:ext cx="6629400" cy="3337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86384" y="4526280"/>
            <a:ext cx="2148840" cy="402336"/>
          </a:xfrm>
          <a:prstGeom prst="roundRect">
            <a:avLst>
              <a:gd name="adj" fmla="val 15909"/>
            </a:avLst>
          </a:prstGeom>
          <a:solidFill>
            <a:srgbClr val="FFF9EE"/>
          </a:solidFill>
          <a:ln w="12700">
            <a:solidFill>
              <a:srgbClr val="E39A3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1248" y="4608576"/>
            <a:ext cx="2039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E39A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低 energy 側は吸収と背景の影響が大きい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063240" y="4526280"/>
            <a:ext cx="2514600" cy="402336"/>
          </a:xfrm>
          <a:prstGeom prst="roundRect">
            <a:avLst>
              <a:gd name="adj" fmla="val 15909"/>
            </a:avLst>
          </a:prstGeom>
          <a:solidFill>
            <a:srgbClr val="FFF4F3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118104" y="4608576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D95D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Al/Si/Y は近いので単純 fitting だと揺れやすい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715000" y="4526280"/>
            <a:ext cx="1965960" cy="402336"/>
          </a:xfrm>
          <a:prstGeom prst="roundRect">
            <a:avLst>
              <a:gd name="adj" fmla="val 15909"/>
            </a:avLst>
          </a:prstGeom>
          <a:solidFill>
            <a:srgbClr val="F8FBFE"/>
          </a:solidFill>
          <a:ln w="12700">
            <a:solidFill>
              <a:srgbClr val="199ED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69864" y="4608576"/>
            <a:ext cx="1856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99E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Hf/Ta/W は 8〜10 keV に密集しやすい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635240" y="1143000"/>
            <a:ext cx="3886200" cy="4983480"/>
          </a:xfrm>
          <a:prstGeom prst="roundRect">
            <a:avLst>
              <a:gd name="adj" fmla="val 1882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799832" y="1298448"/>
            <a:ext cx="1417320" cy="219456"/>
          </a:xfrm>
          <a:prstGeom prst="roundRect">
            <a:avLst>
              <a:gd name="adj" fmla="val 33333"/>
            </a:avLst>
          </a:prstGeom>
          <a:solidFill>
            <a:srgbClr val="2F9B63"/>
          </a:solidFill>
          <a:ln w="7620">
            <a:solidFill>
              <a:srgbClr val="2F9B6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99832" y="1325880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粒子 + 基板の混合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001000" y="4983480"/>
            <a:ext cx="3017520" cy="457200"/>
          </a:xfrm>
          <a:prstGeom prst="rect">
            <a:avLst/>
          </a:prstGeom>
          <a:solidFill>
            <a:srgbClr val="D9E9F3"/>
          </a:solidFill>
          <a:ln w="10160">
            <a:solidFill>
              <a:srgbClr val="B4C8D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71432" y="5102352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4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基板 / 膜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732520" y="3950208"/>
            <a:ext cx="1572768" cy="1188720"/>
          </a:xfrm>
          <a:prstGeom prst="arc">
            <a:avLst/>
          </a:prstGeom>
          <a:solidFill>
            <a:srgbClr val="EAF6FF"/>
          </a:solidFill>
          <a:ln w="15240">
            <a:solidFill>
              <a:srgbClr val="199ED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253728" y="4361688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44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粒子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10835640" y="2011680"/>
            <a:ext cx="-1051560" cy="1783080"/>
          </a:xfrm>
          <a:prstGeom prst="line">
            <a:avLst/>
          </a:prstGeom>
          <a:noFill/>
          <a:ln w="1778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21" name="Text 18"/>
          <p:cNvSpPr/>
          <p:nvPr/>
        </p:nvSpPr>
        <p:spPr>
          <a:xfrm>
            <a:off x="10771632" y="18288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SEMでは形が見える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092440" y="1828800"/>
            <a:ext cx="868680" cy="2011680"/>
          </a:xfrm>
          <a:prstGeom prst="line">
            <a:avLst/>
          </a:prstGeom>
          <a:noFill/>
          <a:ln w="17780">
            <a:solidFill>
              <a:srgbClr val="D95D5D"/>
            </a:solidFill>
            <a:prstDash val="solid"/>
            <a:headEnd type="none"/>
            <a:tailEnd type="triangle"/>
          </a:ln>
        </p:spPr>
      </p:sp>
      <p:sp>
        <p:nvSpPr>
          <p:cNvPr id="23" name="Text 20"/>
          <p:cNvSpPr/>
          <p:nvPr/>
        </p:nvSpPr>
        <p:spPr>
          <a:xfrm>
            <a:off x="7790688" y="166420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EDXは粒子と基板が重なる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845552" y="251460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同じ元素の主線・副線が全部見えるとは限らない
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近接ピーークは「単一ピーク」ではなく「アンカー群」で見た方が安定する
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基板寄与は差し引きよりも「混合成分」として扱う方が運用しやすい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199E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提案技術の狙い: 辞書をシンプルに保ち、学習・推論・説明を一体化する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47472" y="612648"/>
            <a:ext cx="11496751" cy="0"/>
          </a:xfrm>
          <a:prstGeom prst="line">
            <a:avLst/>
          </a:prstGeom>
          <a:noFill/>
          <a:ln w="16510">
            <a:solidFill>
              <a:srgbClr val="8ED7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2815" y="2286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Draft / 匿名化版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97335" y="655624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926080" y="2788920"/>
            <a:ext cx="1783080" cy="0"/>
          </a:xfrm>
          <a:prstGeom prst="line">
            <a:avLst/>
          </a:prstGeom>
          <a:noFill/>
          <a:ln w="25400">
            <a:solidFill>
              <a:srgbClr val="199EDC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446520" y="2788920"/>
            <a:ext cx="1737360" cy="0"/>
          </a:xfrm>
          <a:prstGeom prst="line">
            <a:avLst/>
          </a:prstGeom>
          <a:noFill/>
          <a:ln w="25400">
            <a:solidFill>
              <a:srgbClr val="199EDC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31520" y="1874520"/>
            <a:ext cx="2057400" cy="1828800"/>
          </a:xfrm>
          <a:prstGeom prst="roundRect">
            <a:avLst>
              <a:gd name="adj" fmla="val 4000"/>
            </a:avLst>
          </a:prstGeom>
          <a:solidFill>
            <a:srgbClr val="EAF6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7824" y="2011680"/>
            <a:ext cx="1078992" cy="219456"/>
          </a:xfrm>
          <a:prstGeom prst="roundRect">
            <a:avLst>
              <a:gd name="adj" fmla="val 33333"/>
            </a:avLst>
          </a:prstGeom>
          <a:solidFill>
            <a:srgbClr val="199EDC"/>
          </a:solidFill>
          <a:ln w="7620">
            <a:solidFill>
              <a:srgbClr val="199E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2039112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辞書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77824" y="23591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4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複数アンカー辞書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69264" y="27432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1元素1行
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energy_1~3
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10 keVまで</a:t>
            </a:r>
            <a:endParaRPr lang="en-US" sz="1520" dirty="0"/>
          </a:p>
        </p:txBody>
      </p:sp>
      <p:sp>
        <p:nvSpPr>
          <p:cNvPr id="13" name="Shape 11"/>
          <p:cNvSpPr/>
          <p:nvPr/>
        </p:nvSpPr>
        <p:spPr>
          <a:xfrm>
            <a:off x="4297680" y="1874520"/>
            <a:ext cx="2057400" cy="1828800"/>
          </a:xfrm>
          <a:prstGeom prst="roundRect">
            <a:avLst>
              <a:gd name="adj" fmla="val 4000"/>
            </a:avLst>
          </a:prstGeom>
          <a:solidFill>
            <a:srgbClr val="F5FBF6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43984" y="2011680"/>
            <a:ext cx="1078992" cy="219456"/>
          </a:xfrm>
          <a:prstGeom prst="roundRect">
            <a:avLst>
              <a:gd name="adj" fmla="val 33333"/>
            </a:avLst>
          </a:prstGeom>
          <a:solidFill>
            <a:srgbClr val="2F9B63"/>
          </a:solidFill>
          <a:ln w="7620">
            <a:solidFill>
              <a:srgbClr val="2F9B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43984" y="2039112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データ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43984" y="23591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4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人工 EDX 生成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35424" y="27432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line dropout
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overlap
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noise / drift</a:t>
            </a:r>
            <a:endParaRPr lang="en-US" sz="1520" dirty="0"/>
          </a:p>
        </p:txBody>
      </p:sp>
      <p:sp>
        <p:nvSpPr>
          <p:cNvPr id="18" name="Shape 16"/>
          <p:cNvSpPr/>
          <p:nvPr/>
        </p:nvSpPr>
        <p:spPr>
          <a:xfrm>
            <a:off x="7863840" y="1874520"/>
            <a:ext cx="2057400" cy="1828800"/>
          </a:xfrm>
          <a:prstGeom prst="roundRect">
            <a:avLst>
              <a:gd name="adj" fmla="val 4000"/>
            </a:avLst>
          </a:prstGeom>
          <a:solidFill>
            <a:srgbClr val="FFF8EE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10144" y="2011680"/>
            <a:ext cx="1078992" cy="219456"/>
          </a:xfrm>
          <a:prstGeom prst="roundRect">
            <a:avLst>
              <a:gd name="adj" fmla="val 33333"/>
            </a:avLst>
          </a:prstGeom>
          <a:solidFill>
            <a:srgbClr val="E39A31"/>
          </a:solidFill>
          <a:ln w="7620">
            <a:solidFill>
              <a:srgbClr val="E39A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10144" y="2039112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推論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10144" y="23591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4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辞書ガイド AI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101584" y="27432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presence + fraction
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anchor整合
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confidence</a:t>
            </a:r>
            <a:endParaRPr lang="en-US" sz="1520" dirty="0"/>
          </a:p>
        </p:txBody>
      </p:sp>
      <p:sp>
        <p:nvSpPr>
          <p:cNvPr id="23" name="Shape 21"/>
          <p:cNvSpPr/>
          <p:nvPr/>
        </p:nvSpPr>
        <p:spPr>
          <a:xfrm>
            <a:off x="731520" y="4160520"/>
            <a:ext cx="10972800" cy="1783080"/>
          </a:xfrm>
          <a:prstGeom prst="roundRect">
            <a:avLst>
              <a:gd name="adj" fmla="val 4103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" y="4315968"/>
            <a:ext cx="1325880" cy="219456"/>
          </a:xfrm>
          <a:prstGeom prst="roundRect">
            <a:avLst>
              <a:gd name="adj" fmla="val 33333"/>
            </a:avLst>
          </a:prstGeom>
          <a:solidFill>
            <a:srgbClr val="199EDC"/>
          </a:solidFill>
          <a:ln w="7620">
            <a:solidFill>
              <a:srgbClr val="199E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343400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従来との違い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4400" y="4599432"/>
            <a:ext cx="1097280" cy="393192"/>
          </a:xfrm>
          <a:prstGeom prst="roundRect">
            <a:avLst>
              <a:gd name="adj" fmla="val 4651"/>
            </a:avLst>
          </a:prstGeom>
          <a:solidFill>
            <a:srgbClr val="199EDC"/>
          </a:solidFill>
          <a:ln w="10160">
            <a:solidFill>
              <a:srgbClr val="199E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4672584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観点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029968" y="4599432"/>
            <a:ext cx="3291840" cy="393192"/>
          </a:xfrm>
          <a:prstGeom prst="roundRect">
            <a:avLst>
              <a:gd name="adj" fmla="val 4651"/>
            </a:avLst>
          </a:prstGeom>
          <a:solidFill>
            <a:srgbClr val="199EDC"/>
          </a:solidFill>
          <a:ln w="10160">
            <a:solidFill>
              <a:srgbClr val="199E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75688" y="4672584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従来の中心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340096" y="4599432"/>
            <a:ext cx="6309360" cy="393192"/>
          </a:xfrm>
          <a:prstGeom prst="roundRect">
            <a:avLst>
              <a:gd name="adj" fmla="val 4651"/>
            </a:avLst>
          </a:prstGeom>
          <a:solidFill>
            <a:srgbClr val="199EDC"/>
          </a:solidFill>
          <a:ln w="10160">
            <a:solidFill>
              <a:srgbClr val="199E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85816" y="4672584"/>
            <a:ext cx="6217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本提案の中心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914400" y="5020056"/>
            <a:ext cx="1097280" cy="393192"/>
          </a:xfrm>
          <a:prstGeom prst="roundRect">
            <a:avLst>
              <a:gd name="adj" fmla="val 4651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" y="5065776"/>
            <a:ext cx="100584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辞書</a:t>
            </a:r>
            <a:endParaRPr lang="en-US" sz="1120" dirty="0"/>
          </a:p>
        </p:txBody>
      </p:sp>
      <p:sp>
        <p:nvSpPr>
          <p:cNvPr id="34" name="Shape 32"/>
          <p:cNvSpPr/>
          <p:nvPr/>
        </p:nvSpPr>
        <p:spPr>
          <a:xfrm>
            <a:off x="2029968" y="5020056"/>
            <a:ext cx="3291840" cy="393192"/>
          </a:xfrm>
          <a:prstGeom prst="roundRect">
            <a:avLst>
              <a:gd name="adj" fmla="val 4651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075688" y="5065776"/>
            <a:ext cx="320040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line表や個別 fitting 条件が分散</a:t>
            </a:r>
            <a:endParaRPr lang="en-US" sz="1120" dirty="0"/>
          </a:p>
        </p:txBody>
      </p:sp>
      <p:sp>
        <p:nvSpPr>
          <p:cNvPr id="36" name="Shape 34"/>
          <p:cNvSpPr/>
          <p:nvPr/>
        </p:nvSpPr>
        <p:spPr>
          <a:xfrm>
            <a:off x="5340096" y="5020056"/>
            <a:ext cx="6309360" cy="393192"/>
          </a:xfrm>
          <a:prstGeom prst="roundRect">
            <a:avLst>
              <a:gd name="adj" fmla="val 4651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85816" y="5065776"/>
            <a:ext cx="621792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同一辞書を生成・学習・推論・信頼度で共通利用</a:t>
            </a:r>
            <a:endParaRPr lang="en-US" sz="1120" dirty="0"/>
          </a:p>
        </p:txBody>
      </p:sp>
      <p:sp>
        <p:nvSpPr>
          <p:cNvPr id="38" name="Shape 36"/>
          <p:cNvSpPr/>
          <p:nvPr/>
        </p:nvSpPr>
        <p:spPr>
          <a:xfrm>
            <a:off x="914400" y="5440680"/>
            <a:ext cx="1097280" cy="393192"/>
          </a:xfrm>
          <a:prstGeom prst="roundRect">
            <a:avLst>
              <a:gd name="adj" fmla="val 4651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60120" y="5486400"/>
            <a:ext cx="100584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</a:t>
            </a:r>
            <a:endParaRPr lang="en-US" sz="1120" dirty="0"/>
          </a:p>
        </p:txBody>
      </p:sp>
      <p:sp>
        <p:nvSpPr>
          <p:cNvPr id="40" name="Shape 38"/>
          <p:cNvSpPr/>
          <p:nvPr/>
        </p:nvSpPr>
        <p:spPr>
          <a:xfrm>
            <a:off x="2029968" y="5440680"/>
            <a:ext cx="3291840" cy="393192"/>
          </a:xfrm>
          <a:prstGeom prst="roundRect">
            <a:avLst>
              <a:gd name="adj" fmla="val 4651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075688" y="5486400"/>
            <a:ext cx="320040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実測依存、又は高忠実度計算を都度実行</a:t>
            </a:r>
            <a:endParaRPr lang="en-US" sz="1120" dirty="0"/>
          </a:p>
        </p:txBody>
      </p:sp>
      <p:sp>
        <p:nvSpPr>
          <p:cNvPr id="42" name="Shape 40"/>
          <p:cNvSpPr/>
          <p:nvPr/>
        </p:nvSpPr>
        <p:spPr>
          <a:xfrm>
            <a:off x="5340096" y="5440680"/>
            <a:ext cx="6309360" cy="393192"/>
          </a:xfrm>
          <a:prstGeom prst="roundRect">
            <a:avLst>
              <a:gd name="adj" fmla="val 4651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85816" y="5486400"/>
            <a:ext cx="621792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簡易辞書から失敗モードを含む人工 EDX を先に大量生成</a:t>
            </a:r>
            <a:endParaRPr lang="en-US" sz="1120" dirty="0"/>
          </a:p>
        </p:txBody>
      </p:sp>
      <p:sp>
        <p:nvSpPr>
          <p:cNvPr id="44" name="Shape 42"/>
          <p:cNvSpPr/>
          <p:nvPr/>
        </p:nvSpPr>
        <p:spPr>
          <a:xfrm>
            <a:off x="914400" y="5861304"/>
            <a:ext cx="1097280" cy="393192"/>
          </a:xfrm>
          <a:prstGeom prst="roundRect">
            <a:avLst>
              <a:gd name="adj" fmla="val 4651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60120" y="5907024"/>
            <a:ext cx="100584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</a:t>
            </a:r>
            <a:endParaRPr lang="en-US" sz="1120" dirty="0"/>
          </a:p>
        </p:txBody>
      </p:sp>
      <p:sp>
        <p:nvSpPr>
          <p:cNvPr id="46" name="Shape 44"/>
          <p:cNvSpPr/>
          <p:nvPr/>
        </p:nvSpPr>
        <p:spPr>
          <a:xfrm>
            <a:off x="2029968" y="5861304"/>
            <a:ext cx="3291840" cy="393192"/>
          </a:xfrm>
          <a:prstGeom prst="roundRect">
            <a:avLst>
              <a:gd name="adj" fmla="val 4651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075688" y="5907024"/>
            <a:ext cx="320040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元素候補か数値のみ</a:t>
            </a:r>
            <a:endParaRPr lang="en-US" sz="1120" dirty="0"/>
          </a:p>
        </p:txBody>
      </p:sp>
      <p:sp>
        <p:nvSpPr>
          <p:cNvPr id="48" name="Shape 46"/>
          <p:cNvSpPr/>
          <p:nvPr/>
        </p:nvSpPr>
        <p:spPr>
          <a:xfrm>
            <a:off x="5340096" y="5861304"/>
            <a:ext cx="6309360" cy="393192"/>
          </a:xfrm>
          <a:prstGeom prst="roundRect">
            <a:avLst>
              <a:gd name="adj" fmla="val 4651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85816" y="5907024"/>
            <a:ext cx="621792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元素候補 + 擬似成分比 + アンカー根拠 + 再評価要否</a:t>
            </a:r>
            <a:endParaRPr lang="en-US" sz="11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199E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全体システム構成: 初期版は軽く、拡張版は段階的に追加する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47472" y="612648"/>
            <a:ext cx="11496751" cy="0"/>
          </a:xfrm>
          <a:prstGeom prst="line">
            <a:avLst/>
          </a:prstGeom>
          <a:noFill/>
          <a:ln w="16510">
            <a:solidFill>
              <a:srgbClr val="8ED7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2815" y="2286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Draft / 匿名化版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97335" y="655624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005840"/>
            <a:ext cx="11155680" cy="2148840"/>
          </a:xfrm>
          <a:prstGeom prst="roundRect">
            <a:avLst>
              <a:gd name="adj" fmla="val 3404"/>
            </a:avLst>
          </a:prstGeom>
          <a:solidFill>
            <a:srgbClr val="F8FBFE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152144"/>
            <a:ext cx="914400" cy="219456"/>
          </a:xfrm>
          <a:prstGeom prst="roundRect">
            <a:avLst>
              <a:gd name="adj" fmla="val 33333"/>
            </a:avLst>
          </a:prstGeom>
          <a:solidFill>
            <a:srgbClr val="199EDC"/>
          </a:solidFill>
          <a:ln w="7620">
            <a:solidFill>
              <a:srgbClr val="199E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179576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オフライン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3657600"/>
            <a:ext cx="11155680" cy="2148840"/>
          </a:xfrm>
          <a:prstGeom prst="roundRect">
            <a:avLst>
              <a:gd name="adj" fmla="val 3404"/>
            </a:avLst>
          </a:prstGeom>
          <a:solidFill>
            <a:srgbClr val="FFFDF8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3803904"/>
            <a:ext cx="914400" cy="219456"/>
          </a:xfrm>
          <a:prstGeom prst="roundRect">
            <a:avLst>
              <a:gd name="adj" fmla="val 33333"/>
            </a:avLst>
          </a:prstGeom>
          <a:solidFill>
            <a:srgbClr val="E39A31"/>
          </a:solidFill>
          <a:ln w="7620">
            <a:solidFill>
              <a:srgbClr val="E39A3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831336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オンライン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48840" y="2057400"/>
            <a:ext cx="1097280" cy="0"/>
          </a:xfrm>
          <a:prstGeom prst="line">
            <a:avLst/>
          </a:prstGeom>
          <a:noFill/>
          <a:ln w="22860">
            <a:solidFill>
              <a:srgbClr val="199EDC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074920" y="2057400"/>
            <a:ext cx="1097280" cy="0"/>
          </a:xfrm>
          <a:prstGeom prst="line">
            <a:avLst/>
          </a:prstGeom>
          <a:noFill/>
          <a:ln w="22860">
            <a:solidFill>
              <a:srgbClr val="199EDC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909560" y="2057400"/>
            <a:ext cx="1097280" cy="0"/>
          </a:xfrm>
          <a:prstGeom prst="line">
            <a:avLst/>
          </a:prstGeom>
          <a:noFill/>
          <a:ln w="22860">
            <a:solidFill>
              <a:srgbClr val="199EDC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148840" y="4709160"/>
            <a:ext cx="1097280" cy="0"/>
          </a:xfrm>
          <a:prstGeom prst="line">
            <a:avLst/>
          </a:prstGeom>
          <a:noFill/>
          <a:ln w="22860">
            <a:solidFill>
              <a:srgbClr val="E39A31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074920" y="4709160"/>
            <a:ext cx="1097280" cy="0"/>
          </a:xfrm>
          <a:prstGeom prst="line">
            <a:avLst/>
          </a:prstGeom>
          <a:noFill/>
          <a:ln w="22860">
            <a:solidFill>
              <a:srgbClr val="E39A31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909560" y="4709160"/>
            <a:ext cx="1097280" cy="0"/>
          </a:xfrm>
          <a:prstGeom prst="line">
            <a:avLst/>
          </a:prstGeom>
          <a:noFill/>
          <a:ln w="22860">
            <a:solidFill>
              <a:srgbClr val="E39A31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49808" y="1627632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EAF6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1792224"/>
            <a:ext cx="1097280" cy="219456"/>
          </a:xfrm>
          <a:prstGeom prst="roundRect">
            <a:avLst>
              <a:gd name="adj" fmla="val 33333"/>
            </a:avLst>
          </a:prstGeom>
          <a:solidFill>
            <a:srgbClr val="199EDC"/>
          </a:solidFill>
          <a:ln w="7620">
            <a:solidFill>
              <a:srgbClr val="199E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181965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辞書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01568" y="1627632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EAF6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0440" y="1792224"/>
            <a:ext cx="1097280" cy="219456"/>
          </a:xfrm>
          <a:prstGeom prst="roundRect">
            <a:avLst>
              <a:gd name="adj" fmla="val 33333"/>
            </a:avLst>
          </a:prstGeom>
          <a:solidFill>
            <a:srgbClr val="199EDC"/>
          </a:solidFill>
          <a:ln w="7620">
            <a:solidFill>
              <a:srgbClr val="199E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20440" y="181965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人工データ生成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327648" y="1627632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EAF6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46520" y="1792224"/>
            <a:ext cx="1097280" cy="219456"/>
          </a:xfrm>
          <a:prstGeom prst="roundRect">
            <a:avLst>
              <a:gd name="adj" fmla="val 33333"/>
            </a:avLst>
          </a:prstGeom>
          <a:solidFill>
            <a:srgbClr val="199EDC"/>
          </a:solidFill>
          <a:ln w="7620">
            <a:solidFill>
              <a:srgbClr val="199E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181965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AI学習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162288" y="1627632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EAF6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281160" y="1792224"/>
            <a:ext cx="1097280" cy="219456"/>
          </a:xfrm>
          <a:prstGeom prst="roundRect">
            <a:avLst>
              <a:gd name="adj" fmla="val 33333"/>
            </a:avLst>
          </a:prstGeom>
          <a:solidFill>
            <a:srgbClr val="199EDC"/>
          </a:solidFill>
          <a:ln w="7620">
            <a:solidFill>
              <a:srgbClr val="199E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81160" y="181965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閾値/版管理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49808" y="4279392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FFF3E6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68680" y="4443984"/>
            <a:ext cx="1097280" cy="219456"/>
          </a:xfrm>
          <a:prstGeom prst="roundRect">
            <a:avLst>
              <a:gd name="adj" fmla="val 33333"/>
            </a:avLst>
          </a:prstGeom>
          <a:solidFill>
            <a:srgbClr val="E39A31"/>
          </a:solidFill>
          <a:ln w="7620">
            <a:solidFill>
              <a:srgbClr val="E39A3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" y="447141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実測EDX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401568" y="4279392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FFF3E6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520440" y="4443984"/>
            <a:ext cx="1097280" cy="219456"/>
          </a:xfrm>
          <a:prstGeom prst="roundRect">
            <a:avLst>
              <a:gd name="adj" fmla="val 33333"/>
            </a:avLst>
          </a:prstGeom>
          <a:solidFill>
            <a:srgbClr val="E39A31"/>
          </a:solidFill>
          <a:ln w="7620">
            <a:solidFill>
              <a:srgbClr val="E39A3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20440" y="447141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前処理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327648" y="4279392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FFF3E6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46520" y="4443984"/>
            <a:ext cx="1097280" cy="219456"/>
          </a:xfrm>
          <a:prstGeom prst="roundRect">
            <a:avLst>
              <a:gd name="adj" fmla="val 33333"/>
            </a:avLst>
          </a:prstGeom>
          <a:solidFill>
            <a:srgbClr val="E39A31"/>
          </a:solidFill>
          <a:ln w="7620">
            <a:solidFill>
              <a:srgbClr val="E39A3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46520" y="447141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AI推論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9162288" y="4279392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FFF3E6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281160" y="4443984"/>
            <a:ext cx="1097280" cy="219456"/>
          </a:xfrm>
          <a:prstGeom prst="roundRect">
            <a:avLst>
              <a:gd name="adj" fmla="val 33333"/>
            </a:avLst>
          </a:prstGeom>
          <a:solidFill>
            <a:srgbClr val="E39A31"/>
          </a:solidFill>
          <a:ln w="7620">
            <a:solidFill>
              <a:srgbClr val="E39A3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281160" y="447141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信頼度 / 再評価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14400" y="2615184"/>
            <a:ext cx="987552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" y="2697480"/>
            <a:ext cx="9784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任意: clean wafer / 前後スペクトル / SEM特徴 / 高忠実度計算は、初期版の上に「追加」する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7269480" y="5989320"/>
            <a:ext cx="4023360" cy="502920"/>
          </a:xfrm>
          <a:prstGeom prst="roundRect">
            <a:avLst>
              <a:gd name="adj" fmla="val 14545"/>
            </a:avLst>
          </a:prstGeom>
          <a:solidFill>
            <a:srgbClr val="F4FBF6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06640" y="61447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2F9B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低信頼度だけ詳細解析へ送るのが実装上の要点</a:t>
            </a:r>
            <a:endParaRPr lang="en-US" sz="1520" dirty="0"/>
          </a:p>
        </p:txBody>
      </p:sp>
      <p:sp>
        <p:nvSpPr>
          <p:cNvPr id="46" name="Shape 44"/>
          <p:cNvSpPr/>
          <p:nvPr/>
        </p:nvSpPr>
        <p:spPr>
          <a:xfrm>
            <a:off x="9098280" y="160020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1F0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235440" y="1792224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将来: DTSA-II / PENELOPE
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将来: xraylib / SRD164 / XCOM</a:t>
            </a:r>
            <a:endParaRPr lang="en-US" sz="13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199E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初期版の辞書データ仕様: 1元素1行、複数アンカーを同一レコードで保持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47472" y="612648"/>
            <a:ext cx="11496751" cy="0"/>
          </a:xfrm>
          <a:prstGeom prst="line">
            <a:avLst/>
          </a:prstGeom>
          <a:noFill/>
          <a:ln w="16510">
            <a:solidFill>
              <a:srgbClr val="8ED7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2815" y="2286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Draft / 匿名化版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97335" y="655624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987552"/>
            <a:ext cx="5486400" cy="5440680"/>
          </a:xfrm>
          <a:prstGeom prst="roundRect">
            <a:avLst>
              <a:gd name="adj" fmla="val 1345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" y="1143000"/>
            <a:ext cx="914400" cy="219456"/>
          </a:xfrm>
          <a:prstGeom prst="roundRect">
            <a:avLst>
              <a:gd name="adj" fmla="val 33333"/>
            </a:avLst>
          </a:prstGeom>
          <a:solidFill>
            <a:srgbClr val="199EDC"/>
          </a:solidFill>
          <a:ln w="7620">
            <a:solidFill>
              <a:srgbClr val="199E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043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辞書の例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68096" y="1463040"/>
            <a:ext cx="1143000" cy="384048"/>
          </a:xfrm>
          <a:prstGeom prst="roundRect">
            <a:avLst>
              <a:gd name="adj" fmla="val 4762"/>
            </a:avLst>
          </a:prstGeom>
          <a:solidFill>
            <a:srgbClr val="199EDC"/>
          </a:solidFill>
          <a:ln w="10160">
            <a:solidFill>
              <a:srgbClr val="199E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" y="153619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element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929384" y="1463040"/>
            <a:ext cx="1143000" cy="384048"/>
          </a:xfrm>
          <a:prstGeom prst="roundRect">
            <a:avLst>
              <a:gd name="adj" fmla="val 4762"/>
            </a:avLst>
          </a:prstGeom>
          <a:solidFill>
            <a:srgbClr val="199EDC"/>
          </a:solidFill>
          <a:ln w="10160">
            <a:solidFill>
              <a:srgbClr val="199E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75104" y="153619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energy_1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090672" y="1463040"/>
            <a:ext cx="1143000" cy="384048"/>
          </a:xfrm>
          <a:prstGeom prst="roundRect">
            <a:avLst>
              <a:gd name="adj" fmla="val 4762"/>
            </a:avLst>
          </a:prstGeom>
          <a:solidFill>
            <a:srgbClr val="199EDC"/>
          </a:solidFill>
          <a:ln w="10160">
            <a:solidFill>
              <a:srgbClr val="199E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36392" y="153619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energy_2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251960" y="1463040"/>
            <a:ext cx="1143000" cy="384048"/>
          </a:xfrm>
          <a:prstGeom prst="roundRect">
            <a:avLst>
              <a:gd name="adj" fmla="val 4762"/>
            </a:avLst>
          </a:prstGeom>
          <a:solidFill>
            <a:srgbClr val="199EDC"/>
          </a:solidFill>
          <a:ln w="10160">
            <a:solidFill>
              <a:srgbClr val="199E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0" y="153619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energy_3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68096" y="1874520"/>
            <a:ext cx="1143000" cy="384048"/>
          </a:xfrm>
          <a:prstGeom prst="roundRect">
            <a:avLst>
              <a:gd name="adj" fmla="val 4762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" y="1920240"/>
            <a:ext cx="1051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1929384" y="1874520"/>
            <a:ext cx="1143000" cy="384048"/>
          </a:xfrm>
          <a:prstGeom prst="roundRect">
            <a:avLst>
              <a:gd name="adj" fmla="val 4762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75104" y="1920240"/>
            <a:ext cx="1051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0.5249</a:t>
            </a:r>
            <a:endParaRPr lang="en-US" sz="1180" dirty="0"/>
          </a:p>
        </p:txBody>
      </p:sp>
      <p:sp>
        <p:nvSpPr>
          <p:cNvPr id="21" name="Shape 19"/>
          <p:cNvSpPr/>
          <p:nvPr/>
        </p:nvSpPr>
        <p:spPr>
          <a:xfrm>
            <a:off x="3090672" y="1874520"/>
            <a:ext cx="1143000" cy="384048"/>
          </a:xfrm>
          <a:prstGeom prst="roundRect">
            <a:avLst>
              <a:gd name="adj" fmla="val 4762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36392" y="1920240"/>
            <a:ext cx="1051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endParaRPr lang="en-US" sz="1180" dirty="0"/>
          </a:p>
        </p:txBody>
      </p:sp>
      <p:sp>
        <p:nvSpPr>
          <p:cNvPr id="23" name="Shape 21"/>
          <p:cNvSpPr/>
          <p:nvPr/>
        </p:nvSpPr>
        <p:spPr>
          <a:xfrm>
            <a:off x="4251960" y="1874520"/>
            <a:ext cx="1143000" cy="384048"/>
          </a:xfrm>
          <a:prstGeom prst="roundRect">
            <a:avLst>
              <a:gd name="adj" fmla="val 4762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97680" y="1920240"/>
            <a:ext cx="1051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endParaRPr lang="en-US" sz="1180" dirty="0"/>
          </a:p>
        </p:txBody>
      </p:sp>
      <p:sp>
        <p:nvSpPr>
          <p:cNvPr id="25" name="Shape 23"/>
          <p:cNvSpPr/>
          <p:nvPr/>
        </p:nvSpPr>
        <p:spPr>
          <a:xfrm>
            <a:off x="768096" y="2286000"/>
            <a:ext cx="1143000" cy="384048"/>
          </a:xfrm>
          <a:prstGeom prst="roundRect">
            <a:avLst>
              <a:gd name="adj" fmla="val 4762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3816" y="2331720"/>
            <a:ext cx="1051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</a:t>
            </a:r>
            <a:endParaRPr lang="en-US" sz="1180" dirty="0"/>
          </a:p>
        </p:txBody>
      </p:sp>
      <p:sp>
        <p:nvSpPr>
          <p:cNvPr id="27" name="Shape 25"/>
          <p:cNvSpPr/>
          <p:nvPr/>
        </p:nvSpPr>
        <p:spPr>
          <a:xfrm>
            <a:off x="1929384" y="2286000"/>
            <a:ext cx="1143000" cy="384048"/>
          </a:xfrm>
          <a:prstGeom prst="roundRect">
            <a:avLst>
              <a:gd name="adj" fmla="val 4762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75104" y="2331720"/>
            <a:ext cx="1051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0.6768</a:t>
            </a:r>
            <a:endParaRPr lang="en-US" sz="1180" dirty="0"/>
          </a:p>
        </p:txBody>
      </p:sp>
      <p:sp>
        <p:nvSpPr>
          <p:cNvPr id="29" name="Shape 27"/>
          <p:cNvSpPr/>
          <p:nvPr/>
        </p:nvSpPr>
        <p:spPr>
          <a:xfrm>
            <a:off x="3090672" y="2286000"/>
            <a:ext cx="1143000" cy="384048"/>
          </a:xfrm>
          <a:prstGeom prst="roundRect">
            <a:avLst>
              <a:gd name="adj" fmla="val 4762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36392" y="2331720"/>
            <a:ext cx="1051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endParaRPr lang="en-US" sz="1180" dirty="0"/>
          </a:p>
        </p:txBody>
      </p:sp>
      <p:sp>
        <p:nvSpPr>
          <p:cNvPr id="31" name="Shape 29"/>
          <p:cNvSpPr/>
          <p:nvPr/>
        </p:nvSpPr>
        <p:spPr>
          <a:xfrm>
            <a:off x="4251960" y="2286000"/>
            <a:ext cx="1143000" cy="384048"/>
          </a:xfrm>
          <a:prstGeom prst="roundRect">
            <a:avLst>
              <a:gd name="adj" fmla="val 4762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97680" y="2331720"/>
            <a:ext cx="1051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endParaRPr lang="en-US" sz="1180" dirty="0"/>
          </a:p>
        </p:txBody>
      </p:sp>
      <p:sp>
        <p:nvSpPr>
          <p:cNvPr id="33" name="Shape 31"/>
          <p:cNvSpPr/>
          <p:nvPr/>
        </p:nvSpPr>
        <p:spPr>
          <a:xfrm>
            <a:off x="768096" y="2697480"/>
            <a:ext cx="1143000" cy="384048"/>
          </a:xfrm>
          <a:prstGeom prst="roundRect">
            <a:avLst>
              <a:gd name="adj" fmla="val 4762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3816" y="2743200"/>
            <a:ext cx="1051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Al</a:t>
            </a:r>
            <a:endParaRPr lang="en-US" sz="1180" dirty="0"/>
          </a:p>
        </p:txBody>
      </p:sp>
      <p:sp>
        <p:nvSpPr>
          <p:cNvPr id="35" name="Shape 33"/>
          <p:cNvSpPr/>
          <p:nvPr/>
        </p:nvSpPr>
        <p:spPr>
          <a:xfrm>
            <a:off x="1929384" y="2697480"/>
            <a:ext cx="1143000" cy="384048"/>
          </a:xfrm>
          <a:prstGeom prst="roundRect">
            <a:avLst>
              <a:gd name="adj" fmla="val 4762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975104" y="2743200"/>
            <a:ext cx="1051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1.4867</a:t>
            </a:r>
            <a:endParaRPr lang="en-US" sz="1180" dirty="0"/>
          </a:p>
        </p:txBody>
      </p:sp>
      <p:sp>
        <p:nvSpPr>
          <p:cNvPr id="37" name="Shape 35"/>
          <p:cNvSpPr/>
          <p:nvPr/>
        </p:nvSpPr>
        <p:spPr>
          <a:xfrm>
            <a:off x="3090672" y="2697480"/>
            <a:ext cx="1143000" cy="384048"/>
          </a:xfrm>
          <a:prstGeom prst="roundRect">
            <a:avLst>
              <a:gd name="adj" fmla="val 4762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36392" y="2743200"/>
            <a:ext cx="1051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1.5574</a:t>
            </a:r>
            <a:endParaRPr lang="en-US" sz="1180" dirty="0"/>
          </a:p>
        </p:txBody>
      </p:sp>
      <p:sp>
        <p:nvSpPr>
          <p:cNvPr id="39" name="Shape 37"/>
          <p:cNvSpPr/>
          <p:nvPr/>
        </p:nvSpPr>
        <p:spPr>
          <a:xfrm>
            <a:off x="4251960" y="2697480"/>
            <a:ext cx="1143000" cy="384048"/>
          </a:xfrm>
          <a:prstGeom prst="roundRect">
            <a:avLst>
              <a:gd name="adj" fmla="val 4762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97680" y="2743200"/>
            <a:ext cx="1051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endParaRPr lang="en-US" sz="1180" dirty="0"/>
          </a:p>
        </p:txBody>
      </p:sp>
      <p:sp>
        <p:nvSpPr>
          <p:cNvPr id="41" name="Shape 39"/>
          <p:cNvSpPr/>
          <p:nvPr/>
        </p:nvSpPr>
        <p:spPr>
          <a:xfrm>
            <a:off x="768096" y="3108960"/>
            <a:ext cx="1143000" cy="384048"/>
          </a:xfrm>
          <a:prstGeom prst="roundRect">
            <a:avLst>
              <a:gd name="adj" fmla="val 4762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3816" y="3154680"/>
            <a:ext cx="1051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Si</a:t>
            </a:r>
            <a:endParaRPr lang="en-US" sz="1180" dirty="0"/>
          </a:p>
        </p:txBody>
      </p:sp>
      <p:sp>
        <p:nvSpPr>
          <p:cNvPr id="43" name="Shape 41"/>
          <p:cNvSpPr/>
          <p:nvPr/>
        </p:nvSpPr>
        <p:spPr>
          <a:xfrm>
            <a:off x="1929384" y="3108960"/>
            <a:ext cx="1143000" cy="384048"/>
          </a:xfrm>
          <a:prstGeom prst="roundRect">
            <a:avLst>
              <a:gd name="adj" fmla="val 4762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975104" y="3154680"/>
            <a:ext cx="1051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1.7400</a:t>
            </a:r>
            <a:endParaRPr lang="en-US" sz="1180" dirty="0"/>
          </a:p>
        </p:txBody>
      </p:sp>
      <p:sp>
        <p:nvSpPr>
          <p:cNvPr id="45" name="Shape 43"/>
          <p:cNvSpPr/>
          <p:nvPr/>
        </p:nvSpPr>
        <p:spPr>
          <a:xfrm>
            <a:off x="3090672" y="3108960"/>
            <a:ext cx="1143000" cy="384048"/>
          </a:xfrm>
          <a:prstGeom prst="roundRect">
            <a:avLst>
              <a:gd name="adj" fmla="val 4762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136392" y="3154680"/>
            <a:ext cx="1051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1.8359</a:t>
            </a:r>
            <a:endParaRPr lang="en-US" sz="1180" dirty="0"/>
          </a:p>
        </p:txBody>
      </p:sp>
      <p:sp>
        <p:nvSpPr>
          <p:cNvPr id="47" name="Shape 45"/>
          <p:cNvSpPr/>
          <p:nvPr/>
        </p:nvSpPr>
        <p:spPr>
          <a:xfrm>
            <a:off x="4251960" y="3108960"/>
            <a:ext cx="1143000" cy="384048"/>
          </a:xfrm>
          <a:prstGeom prst="roundRect">
            <a:avLst>
              <a:gd name="adj" fmla="val 4762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297680" y="3154680"/>
            <a:ext cx="1051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endParaRPr lang="en-US" sz="1180" dirty="0"/>
          </a:p>
        </p:txBody>
      </p:sp>
      <p:sp>
        <p:nvSpPr>
          <p:cNvPr id="49" name="Shape 47"/>
          <p:cNvSpPr/>
          <p:nvPr/>
        </p:nvSpPr>
        <p:spPr>
          <a:xfrm>
            <a:off x="768096" y="3520440"/>
            <a:ext cx="1143000" cy="384048"/>
          </a:xfrm>
          <a:prstGeom prst="roundRect">
            <a:avLst>
              <a:gd name="adj" fmla="val 4762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13816" y="3566160"/>
            <a:ext cx="1051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Y</a:t>
            </a:r>
            <a:endParaRPr lang="en-US" sz="1180" dirty="0"/>
          </a:p>
        </p:txBody>
      </p:sp>
      <p:sp>
        <p:nvSpPr>
          <p:cNvPr id="51" name="Shape 49"/>
          <p:cNvSpPr/>
          <p:nvPr/>
        </p:nvSpPr>
        <p:spPr>
          <a:xfrm>
            <a:off x="1929384" y="3520440"/>
            <a:ext cx="1143000" cy="384048"/>
          </a:xfrm>
          <a:prstGeom prst="roundRect">
            <a:avLst>
              <a:gd name="adj" fmla="val 4762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975104" y="3566160"/>
            <a:ext cx="1051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1.9226</a:t>
            </a:r>
            <a:endParaRPr lang="en-US" sz="1180" dirty="0"/>
          </a:p>
        </p:txBody>
      </p:sp>
      <p:sp>
        <p:nvSpPr>
          <p:cNvPr id="53" name="Shape 51"/>
          <p:cNvSpPr/>
          <p:nvPr/>
        </p:nvSpPr>
        <p:spPr>
          <a:xfrm>
            <a:off x="3090672" y="3520440"/>
            <a:ext cx="1143000" cy="384048"/>
          </a:xfrm>
          <a:prstGeom prst="roundRect">
            <a:avLst>
              <a:gd name="adj" fmla="val 4762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136392" y="3566160"/>
            <a:ext cx="1051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1.9958</a:t>
            </a:r>
            <a:endParaRPr lang="en-US" sz="1180" dirty="0"/>
          </a:p>
        </p:txBody>
      </p:sp>
      <p:sp>
        <p:nvSpPr>
          <p:cNvPr id="55" name="Shape 53"/>
          <p:cNvSpPr/>
          <p:nvPr/>
        </p:nvSpPr>
        <p:spPr>
          <a:xfrm>
            <a:off x="4251960" y="3520440"/>
            <a:ext cx="1143000" cy="384048"/>
          </a:xfrm>
          <a:prstGeom prst="roundRect">
            <a:avLst>
              <a:gd name="adj" fmla="val 4762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297680" y="3566160"/>
            <a:ext cx="1051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endParaRPr lang="en-US" sz="1180" dirty="0"/>
          </a:p>
        </p:txBody>
      </p:sp>
      <p:sp>
        <p:nvSpPr>
          <p:cNvPr id="57" name="Shape 55"/>
          <p:cNvSpPr/>
          <p:nvPr/>
        </p:nvSpPr>
        <p:spPr>
          <a:xfrm>
            <a:off x="768096" y="3931920"/>
            <a:ext cx="1143000" cy="384048"/>
          </a:xfrm>
          <a:prstGeom prst="roundRect">
            <a:avLst>
              <a:gd name="adj" fmla="val 4762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13816" y="3977640"/>
            <a:ext cx="1051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Hf</a:t>
            </a:r>
            <a:endParaRPr lang="en-US" sz="1180" dirty="0"/>
          </a:p>
        </p:txBody>
      </p:sp>
      <p:sp>
        <p:nvSpPr>
          <p:cNvPr id="59" name="Shape 57"/>
          <p:cNvSpPr/>
          <p:nvPr/>
        </p:nvSpPr>
        <p:spPr>
          <a:xfrm>
            <a:off x="1929384" y="3931920"/>
            <a:ext cx="1143000" cy="384048"/>
          </a:xfrm>
          <a:prstGeom prst="roundRect">
            <a:avLst>
              <a:gd name="adj" fmla="val 4762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975104" y="3977640"/>
            <a:ext cx="1051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7.8990</a:t>
            </a:r>
            <a:endParaRPr lang="en-US" sz="1180" dirty="0"/>
          </a:p>
        </p:txBody>
      </p:sp>
      <p:sp>
        <p:nvSpPr>
          <p:cNvPr id="61" name="Shape 59"/>
          <p:cNvSpPr/>
          <p:nvPr/>
        </p:nvSpPr>
        <p:spPr>
          <a:xfrm>
            <a:off x="3090672" y="3931920"/>
            <a:ext cx="1143000" cy="384048"/>
          </a:xfrm>
          <a:prstGeom prst="roundRect">
            <a:avLst>
              <a:gd name="adj" fmla="val 4762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136392" y="3977640"/>
            <a:ext cx="1051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9.0227</a:t>
            </a:r>
            <a:endParaRPr lang="en-US" sz="1180" dirty="0"/>
          </a:p>
        </p:txBody>
      </p:sp>
      <p:sp>
        <p:nvSpPr>
          <p:cNvPr id="63" name="Shape 61"/>
          <p:cNvSpPr/>
          <p:nvPr/>
        </p:nvSpPr>
        <p:spPr>
          <a:xfrm>
            <a:off x="4251960" y="3931920"/>
            <a:ext cx="1143000" cy="384048"/>
          </a:xfrm>
          <a:prstGeom prst="roundRect">
            <a:avLst>
              <a:gd name="adj" fmla="val 4762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297680" y="3977640"/>
            <a:ext cx="1051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9.3473</a:t>
            </a:r>
            <a:endParaRPr lang="en-US" sz="1180" dirty="0"/>
          </a:p>
        </p:txBody>
      </p:sp>
      <p:sp>
        <p:nvSpPr>
          <p:cNvPr id="65" name="Shape 63"/>
          <p:cNvSpPr/>
          <p:nvPr/>
        </p:nvSpPr>
        <p:spPr>
          <a:xfrm>
            <a:off x="768096" y="4343400"/>
            <a:ext cx="1143000" cy="384048"/>
          </a:xfrm>
          <a:prstGeom prst="roundRect">
            <a:avLst>
              <a:gd name="adj" fmla="val 4762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13816" y="4389120"/>
            <a:ext cx="1051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Ta</a:t>
            </a:r>
            <a:endParaRPr lang="en-US" sz="1180" dirty="0"/>
          </a:p>
        </p:txBody>
      </p:sp>
      <p:sp>
        <p:nvSpPr>
          <p:cNvPr id="67" name="Shape 65"/>
          <p:cNvSpPr/>
          <p:nvPr/>
        </p:nvSpPr>
        <p:spPr>
          <a:xfrm>
            <a:off x="1929384" y="4343400"/>
            <a:ext cx="1143000" cy="384048"/>
          </a:xfrm>
          <a:prstGeom prst="roundRect">
            <a:avLst>
              <a:gd name="adj" fmla="val 4762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975104" y="4389120"/>
            <a:ext cx="1051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8.1461</a:t>
            </a:r>
            <a:endParaRPr lang="en-US" sz="1180" dirty="0"/>
          </a:p>
        </p:txBody>
      </p:sp>
      <p:sp>
        <p:nvSpPr>
          <p:cNvPr id="69" name="Shape 67"/>
          <p:cNvSpPr/>
          <p:nvPr/>
        </p:nvSpPr>
        <p:spPr>
          <a:xfrm>
            <a:off x="3090672" y="4343400"/>
            <a:ext cx="1143000" cy="384048"/>
          </a:xfrm>
          <a:prstGeom prst="roundRect">
            <a:avLst>
              <a:gd name="adj" fmla="val 4762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136392" y="4389120"/>
            <a:ext cx="1051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9.3431</a:t>
            </a:r>
            <a:endParaRPr lang="en-US" sz="1180" dirty="0"/>
          </a:p>
        </p:txBody>
      </p:sp>
      <p:sp>
        <p:nvSpPr>
          <p:cNvPr id="71" name="Shape 69"/>
          <p:cNvSpPr/>
          <p:nvPr/>
        </p:nvSpPr>
        <p:spPr>
          <a:xfrm>
            <a:off x="4251960" y="4343400"/>
            <a:ext cx="1143000" cy="384048"/>
          </a:xfrm>
          <a:prstGeom prst="roundRect">
            <a:avLst>
              <a:gd name="adj" fmla="val 4762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297680" y="4389120"/>
            <a:ext cx="1051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9.6518</a:t>
            </a:r>
            <a:endParaRPr lang="en-US" sz="1180" dirty="0"/>
          </a:p>
        </p:txBody>
      </p:sp>
      <p:sp>
        <p:nvSpPr>
          <p:cNvPr id="73" name="Shape 71"/>
          <p:cNvSpPr/>
          <p:nvPr/>
        </p:nvSpPr>
        <p:spPr>
          <a:xfrm>
            <a:off x="768096" y="4754880"/>
            <a:ext cx="1143000" cy="384048"/>
          </a:xfrm>
          <a:prstGeom prst="roundRect">
            <a:avLst>
              <a:gd name="adj" fmla="val 4762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13816" y="4800600"/>
            <a:ext cx="1051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</a:t>
            </a:r>
            <a:endParaRPr lang="en-US" sz="1180" dirty="0"/>
          </a:p>
        </p:txBody>
      </p:sp>
      <p:sp>
        <p:nvSpPr>
          <p:cNvPr id="75" name="Shape 73"/>
          <p:cNvSpPr/>
          <p:nvPr/>
        </p:nvSpPr>
        <p:spPr>
          <a:xfrm>
            <a:off x="1929384" y="4754880"/>
            <a:ext cx="1143000" cy="384048"/>
          </a:xfrm>
          <a:prstGeom prst="roundRect">
            <a:avLst>
              <a:gd name="adj" fmla="val 4762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975104" y="4800600"/>
            <a:ext cx="1051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8.3976</a:t>
            </a:r>
            <a:endParaRPr lang="en-US" sz="1180" dirty="0"/>
          </a:p>
        </p:txBody>
      </p:sp>
      <p:sp>
        <p:nvSpPr>
          <p:cNvPr id="77" name="Shape 75"/>
          <p:cNvSpPr/>
          <p:nvPr/>
        </p:nvSpPr>
        <p:spPr>
          <a:xfrm>
            <a:off x="3090672" y="4754880"/>
            <a:ext cx="1143000" cy="384048"/>
          </a:xfrm>
          <a:prstGeom prst="roundRect">
            <a:avLst>
              <a:gd name="adj" fmla="val 4762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136392" y="4800600"/>
            <a:ext cx="1051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9.6724</a:t>
            </a:r>
            <a:endParaRPr lang="en-US" sz="1180" dirty="0"/>
          </a:p>
        </p:txBody>
      </p:sp>
      <p:sp>
        <p:nvSpPr>
          <p:cNvPr id="79" name="Shape 77"/>
          <p:cNvSpPr/>
          <p:nvPr/>
        </p:nvSpPr>
        <p:spPr>
          <a:xfrm>
            <a:off x="4251960" y="4754880"/>
            <a:ext cx="1143000" cy="384048"/>
          </a:xfrm>
          <a:prstGeom prst="roundRect">
            <a:avLst>
              <a:gd name="adj" fmla="val 4762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297680" y="4800600"/>
            <a:ext cx="10515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9.9615</a:t>
            </a:r>
            <a:endParaRPr lang="en-US" sz="1180" dirty="0"/>
          </a:p>
        </p:txBody>
      </p:sp>
      <p:sp>
        <p:nvSpPr>
          <p:cNvPr id="81" name="Shape 79"/>
          <p:cNvSpPr/>
          <p:nvPr/>
        </p:nvSpPr>
        <p:spPr>
          <a:xfrm>
            <a:off x="804672" y="5157216"/>
            <a:ext cx="5074920" cy="960120"/>
          </a:xfrm>
          <a:prstGeom prst="roundRect">
            <a:avLst>
              <a:gd name="adj" fmla="val 7619"/>
            </a:avLst>
          </a:prstGeom>
          <a:solidFill>
            <a:srgbClr val="F8FBFE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60120" y="534009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辞書には物性値を書かない
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同じ元素の主線/副線を同じ行にまとめる
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10 keV 以下を初期版の対象にする</a:t>
            </a:r>
            <a:endParaRPr lang="en-US" sz="1520" dirty="0"/>
          </a:p>
        </p:txBody>
      </p:sp>
      <p:sp>
        <p:nvSpPr>
          <p:cNvPr id="83" name="Shape 81"/>
          <p:cNvSpPr/>
          <p:nvPr/>
        </p:nvSpPr>
        <p:spPr>
          <a:xfrm>
            <a:off x="6400800" y="987552"/>
            <a:ext cx="5166360" cy="5440680"/>
          </a:xfrm>
          <a:prstGeom prst="roundRect">
            <a:avLst>
              <a:gd name="adj" fmla="val 1416"/>
            </a:avLst>
          </a:prstGeom>
          <a:solidFill>
            <a:srgbClr val="FFFDF8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565392" y="1143000"/>
            <a:ext cx="1097280" cy="219456"/>
          </a:xfrm>
          <a:prstGeom prst="roundRect">
            <a:avLst>
              <a:gd name="adj" fmla="val 33333"/>
            </a:avLst>
          </a:prstGeom>
          <a:solidFill>
            <a:srgbClr val="E39A31"/>
          </a:solidFill>
          <a:ln w="7620">
            <a:solidFill>
              <a:srgbClr val="E39A31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565392" y="117043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推論時の扱い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7360920" y="2176272"/>
            <a:ext cx="960120" cy="0"/>
          </a:xfrm>
          <a:prstGeom prst="line">
            <a:avLst/>
          </a:prstGeom>
          <a:noFill/>
          <a:ln w="21590">
            <a:solidFill>
              <a:srgbClr val="E39A31"/>
            </a:solidFill>
            <a:prstDash val="solid"/>
            <a:headEnd type="none"/>
            <a:tailEnd type="triangle"/>
          </a:ln>
        </p:spPr>
      </p:sp>
      <p:sp>
        <p:nvSpPr>
          <p:cNvPr id="87" name="Shape 85"/>
          <p:cNvSpPr/>
          <p:nvPr/>
        </p:nvSpPr>
        <p:spPr>
          <a:xfrm>
            <a:off x="9464040" y="2176272"/>
            <a:ext cx="960120" cy="0"/>
          </a:xfrm>
          <a:prstGeom prst="line">
            <a:avLst/>
          </a:prstGeom>
          <a:noFill/>
          <a:ln w="21590">
            <a:solidFill>
              <a:srgbClr val="E39A31"/>
            </a:solidFill>
            <a:prstDash val="solid"/>
            <a:headEnd type="none"/>
            <a:tailEnd type="triangle"/>
          </a:ln>
        </p:spPr>
      </p:sp>
      <p:sp>
        <p:nvSpPr>
          <p:cNvPr id="88" name="Shape 86"/>
          <p:cNvSpPr/>
          <p:nvPr/>
        </p:nvSpPr>
        <p:spPr>
          <a:xfrm>
            <a:off x="6583680" y="178308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FFF4E8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729984" y="198424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1本一致
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候補に残す</a:t>
            </a:r>
            <a:endParaRPr lang="en-US" sz="1350" dirty="0"/>
          </a:p>
        </p:txBody>
      </p:sp>
      <p:sp>
        <p:nvSpPr>
          <p:cNvPr id="90" name="Shape 88"/>
          <p:cNvSpPr/>
          <p:nvPr/>
        </p:nvSpPr>
        <p:spPr>
          <a:xfrm>
            <a:off x="8549640" y="178308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FFF8EE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8668512" y="198424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2本以上一致
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信頼度を上げる</a:t>
            </a:r>
            <a:endParaRPr lang="en-US" sz="1350" dirty="0"/>
          </a:p>
        </p:txBody>
      </p:sp>
      <p:sp>
        <p:nvSpPr>
          <p:cNvPr id="92" name="Shape 90"/>
          <p:cNvSpPr/>
          <p:nvPr/>
        </p:nvSpPr>
        <p:spPr>
          <a:xfrm>
            <a:off x="10515600" y="1783080"/>
            <a:ext cx="914400" cy="868680"/>
          </a:xfrm>
          <a:prstGeom prst="roundRect">
            <a:avLst>
              <a:gd name="adj" fmla="val 8421"/>
            </a:avLst>
          </a:prstGeom>
          <a:solidFill>
            <a:srgbClr val="F4FBF6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0588752" y="1965960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重なり時は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アンカー群で判定</a:t>
            </a:r>
            <a:endParaRPr lang="en-US" sz="1170" dirty="0"/>
          </a:p>
        </p:txBody>
      </p:sp>
      <p:pic>
        <p:nvPicPr>
          <p:cNvPr id="9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29400" y="2880360"/>
            <a:ext cx="4709160" cy="1920240"/>
          </a:xfrm>
          <a:prstGeom prst="rect">
            <a:avLst/>
          </a:prstGeom>
        </p:spPr>
      </p:pic>
      <p:sp>
        <p:nvSpPr>
          <p:cNvPr id="95" name="Shape 92"/>
          <p:cNvSpPr/>
          <p:nvPr/>
        </p:nvSpPr>
        <p:spPr>
          <a:xfrm>
            <a:off x="6656832" y="5166360"/>
            <a:ext cx="466344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199EDC"/>
            </a:solidFill>
            <a:prstDash val="solid"/>
          </a:ln>
        </p:spPr>
      </p:sp>
      <p:sp>
        <p:nvSpPr>
          <p:cNvPr id="96" name="Text 93"/>
          <p:cNvSpPr/>
          <p:nvPr/>
        </p:nvSpPr>
        <p:spPr>
          <a:xfrm>
            <a:off x="6711696" y="5248656"/>
            <a:ext cx="4553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244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辞書は簡素でも、複数アンカーを使うことで「1本でも候補維持」「複数本なら分離」が両立しやすい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199E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初期版の擬似データ生成: 失敗モードを先に作り込む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47472" y="612648"/>
            <a:ext cx="11496751" cy="0"/>
          </a:xfrm>
          <a:prstGeom prst="line">
            <a:avLst/>
          </a:prstGeom>
          <a:noFill/>
          <a:ln w="16510">
            <a:solidFill>
              <a:srgbClr val="8ED7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2815" y="2286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Draft / 匿名化版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97335" y="655624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024128"/>
            <a:ext cx="4892040" cy="5440680"/>
          </a:xfrm>
          <a:prstGeom prst="roundRect">
            <a:avLst>
              <a:gd name="adj" fmla="val 1495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170432"/>
            <a:ext cx="1325880" cy="219456"/>
          </a:xfrm>
          <a:prstGeom prst="roundRect">
            <a:avLst>
              <a:gd name="adj" fmla="val 33333"/>
            </a:avLst>
          </a:prstGeom>
          <a:solidFill>
            <a:srgbClr val="199EDC"/>
          </a:solidFill>
          <a:ln w="7620">
            <a:solidFill>
              <a:srgbClr val="199E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19786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生成式（初期版）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1627632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44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x(E) = B(E) + Σe Σj ce · mej · wej · G(E ; Eej + ΔE, σ) + αSsub(E) + η(E)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24028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B(E): 背景
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mej: line dropout 用マスク
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ΔE: エネルギードリフト
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αSsub(E): 基板混合
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η(E): ノイズ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2971800" y="2212848"/>
            <a:ext cx="1417320" cy="457200"/>
          </a:xfrm>
          <a:prstGeom prst="roundRect">
            <a:avLst>
              <a:gd name="adj" fmla="val 4000"/>
            </a:avLst>
          </a:prstGeom>
          <a:solidFill>
            <a:srgbClr val="199EDC"/>
          </a:solidFill>
          <a:ln w="10160">
            <a:solidFill>
              <a:srgbClr val="199E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0" y="22860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揺らぎ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407408" y="2212848"/>
            <a:ext cx="1737360" cy="457200"/>
          </a:xfrm>
          <a:prstGeom prst="roundRect">
            <a:avLst>
              <a:gd name="adj" fmla="val 4000"/>
            </a:avLst>
          </a:prstGeom>
          <a:solidFill>
            <a:srgbClr val="199EDC"/>
          </a:solidFill>
          <a:ln w="10160">
            <a:solidFill>
              <a:srgbClr val="199E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53128" y="22860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目的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971800" y="2697480"/>
            <a:ext cx="1417320" cy="457200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0" y="2743200"/>
            <a:ext cx="13258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line dropout</a:t>
            </a:r>
            <a:endParaRPr lang="en-US" sz="1160" dirty="0"/>
          </a:p>
        </p:txBody>
      </p:sp>
      <p:sp>
        <p:nvSpPr>
          <p:cNvPr id="17" name="Shape 15"/>
          <p:cNvSpPr/>
          <p:nvPr/>
        </p:nvSpPr>
        <p:spPr>
          <a:xfrm>
            <a:off x="4407408" y="2697480"/>
            <a:ext cx="1737360" cy="457200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53128" y="2743200"/>
            <a:ext cx="16459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副線が見えない条件を学習させる</a:t>
            </a:r>
            <a:endParaRPr lang="en-US" sz="1160" dirty="0"/>
          </a:p>
        </p:txBody>
      </p:sp>
      <p:sp>
        <p:nvSpPr>
          <p:cNvPr id="19" name="Shape 17"/>
          <p:cNvSpPr/>
          <p:nvPr/>
        </p:nvSpPr>
        <p:spPr>
          <a:xfrm>
            <a:off x="2971800" y="3182112"/>
            <a:ext cx="1417320" cy="457200"/>
          </a:xfrm>
          <a:prstGeom prst="roundRect">
            <a:avLst>
              <a:gd name="adj" fmla="val 4000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0" y="3227832"/>
            <a:ext cx="13258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peak overlap</a:t>
            </a:r>
            <a:endParaRPr lang="en-US" sz="1160" dirty="0"/>
          </a:p>
        </p:txBody>
      </p:sp>
      <p:sp>
        <p:nvSpPr>
          <p:cNvPr id="21" name="Shape 19"/>
          <p:cNvSpPr/>
          <p:nvPr/>
        </p:nvSpPr>
        <p:spPr>
          <a:xfrm>
            <a:off x="4407408" y="3182112"/>
            <a:ext cx="1737360" cy="457200"/>
          </a:xfrm>
          <a:prstGeom prst="roundRect">
            <a:avLst>
              <a:gd name="adj" fmla="val 4000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53128" y="3227832"/>
            <a:ext cx="16459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近接ピーク分離の難例を増やす</a:t>
            </a:r>
            <a:endParaRPr lang="en-US" sz="1160" dirty="0"/>
          </a:p>
        </p:txBody>
      </p:sp>
      <p:sp>
        <p:nvSpPr>
          <p:cNvPr id="23" name="Shape 21"/>
          <p:cNvSpPr/>
          <p:nvPr/>
        </p:nvSpPr>
        <p:spPr>
          <a:xfrm>
            <a:off x="2971800" y="3666744"/>
            <a:ext cx="1417320" cy="457200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17520" y="3712464"/>
            <a:ext cx="13258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drift / broadening</a:t>
            </a:r>
            <a:endParaRPr lang="en-US" sz="1160" dirty="0"/>
          </a:p>
        </p:txBody>
      </p:sp>
      <p:sp>
        <p:nvSpPr>
          <p:cNvPr id="25" name="Shape 23"/>
          <p:cNvSpPr/>
          <p:nvPr/>
        </p:nvSpPr>
        <p:spPr>
          <a:xfrm>
            <a:off x="4407408" y="3666744"/>
            <a:ext cx="1737360" cy="457200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53128" y="3712464"/>
            <a:ext cx="16459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実機差と再校正ずれを吸収する</a:t>
            </a:r>
            <a:endParaRPr lang="en-US" sz="1160" dirty="0"/>
          </a:p>
        </p:txBody>
      </p:sp>
      <p:sp>
        <p:nvSpPr>
          <p:cNvPr id="27" name="Shape 25"/>
          <p:cNvSpPr/>
          <p:nvPr/>
        </p:nvSpPr>
        <p:spPr>
          <a:xfrm>
            <a:off x="2971800" y="4151376"/>
            <a:ext cx="1417320" cy="457200"/>
          </a:xfrm>
          <a:prstGeom prst="roundRect">
            <a:avLst>
              <a:gd name="adj" fmla="val 4000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17520" y="4197096"/>
            <a:ext cx="13258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background / noise</a:t>
            </a:r>
            <a:endParaRPr lang="en-US" sz="1160" dirty="0"/>
          </a:p>
        </p:txBody>
      </p:sp>
      <p:sp>
        <p:nvSpPr>
          <p:cNvPr id="29" name="Shape 27"/>
          <p:cNvSpPr/>
          <p:nvPr/>
        </p:nvSpPr>
        <p:spPr>
          <a:xfrm>
            <a:off x="4407408" y="4151376"/>
            <a:ext cx="1737360" cy="457200"/>
          </a:xfrm>
          <a:prstGeom prst="roundRect">
            <a:avLst>
              <a:gd name="adj" fmla="val 4000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53128" y="4197096"/>
            <a:ext cx="16459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低 S/N 条件の頑健性を見る</a:t>
            </a:r>
            <a:endParaRPr lang="en-US" sz="1160" dirty="0"/>
          </a:p>
        </p:txBody>
      </p:sp>
      <p:sp>
        <p:nvSpPr>
          <p:cNvPr id="31" name="Shape 29"/>
          <p:cNvSpPr/>
          <p:nvPr/>
        </p:nvSpPr>
        <p:spPr>
          <a:xfrm>
            <a:off x="2971800" y="4636008"/>
            <a:ext cx="1417320" cy="457200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17520" y="4681728"/>
            <a:ext cx="13258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substrate mix</a:t>
            </a:r>
            <a:endParaRPr lang="en-US" sz="1160" dirty="0"/>
          </a:p>
        </p:txBody>
      </p:sp>
      <p:sp>
        <p:nvSpPr>
          <p:cNvPr id="33" name="Shape 31"/>
          <p:cNvSpPr/>
          <p:nvPr/>
        </p:nvSpPr>
        <p:spPr>
          <a:xfrm>
            <a:off x="4407408" y="4636008"/>
            <a:ext cx="1737360" cy="457200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53128" y="4681728"/>
            <a:ext cx="16459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粒子 + 基板の混合を再現する</a:t>
            </a:r>
            <a:endParaRPr lang="en-US" sz="1160" dirty="0"/>
          </a:p>
        </p:txBody>
      </p:sp>
      <p:sp>
        <p:nvSpPr>
          <p:cNvPr id="35" name="Shape 33"/>
          <p:cNvSpPr/>
          <p:nvPr/>
        </p:nvSpPr>
        <p:spPr>
          <a:xfrm>
            <a:off x="5650992" y="1024128"/>
            <a:ext cx="5961888" cy="5440680"/>
          </a:xfrm>
          <a:prstGeom prst="roundRect">
            <a:avLst>
              <a:gd name="adj" fmla="val 1345"/>
            </a:avLst>
          </a:prstGeom>
          <a:solidFill>
            <a:srgbClr val="FFFDF8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15584" y="1170432"/>
            <a:ext cx="1600200" cy="219456"/>
          </a:xfrm>
          <a:prstGeom prst="roundRect">
            <a:avLst>
              <a:gd name="adj" fmla="val 33333"/>
            </a:avLst>
          </a:prstGeom>
          <a:solidFill>
            <a:srgbClr val="E39A31"/>
          </a:solidFill>
          <a:ln w="7620">
            <a:solidFill>
              <a:srgbClr val="E39A3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15584" y="1197864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生成される代表ケース</a:t>
            </a:r>
            <a:endParaRPr lang="en-US" sz="1000" dirty="0"/>
          </a:p>
        </p:txBody>
      </p:sp>
      <p:pic>
        <p:nvPicPr>
          <p:cNvPr id="3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70448" y="1627632"/>
            <a:ext cx="1737360" cy="1143000"/>
          </a:xfrm>
          <a:prstGeom prst="rect">
            <a:avLst/>
          </a:prstGeom>
        </p:spPr>
      </p:pic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54112" y="1627632"/>
            <a:ext cx="1737360" cy="1143000"/>
          </a:xfrm>
          <a:prstGeom prst="rect">
            <a:avLst/>
          </a:prstGeom>
        </p:spPr>
      </p:pic>
      <p:pic>
        <p:nvPicPr>
          <p:cNvPr id="4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37776" y="1627632"/>
            <a:ext cx="1737360" cy="1143000"/>
          </a:xfrm>
          <a:prstGeom prst="rect">
            <a:avLst/>
          </a:prstGeom>
        </p:spPr>
      </p:pic>
      <p:sp>
        <p:nvSpPr>
          <p:cNvPr id="41" name="Shape 36"/>
          <p:cNvSpPr/>
          <p:nvPr/>
        </p:nvSpPr>
        <p:spPr>
          <a:xfrm>
            <a:off x="6364224" y="2816352"/>
            <a:ext cx="73152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199EDC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6419088" y="2898648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99E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通常</a:t>
            </a:r>
            <a:endParaRPr lang="en-US" sz="1150" dirty="0"/>
          </a:p>
        </p:txBody>
      </p:sp>
      <p:sp>
        <p:nvSpPr>
          <p:cNvPr id="43" name="Shape 38"/>
          <p:cNvSpPr/>
          <p:nvPr/>
        </p:nvSpPr>
        <p:spPr>
          <a:xfrm>
            <a:off x="8165592" y="2816352"/>
            <a:ext cx="896112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E39A31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8220456" y="2898648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E39A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重なり強</a:t>
            </a:r>
            <a:endParaRPr lang="en-US" sz="1150" dirty="0"/>
          </a:p>
        </p:txBody>
      </p:sp>
      <p:sp>
        <p:nvSpPr>
          <p:cNvPr id="45" name="Shape 40"/>
          <p:cNvSpPr/>
          <p:nvPr/>
        </p:nvSpPr>
        <p:spPr>
          <a:xfrm>
            <a:off x="9848088" y="2816352"/>
            <a:ext cx="123444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9902952" y="2898648"/>
            <a:ext cx="1124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D95D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低S/N・欠落</a:t>
            </a:r>
            <a:endParaRPr lang="en-US" sz="1150" dirty="0"/>
          </a:p>
        </p:txBody>
      </p:sp>
      <p:sp>
        <p:nvSpPr>
          <p:cNvPr id="47" name="Shape 42"/>
          <p:cNvSpPr/>
          <p:nvPr/>
        </p:nvSpPr>
        <p:spPr>
          <a:xfrm>
            <a:off x="5852160" y="3337560"/>
            <a:ext cx="5486400" cy="2514600"/>
          </a:xfrm>
          <a:prstGeom prst="roundRect">
            <a:avLst>
              <a:gd name="adj" fmla="val 2909"/>
            </a:avLst>
          </a:prstGeom>
          <a:solidFill>
            <a:srgbClr val="FFF9EE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48" name="Text 43"/>
          <p:cNvSpPr/>
          <p:nvPr/>
        </p:nvSpPr>
        <p:spPr>
          <a:xfrm>
            <a:off x="6053328" y="3639312"/>
            <a:ext cx="5120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生成ラベルとして、元素 presence、擬似成分比、低 energy risk、overlap risk、substrate share を保存する
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初期版では辞書だけで動くが、将来は DTSA-II / xraylib / SRD164 / XCOM に置換して物理忠実度を上げられる
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ポイントは「実運用で困る失敗モード」を人工的に先に増やすこと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199E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AIモデル仕様: 多スケール1D-CNN + アンカープーリングを初期版の本命とする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47472" y="612648"/>
            <a:ext cx="11496751" cy="0"/>
          </a:xfrm>
          <a:prstGeom prst="line">
            <a:avLst/>
          </a:prstGeom>
          <a:noFill/>
          <a:ln w="16510">
            <a:solidFill>
              <a:srgbClr val="8ED7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2815" y="2286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Draft / 匿名化版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97335" y="655624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194560" y="2331720"/>
            <a:ext cx="1143000" cy="0"/>
          </a:xfrm>
          <a:prstGeom prst="line">
            <a:avLst/>
          </a:prstGeom>
          <a:noFill/>
          <a:ln w="24130">
            <a:solidFill>
              <a:srgbClr val="199EDC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983480" y="2331720"/>
            <a:ext cx="1143000" cy="0"/>
          </a:xfrm>
          <a:prstGeom prst="line">
            <a:avLst/>
          </a:prstGeom>
          <a:noFill/>
          <a:ln w="24130">
            <a:solidFill>
              <a:srgbClr val="199EDC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726680" y="1828800"/>
            <a:ext cx="1005840" cy="-228600"/>
          </a:xfrm>
          <a:prstGeom prst="line">
            <a:avLst/>
          </a:prstGeom>
          <a:noFill/>
          <a:ln w="20320">
            <a:solidFill>
              <a:srgbClr val="199EDC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726680" y="2331720"/>
            <a:ext cx="1005840" cy="0"/>
          </a:xfrm>
          <a:prstGeom prst="line">
            <a:avLst/>
          </a:prstGeom>
          <a:noFill/>
          <a:ln w="20320">
            <a:solidFill>
              <a:srgbClr val="199EDC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726680" y="2834640"/>
            <a:ext cx="1005840" cy="228600"/>
          </a:xfrm>
          <a:prstGeom prst="line">
            <a:avLst/>
          </a:prstGeom>
          <a:noFill/>
          <a:ln w="20320">
            <a:solidFill>
              <a:srgbClr val="199EDC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31520" y="1783080"/>
            <a:ext cx="1188720" cy="1097280"/>
          </a:xfrm>
          <a:prstGeom prst="roundRect">
            <a:avLst>
              <a:gd name="adj" fmla="val 6667"/>
            </a:avLst>
          </a:prstGeom>
          <a:solidFill>
            <a:srgbClr val="EAF6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1938528"/>
            <a:ext cx="868680" cy="219456"/>
          </a:xfrm>
          <a:prstGeom prst="roundRect">
            <a:avLst>
              <a:gd name="adj" fmla="val 33333"/>
            </a:avLst>
          </a:prstGeom>
          <a:solidFill>
            <a:srgbClr val="199EDC"/>
          </a:solidFill>
          <a:ln w="7620">
            <a:solidFill>
              <a:srgbClr val="199E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196596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入力EDX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520440" y="1600200"/>
            <a:ext cx="1234440" cy="1463040"/>
          </a:xfrm>
          <a:prstGeom prst="roundRect">
            <a:avLst>
              <a:gd name="adj" fmla="val 5926"/>
            </a:avLst>
          </a:prstGeom>
          <a:solidFill>
            <a:srgbClr val="F8FBFE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48456" y="1783080"/>
            <a:ext cx="868680" cy="219456"/>
          </a:xfrm>
          <a:prstGeom prst="roundRect">
            <a:avLst>
              <a:gd name="adj" fmla="val 33333"/>
            </a:avLst>
          </a:prstGeom>
          <a:solidFill>
            <a:srgbClr val="4D6B84"/>
          </a:solidFill>
          <a:ln w="7620">
            <a:solidFill>
              <a:srgbClr val="4D6B8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48456" y="1810512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多スケール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CNN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55080" y="1600200"/>
            <a:ext cx="1143000" cy="1463040"/>
          </a:xfrm>
          <a:prstGeom prst="roundRect">
            <a:avLst>
              <a:gd name="adj" fmla="val 6400"/>
            </a:avLst>
          </a:prstGeom>
          <a:solidFill>
            <a:srgbClr val="FFF9EE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73952" y="1783080"/>
            <a:ext cx="822960" cy="219456"/>
          </a:xfrm>
          <a:prstGeom prst="roundRect">
            <a:avLst>
              <a:gd name="adj" fmla="val 33333"/>
            </a:avLst>
          </a:prstGeom>
          <a:solidFill>
            <a:srgbClr val="E39A31"/>
          </a:solidFill>
          <a:ln w="7620">
            <a:solidFill>
              <a:srgbClr val="E39A3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3952" y="181051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アンカー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pool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915400" y="1234440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F5FBF6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52560" y="1371600"/>
            <a:ext cx="1005840" cy="219456"/>
          </a:xfrm>
          <a:prstGeom prst="roundRect">
            <a:avLst>
              <a:gd name="adj" fmla="val 33333"/>
            </a:avLst>
          </a:prstGeom>
          <a:solidFill>
            <a:srgbClr val="2F9B63"/>
          </a:solidFill>
          <a:ln w="7620">
            <a:solidFill>
              <a:srgbClr val="2F9B6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52560" y="139903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元素presence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915400" y="2011680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F8FBFE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52560" y="2148840"/>
            <a:ext cx="1005840" cy="219456"/>
          </a:xfrm>
          <a:prstGeom prst="roundRect">
            <a:avLst>
              <a:gd name="adj" fmla="val 33333"/>
            </a:avLst>
          </a:prstGeom>
          <a:solidFill>
            <a:srgbClr val="199EDC"/>
          </a:solidFill>
          <a:ln w="7620">
            <a:solidFill>
              <a:srgbClr val="199E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52560" y="217627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擬似成分比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915400" y="2788920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FFF4F3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052560" y="2926080"/>
            <a:ext cx="1005840" cy="219456"/>
          </a:xfrm>
          <a:prstGeom prst="roundRect">
            <a:avLst>
              <a:gd name="adj" fmla="val 33333"/>
            </a:avLst>
          </a:prstGeom>
          <a:solidFill>
            <a:srgbClr val="D95D5D"/>
          </a:solidFill>
          <a:ln w="7620">
            <a:solidFill>
              <a:srgbClr val="D95D5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52560" y="295351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信頼度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1520" y="3886200"/>
            <a:ext cx="5394960" cy="2240280"/>
          </a:xfrm>
          <a:prstGeom prst="roundRect">
            <a:avLst>
              <a:gd name="adj" fmla="val 3265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14400" y="4041648"/>
            <a:ext cx="2240280" cy="219456"/>
          </a:xfrm>
          <a:prstGeom prst="roundRect">
            <a:avLst>
              <a:gd name="adj" fmla="val 33333"/>
            </a:avLst>
          </a:prstGeom>
          <a:solidFill>
            <a:srgbClr val="199EDC"/>
          </a:solidFill>
          <a:ln w="7620">
            <a:solidFill>
              <a:srgbClr val="199E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4069080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なぜ単純1D-CNNより一歩進めるか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32688" y="4407408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多スケール CNN で、狭いピーク・広いピーク・重なりピークを同時に見やすい
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辞書アンカー窓を明示的に集約するため、同じ元素の複数線関係をモデルに渡せる
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presence / fraction / confidence を同時学習させることで、単なる分類器より実運用に近い出力になる</a:t>
            </a:r>
            <a:endParaRPr lang="en-US" sz="1540" dirty="0"/>
          </a:p>
        </p:txBody>
      </p:sp>
      <p:sp>
        <p:nvSpPr>
          <p:cNvPr id="33" name="Shape 31"/>
          <p:cNvSpPr/>
          <p:nvPr/>
        </p:nvSpPr>
        <p:spPr>
          <a:xfrm>
            <a:off x="6400800" y="3886200"/>
            <a:ext cx="5166360" cy="2240280"/>
          </a:xfrm>
          <a:prstGeom prst="roundRect">
            <a:avLst>
              <a:gd name="adj" fmla="val 3265"/>
            </a:avLst>
          </a:prstGeom>
          <a:solidFill>
            <a:srgbClr val="FFFDF8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83680" y="4041648"/>
            <a:ext cx="1600200" cy="219456"/>
          </a:xfrm>
          <a:prstGeom prst="roundRect">
            <a:avLst>
              <a:gd name="adj" fmla="val 33333"/>
            </a:avLst>
          </a:prstGeom>
          <a:solidFill>
            <a:srgbClr val="E39A31"/>
          </a:solidFill>
          <a:ln w="7620">
            <a:solidFill>
              <a:srgbClr val="E39A3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0" y="4069080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将来拡張（任意）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601968" y="4407408"/>
            <a:ext cx="4846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attention / transformer を追加し、離れた複数アンカーの関係を見る
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SEM 低次元特徴を後段で結合し、geometry prior を与える
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前後スペクトルを別枝で入れ、基板寄与補正に使う</a:t>
            </a:r>
            <a:endParaRPr lang="en-US" sz="15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199E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推論・信頼度・再評価: 出力だけでなく「根拠」と「次アクション」を返す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47472" y="612648"/>
            <a:ext cx="11496751" cy="0"/>
          </a:xfrm>
          <a:prstGeom prst="line">
            <a:avLst/>
          </a:prstGeom>
          <a:noFill/>
          <a:ln w="16510">
            <a:solidFill>
              <a:srgbClr val="8ED7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2815" y="2286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Draft / 匿名化版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97335" y="655624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005840"/>
            <a:ext cx="5120640" cy="5394960"/>
          </a:xfrm>
          <a:prstGeom prst="roundRect">
            <a:avLst>
              <a:gd name="adj" fmla="val 1429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1152144"/>
            <a:ext cx="1417320" cy="219456"/>
          </a:xfrm>
          <a:prstGeom prst="roundRect">
            <a:avLst>
              <a:gd name="adj" fmla="val 33333"/>
            </a:avLst>
          </a:prstGeom>
          <a:solidFill>
            <a:srgbClr val="199EDC"/>
          </a:solidFill>
          <a:ln w="7620">
            <a:solidFill>
              <a:srgbClr val="199E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17957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信頼度の考え方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1481328"/>
            <a:ext cx="1554480" cy="448056"/>
          </a:xfrm>
          <a:prstGeom prst="roundRect">
            <a:avLst>
              <a:gd name="adj" fmla="val 4082"/>
            </a:avLst>
          </a:prstGeom>
          <a:solidFill>
            <a:srgbClr val="199EDC"/>
          </a:solidFill>
          <a:ln w="10160">
            <a:solidFill>
              <a:srgbClr val="199E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554480"/>
            <a:ext cx="1463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入力根拠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395728" y="1481328"/>
            <a:ext cx="3154680" cy="448056"/>
          </a:xfrm>
          <a:prstGeom prst="roundRect">
            <a:avLst>
              <a:gd name="adj" fmla="val 4082"/>
            </a:avLst>
          </a:prstGeom>
          <a:solidFill>
            <a:srgbClr val="199EDC"/>
          </a:solidFill>
          <a:ln w="10160">
            <a:solidFill>
              <a:srgbClr val="199E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41448" y="1554480"/>
            <a:ext cx="30632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意味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1956816"/>
            <a:ext cx="1554480" cy="448056"/>
          </a:xfrm>
          <a:prstGeom prst="roundRect">
            <a:avLst>
              <a:gd name="adj" fmla="val 4082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002536"/>
            <a:ext cx="146304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モデル確率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395728" y="1956816"/>
            <a:ext cx="3154680" cy="448056"/>
          </a:xfrm>
          <a:prstGeom prst="roundRect">
            <a:avLst>
              <a:gd name="adj" fmla="val 4082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41448" y="2002536"/>
            <a:ext cx="306324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presence / fraction の出力強度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960" y="2432304"/>
            <a:ext cx="1554480" cy="448056"/>
          </a:xfrm>
          <a:prstGeom prst="roundRect">
            <a:avLst>
              <a:gd name="adj" fmla="val 4082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2478024"/>
            <a:ext cx="146304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アンカー一致数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395728" y="2432304"/>
            <a:ext cx="3154680" cy="448056"/>
          </a:xfrm>
          <a:prstGeom prst="roundRect">
            <a:avLst>
              <a:gd name="adj" fmla="val 4082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41448" y="2478024"/>
            <a:ext cx="306324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1本一致か、2本以上一致か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22960" y="2907792"/>
            <a:ext cx="1554480" cy="448056"/>
          </a:xfrm>
          <a:prstGeom prst="roundRect">
            <a:avLst>
              <a:gd name="adj" fmla="val 4082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2953512"/>
            <a:ext cx="146304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アンカー整合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395728" y="2907792"/>
            <a:ext cx="3154680" cy="448056"/>
          </a:xfrm>
          <a:prstGeom prst="roundRect">
            <a:avLst>
              <a:gd name="adj" fmla="val 4082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41448" y="2953512"/>
            <a:ext cx="306324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主線/副線の矛盾がないか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22960" y="3383280"/>
            <a:ext cx="1554480" cy="448056"/>
          </a:xfrm>
          <a:prstGeom prst="roundRect">
            <a:avLst>
              <a:gd name="adj" fmla="val 4082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3429000"/>
            <a:ext cx="146304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overlap risk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395728" y="3383280"/>
            <a:ext cx="3154680" cy="448056"/>
          </a:xfrm>
          <a:prstGeom prst="roundRect">
            <a:avLst>
              <a:gd name="adj" fmla="val 4082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41448" y="3429000"/>
            <a:ext cx="306324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近接ピーークで取り違えやすいか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22960" y="3858768"/>
            <a:ext cx="1554480" cy="448056"/>
          </a:xfrm>
          <a:prstGeom prst="roundRect">
            <a:avLst>
              <a:gd name="adj" fmla="val 4082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3904488"/>
            <a:ext cx="146304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low energy risk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2395728" y="3858768"/>
            <a:ext cx="3154680" cy="448056"/>
          </a:xfrm>
          <a:prstGeom prst="roundRect">
            <a:avLst>
              <a:gd name="adj" fmla="val 4082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41448" y="3904488"/>
            <a:ext cx="306324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低 energy 側が支配的で不安定か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22960" y="4334256"/>
            <a:ext cx="1554480" cy="448056"/>
          </a:xfrm>
          <a:prstGeom prst="roundRect">
            <a:avLst>
              <a:gd name="adj" fmla="val 4082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" y="4379976"/>
            <a:ext cx="146304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substrate risk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2395728" y="4334256"/>
            <a:ext cx="3154680" cy="448056"/>
          </a:xfrm>
          <a:prstGeom prst="roundRect">
            <a:avLst>
              <a:gd name="adj" fmla="val 4082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41448" y="4379976"/>
            <a:ext cx="3063240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基板寄与で粒子が埋もれていないか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68680" y="48006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44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confidence = f(model score, anchor match, anchor consistency, risk flags)</a:t>
            </a:r>
            <a:endParaRPr lang="en-US" sz="1700" dirty="0"/>
          </a:p>
        </p:txBody>
      </p:sp>
      <p:sp>
        <p:nvSpPr>
          <p:cNvPr id="38" name="Shape 36"/>
          <p:cNvSpPr/>
          <p:nvPr/>
        </p:nvSpPr>
        <p:spPr>
          <a:xfrm>
            <a:off x="5989320" y="1005840"/>
            <a:ext cx="5577840" cy="5394960"/>
          </a:xfrm>
          <a:prstGeom prst="roundRect">
            <a:avLst>
              <a:gd name="adj" fmla="val 1356"/>
            </a:avLst>
          </a:prstGeom>
          <a:solidFill>
            <a:srgbClr val="FFFDF8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53912" y="1152144"/>
            <a:ext cx="1280160" cy="219456"/>
          </a:xfrm>
          <a:prstGeom prst="roundRect">
            <a:avLst>
              <a:gd name="adj" fmla="val 33333"/>
            </a:avLst>
          </a:prstGeom>
          <a:solidFill>
            <a:srgbClr val="E39A31"/>
          </a:solidFill>
          <a:ln w="7620">
            <a:solidFill>
              <a:srgbClr val="E39A3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53912" y="1179576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運用での返し方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720840" y="1965960"/>
            <a:ext cx="3840480" cy="0"/>
          </a:xfrm>
          <a:prstGeom prst="line">
            <a:avLst/>
          </a:prstGeom>
          <a:noFill/>
          <a:ln w="22860">
            <a:solidFill>
              <a:srgbClr val="2F9B63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6720840" y="3063240"/>
            <a:ext cx="3840480" cy="0"/>
          </a:xfrm>
          <a:prstGeom prst="line">
            <a:avLst/>
          </a:prstGeom>
          <a:noFill/>
          <a:ln w="22860">
            <a:solidFill>
              <a:srgbClr val="E39A31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6720840" y="4160520"/>
            <a:ext cx="3840480" cy="0"/>
          </a:xfrm>
          <a:prstGeom prst="line">
            <a:avLst/>
          </a:prstGeom>
          <a:noFill/>
          <a:ln w="22860">
            <a:solidFill>
              <a:srgbClr val="D95D5D"/>
            </a:solidFill>
            <a:prstDash val="solid"/>
            <a:headEnd type="non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6263640" y="1645920"/>
            <a:ext cx="822960" cy="640080"/>
          </a:xfrm>
          <a:prstGeom prst="roundRect">
            <a:avLst>
              <a:gd name="adj" fmla="val 11429"/>
            </a:avLst>
          </a:prstGeom>
          <a:solidFill>
            <a:srgbClr val="F5FBF6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91656" y="1801368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2F9B63"/>
          </a:solidFill>
          <a:ln w="7620">
            <a:solidFill>
              <a:srgbClr val="2F9B6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91656" y="1828800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263640" y="2743200"/>
            <a:ext cx="822960" cy="640080"/>
          </a:xfrm>
          <a:prstGeom prst="roundRect">
            <a:avLst>
              <a:gd name="adj" fmla="val 11429"/>
            </a:avLst>
          </a:prstGeom>
          <a:solidFill>
            <a:srgbClr val="FFF9EE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91656" y="2898648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39A31"/>
          </a:solidFill>
          <a:ln w="7620">
            <a:solidFill>
              <a:srgbClr val="E39A3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91656" y="2926080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263640" y="3840480"/>
            <a:ext cx="822960" cy="640080"/>
          </a:xfrm>
          <a:prstGeom prst="roundRect">
            <a:avLst>
              <a:gd name="adj" fmla="val 11429"/>
            </a:avLst>
          </a:prstGeom>
          <a:solidFill>
            <a:srgbClr val="FFF4F3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391656" y="3995928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D95D5D"/>
          </a:solidFill>
          <a:ln w="7620">
            <a:solidFill>
              <a:srgbClr val="D95D5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91656" y="4023360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低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10744200" y="1554480"/>
            <a:ext cx="658368" cy="822960"/>
          </a:xfrm>
          <a:prstGeom prst="roundRect">
            <a:avLst>
              <a:gd name="adj" fmla="val 11111"/>
            </a:avLst>
          </a:prstGeom>
          <a:solidFill>
            <a:srgbClr val="F5FBF6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826496" y="17647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9B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F9B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候補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10744200" y="2651760"/>
            <a:ext cx="658368" cy="822960"/>
          </a:xfrm>
          <a:prstGeom prst="roundRect">
            <a:avLst>
              <a:gd name="adj" fmla="val 11111"/>
            </a:avLst>
          </a:prstGeom>
          <a:solidFill>
            <a:srgbClr val="FFF9EE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808208" y="2852928"/>
            <a:ext cx="493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39A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技術者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39A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10744200" y="3749040"/>
            <a:ext cx="658368" cy="822960"/>
          </a:xfrm>
          <a:prstGeom prst="roundRect">
            <a:avLst>
              <a:gd name="adj" fmla="val 11111"/>
            </a:avLst>
          </a:prstGeom>
          <a:solidFill>
            <a:srgbClr val="FFF4F3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780776" y="3895344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5D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再測定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D95D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詳細解析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492240" y="489204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高: 2本以上一致・矛盾少・risk低 → 自動候補化
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中: 1本一致や overlap 有 → 技術者の確認候補
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低: 低 energy 支配・基板混合大・矛盾有 → 再測定/高忠実度解析</a:t>
            </a:r>
            <a:endParaRPr lang="en-US" sz="15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199E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将来拡張: SEM・前後スペクトル・高忠実度物理計算を「追加モジュール」として接続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47472" y="612648"/>
            <a:ext cx="11496751" cy="0"/>
          </a:xfrm>
          <a:prstGeom prst="line">
            <a:avLst/>
          </a:prstGeom>
          <a:noFill/>
          <a:ln w="16510">
            <a:solidFill>
              <a:srgbClr val="8ED7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2815" y="2286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Draft / 匿名化版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97335" y="655624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234440"/>
            <a:ext cx="2834640" cy="4526280"/>
          </a:xfrm>
          <a:prstGeom prst="roundRect">
            <a:avLst>
              <a:gd name="adj" fmla="val 2581"/>
            </a:avLst>
          </a:prstGeom>
          <a:solidFill>
            <a:srgbClr val="199ED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" y="1399032"/>
            <a:ext cx="1417320" cy="219456"/>
          </a:xfrm>
          <a:prstGeom prst="roundRect">
            <a:avLst>
              <a:gd name="adj" fmla="val 33333"/>
            </a:avLst>
          </a:prstGeom>
          <a:solidFill>
            <a:srgbClr val="000000"/>
          </a:solidFill>
          <a:ln w="762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426464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前後スペクトル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clean wafer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13816" y="192024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基板寄与の校正
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energy drift / resolution の補正
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domain shift の縮小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041648" y="1234440"/>
            <a:ext cx="2834640" cy="4526280"/>
          </a:xfrm>
          <a:prstGeom prst="roundRect">
            <a:avLst>
              <a:gd name="adj" fmla="val 2581"/>
            </a:avLst>
          </a:prstGeom>
          <a:solidFill>
            <a:srgbClr val="2F9B63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06240" y="1399032"/>
            <a:ext cx="1417320" cy="219456"/>
          </a:xfrm>
          <a:prstGeom prst="roundRect">
            <a:avLst>
              <a:gd name="adj" fmla="val 33333"/>
            </a:avLst>
          </a:prstGeom>
          <a:solidFill>
            <a:srgbClr val="000000"/>
          </a:solidFill>
          <a:ln w="762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1426464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SEM特徴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(低次元)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261104" y="192024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面積→等価直径
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円形度/長短比/コントラスト
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geometry prior として利用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488936" y="1234440"/>
            <a:ext cx="2834640" cy="4526280"/>
          </a:xfrm>
          <a:prstGeom prst="roundRect">
            <a:avLst>
              <a:gd name="adj" fmla="val 2581"/>
            </a:avLst>
          </a:prstGeom>
          <a:solidFill>
            <a:srgbClr val="E39A31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53528" y="1399032"/>
            <a:ext cx="1417320" cy="219456"/>
          </a:xfrm>
          <a:prstGeom prst="roundRect">
            <a:avLst>
              <a:gd name="adj" fmla="val 33333"/>
            </a:avLst>
          </a:prstGeom>
          <a:solidFill>
            <a:srgbClr val="000000"/>
          </a:solidFill>
          <a:ln w="762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53528" y="1426464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高忠実度計算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(任意)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08392" y="192024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DTSA-II: EDS sim / Filter-fitting / XPP
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PENELOPE: 複雑幾何
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xraylib / SRD164 / XCOM: 物理量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965960" y="4709160"/>
            <a:ext cx="4023360" cy="1097280"/>
          </a:xfrm>
          <a:prstGeom prst="line">
            <a:avLst/>
          </a:prstGeom>
          <a:noFill/>
          <a:ln w="1778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413248" y="4709160"/>
            <a:ext cx="576072" cy="1097280"/>
          </a:xfrm>
          <a:prstGeom prst="line">
            <a:avLst/>
          </a:prstGeom>
          <a:noFill/>
          <a:ln w="1778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860536" y="4709160"/>
            <a:ext cx="-2871216" cy="1097280"/>
          </a:xfrm>
          <a:prstGeom prst="line">
            <a:avLst/>
          </a:prstGeom>
          <a:noFill/>
          <a:ln w="1778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297680" y="5486400"/>
            <a:ext cx="3383280" cy="658368"/>
          </a:xfrm>
          <a:prstGeom prst="roundRect">
            <a:avLst>
              <a:gd name="adj" fmla="val 11111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80560" y="5641848"/>
            <a:ext cx="1554480" cy="219456"/>
          </a:xfrm>
          <a:prstGeom prst="roundRect">
            <a:avLst>
              <a:gd name="adj" fmla="val 33333"/>
            </a:avLst>
          </a:prstGeom>
          <a:solidFill>
            <a:srgbClr val="199EDC"/>
          </a:solidFill>
          <a:ln w="7620">
            <a:solidFill>
              <a:srgbClr val="199E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0" y="5669280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初期版の核は変えない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44768" y="5669280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4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辞書 → 人工データ → 辞書ガイドAI → 信頼度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13232" y="4526280"/>
            <a:ext cx="26060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46908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前工程/clean wafer があると、差分ではなく「substrate basis」として扱える</a:t>
            </a:r>
            <a:endParaRPr lang="en-US" sz="1340" dirty="0"/>
          </a:p>
        </p:txBody>
      </p:sp>
      <p:sp>
        <p:nvSpPr>
          <p:cNvPr id="27" name="Shape 25"/>
          <p:cNvSpPr/>
          <p:nvPr/>
        </p:nvSpPr>
        <p:spPr>
          <a:xfrm>
            <a:off x="4160520" y="4526280"/>
            <a:ext cx="26060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34256" y="46908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SEM画像そのものではなく、特徴量だけ prior に使うと実装が軽い</a:t>
            </a:r>
            <a:endParaRPr lang="en-US" sz="1340" dirty="0"/>
          </a:p>
        </p:txBody>
      </p:sp>
      <p:sp>
        <p:nvSpPr>
          <p:cNvPr id="29" name="Shape 27"/>
          <p:cNvSpPr/>
          <p:nvPr/>
        </p:nvSpPr>
        <p:spPr>
          <a:xfrm>
            <a:off x="7607808" y="4526280"/>
            <a:ext cx="26060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63256" y="46908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高忠実度計算は全件ではなく「難例」と「校正」に限定する</a:t>
            </a:r>
            <a:endParaRPr lang="en-US" sz="13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199E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提案手法の活用イメージ: 初期PoCで確認したい3つの代表ケース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47472" y="612648"/>
            <a:ext cx="11496751" cy="0"/>
          </a:xfrm>
          <a:prstGeom prst="line">
            <a:avLst/>
          </a:prstGeom>
          <a:noFill/>
          <a:ln w="16510">
            <a:solidFill>
              <a:srgbClr val="8ED7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2815" y="2286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Draft / 匿名化版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97335" y="655624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58368" y="1298448"/>
            <a:ext cx="2880360" cy="4114800"/>
          </a:xfrm>
          <a:prstGeom prst="roundRect">
            <a:avLst>
              <a:gd name="adj" fmla="val 2540"/>
            </a:avLst>
          </a:prstGeom>
          <a:solidFill>
            <a:srgbClr val="F5FBF6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1463040"/>
            <a:ext cx="1325880" cy="219456"/>
          </a:xfrm>
          <a:prstGeom prst="roundRect">
            <a:avLst>
              <a:gd name="adj" fmla="val 33333"/>
            </a:avLst>
          </a:prstGeom>
          <a:solidFill>
            <a:srgbClr val="2F9B63"/>
          </a:solidFill>
          <a:ln w="7620">
            <a:solidFill>
              <a:srgbClr val="2F9B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490472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事例A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F系プラズマ装置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591056" y="2011680"/>
            <a:ext cx="914400" cy="228600"/>
          </a:xfrm>
          <a:prstGeom prst="rect">
            <a:avLst/>
          </a:prstGeom>
          <a:solidFill>
            <a:srgbClr val="D9E9F3"/>
          </a:solidFill>
          <a:ln w="10160">
            <a:solidFill>
              <a:srgbClr val="B4C8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55648" y="1572768"/>
            <a:ext cx="594360" cy="475488"/>
          </a:xfrm>
          <a:prstGeom prst="arc">
            <a:avLst/>
          </a:prstGeom>
          <a:solidFill>
            <a:srgbClr val="EAF6FF"/>
          </a:solidFill>
          <a:ln w="13970">
            <a:solidFill>
              <a:srgbClr val="2F9B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37360" y="1828800"/>
            <a:ext cx="6217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particle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59536" y="3063240"/>
            <a:ext cx="24871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Y / O / F 系 + Al / Si 系の候補が多い
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低 energy 側が不安定
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辞書の候補制限が効く</a:t>
            </a:r>
            <a:endParaRPr lang="en-US" sz="1520" dirty="0"/>
          </a:p>
        </p:txBody>
      </p:sp>
      <p:sp>
        <p:nvSpPr>
          <p:cNvPr id="13" name="Shape 11"/>
          <p:cNvSpPr/>
          <p:nvPr/>
        </p:nvSpPr>
        <p:spPr>
          <a:xfrm>
            <a:off x="932688" y="4681728"/>
            <a:ext cx="233172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2F9B6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4764024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2F9B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課題→提案→効果 を個別に整理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050792" y="1298448"/>
            <a:ext cx="2880360" cy="4114800"/>
          </a:xfrm>
          <a:prstGeom prst="roundRect">
            <a:avLst>
              <a:gd name="adj" fmla="val 2540"/>
            </a:avLst>
          </a:prstGeom>
          <a:solidFill>
            <a:srgbClr val="FFF4F3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97096" y="1463040"/>
            <a:ext cx="1325880" cy="219456"/>
          </a:xfrm>
          <a:prstGeom prst="roundRect">
            <a:avLst>
              <a:gd name="adj" fmla="val 33333"/>
            </a:avLst>
          </a:prstGeom>
          <a:solidFill>
            <a:srgbClr val="D95D5D"/>
          </a:solidFill>
          <a:ln w="7620">
            <a:solidFill>
              <a:srgbClr val="D95D5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97096" y="1490472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事例B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高Z近接ピーーク</a:t>
            </a:r>
            <a:endParaRPr lang="en-US" sz="10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70832" y="1828800"/>
            <a:ext cx="2240280" cy="105156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4251960" y="3063240"/>
            <a:ext cx="24871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Hf / Ta / W が 8〜10 keV に密集
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単純 fitting が揺れやすい
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複数アンカー整合が効く</a:t>
            </a:r>
            <a:endParaRPr lang="en-US" sz="1520" dirty="0"/>
          </a:p>
        </p:txBody>
      </p:sp>
      <p:sp>
        <p:nvSpPr>
          <p:cNvPr id="20" name="Shape 17"/>
          <p:cNvSpPr/>
          <p:nvPr/>
        </p:nvSpPr>
        <p:spPr>
          <a:xfrm>
            <a:off x="4325112" y="4681728"/>
            <a:ext cx="233172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379976" y="4764024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D95D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課題→提案→効果 を個別に整理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7443216" y="1298448"/>
            <a:ext cx="2880360" cy="4114800"/>
          </a:xfrm>
          <a:prstGeom prst="roundRect">
            <a:avLst>
              <a:gd name="adj" fmla="val 2540"/>
            </a:avLst>
          </a:prstGeom>
          <a:solidFill>
            <a:srgbClr val="FFF9EE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589520" y="1463040"/>
            <a:ext cx="1325880" cy="219456"/>
          </a:xfrm>
          <a:prstGeom prst="roundRect">
            <a:avLst>
              <a:gd name="adj" fmla="val 33333"/>
            </a:avLst>
          </a:prstGeom>
          <a:solidFill>
            <a:srgbClr val="E39A31"/>
          </a:solidFill>
          <a:ln w="7620">
            <a:solidFill>
              <a:srgbClr val="E39A3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589520" y="1490472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事例C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小粒子 + 基板混合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8311896" y="2139696"/>
            <a:ext cx="1097280" cy="228600"/>
          </a:xfrm>
          <a:prstGeom prst="rect">
            <a:avLst/>
          </a:prstGeom>
          <a:solidFill>
            <a:srgbClr val="D9E9F3"/>
          </a:solidFill>
          <a:ln w="10160">
            <a:solidFill>
              <a:srgbClr val="B4C8D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613648" y="1609344"/>
            <a:ext cx="512064" cy="420624"/>
          </a:xfrm>
          <a:prstGeom prst="arc">
            <a:avLst/>
          </a:prstGeom>
          <a:solidFill>
            <a:srgbClr val="FFF1D9"/>
          </a:solidFill>
          <a:ln w="13970">
            <a:solidFill>
              <a:srgbClr val="E39A3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476488" y="1874520"/>
            <a:ext cx="7498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weak signal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7644384" y="3063240"/>
            <a:ext cx="24871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Si / O が基板由来で混ざる
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粒子信号が弱い
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前後スペクトルや SEM prior が効く</a:t>
            </a:r>
            <a:endParaRPr lang="en-US" sz="1520" dirty="0"/>
          </a:p>
        </p:txBody>
      </p:sp>
      <p:sp>
        <p:nvSpPr>
          <p:cNvPr id="29" name="Shape 26"/>
          <p:cNvSpPr/>
          <p:nvPr/>
        </p:nvSpPr>
        <p:spPr>
          <a:xfrm>
            <a:off x="7717536" y="4681728"/>
            <a:ext cx="233172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E39A3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772400" y="4764024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E39A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課題→提案→効果 を個別に整理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804672" y="5687568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14400" y="5833872"/>
            <a:ext cx="10515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3事例とも、初期版では「辞書のみ」でPoC可能。実測が増えた段階で clean wafer / SEM / DTSA-II を段階追加する。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199E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活用事例A: F系プラズマ工程での Y/O/F 系・Al/Si 系候補の早期絞り込み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47472" y="612648"/>
            <a:ext cx="11496751" cy="0"/>
          </a:xfrm>
          <a:prstGeom prst="line">
            <a:avLst/>
          </a:prstGeom>
          <a:noFill/>
          <a:ln w="16510">
            <a:solidFill>
              <a:srgbClr val="8ED7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2815" y="2286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Draft / 匿名化版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97335" y="655624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051560"/>
            <a:ext cx="3063240" cy="5440680"/>
          </a:xfrm>
          <a:prstGeom prst="roundRect">
            <a:avLst>
              <a:gd name="adj" fmla="val 2388"/>
            </a:avLst>
          </a:prstGeom>
          <a:solidFill>
            <a:srgbClr val="F5FBF6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" y="1207008"/>
            <a:ext cx="1005840" cy="219456"/>
          </a:xfrm>
          <a:prstGeom prst="roundRect">
            <a:avLst>
              <a:gd name="adj" fmla="val 33333"/>
            </a:avLst>
          </a:prstGeom>
          <a:solidFill>
            <a:srgbClr val="2F9B63"/>
          </a:solidFill>
          <a:ln w="7620">
            <a:solidFill>
              <a:srgbClr val="2F9B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23444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現場課題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1572768"/>
            <a:ext cx="2606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フッ素系ガス環境では Y2O3 / YF3 / YOF 系 coating 由来粒子が候補になる
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O / F は低 energy 側で背景・吸収の影響を受けやすい
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Y / Al / Si も同時に見えると候補数が一気に増える</a:t>
            </a:r>
            <a:endParaRPr lang="en-US" sz="1540" dirty="0"/>
          </a:p>
        </p:txBody>
      </p:sp>
      <p:sp>
        <p:nvSpPr>
          <p:cNvPr id="10" name="Shape 8"/>
          <p:cNvSpPr/>
          <p:nvPr/>
        </p:nvSpPr>
        <p:spPr>
          <a:xfrm>
            <a:off x="1005840" y="3520440"/>
            <a:ext cx="2194560" cy="1508760"/>
          </a:xfrm>
          <a:prstGeom prst="rect">
            <a:avLst/>
          </a:prstGeom>
          <a:solidFill>
            <a:srgbClr val="EAF6FF"/>
          </a:solidFill>
          <a:ln w="12700">
            <a:solidFill>
              <a:srgbClr val="B7D1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70432" y="3749040"/>
            <a:ext cx="1865376" cy="164592"/>
          </a:xfrm>
          <a:prstGeom prst="rect">
            <a:avLst/>
          </a:prstGeom>
          <a:solidFill>
            <a:srgbClr val="BFD9E8"/>
          </a:solidFill>
          <a:ln w="10160">
            <a:solidFill>
              <a:srgbClr val="BFD9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47088" y="4041648"/>
            <a:ext cx="530352" cy="438912"/>
          </a:xfrm>
          <a:prstGeom prst="arc">
            <a:avLst/>
          </a:prstGeom>
          <a:solidFill>
            <a:srgbClr val="E6FFF1"/>
          </a:solidFill>
          <a:ln w="13970">
            <a:solidFill>
              <a:srgbClr val="2F9B6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56232" y="3785616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wafer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700784" y="452628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Y/O/F particle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86200" y="1051560"/>
            <a:ext cx="3474720" cy="5440680"/>
          </a:xfrm>
          <a:prstGeom prst="roundRect">
            <a:avLst>
              <a:gd name="adj" fmla="val 2105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59936" y="1207008"/>
            <a:ext cx="1463040" cy="219456"/>
          </a:xfrm>
          <a:prstGeom prst="roundRect">
            <a:avLst>
              <a:gd name="adj" fmla="val 33333"/>
            </a:avLst>
          </a:prstGeom>
          <a:solidFill>
            <a:srgbClr val="199EDC"/>
          </a:solidFill>
          <a:ln w="7620">
            <a:solidFill>
              <a:srgbClr val="199E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59936" y="123444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提案手法の使い方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096512" y="1572768"/>
            <a:ext cx="2926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辞書候補を Y / O / F / Al / Si に寄せた人工データを先に生成する
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O / F の line dropout と low energy risk を強めに学習させる
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同じ Y の複数アンカー一致で、1本欠けても候補を落としにくくする</a:t>
            </a:r>
            <a:endParaRPr lang="en-US" sz="154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9080" y="3931920"/>
            <a:ext cx="3108960" cy="123444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7589520" y="1051560"/>
            <a:ext cx="3977640" cy="5440680"/>
          </a:xfrm>
          <a:prstGeom prst="roundRect">
            <a:avLst>
              <a:gd name="adj" fmla="val 1839"/>
            </a:avLst>
          </a:prstGeom>
          <a:solidFill>
            <a:srgbClr val="FFFDF8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754112" y="1207008"/>
            <a:ext cx="1005840" cy="219456"/>
          </a:xfrm>
          <a:prstGeom prst="roundRect">
            <a:avLst>
              <a:gd name="adj" fmla="val 33333"/>
            </a:avLst>
          </a:prstGeom>
          <a:solidFill>
            <a:srgbClr val="E39A31"/>
          </a:solidFill>
          <a:ln w="7620">
            <a:solidFill>
              <a:srgbClr val="E39A3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54112" y="123444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期待効果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735824" y="1572768"/>
            <a:ext cx="914400" cy="438912"/>
          </a:xfrm>
          <a:prstGeom prst="roundRect">
            <a:avLst>
              <a:gd name="adj" fmla="val 4167"/>
            </a:avLst>
          </a:prstGeom>
          <a:solidFill>
            <a:srgbClr val="199EDC"/>
          </a:solidFill>
          <a:ln w="10160">
            <a:solidFill>
              <a:srgbClr val="199ED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781544" y="164592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観点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8668512" y="1572768"/>
            <a:ext cx="1325880" cy="438912"/>
          </a:xfrm>
          <a:prstGeom prst="roundRect">
            <a:avLst>
              <a:gd name="adj" fmla="val 4167"/>
            </a:avLst>
          </a:prstGeom>
          <a:solidFill>
            <a:srgbClr val="199EDC"/>
          </a:solidFill>
          <a:ln w="10160">
            <a:solidFill>
              <a:srgbClr val="199ED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714232" y="16459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10012680" y="1572768"/>
            <a:ext cx="1463040" cy="438912"/>
          </a:xfrm>
          <a:prstGeom prst="roundRect">
            <a:avLst>
              <a:gd name="adj" fmla="val 4167"/>
            </a:avLst>
          </a:prstGeom>
          <a:solidFill>
            <a:srgbClr val="199EDC"/>
          </a:solidFill>
          <a:ln w="10160">
            <a:solidFill>
              <a:srgbClr val="199ED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058400" y="16459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提案後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7735824" y="2039112"/>
            <a:ext cx="914400" cy="438912"/>
          </a:xfrm>
          <a:prstGeom prst="roundRect">
            <a:avLst>
              <a:gd name="adj" fmla="val 4167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781544" y="2084832"/>
            <a:ext cx="8229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候補数</a:t>
            </a:r>
            <a:endParaRPr lang="en-US" sz="1160" dirty="0"/>
          </a:p>
        </p:txBody>
      </p:sp>
      <p:sp>
        <p:nvSpPr>
          <p:cNvPr id="31" name="Shape 28"/>
          <p:cNvSpPr/>
          <p:nvPr/>
        </p:nvSpPr>
        <p:spPr>
          <a:xfrm>
            <a:off x="8668512" y="2039112"/>
            <a:ext cx="1325880" cy="438912"/>
          </a:xfrm>
          <a:prstGeom prst="roundRect">
            <a:avLst>
              <a:gd name="adj" fmla="val 4167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714232" y="2084832"/>
            <a:ext cx="12344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手動で広く疑う</a:t>
            </a:r>
            <a:endParaRPr lang="en-US" sz="1160" dirty="0"/>
          </a:p>
        </p:txBody>
      </p:sp>
      <p:sp>
        <p:nvSpPr>
          <p:cNvPr id="33" name="Shape 30"/>
          <p:cNvSpPr/>
          <p:nvPr/>
        </p:nvSpPr>
        <p:spPr>
          <a:xfrm>
            <a:off x="10012680" y="2039112"/>
            <a:ext cx="1463040" cy="438912"/>
          </a:xfrm>
          <a:prstGeom prst="roundRect">
            <a:avLst>
              <a:gd name="adj" fmla="val 4167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058400" y="2084832"/>
            <a:ext cx="13716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辞書と工程で上位候補へ絞る</a:t>
            </a:r>
            <a:endParaRPr lang="en-US" sz="1160" dirty="0"/>
          </a:p>
        </p:txBody>
      </p:sp>
      <p:sp>
        <p:nvSpPr>
          <p:cNvPr id="35" name="Shape 32"/>
          <p:cNvSpPr/>
          <p:nvPr/>
        </p:nvSpPr>
        <p:spPr>
          <a:xfrm>
            <a:off x="7735824" y="2505456"/>
            <a:ext cx="914400" cy="438912"/>
          </a:xfrm>
          <a:prstGeom prst="roundRect">
            <a:avLst>
              <a:gd name="adj" fmla="val 4167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781544" y="2551176"/>
            <a:ext cx="8229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見逃し</a:t>
            </a:r>
            <a:endParaRPr lang="en-US" sz="1160" dirty="0"/>
          </a:p>
        </p:txBody>
      </p:sp>
      <p:sp>
        <p:nvSpPr>
          <p:cNvPr id="37" name="Shape 34"/>
          <p:cNvSpPr/>
          <p:nvPr/>
        </p:nvSpPr>
        <p:spPr>
          <a:xfrm>
            <a:off x="8668512" y="2505456"/>
            <a:ext cx="1325880" cy="438912"/>
          </a:xfrm>
          <a:prstGeom prst="roundRect">
            <a:avLst>
              <a:gd name="adj" fmla="val 4167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714232" y="2551176"/>
            <a:ext cx="12344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副線欠落で落ちやすい</a:t>
            </a:r>
            <a:endParaRPr lang="en-US" sz="1160" dirty="0"/>
          </a:p>
        </p:txBody>
      </p:sp>
      <p:sp>
        <p:nvSpPr>
          <p:cNvPr id="39" name="Shape 36"/>
          <p:cNvSpPr/>
          <p:nvPr/>
        </p:nvSpPr>
        <p:spPr>
          <a:xfrm>
            <a:off x="10012680" y="2505456"/>
            <a:ext cx="1463040" cy="438912"/>
          </a:xfrm>
          <a:prstGeom prst="roundRect">
            <a:avLst>
              <a:gd name="adj" fmla="val 4167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58400" y="2551176"/>
            <a:ext cx="13716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1本一致でも候補維持</a:t>
            </a:r>
            <a:endParaRPr lang="en-US" sz="1160" dirty="0"/>
          </a:p>
        </p:txBody>
      </p:sp>
      <p:sp>
        <p:nvSpPr>
          <p:cNvPr id="41" name="Shape 38"/>
          <p:cNvSpPr/>
          <p:nvPr/>
        </p:nvSpPr>
        <p:spPr>
          <a:xfrm>
            <a:off x="7735824" y="2971800"/>
            <a:ext cx="914400" cy="438912"/>
          </a:xfrm>
          <a:prstGeom prst="roundRect">
            <a:avLst>
              <a:gd name="adj" fmla="val 4167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3017520"/>
            <a:ext cx="8229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再評価</a:t>
            </a:r>
            <a:endParaRPr lang="en-US" sz="1160" dirty="0"/>
          </a:p>
        </p:txBody>
      </p:sp>
      <p:sp>
        <p:nvSpPr>
          <p:cNvPr id="43" name="Shape 40"/>
          <p:cNvSpPr/>
          <p:nvPr/>
        </p:nvSpPr>
        <p:spPr>
          <a:xfrm>
            <a:off x="8668512" y="2971800"/>
            <a:ext cx="1325880" cy="438912"/>
          </a:xfrm>
          <a:prstGeom prst="roundRect">
            <a:avLst>
              <a:gd name="adj" fmla="val 4167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714232" y="3017520"/>
            <a:ext cx="12344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広範囲に必要</a:t>
            </a:r>
            <a:endParaRPr lang="en-US" sz="1160" dirty="0"/>
          </a:p>
        </p:txBody>
      </p:sp>
      <p:sp>
        <p:nvSpPr>
          <p:cNvPr id="45" name="Shape 42"/>
          <p:cNvSpPr/>
          <p:nvPr/>
        </p:nvSpPr>
        <p:spPr>
          <a:xfrm>
            <a:off x="10012680" y="2971800"/>
            <a:ext cx="1463040" cy="438912"/>
          </a:xfrm>
          <a:prstGeom prst="roundRect">
            <a:avLst>
              <a:gd name="adj" fmla="val 4167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10058400" y="3017520"/>
            <a:ext cx="13716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低信頼度だけに集約</a:t>
            </a:r>
            <a:endParaRPr lang="en-US" sz="1160" dirty="0"/>
          </a:p>
        </p:txBody>
      </p:sp>
      <p:sp>
        <p:nvSpPr>
          <p:cNvPr id="47" name="Text 44"/>
          <p:cNvSpPr/>
          <p:nvPr/>
        </p:nvSpPr>
        <p:spPr>
          <a:xfrm>
            <a:off x="7772400" y="402336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原因部材・原因工程の初動判断を早めやすい
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低 energy 側の不安定性を risk として表示できる
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高信頼群を先にさばき、詳細解析対象を減らせる</a:t>
            </a:r>
            <a:endParaRPr lang="en-US" sz="15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199E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活用事例B: Hf / Ta / W の高Z近接ピーークを「アンカー群」で扱う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47472" y="612648"/>
            <a:ext cx="11496751" cy="0"/>
          </a:xfrm>
          <a:prstGeom prst="line">
            <a:avLst/>
          </a:prstGeom>
          <a:noFill/>
          <a:ln w="16510">
            <a:solidFill>
              <a:srgbClr val="8ED7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2815" y="2286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Draft / 匿名化版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97335" y="655624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024128"/>
            <a:ext cx="6400800" cy="5440680"/>
          </a:xfrm>
          <a:prstGeom prst="roundRect">
            <a:avLst>
              <a:gd name="adj" fmla="val 1345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" y="1170432"/>
            <a:ext cx="1783080" cy="219456"/>
          </a:xfrm>
          <a:prstGeom prst="roundRect">
            <a:avLst>
              <a:gd name="adj" fmla="val 33333"/>
            </a:avLst>
          </a:prstGeom>
          <a:solidFill>
            <a:srgbClr val="199EDC"/>
          </a:solidFill>
          <a:ln w="7620">
            <a:solidFill>
              <a:srgbClr val="199E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97864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8〜10 keV 帯の近接ピーーク</a:t>
            </a:r>
            <a:endParaRPr lang="en-US" sz="1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1248" y="1600200"/>
            <a:ext cx="5852160" cy="22860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508760" y="4023360"/>
            <a:ext cx="54864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199ED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563624" y="4105656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99E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Hf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2907792" y="4023360"/>
            <a:ext cx="54864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962656" y="4105656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D95D5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Ta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370832" y="4023360"/>
            <a:ext cx="54864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2F9B6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425696" y="4105656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2F9B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914400" y="4526280"/>
            <a:ext cx="640080" cy="438912"/>
          </a:xfrm>
          <a:prstGeom prst="roundRect">
            <a:avLst>
              <a:gd name="adj" fmla="val 4167"/>
            </a:avLst>
          </a:prstGeom>
          <a:solidFill>
            <a:srgbClr val="199EDC"/>
          </a:solidFill>
          <a:ln w="10160">
            <a:solidFill>
              <a:srgbClr val="199ED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60120" y="459943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元素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1572768" y="4526280"/>
            <a:ext cx="960120" cy="438912"/>
          </a:xfrm>
          <a:prstGeom prst="roundRect">
            <a:avLst>
              <a:gd name="adj" fmla="val 4167"/>
            </a:avLst>
          </a:prstGeom>
          <a:solidFill>
            <a:srgbClr val="199EDC"/>
          </a:solidFill>
          <a:ln w="10160">
            <a:solidFill>
              <a:srgbClr val="199ED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618488" y="459943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energy_1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2551176" y="4526280"/>
            <a:ext cx="960120" cy="438912"/>
          </a:xfrm>
          <a:prstGeom prst="roundRect">
            <a:avLst>
              <a:gd name="adj" fmla="val 4167"/>
            </a:avLst>
          </a:prstGeom>
          <a:solidFill>
            <a:srgbClr val="199EDC"/>
          </a:solidFill>
          <a:ln w="10160">
            <a:solidFill>
              <a:srgbClr val="199ED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596896" y="459943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energy_2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3529584" y="4526280"/>
            <a:ext cx="960120" cy="438912"/>
          </a:xfrm>
          <a:prstGeom prst="roundRect">
            <a:avLst>
              <a:gd name="adj" fmla="val 4167"/>
            </a:avLst>
          </a:prstGeom>
          <a:solidFill>
            <a:srgbClr val="199EDC"/>
          </a:solidFill>
          <a:ln w="10160">
            <a:solidFill>
              <a:srgbClr val="199ED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575304" y="459943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energy_3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914400" y="4992624"/>
            <a:ext cx="640080" cy="438912"/>
          </a:xfrm>
          <a:prstGeom prst="roundRect">
            <a:avLst>
              <a:gd name="adj" fmla="val 4167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60120" y="5038344"/>
            <a:ext cx="548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Hf</a:t>
            </a:r>
            <a:endParaRPr lang="en-US" sz="1180" dirty="0"/>
          </a:p>
        </p:txBody>
      </p:sp>
      <p:sp>
        <p:nvSpPr>
          <p:cNvPr id="26" name="Shape 23"/>
          <p:cNvSpPr/>
          <p:nvPr/>
        </p:nvSpPr>
        <p:spPr>
          <a:xfrm>
            <a:off x="1572768" y="4992624"/>
            <a:ext cx="960120" cy="438912"/>
          </a:xfrm>
          <a:prstGeom prst="roundRect">
            <a:avLst>
              <a:gd name="adj" fmla="val 4167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618488" y="5038344"/>
            <a:ext cx="8686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7.8990</a:t>
            </a:r>
            <a:endParaRPr lang="en-US" sz="1180" dirty="0"/>
          </a:p>
        </p:txBody>
      </p:sp>
      <p:sp>
        <p:nvSpPr>
          <p:cNvPr id="28" name="Shape 25"/>
          <p:cNvSpPr/>
          <p:nvPr/>
        </p:nvSpPr>
        <p:spPr>
          <a:xfrm>
            <a:off x="2551176" y="4992624"/>
            <a:ext cx="960120" cy="438912"/>
          </a:xfrm>
          <a:prstGeom prst="roundRect">
            <a:avLst>
              <a:gd name="adj" fmla="val 4167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596896" y="5038344"/>
            <a:ext cx="8686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9.0227</a:t>
            </a:r>
            <a:endParaRPr lang="en-US" sz="1180" dirty="0"/>
          </a:p>
        </p:txBody>
      </p:sp>
      <p:sp>
        <p:nvSpPr>
          <p:cNvPr id="30" name="Shape 27"/>
          <p:cNvSpPr/>
          <p:nvPr/>
        </p:nvSpPr>
        <p:spPr>
          <a:xfrm>
            <a:off x="3529584" y="4992624"/>
            <a:ext cx="960120" cy="438912"/>
          </a:xfrm>
          <a:prstGeom prst="roundRect">
            <a:avLst>
              <a:gd name="adj" fmla="val 4167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575304" y="5038344"/>
            <a:ext cx="8686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9.3473</a:t>
            </a:r>
            <a:endParaRPr lang="en-US" sz="1180" dirty="0"/>
          </a:p>
        </p:txBody>
      </p:sp>
      <p:sp>
        <p:nvSpPr>
          <p:cNvPr id="32" name="Shape 29"/>
          <p:cNvSpPr/>
          <p:nvPr/>
        </p:nvSpPr>
        <p:spPr>
          <a:xfrm>
            <a:off x="914400" y="5458968"/>
            <a:ext cx="640080" cy="438912"/>
          </a:xfrm>
          <a:prstGeom prst="roundRect">
            <a:avLst>
              <a:gd name="adj" fmla="val 4167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60120" y="5504688"/>
            <a:ext cx="548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Ta</a:t>
            </a:r>
            <a:endParaRPr lang="en-US" sz="1180" dirty="0"/>
          </a:p>
        </p:txBody>
      </p:sp>
      <p:sp>
        <p:nvSpPr>
          <p:cNvPr id="34" name="Shape 31"/>
          <p:cNvSpPr/>
          <p:nvPr/>
        </p:nvSpPr>
        <p:spPr>
          <a:xfrm>
            <a:off x="1572768" y="5458968"/>
            <a:ext cx="960120" cy="438912"/>
          </a:xfrm>
          <a:prstGeom prst="roundRect">
            <a:avLst>
              <a:gd name="adj" fmla="val 4167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618488" y="5504688"/>
            <a:ext cx="8686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8.1461</a:t>
            </a:r>
            <a:endParaRPr lang="en-US" sz="1180" dirty="0"/>
          </a:p>
        </p:txBody>
      </p:sp>
      <p:sp>
        <p:nvSpPr>
          <p:cNvPr id="36" name="Shape 33"/>
          <p:cNvSpPr/>
          <p:nvPr/>
        </p:nvSpPr>
        <p:spPr>
          <a:xfrm>
            <a:off x="2551176" y="5458968"/>
            <a:ext cx="960120" cy="438912"/>
          </a:xfrm>
          <a:prstGeom prst="roundRect">
            <a:avLst>
              <a:gd name="adj" fmla="val 4167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2596896" y="5504688"/>
            <a:ext cx="8686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9.3431</a:t>
            </a:r>
            <a:endParaRPr lang="en-US" sz="1180" dirty="0"/>
          </a:p>
        </p:txBody>
      </p:sp>
      <p:sp>
        <p:nvSpPr>
          <p:cNvPr id="38" name="Shape 35"/>
          <p:cNvSpPr/>
          <p:nvPr/>
        </p:nvSpPr>
        <p:spPr>
          <a:xfrm>
            <a:off x="3529584" y="5458968"/>
            <a:ext cx="960120" cy="438912"/>
          </a:xfrm>
          <a:prstGeom prst="roundRect">
            <a:avLst>
              <a:gd name="adj" fmla="val 4167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575304" y="5504688"/>
            <a:ext cx="8686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9.6518</a:t>
            </a:r>
            <a:endParaRPr lang="en-US" sz="1180" dirty="0"/>
          </a:p>
        </p:txBody>
      </p:sp>
      <p:sp>
        <p:nvSpPr>
          <p:cNvPr id="40" name="Shape 37"/>
          <p:cNvSpPr/>
          <p:nvPr/>
        </p:nvSpPr>
        <p:spPr>
          <a:xfrm>
            <a:off x="914400" y="5925312"/>
            <a:ext cx="640080" cy="438912"/>
          </a:xfrm>
          <a:prstGeom prst="roundRect">
            <a:avLst>
              <a:gd name="adj" fmla="val 4167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960120" y="5971032"/>
            <a:ext cx="5486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</a:t>
            </a:r>
            <a:endParaRPr lang="en-US" sz="1180" dirty="0"/>
          </a:p>
        </p:txBody>
      </p:sp>
      <p:sp>
        <p:nvSpPr>
          <p:cNvPr id="42" name="Shape 39"/>
          <p:cNvSpPr/>
          <p:nvPr/>
        </p:nvSpPr>
        <p:spPr>
          <a:xfrm>
            <a:off x="1572768" y="5925312"/>
            <a:ext cx="960120" cy="438912"/>
          </a:xfrm>
          <a:prstGeom prst="roundRect">
            <a:avLst>
              <a:gd name="adj" fmla="val 4167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618488" y="5971032"/>
            <a:ext cx="8686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8.3976</a:t>
            </a:r>
            <a:endParaRPr lang="en-US" sz="1180" dirty="0"/>
          </a:p>
        </p:txBody>
      </p:sp>
      <p:sp>
        <p:nvSpPr>
          <p:cNvPr id="44" name="Shape 41"/>
          <p:cNvSpPr/>
          <p:nvPr/>
        </p:nvSpPr>
        <p:spPr>
          <a:xfrm>
            <a:off x="2551176" y="5925312"/>
            <a:ext cx="960120" cy="438912"/>
          </a:xfrm>
          <a:prstGeom prst="roundRect">
            <a:avLst>
              <a:gd name="adj" fmla="val 4167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2596896" y="5971032"/>
            <a:ext cx="8686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9.6724</a:t>
            </a:r>
            <a:endParaRPr lang="en-US" sz="1180" dirty="0"/>
          </a:p>
        </p:txBody>
      </p:sp>
      <p:sp>
        <p:nvSpPr>
          <p:cNvPr id="46" name="Shape 43"/>
          <p:cNvSpPr/>
          <p:nvPr/>
        </p:nvSpPr>
        <p:spPr>
          <a:xfrm>
            <a:off x="3529584" y="5925312"/>
            <a:ext cx="960120" cy="438912"/>
          </a:xfrm>
          <a:prstGeom prst="roundRect">
            <a:avLst>
              <a:gd name="adj" fmla="val 4167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3575304" y="5971032"/>
            <a:ext cx="8686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9.9615</a:t>
            </a:r>
            <a:endParaRPr lang="en-US" sz="1180" dirty="0"/>
          </a:p>
        </p:txBody>
      </p:sp>
      <p:sp>
        <p:nvSpPr>
          <p:cNvPr id="48" name="Shape 45"/>
          <p:cNvSpPr/>
          <p:nvPr/>
        </p:nvSpPr>
        <p:spPr>
          <a:xfrm>
            <a:off x="7269480" y="1024128"/>
            <a:ext cx="4297680" cy="5440680"/>
          </a:xfrm>
          <a:prstGeom prst="roundRect">
            <a:avLst>
              <a:gd name="adj" fmla="val 1702"/>
            </a:avLst>
          </a:prstGeom>
          <a:solidFill>
            <a:srgbClr val="FFFDF8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7443216" y="1170432"/>
            <a:ext cx="1417320" cy="219456"/>
          </a:xfrm>
          <a:prstGeom prst="roundRect">
            <a:avLst>
              <a:gd name="adj" fmla="val 33333"/>
            </a:avLst>
          </a:prstGeom>
          <a:solidFill>
            <a:srgbClr val="E39A31"/>
          </a:solidFill>
          <a:ln w="7620">
            <a:solidFill>
              <a:srgbClr val="E39A31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7443216" y="1197864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提案手法の効き方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7424928" y="1572768"/>
            <a:ext cx="3794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単一ピーークごとに独立係数を持たせるのではなく、Hf / Ta / W をそれぞれアンカー群で束ねる
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1本しか見えないときは候補維持、2本以上が整合すると信頼度を上げる
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低信頼サンプルだけ DTSA-II 等の高忠実度計算へ送る</a:t>
            </a:r>
            <a:endParaRPr lang="en-US" sz="1540" dirty="0"/>
          </a:p>
        </p:txBody>
      </p:sp>
      <p:sp>
        <p:nvSpPr>
          <p:cNvPr id="52" name="Shape 49"/>
          <p:cNvSpPr/>
          <p:nvPr/>
        </p:nvSpPr>
        <p:spPr>
          <a:xfrm>
            <a:off x="7424928" y="3794760"/>
            <a:ext cx="3749040" cy="1463040"/>
          </a:xfrm>
          <a:prstGeom prst="roundRect">
            <a:avLst>
              <a:gd name="adj" fmla="val 5000"/>
            </a:avLst>
          </a:prstGeom>
          <a:solidFill>
            <a:srgbClr val="F8FBFE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7589520" y="406908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初期版の役割は「候補絞り込み」まで。重元素の近接系は、詳細定量を後段へ分離できる点が価値。</a:t>
            </a:r>
            <a:endParaRPr lang="en-US" sz="15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199E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活用事例C: 小粒子・薄付着物では「前後スペクトル + SEM特徴」が効く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47472" y="612648"/>
            <a:ext cx="11496751" cy="0"/>
          </a:xfrm>
          <a:prstGeom prst="line">
            <a:avLst/>
          </a:prstGeom>
          <a:noFill/>
          <a:ln w="16510">
            <a:solidFill>
              <a:srgbClr val="8ED7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2815" y="2286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Draft / 匿名化版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97335" y="655624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024128"/>
            <a:ext cx="3657600" cy="5440680"/>
          </a:xfrm>
          <a:prstGeom prst="roundRect">
            <a:avLst>
              <a:gd name="adj" fmla="val 2000"/>
            </a:avLst>
          </a:prstGeom>
          <a:solidFill>
            <a:srgbClr val="FFFDF8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" y="1170432"/>
            <a:ext cx="960120" cy="219456"/>
          </a:xfrm>
          <a:prstGeom prst="roundRect">
            <a:avLst>
              <a:gd name="adj" fmla="val 33333"/>
            </a:avLst>
          </a:prstGeom>
          <a:solidFill>
            <a:srgbClr val="E39A31"/>
          </a:solidFill>
          <a:ln w="7620">
            <a:solidFill>
              <a:srgbClr val="E39A3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97864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現場課題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4400" y="4526280"/>
            <a:ext cx="2971800" cy="384048"/>
          </a:xfrm>
          <a:prstGeom prst="rect">
            <a:avLst/>
          </a:prstGeom>
          <a:solidFill>
            <a:srgbClr val="D9E9F3"/>
          </a:solidFill>
          <a:ln w="10160">
            <a:solidFill>
              <a:srgbClr val="B4C8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74520" y="4636008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44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pattern / wafer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74520" y="4187952"/>
            <a:ext cx="777240" cy="384048"/>
          </a:xfrm>
          <a:prstGeom prst="arc">
            <a:avLst/>
          </a:prstGeom>
          <a:solidFill>
            <a:srgbClr val="FFF1D9"/>
          </a:solidFill>
          <a:ln w="13970">
            <a:solidFill>
              <a:srgbClr val="E39A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73936" y="3950208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small particle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41248" y="1572768"/>
            <a:ext cx="3108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粒子が小さいと Si / O 等の基板由来信号が勝ちやすい
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粒子面積だけでは EDX の見え方を決めきれない
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SEM の形態情報と前後スペクトルを足すと推定が安定しやすい</a:t>
            </a:r>
            <a:endParaRPr lang="en-US" sz="1540" dirty="0"/>
          </a:p>
        </p:txBody>
      </p:sp>
      <p:sp>
        <p:nvSpPr>
          <p:cNvPr id="14" name="Shape 12"/>
          <p:cNvSpPr/>
          <p:nvPr/>
        </p:nvSpPr>
        <p:spPr>
          <a:xfrm>
            <a:off x="4526280" y="1024128"/>
            <a:ext cx="3291840" cy="5440680"/>
          </a:xfrm>
          <a:prstGeom prst="roundRect">
            <a:avLst>
              <a:gd name="adj" fmla="val 2222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0016" y="1170432"/>
            <a:ext cx="822960" cy="219456"/>
          </a:xfrm>
          <a:prstGeom prst="roundRect">
            <a:avLst>
              <a:gd name="adj" fmla="val 33333"/>
            </a:avLst>
          </a:prstGeom>
          <a:solidFill>
            <a:srgbClr val="199EDC"/>
          </a:solidFill>
          <a:ln w="7620">
            <a:solidFill>
              <a:srgbClr val="199E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0016" y="1197864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使い方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81728" y="1572768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clean wafer / 前工程スペクトルを substrate basis として一緒に入れる
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SEM 画像は面積・円形度・長短比などの低次元特徴へ圧縮する
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AI は主経路のまま、prior だけを追加する</a:t>
            </a:r>
            <a:endParaRPr lang="en-US" sz="154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00600" y="3794760"/>
            <a:ext cx="2697480" cy="114300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8092440" y="1024128"/>
            <a:ext cx="3474720" cy="5440680"/>
          </a:xfrm>
          <a:prstGeom prst="roundRect">
            <a:avLst>
              <a:gd name="adj" fmla="val 2105"/>
            </a:avLst>
          </a:prstGeom>
          <a:solidFill>
            <a:srgbClr val="F5FBF6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266176" y="1170432"/>
            <a:ext cx="914400" cy="219456"/>
          </a:xfrm>
          <a:prstGeom prst="roundRect">
            <a:avLst>
              <a:gd name="adj" fmla="val 33333"/>
            </a:avLst>
          </a:prstGeom>
          <a:solidFill>
            <a:srgbClr val="2F9B63"/>
          </a:solidFill>
          <a:ln w="7620">
            <a:solidFill>
              <a:srgbClr val="2F9B6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66176" y="119786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期待効果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8247888" y="1572768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基板成分を粒子成分として誤帰属する頻度を下げやすい
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SEM を prior に使うため、画像モデルを大きくしなくてよい
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難例のみ高忠実度シミュレーションへ送る設計と相性がよい</a:t>
            </a:r>
            <a:endParaRPr lang="en-US" sz="1540" dirty="0"/>
          </a:p>
        </p:txBody>
      </p:sp>
      <p:sp>
        <p:nvSpPr>
          <p:cNvPr id="23" name="Shape 20"/>
          <p:cNvSpPr/>
          <p:nvPr/>
        </p:nvSpPr>
        <p:spPr>
          <a:xfrm>
            <a:off x="8275320" y="3822192"/>
            <a:ext cx="2971800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430768" y="409651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面積のみでは不足。等価直径 + 形状クラス + substrate share の方が実務向き。</a:t>
            </a:r>
            <a:endParaRPr lang="en-US" sz="14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199E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新規性・進歩性の整理（推定）: 発明の芯は「入力・生成・信頼度」にある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47472" y="612648"/>
            <a:ext cx="11496751" cy="0"/>
          </a:xfrm>
          <a:prstGeom prst="line">
            <a:avLst/>
          </a:prstGeom>
          <a:noFill/>
          <a:ln w="16510">
            <a:solidFill>
              <a:srgbClr val="8ED7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2815" y="2286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Draft / 匿名化版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97335" y="655624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024128"/>
            <a:ext cx="7132320" cy="5440680"/>
          </a:xfrm>
          <a:prstGeom prst="roundRect">
            <a:avLst>
              <a:gd name="adj" fmla="val 1345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170432"/>
            <a:ext cx="1143000" cy="219456"/>
          </a:xfrm>
          <a:prstGeom prst="roundRect">
            <a:avLst>
              <a:gd name="adj" fmla="val 33333"/>
            </a:avLst>
          </a:prstGeom>
          <a:solidFill>
            <a:srgbClr val="199EDC"/>
          </a:solidFill>
          <a:ln w="7620">
            <a:solidFill>
              <a:srgbClr val="199E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197864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比較マトリクス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49808" y="1499616"/>
            <a:ext cx="1463040" cy="521208"/>
          </a:xfrm>
          <a:prstGeom prst="roundRect">
            <a:avLst>
              <a:gd name="adj" fmla="val 3509"/>
            </a:avLst>
          </a:prstGeom>
          <a:solidFill>
            <a:srgbClr val="199EDC"/>
          </a:solidFill>
          <a:ln w="10160">
            <a:solidFill>
              <a:srgbClr val="199E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572768"/>
            <a:ext cx="1371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項目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231136" y="1499616"/>
            <a:ext cx="1280160" cy="521208"/>
          </a:xfrm>
          <a:prstGeom prst="roundRect">
            <a:avLst>
              <a:gd name="adj" fmla="val 3509"/>
            </a:avLst>
          </a:prstGeom>
          <a:solidFill>
            <a:srgbClr val="199EDC"/>
          </a:solidFill>
          <a:ln w="10160">
            <a:solidFill>
              <a:srgbClr val="199E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76856" y="1572768"/>
            <a:ext cx="1188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簡易辞書を共通利用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529584" y="1499616"/>
            <a:ext cx="1554480" cy="521208"/>
          </a:xfrm>
          <a:prstGeom prst="roundRect">
            <a:avLst>
              <a:gd name="adj" fmla="val 3509"/>
            </a:avLst>
          </a:prstGeom>
          <a:solidFill>
            <a:srgbClr val="199EDC"/>
          </a:solidFill>
          <a:ln w="10160">
            <a:solidFill>
              <a:srgbClr val="199E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75304" y="1572768"/>
            <a:ext cx="1463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辞書起点の人工EDX学習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102352" y="1499616"/>
            <a:ext cx="1371600" cy="521208"/>
          </a:xfrm>
          <a:prstGeom prst="roundRect">
            <a:avLst>
              <a:gd name="adj" fmla="val 3509"/>
            </a:avLst>
          </a:prstGeom>
          <a:solidFill>
            <a:srgbClr val="199EDC"/>
          </a:solidFill>
          <a:ln w="10160">
            <a:solidFill>
              <a:srgbClr val="199E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48072" y="1572768"/>
            <a:ext cx="1280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アンカー整合信頼度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92240" y="1499616"/>
            <a:ext cx="1097280" cy="521208"/>
          </a:xfrm>
          <a:prstGeom prst="roundRect">
            <a:avLst>
              <a:gd name="adj" fmla="val 3509"/>
            </a:avLst>
          </a:prstGeom>
          <a:solidFill>
            <a:srgbClr val="199EDC"/>
          </a:solidFill>
          <a:ln w="10160">
            <a:solidFill>
              <a:srgbClr val="199E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1572768"/>
            <a:ext cx="1005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低信頼のみ再評価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49808" y="2048256"/>
            <a:ext cx="1463040" cy="521208"/>
          </a:xfrm>
          <a:prstGeom prst="roundRect">
            <a:avLst>
              <a:gd name="adj" fmla="val 3509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2093976"/>
            <a:ext cx="137160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ピーク fitting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2231136" y="2048256"/>
            <a:ext cx="1280160" cy="521208"/>
          </a:xfrm>
          <a:prstGeom prst="roundRect">
            <a:avLst>
              <a:gd name="adj" fmla="val 3509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76856" y="2093976"/>
            <a:ext cx="118872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△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3529584" y="2048256"/>
            <a:ext cx="1554480" cy="521208"/>
          </a:xfrm>
          <a:prstGeom prst="roundRect">
            <a:avLst>
              <a:gd name="adj" fmla="val 3509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75304" y="2093976"/>
            <a:ext cx="146304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5102352" y="2048256"/>
            <a:ext cx="1371600" cy="521208"/>
          </a:xfrm>
          <a:prstGeom prst="roundRect">
            <a:avLst>
              <a:gd name="adj" fmla="val 3509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48072" y="2093976"/>
            <a:ext cx="128016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6492240" y="2048256"/>
            <a:ext cx="1097280" cy="521208"/>
          </a:xfrm>
          <a:prstGeom prst="roundRect">
            <a:avLst>
              <a:gd name="adj" fmla="val 3509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2093976"/>
            <a:ext cx="100584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△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749808" y="2596896"/>
            <a:ext cx="1463040" cy="521208"/>
          </a:xfrm>
          <a:prstGeom prst="roundRect">
            <a:avLst>
              <a:gd name="adj" fmla="val 3509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2642616"/>
            <a:ext cx="137160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DTSA-II / PENELOPE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2231136" y="2596896"/>
            <a:ext cx="1280160" cy="521208"/>
          </a:xfrm>
          <a:prstGeom prst="roundRect">
            <a:avLst>
              <a:gd name="adj" fmla="val 3509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76856" y="2642616"/>
            <a:ext cx="118872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1120" dirty="0"/>
          </a:p>
        </p:txBody>
      </p:sp>
      <p:sp>
        <p:nvSpPr>
          <p:cNvPr id="33" name="Shape 31"/>
          <p:cNvSpPr/>
          <p:nvPr/>
        </p:nvSpPr>
        <p:spPr>
          <a:xfrm>
            <a:off x="3529584" y="2596896"/>
            <a:ext cx="1554480" cy="521208"/>
          </a:xfrm>
          <a:prstGeom prst="roundRect">
            <a:avLst>
              <a:gd name="adj" fmla="val 3509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75304" y="2642616"/>
            <a:ext cx="146304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△</a:t>
            </a:r>
            <a:endParaRPr lang="en-US" sz="1120" dirty="0"/>
          </a:p>
        </p:txBody>
      </p:sp>
      <p:sp>
        <p:nvSpPr>
          <p:cNvPr id="35" name="Shape 33"/>
          <p:cNvSpPr/>
          <p:nvPr/>
        </p:nvSpPr>
        <p:spPr>
          <a:xfrm>
            <a:off x="5102352" y="2596896"/>
            <a:ext cx="1371600" cy="521208"/>
          </a:xfrm>
          <a:prstGeom prst="roundRect">
            <a:avLst>
              <a:gd name="adj" fmla="val 3509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48072" y="2642616"/>
            <a:ext cx="128016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1120" dirty="0"/>
          </a:p>
        </p:txBody>
      </p:sp>
      <p:sp>
        <p:nvSpPr>
          <p:cNvPr id="37" name="Shape 35"/>
          <p:cNvSpPr/>
          <p:nvPr/>
        </p:nvSpPr>
        <p:spPr>
          <a:xfrm>
            <a:off x="6492240" y="2596896"/>
            <a:ext cx="1097280" cy="521208"/>
          </a:xfrm>
          <a:prstGeom prst="roundRect">
            <a:avLst>
              <a:gd name="adj" fmla="val 3509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37960" y="2642616"/>
            <a:ext cx="100584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1120" dirty="0"/>
          </a:p>
        </p:txBody>
      </p:sp>
      <p:sp>
        <p:nvSpPr>
          <p:cNvPr id="39" name="Shape 37"/>
          <p:cNvSpPr/>
          <p:nvPr/>
        </p:nvSpPr>
        <p:spPr>
          <a:xfrm>
            <a:off x="749808" y="3145536"/>
            <a:ext cx="1463040" cy="521208"/>
          </a:xfrm>
          <a:prstGeom prst="roundRect">
            <a:avLst>
              <a:gd name="adj" fmla="val 3509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" y="3191256"/>
            <a:ext cx="137160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SEM画像DL</a:t>
            </a:r>
            <a:endParaRPr lang="en-US" sz="1120" dirty="0"/>
          </a:p>
        </p:txBody>
      </p:sp>
      <p:sp>
        <p:nvSpPr>
          <p:cNvPr id="41" name="Shape 39"/>
          <p:cNvSpPr/>
          <p:nvPr/>
        </p:nvSpPr>
        <p:spPr>
          <a:xfrm>
            <a:off x="2231136" y="3145536"/>
            <a:ext cx="1280160" cy="521208"/>
          </a:xfrm>
          <a:prstGeom prst="roundRect">
            <a:avLst>
              <a:gd name="adj" fmla="val 3509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276856" y="3191256"/>
            <a:ext cx="118872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1120" dirty="0"/>
          </a:p>
        </p:txBody>
      </p:sp>
      <p:sp>
        <p:nvSpPr>
          <p:cNvPr id="43" name="Shape 41"/>
          <p:cNvSpPr/>
          <p:nvPr/>
        </p:nvSpPr>
        <p:spPr>
          <a:xfrm>
            <a:off x="3529584" y="3145536"/>
            <a:ext cx="1554480" cy="521208"/>
          </a:xfrm>
          <a:prstGeom prst="roundRect">
            <a:avLst>
              <a:gd name="adj" fmla="val 3509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75304" y="3191256"/>
            <a:ext cx="146304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1120" dirty="0"/>
          </a:p>
        </p:txBody>
      </p:sp>
      <p:sp>
        <p:nvSpPr>
          <p:cNvPr id="45" name="Shape 43"/>
          <p:cNvSpPr/>
          <p:nvPr/>
        </p:nvSpPr>
        <p:spPr>
          <a:xfrm>
            <a:off x="5102352" y="3145536"/>
            <a:ext cx="1371600" cy="521208"/>
          </a:xfrm>
          <a:prstGeom prst="roundRect">
            <a:avLst>
              <a:gd name="adj" fmla="val 3509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148072" y="3191256"/>
            <a:ext cx="128016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1120" dirty="0"/>
          </a:p>
        </p:txBody>
      </p:sp>
      <p:sp>
        <p:nvSpPr>
          <p:cNvPr id="47" name="Shape 45"/>
          <p:cNvSpPr/>
          <p:nvPr/>
        </p:nvSpPr>
        <p:spPr>
          <a:xfrm>
            <a:off x="6492240" y="3145536"/>
            <a:ext cx="1097280" cy="521208"/>
          </a:xfrm>
          <a:prstGeom prst="roundRect">
            <a:avLst>
              <a:gd name="adj" fmla="val 3509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37960" y="3191256"/>
            <a:ext cx="100584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△</a:t>
            </a:r>
            <a:endParaRPr lang="en-US" sz="1120" dirty="0"/>
          </a:p>
        </p:txBody>
      </p:sp>
      <p:sp>
        <p:nvSpPr>
          <p:cNvPr id="49" name="Shape 47"/>
          <p:cNvSpPr/>
          <p:nvPr/>
        </p:nvSpPr>
        <p:spPr>
          <a:xfrm>
            <a:off x="749808" y="3694176"/>
            <a:ext cx="1463040" cy="521208"/>
          </a:xfrm>
          <a:prstGeom prst="roundRect">
            <a:avLst>
              <a:gd name="adj" fmla="val 3509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95528" y="3739896"/>
            <a:ext cx="137160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SEM-EDS融合</a:t>
            </a:r>
            <a:endParaRPr lang="en-US" sz="1120" dirty="0"/>
          </a:p>
        </p:txBody>
      </p:sp>
      <p:sp>
        <p:nvSpPr>
          <p:cNvPr id="51" name="Shape 49"/>
          <p:cNvSpPr/>
          <p:nvPr/>
        </p:nvSpPr>
        <p:spPr>
          <a:xfrm>
            <a:off x="2231136" y="3694176"/>
            <a:ext cx="1280160" cy="521208"/>
          </a:xfrm>
          <a:prstGeom prst="roundRect">
            <a:avLst>
              <a:gd name="adj" fmla="val 3509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276856" y="3739896"/>
            <a:ext cx="118872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1120" dirty="0"/>
          </a:p>
        </p:txBody>
      </p:sp>
      <p:sp>
        <p:nvSpPr>
          <p:cNvPr id="53" name="Shape 51"/>
          <p:cNvSpPr/>
          <p:nvPr/>
        </p:nvSpPr>
        <p:spPr>
          <a:xfrm>
            <a:off x="3529584" y="3694176"/>
            <a:ext cx="1554480" cy="521208"/>
          </a:xfrm>
          <a:prstGeom prst="roundRect">
            <a:avLst>
              <a:gd name="adj" fmla="val 3509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575304" y="3739896"/>
            <a:ext cx="146304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△</a:t>
            </a:r>
            <a:endParaRPr lang="en-US" sz="1120" dirty="0"/>
          </a:p>
        </p:txBody>
      </p:sp>
      <p:sp>
        <p:nvSpPr>
          <p:cNvPr id="55" name="Shape 53"/>
          <p:cNvSpPr/>
          <p:nvPr/>
        </p:nvSpPr>
        <p:spPr>
          <a:xfrm>
            <a:off x="5102352" y="3694176"/>
            <a:ext cx="1371600" cy="521208"/>
          </a:xfrm>
          <a:prstGeom prst="roundRect">
            <a:avLst>
              <a:gd name="adj" fmla="val 3509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148072" y="3739896"/>
            <a:ext cx="128016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△</a:t>
            </a:r>
            <a:endParaRPr lang="en-US" sz="1120" dirty="0"/>
          </a:p>
        </p:txBody>
      </p:sp>
      <p:sp>
        <p:nvSpPr>
          <p:cNvPr id="57" name="Shape 55"/>
          <p:cNvSpPr/>
          <p:nvPr/>
        </p:nvSpPr>
        <p:spPr>
          <a:xfrm>
            <a:off x="6492240" y="3694176"/>
            <a:ext cx="1097280" cy="521208"/>
          </a:xfrm>
          <a:prstGeom prst="roundRect">
            <a:avLst>
              <a:gd name="adj" fmla="val 3509"/>
            </a:avLst>
          </a:prstGeom>
          <a:solidFill>
            <a:srgbClr val="F5F9FC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537960" y="3739896"/>
            <a:ext cx="100584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△</a:t>
            </a:r>
            <a:endParaRPr lang="en-US" sz="1120" dirty="0"/>
          </a:p>
        </p:txBody>
      </p:sp>
      <p:sp>
        <p:nvSpPr>
          <p:cNvPr id="59" name="Shape 57"/>
          <p:cNvSpPr/>
          <p:nvPr/>
        </p:nvSpPr>
        <p:spPr>
          <a:xfrm>
            <a:off x="749808" y="4242816"/>
            <a:ext cx="1463040" cy="521208"/>
          </a:xfrm>
          <a:prstGeom prst="roundRect">
            <a:avLst>
              <a:gd name="adj" fmla="val 3509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95528" y="4288536"/>
            <a:ext cx="137160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本提案</a:t>
            </a:r>
            <a:endParaRPr lang="en-US" sz="1120" dirty="0"/>
          </a:p>
        </p:txBody>
      </p:sp>
      <p:sp>
        <p:nvSpPr>
          <p:cNvPr id="61" name="Shape 59"/>
          <p:cNvSpPr/>
          <p:nvPr/>
        </p:nvSpPr>
        <p:spPr>
          <a:xfrm>
            <a:off x="2231136" y="4242816"/>
            <a:ext cx="1280160" cy="521208"/>
          </a:xfrm>
          <a:prstGeom prst="roundRect">
            <a:avLst>
              <a:gd name="adj" fmla="val 3509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276856" y="4288536"/>
            <a:ext cx="118872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</a:t>
            </a:r>
            <a:endParaRPr lang="en-US" sz="1120" dirty="0"/>
          </a:p>
        </p:txBody>
      </p:sp>
      <p:sp>
        <p:nvSpPr>
          <p:cNvPr id="63" name="Shape 61"/>
          <p:cNvSpPr/>
          <p:nvPr/>
        </p:nvSpPr>
        <p:spPr>
          <a:xfrm>
            <a:off x="3529584" y="4242816"/>
            <a:ext cx="1554480" cy="521208"/>
          </a:xfrm>
          <a:prstGeom prst="roundRect">
            <a:avLst>
              <a:gd name="adj" fmla="val 3509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575304" y="4288536"/>
            <a:ext cx="146304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</a:t>
            </a:r>
            <a:endParaRPr lang="en-US" sz="1120" dirty="0"/>
          </a:p>
        </p:txBody>
      </p:sp>
      <p:sp>
        <p:nvSpPr>
          <p:cNvPr id="65" name="Shape 63"/>
          <p:cNvSpPr/>
          <p:nvPr/>
        </p:nvSpPr>
        <p:spPr>
          <a:xfrm>
            <a:off x="5102352" y="4242816"/>
            <a:ext cx="1371600" cy="521208"/>
          </a:xfrm>
          <a:prstGeom prst="roundRect">
            <a:avLst>
              <a:gd name="adj" fmla="val 3509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148072" y="4288536"/>
            <a:ext cx="128016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</a:t>
            </a:r>
            <a:endParaRPr lang="en-US" sz="1120" dirty="0"/>
          </a:p>
        </p:txBody>
      </p:sp>
      <p:sp>
        <p:nvSpPr>
          <p:cNvPr id="67" name="Shape 65"/>
          <p:cNvSpPr/>
          <p:nvPr/>
        </p:nvSpPr>
        <p:spPr>
          <a:xfrm>
            <a:off x="6492240" y="4242816"/>
            <a:ext cx="1097280" cy="521208"/>
          </a:xfrm>
          <a:prstGeom prst="roundRect">
            <a:avLst>
              <a:gd name="adj" fmla="val 3509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537960" y="4288536"/>
            <a:ext cx="100584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</a:t>
            </a:r>
            <a:endParaRPr lang="en-US" sz="1120" dirty="0"/>
          </a:p>
        </p:txBody>
      </p:sp>
      <p:sp>
        <p:nvSpPr>
          <p:cNvPr id="69" name="Shape 67"/>
          <p:cNvSpPr/>
          <p:nvPr/>
        </p:nvSpPr>
        <p:spPr>
          <a:xfrm>
            <a:off x="7973568" y="1024128"/>
            <a:ext cx="3611880" cy="5440680"/>
          </a:xfrm>
          <a:prstGeom prst="roundRect">
            <a:avLst>
              <a:gd name="adj" fmla="val 2025"/>
            </a:avLst>
          </a:prstGeom>
          <a:solidFill>
            <a:srgbClr val="FFFDF8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156448" y="1170432"/>
            <a:ext cx="1097280" cy="219456"/>
          </a:xfrm>
          <a:prstGeom prst="roundRect">
            <a:avLst>
              <a:gd name="adj" fmla="val 33333"/>
            </a:avLst>
          </a:prstGeom>
          <a:solidFill>
            <a:srgbClr val="E39A31"/>
          </a:solidFill>
          <a:ln w="7620">
            <a:solidFill>
              <a:srgbClr val="E39A3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156448" y="1197864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新規性の核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8156448" y="1572768"/>
            <a:ext cx="3063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同じ辞書を、生成・学習・推論・信頼度で共通利用する点
</a:t>
            </a:r>
            <a:endParaRPr lang="en-US" sz="1530" dirty="0"/>
          </a:p>
          <a:p>
            <a:pPr indent="0" marL="0">
              <a:buNone/>
            </a:pPr>
            <a:r>
              <a:rPr lang="en-US" sz="153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line dropout / overlap / substrate mix など「失敗モード」を人工データに組み込む点
</a:t>
            </a:r>
            <a:endParaRPr lang="en-US" sz="1530" dirty="0"/>
          </a:p>
          <a:p>
            <a:pPr indent="0" marL="0">
              <a:buNone/>
            </a:pPr>
            <a:r>
              <a:rPr lang="en-US" sz="153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AI確率だけでなく、複数アンカー整合から説明可能な confidence を出す点</a:t>
            </a:r>
            <a:endParaRPr lang="en-US" sz="1530" dirty="0"/>
          </a:p>
        </p:txBody>
      </p:sp>
      <p:sp>
        <p:nvSpPr>
          <p:cNvPr id="73" name="Shape 71"/>
          <p:cNvSpPr/>
          <p:nvPr/>
        </p:nvSpPr>
        <p:spPr>
          <a:xfrm>
            <a:off x="8156448" y="3794760"/>
            <a:ext cx="3063240" cy="1600200"/>
          </a:xfrm>
          <a:prstGeom prst="roundRect">
            <a:avLst>
              <a:gd name="adj" fmla="val 4571"/>
            </a:avLst>
          </a:prstGeom>
          <a:solidFill>
            <a:srgbClr val="F8FBFE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302752" y="40690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進歩性の主張軸は「AIだから」ではなく、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入力データの作り方・特徴量の取り方・信頼度設計に置くと整理しやすい。</a:t>
            </a:r>
            <a:endParaRPr lang="en-US" sz="14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199E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請求項例（たたき台）: 方法 / システム / プログラムの3本で整理しやすい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47472" y="612648"/>
            <a:ext cx="11496751" cy="0"/>
          </a:xfrm>
          <a:prstGeom prst="line">
            <a:avLst/>
          </a:prstGeom>
          <a:noFill/>
          <a:ln w="16510">
            <a:solidFill>
              <a:srgbClr val="8ED7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2815" y="2286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Draft / 匿名化版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97335" y="655624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21792" y="1261872"/>
            <a:ext cx="2788920" cy="4754880"/>
          </a:xfrm>
          <a:prstGeom prst="roundRect">
            <a:avLst>
              <a:gd name="adj" fmla="val 2623"/>
            </a:avLst>
          </a:prstGeom>
          <a:solidFill>
            <a:srgbClr val="EAF6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1417320"/>
            <a:ext cx="1600200" cy="219456"/>
          </a:xfrm>
          <a:prstGeom prst="roundRect">
            <a:avLst>
              <a:gd name="adj" fmla="val 33333"/>
            </a:avLst>
          </a:prstGeom>
          <a:solidFill>
            <a:srgbClr val="199EDC"/>
          </a:solidFill>
          <a:ln w="7620">
            <a:solidFill>
              <a:srgbClr val="199E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44475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独立請求項（方法）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1847088"/>
            <a:ext cx="24231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辞書データを取得
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人工 EDX スペクトルを生成
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AIモデルを学習
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実測EDXから元素有無/成分比を推定
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アンカー一致度で信頼度算出</a:t>
            </a:r>
            <a:endParaRPr lang="en-US" sz="1540" dirty="0"/>
          </a:p>
        </p:txBody>
      </p:sp>
      <p:sp>
        <p:nvSpPr>
          <p:cNvPr id="10" name="Shape 8"/>
          <p:cNvSpPr/>
          <p:nvPr/>
        </p:nvSpPr>
        <p:spPr>
          <a:xfrm>
            <a:off x="4041648" y="1261872"/>
            <a:ext cx="2788920" cy="4754880"/>
          </a:xfrm>
          <a:prstGeom prst="roundRect">
            <a:avLst>
              <a:gd name="adj" fmla="val 2623"/>
            </a:avLst>
          </a:prstGeom>
          <a:solidFill>
            <a:srgbClr val="F5FBF6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06240" y="1417320"/>
            <a:ext cx="1600200" cy="219456"/>
          </a:xfrm>
          <a:prstGeom prst="roundRect">
            <a:avLst>
              <a:gd name="adj" fmla="val 33333"/>
            </a:avLst>
          </a:prstGeom>
          <a:solidFill>
            <a:srgbClr val="2F9B63"/>
          </a:solidFill>
          <a:ln w="7620">
            <a:solidFill>
              <a:srgbClr val="2F9B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144475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独立請求項（システム）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242816" y="1847088"/>
            <a:ext cx="24231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辞書記憶部
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人工データ生成部
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学習部
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推論部
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信頼度算出部</a:t>
            </a:r>
            <a:endParaRPr lang="en-US" sz="1540" dirty="0"/>
          </a:p>
        </p:txBody>
      </p:sp>
      <p:sp>
        <p:nvSpPr>
          <p:cNvPr id="14" name="Shape 12"/>
          <p:cNvSpPr/>
          <p:nvPr/>
        </p:nvSpPr>
        <p:spPr>
          <a:xfrm>
            <a:off x="7461504" y="1261872"/>
            <a:ext cx="2788920" cy="4754880"/>
          </a:xfrm>
          <a:prstGeom prst="roundRect">
            <a:avLst>
              <a:gd name="adj" fmla="val 2623"/>
            </a:avLst>
          </a:prstGeom>
          <a:solidFill>
            <a:srgbClr val="FFF9EE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26096" y="1417320"/>
            <a:ext cx="1600200" cy="219456"/>
          </a:xfrm>
          <a:prstGeom prst="roundRect">
            <a:avLst>
              <a:gd name="adj" fmla="val 33333"/>
            </a:avLst>
          </a:prstGeom>
          <a:solidFill>
            <a:srgbClr val="E39A31"/>
          </a:solidFill>
          <a:ln w="7620">
            <a:solidFill>
              <a:srgbClr val="E39A3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26096" y="144475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独立請求項（プログラム）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662672" y="1847088"/>
            <a:ext cx="24231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方法を実行させるプログラム
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非一時的記録媒体
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低信頼度時の再評価分岐</a:t>
            </a:r>
            <a:endParaRPr lang="en-US" sz="1540" dirty="0"/>
          </a:p>
        </p:txBody>
      </p:sp>
      <p:sp>
        <p:nvSpPr>
          <p:cNvPr id="18" name="Shape 16"/>
          <p:cNvSpPr/>
          <p:nvPr/>
        </p:nvSpPr>
        <p:spPr>
          <a:xfrm>
            <a:off x="6108192" y="4617720"/>
            <a:ext cx="0" cy="1124712"/>
          </a:xfrm>
          <a:prstGeom prst="line">
            <a:avLst/>
          </a:prstGeom>
          <a:noFill/>
          <a:ln w="1651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108192" y="5742432"/>
            <a:ext cx="-4096512" cy="493776"/>
          </a:xfrm>
          <a:prstGeom prst="line">
            <a:avLst/>
          </a:prstGeom>
          <a:noFill/>
          <a:ln w="1524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108192" y="5742432"/>
            <a:ext cx="0" cy="493776"/>
          </a:xfrm>
          <a:prstGeom prst="line">
            <a:avLst/>
          </a:prstGeom>
          <a:noFill/>
          <a:ln w="1524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108192" y="5742432"/>
            <a:ext cx="4133088" cy="493776"/>
          </a:xfrm>
          <a:prstGeom prst="line">
            <a:avLst/>
          </a:prstGeom>
          <a:noFill/>
          <a:ln w="1524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559552" y="4315968"/>
            <a:ext cx="109728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66708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14416" y="4398264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発明の芯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005840" y="6144768"/>
            <a:ext cx="205740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199E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0704" y="6227064"/>
            <a:ext cx="1947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99E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広いクレーム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99E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辞書 + 生成 + 推論 + 信頼度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074920" y="6144768"/>
            <a:ext cx="224028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2F9B6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9784" y="6227064"/>
            <a:ext cx="2130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2F9B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狭い従属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2F9B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line dropout / SEM prior / 前後スペクトル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915400" y="6144768"/>
            <a:ext cx="210312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E39A3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70264" y="6227064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E39A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回避困難化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E39A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低信頼のみ再評価 / アンカー整合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20116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199E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まとめ: 初期版は「辞書だけ」で始め、将来は実測と物理計算を段階接続する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47472" y="612648"/>
            <a:ext cx="11496751" cy="0"/>
          </a:xfrm>
          <a:prstGeom prst="line">
            <a:avLst/>
          </a:prstGeom>
          <a:noFill/>
          <a:ln w="16510">
            <a:solidFill>
              <a:srgbClr val="8ED7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22815" y="2286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Draft / 匿名化版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97335" y="6556248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21792" y="1024128"/>
            <a:ext cx="5303520" cy="5440680"/>
          </a:xfrm>
          <a:prstGeom prst="roundRect">
            <a:avLst>
              <a:gd name="adj" fmla="val 1379"/>
            </a:avLst>
          </a:prstGeom>
          <a:solidFill>
            <a:srgbClr val="FBFD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1170432"/>
            <a:ext cx="1463040" cy="219456"/>
          </a:xfrm>
          <a:prstGeom prst="roundRect">
            <a:avLst>
              <a:gd name="adj" fmla="val 33333"/>
            </a:avLst>
          </a:prstGeom>
          <a:solidFill>
            <a:srgbClr val="199EDC"/>
          </a:solidFill>
          <a:ln w="7620">
            <a:solidFill>
              <a:srgbClr val="199E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197864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価値指標（PoCの見方）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41248" y="17830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候補抽出精度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67128" y="1801368"/>
            <a:ext cx="3383280" cy="283464"/>
          </a:xfrm>
          <a:prstGeom prst="roundRect">
            <a:avLst>
              <a:gd name="adj" fmla="val 19355"/>
            </a:avLst>
          </a:prstGeom>
          <a:solidFill>
            <a:srgbClr val="F1F5F9"/>
          </a:solidFill>
          <a:ln w="7620">
            <a:solidFill>
              <a:srgbClr val="D8E1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67128" y="1801368"/>
            <a:ext cx="2977286" cy="283464"/>
          </a:xfrm>
          <a:prstGeom prst="roundRect">
            <a:avLst>
              <a:gd name="adj" fmla="val 19355"/>
            </a:avLst>
          </a:prstGeom>
          <a:solidFill>
            <a:srgbClr val="199EDC"/>
          </a:solidFill>
          <a:ln w="7620">
            <a:solidFill>
              <a:srgbClr val="199E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58568" y="1810512"/>
            <a:ext cx="3154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micro-F1 / recall を優先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41248" y="22402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主成分推定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167128" y="2258568"/>
            <a:ext cx="3383280" cy="283464"/>
          </a:xfrm>
          <a:prstGeom prst="roundRect">
            <a:avLst>
              <a:gd name="adj" fmla="val 19355"/>
            </a:avLst>
          </a:prstGeom>
          <a:solidFill>
            <a:srgbClr val="F1F5F9"/>
          </a:solidFill>
          <a:ln w="7620">
            <a:solidFill>
              <a:srgbClr val="D8E1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67128" y="2258568"/>
            <a:ext cx="2638958" cy="283464"/>
          </a:xfrm>
          <a:prstGeom prst="roundRect">
            <a:avLst>
              <a:gd name="adj" fmla="val 19355"/>
            </a:avLst>
          </a:prstGeom>
          <a:solidFill>
            <a:srgbClr val="2F9B63"/>
          </a:solidFill>
          <a:ln w="7620">
            <a:solidFill>
              <a:srgbClr val="2F9B6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58568" y="2267712"/>
            <a:ext cx="3154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top-1 accuracy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41248" y="26974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再評価率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167128" y="2715768"/>
            <a:ext cx="3383280" cy="283464"/>
          </a:xfrm>
          <a:prstGeom prst="roundRect">
            <a:avLst>
              <a:gd name="adj" fmla="val 19355"/>
            </a:avLst>
          </a:prstGeom>
          <a:solidFill>
            <a:srgbClr val="F1F5F9"/>
          </a:solidFill>
          <a:ln w="7620">
            <a:solidFill>
              <a:srgbClr val="D8E1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67128" y="2715768"/>
            <a:ext cx="1860804" cy="283464"/>
          </a:xfrm>
          <a:prstGeom prst="roundRect">
            <a:avLst>
              <a:gd name="adj" fmla="val 19355"/>
            </a:avLst>
          </a:prstGeom>
          <a:solidFill>
            <a:srgbClr val="E39A31"/>
          </a:solidFill>
          <a:ln w="7620">
            <a:solidFill>
              <a:srgbClr val="E39A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58568" y="2724912"/>
            <a:ext cx="3154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低信頼度だけへ集約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41248" y="31546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説明可能性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167128" y="3172968"/>
            <a:ext cx="3383280" cy="283464"/>
          </a:xfrm>
          <a:prstGeom prst="roundRect">
            <a:avLst>
              <a:gd name="adj" fmla="val 19355"/>
            </a:avLst>
          </a:prstGeom>
          <a:solidFill>
            <a:srgbClr val="F1F5F9"/>
          </a:solidFill>
          <a:ln w="7620">
            <a:solidFill>
              <a:srgbClr val="D8E1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67128" y="3172968"/>
            <a:ext cx="3112618" cy="283464"/>
          </a:xfrm>
          <a:prstGeom prst="roundRect">
            <a:avLst>
              <a:gd name="adj" fmla="val 19355"/>
            </a:avLst>
          </a:prstGeom>
          <a:solidFill>
            <a:srgbClr val="D95D5D"/>
          </a:solidFill>
          <a:ln w="7620">
            <a:solidFill>
              <a:srgbClr val="D95D5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58568" y="3182112"/>
            <a:ext cx="3154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どのアンカーが効いたか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41248" y="3794760"/>
            <a:ext cx="4663440" cy="1600200"/>
          </a:xfrm>
          <a:prstGeom prst="roundRect">
            <a:avLst>
              <a:gd name="adj" fmla="val 4571"/>
            </a:avLst>
          </a:prstGeom>
          <a:solidFill>
            <a:srgbClr val="F8FBFE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4041648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初期版だけでも、成分候補の自動スクリーニングという価値がある
</a:t>
            </a:r>
            <a:endParaRPr lang="en-US" sz="1530" dirty="0"/>
          </a:p>
          <a:p>
            <a:pPr indent="0" marL="0">
              <a:buNone/>
            </a:pPr>
            <a:r>
              <a:rPr lang="en-US" sz="153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特許の主張軸は「簡易辞書」「人工データの作り方」「信頼度設計」に置ける
</a:t>
            </a:r>
            <a:endParaRPr lang="en-US" sz="1530" dirty="0"/>
          </a:p>
          <a:p>
            <a:pPr indent="0" marL="0">
              <a:buNone/>
            </a:pPr>
            <a:r>
              <a:rPr lang="en-US" sz="153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実測が増えた段階で clean wafer / SEM / DTSA-II を足しても同じ骨格を維持できる</a:t>
            </a:r>
            <a:endParaRPr lang="en-US" sz="1530" dirty="0"/>
          </a:p>
        </p:txBody>
      </p:sp>
      <p:sp>
        <p:nvSpPr>
          <p:cNvPr id="27" name="Shape 25"/>
          <p:cNvSpPr/>
          <p:nvPr/>
        </p:nvSpPr>
        <p:spPr>
          <a:xfrm>
            <a:off x="6172200" y="1024128"/>
            <a:ext cx="5394960" cy="5440680"/>
          </a:xfrm>
          <a:prstGeom prst="roundRect">
            <a:avLst>
              <a:gd name="adj" fmla="val 1356"/>
            </a:avLst>
          </a:prstGeom>
          <a:solidFill>
            <a:srgbClr val="FFFDF8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55080" y="1170432"/>
            <a:ext cx="1143000" cy="219456"/>
          </a:xfrm>
          <a:prstGeom prst="roundRect">
            <a:avLst>
              <a:gd name="adj" fmla="val 33333"/>
            </a:avLst>
          </a:prstGeom>
          <a:solidFill>
            <a:srgbClr val="E39A31"/>
          </a:solidFill>
          <a:ln w="7620">
            <a:solidFill>
              <a:srgbClr val="E39A3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1197864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導入ステップ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452360" y="2788920"/>
            <a:ext cx="914400" cy="0"/>
          </a:xfrm>
          <a:prstGeom prst="line">
            <a:avLst/>
          </a:prstGeom>
          <a:noFill/>
          <a:ln w="22860">
            <a:solidFill>
              <a:srgbClr val="E39A31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372600" y="2788920"/>
            <a:ext cx="914400" cy="0"/>
          </a:xfrm>
          <a:prstGeom prst="line">
            <a:avLst/>
          </a:prstGeom>
          <a:noFill/>
          <a:ln w="22860">
            <a:solidFill>
              <a:srgbClr val="E39A31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419088" y="2212848"/>
            <a:ext cx="914400" cy="1051560"/>
          </a:xfrm>
          <a:prstGeom prst="roundRect">
            <a:avLst>
              <a:gd name="adj" fmla="val 8000"/>
            </a:avLst>
          </a:prstGeom>
          <a:solidFill>
            <a:srgbClr val="FFF4E8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73952" y="2395728"/>
            <a:ext cx="804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39A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39A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辞書のみ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39A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人工データ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430768" y="2212848"/>
            <a:ext cx="914400" cy="1051560"/>
          </a:xfrm>
          <a:prstGeom prst="roundRect">
            <a:avLst>
              <a:gd name="adj" fmla="val 8000"/>
            </a:avLst>
          </a:prstGeom>
          <a:solidFill>
            <a:srgbClr val="F5FBF6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85632" y="2395728"/>
            <a:ext cx="804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9B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F9B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実測校正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F9B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前後/SEM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10442448" y="2212848"/>
            <a:ext cx="914400" cy="1051560"/>
          </a:xfrm>
          <a:prstGeom prst="roundRect">
            <a:avLst>
              <a:gd name="adj" fmla="val 8000"/>
            </a:avLst>
          </a:prstGeom>
          <a:solidFill>
            <a:srgbClr val="EAF6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488168" y="2395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99E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99E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難例のみ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99E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物理計算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446520" y="3886200"/>
            <a:ext cx="47091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0160">
            <a:solidFill>
              <a:srgbClr val="D9E4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01968" y="4096512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PoC時点では「辞書-only」で可否を判定しやすい
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成功したら実測校正を足し、最後に高忠実度解析を難例だけへ限定する
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この段階設計自体が、開発計画と特許説明を両立しやすい</a:t>
            </a:r>
            <a:endParaRPr lang="en-US" sz="15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半導体製造×AI パーティクル成分推定 特許開示書スライド</dc:title>
  <dc:subject>Patent disclosure slides for semiconductor manufacturing × AI</dc:subject>
  <dc:creator>OpenAI</dc:creator>
  <cp:lastModifiedBy>OpenAI</cp:lastModifiedBy>
  <cp:revision>1</cp:revision>
  <dcterms:created xsi:type="dcterms:W3CDTF">2026-03-09T22:34:32Z</dcterms:created>
  <dcterms:modified xsi:type="dcterms:W3CDTF">2026-03-09T22:34:32Z</dcterms:modified>
</cp:coreProperties>
</file>
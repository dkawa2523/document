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66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DTSA-II: https://www.nist.gov/services-resources/software/nist-dtsa-ii
- NIST SRD 164: https://www.nist.gov/srd/nist-standard-reference-database-164
- eXSpy EDS user guide: https://hyperspy.org/exspy/user_guide/eds.html
- PENELOPE 2018 (OECD): https://www.oecd.org/en/publications/penelope-2018-a-code-system-for-monte-carlo-simulation-of-electron-and-photon-transport_32da5043-en.html
- SEM/EDS fusion review example: https://www.sciencedirect.com/science/article/pii/S0968432822001573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US7205555B2: https://patents.google.com/patent/US7205555 (EDX取得は各欠陥1〜2分、全欠陥適用は非現実的と記載)
- EP1069609A2: https://patents.google.com/patent/EP1069609A2/en (SEMで形態、EDSで組成属性を扱う一般的枠組み)
- TWI764979B: https://patents.google.com/patent/TWI764979B/en (量産環境でSEM/EDX組合せによる粒子組成把握が時間を要する旨)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 software page: https://www.nist.gov/services-resources/software/nist-dtsa-ii
- DTSA-II 2022 publication: https://www.nist.gov/publications/simulating-electron-excited-energy-dispersive-x-ray-spectra-nist-dtsa-ii-open-source
- eXSpy EDS user guide: https://hyperspy.org/exspy/user_guide/eds.html
- PENELOPE 2018: https://www.oecd.org/en/publications/penelope-2018-a-code-system-for-monte-carlo-simulation-of-electron-and-photon-transport_32da5043-en.html
- SEM/EDS fusion example: https://www.sciencedirect.com/science/article/pii/S0968432822001573
- SEM image deep learning defect classification example: https://patents.google.com/patent/JP2021174980A/en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US7205555B2: https://patents.google.com/patent/US7205555 (EDXの長時間性と対象削減の必要性)
- eXSpy EDS docs: https://hyperspy.org/exspy/user_guide/eds.html (line fitting, calibration, quantificationの前提)
- DTSA-II 2022 publication: https://www.nist.gov/publications/simulating-electron-excited-energy-dispersive-x-ray-spectra-nist-dtsa-ii-open-source (K/L, continuum, M-shellの誤差傾向)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eXSpy EDS docs (preprocess, line intensity, calibration): https://hyperspy.org/exspy/user_guide/eds.html
- DTSA-II software page: https://www.nist.gov/services-resources/software/nist-dtsa-ii
- SRD 164: https://www.nist.gov/srd/nist-standard-reference-database-164
- XCOM: https://www.nist.gov/pml/xcom-photon-cross-sections-database
- xraylib overview: https://www.sciencedirect.com/science/article/abs/pii/S0584854711001984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X-ray Transition Energies DB: https://www.nist.gov/pml/x-ray-transition-energies-database
- X-Ray Data Booklet Table 1-2: https://xdb.lbl.gov/Section1/Sec_1-2.html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 publication: https://www.nist.gov/publications/simulating-electron-excited-energy-dispersive-x-ray-spectra-nist-dtsa-ii-open-source
- SRD 164: https://www.nist.gov/srd/nist-standard-reference-database-164
- XCOM: https://www.nist.gov/pml/xcom-photon-cross-sections-database
- xraylib overview: https://www.sciencedirect.com/science/article/abs/pii/S0584854711001984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ConInceDeep (mixture spectroscopy, overlap/weak peaks and multi-scale kernels): https://www.sciencedirect.com/science/article/pii/S0169743923000072
- FlavorFormer (hybrid CNN-Transformer for mixture spectra): https://www.sciencedirect.com/science/article/pii/S0026265X25027201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 software page: https://www.nist.gov/services-resources/software/nist-dtsa-ii (低信頼度サンプルの再評価先として想定)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JMONSEL library-fitting example: https://www.nist.gov/publications/scanning-electron-microscope-measurement-width-and-shape-10-nm-patterned-lines-using
- Optimizing EDS image fusion to SEM images: https://www.sciencedirect.com/science/article/pii/S0968432822001573
- DTSA-II software page: https://www.nist.gov/services-resources/software/nist-dtsa-ii
- PENELOPE 2018: https://www.oecd.org/en/publications/penelope-2018-a-code-system-for-monte-carlo-simulation-of-electron-and-photon-transport_32da5043-en.html
- xraylib overview: https://www.sciencedirect.com/science/article/abs/pii/S0584854711001984
- SRD 164: https://www.nist.gov/srd/nist-standard-reference-database-164
- XCOM: https://www.nist.gov/pml/xcom-photon-cross-sections-database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Y2O3 / YF3 / YOF contamination context: https://www.mdpi.com/2079-6412/9/2/102 and https://www.mdpi.com/2079-6412/9/5/310
- X-Ray Data Booklet for example high-Z line positions: https://xdb.lbl.gov/Section1/Sec_1-2.html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Y2O3 / YOF / YF3 coatings and contamination particles under NF3 plasma: https://www.mdpi.com/2079-6412/9/2/102
- AD Y2O3 / YF3 contamination particle behavior: https://www.mdpi.com/2079-6412/9/5/310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X-Ray Data Booklet Table 1-2: https://xdb.lbl.gov/Section1/Sec_1-2.html
- NIST X-ray Transition Energies DB: https://www.nist.gov/pml/x-ray-transition-energies-database
- DTSA-II software page: https://www.nist.gov/services-resources/software/nist-dtsa-ii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JMONSEL geometry library fitting concept: https://www.nist.gov/publications/scanning-electron-microscope-measurement-width-and-shape-10-nm-patterned-lines-using
- SEM-EDS fusion and low-resolution EDS enhancement: https://www.sciencedirect.com/science/article/pii/S0968432822001573
- AB-PLS-DA for SEM-EDS multimodal fusion: https://www.sciencedirect.com/science/article/pii/S0968432823001762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DTSA-II: https://www.nist.gov/services-resources/software/nist-dtsa-ii
- eXSpy EDS docs: https://hyperspy.org/exspy/user_guide/eds.html
- PENELOPE 2018: https://www.oecd.org/en/publications/penelope-2018-a-code-system-for-monte-carlo-simulation-of-electron-and-photon-transport_32da5043-en.html
- SEM image defect classification patent category: https://patents.google.com/patent/JP2021174980A/en
- SEM/EDS fusion papers: https://www.sciencedirect.com/science/article/pii/S0968432822001573 and https://www.sciencedirect.com/science/article/pii/S0968432823001762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US7205555B2: https://patents.google.com/patent/US7205555
- DTSA-II software page: https://www.nist.gov/services-resources/software/nist-dtsa-ii
- DTSA-II 2022 publication: https://www.nist.gov/publications/simulating-electron-excited-energy-dispersive-x-ray-spectra-nist-dtsa-ii-open-source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半導体製造×AI パーティクル成分推定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EDXスペクトルエネルギー辞書 × 人工データ生成 × 辞書ガイドAI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特許開示書（発明開示〜明細書素材）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2926080"/>
            <a:ext cx="173736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23560" y="2926080"/>
            <a:ext cx="173736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98280" y="2926080"/>
            <a:ext cx="137160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簡易辞書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1元素1行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energy_1~3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10 keVまで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3308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3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2816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人工EDXデータ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dropout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overlap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noise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0780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7536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辞書ガイドAI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成分候補推定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擬似成分比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607040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16768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16768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71632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候補元素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理由説明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再評価判断</a:t>
            </a:r>
            <a:endParaRPr lang="en-US" sz="13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4069080"/>
            <a:ext cx="4297680" cy="1508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257800" y="43159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初期版は「辞書のみ」で学習データ生成 → 実測EDX推定へ接続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285232" y="4709160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単純なピーク fitting 依存を減らし、候補抽出を高速化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複数アンカー整合で出力理由を説明しやすい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将来は SEM・前後スペクトル・DTSA-II/PENELOPE に段階拡張可能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4象限で見る本提案の位置づけ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51960" y="960120"/>
            <a:ext cx="0" cy="5257800"/>
          </a:xfrm>
          <a:prstGeom prst="line">
            <a:avLst/>
          </a:prstGeom>
          <a:noFill/>
          <a:ln w="1524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589020"/>
            <a:ext cx="7498080" cy="0"/>
          </a:xfrm>
          <a:prstGeom prst="line">
            <a:avLst/>
          </a:prstGeom>
          <a:noFill/>
          <a:ln w="15240">
            <a:solidFill>
              <a:srgbClr val="D9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3749040" cy="262890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960120"/>
            <a:ext cx="3749040" cy="2628900"/>
          </a:xfrm>
          <a:prstGeom prst="roundRect">
            <a:avLst/>
          </a:prstGeom>
          <a:solidFill>
            <a:srgbClr val="FFF7F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589020"/>
            <a:ext cx="3749040" cy="2628900"/>
          </a:xfrm>
          <a:prstGeom prst="roundRect">
            <a:avLst/>
          </a:prstGeom>
          <a:solidFill>
            <a:srgbClr val="F5FBF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3589020"/>
            <a:ext cx="3749040" cy="2628900"/>
          </a:xfrm>
          <a:prstGeom prst="roundRect">
            <a:avLst/>
          </a:prstGeom>
          <a:solidFill>
            <a:srgbClr val="FFFBE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" y="10515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1078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" y="13807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ピーク検出・分布 fitting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Filter-fitting / XPP 定量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 / PENELOPE の物理計算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SEM画像分類・SEM/EDS融合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4379976" y="10515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1078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9976" y="13807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近接ピーークと副線欠落で誤同定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側と基板混合で不安定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ラベル付き実測が少ない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全件の詳細解析は重い</a:t>
            </a:r>
            <a:endParaRPr lang="en-US" sz="1530" dirty="0"/>
          </a:p>
        </p:txBody>
      </p:sp>
      <p:sp>
        <p:nvSpPr>
          <p:cNvPr id="18" name="Shape 16"/>
          <p:cNvSpPr/>
          <p:nvPr/>
        </p:nvSpPr>
        <p:spPr>
          <a:xfrm>
            <a:off x="630936" y="36804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7078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" y="40096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1元素1行の複数アンカー辞書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辞書から人工 EDX データを大量生成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辞書ガイド AI で成分推定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アンカー整合で信頼度算出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4379976" y="36804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9976" y="37078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提案効果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79976" y="40096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候補抽出の高速化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低信頼度のみ再評価へ送る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どのアンカーが効いたかを説明可能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SEM/前後スペクトル/高忠実度計算へ拡張容易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8229600" y="100584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1152144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11795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本発明の芯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4192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辞書を「共通インターフェース」にする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人工データの作り方を発明の中心に置く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AI確率だけでなくアンカー整合で信頼度を出す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229600" y="2615184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2" y="2761488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278892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PoCで確認すること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94192" y="310896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辞書だけで候補成分を絞れるか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副線欠落や重なりに耐えるか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低信頼度だけを再評価へ回せるか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229600" y="4352544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4192" y="4498848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4526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94192" y="4864608"/>
            <a:ext cx="3072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wafer / 前後スペクトルで基板寄与を校正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特徴量で形状 prior を与える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 / PENELOPE / xraylib / SRD164 を難例や校正に接続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背景: パーティクル解析では「EDXが遅く、難しく、説明しづらい」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08760" y="2423160"/>
            <a:ext cx="128016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69080" y="2423160"/>
            <a:ext cx="128016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2423160"/>
            <a:ext cx="128016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89720" y="242316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光学/マップ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06324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6FA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 SEM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9125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形態確認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2356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3328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成分確認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8388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9E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360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原因推定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1189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部材/工程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51560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2532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2532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4361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洗浄/部材交換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596128" y="1444752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FF1F0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工数ボトルネック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1444752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FF9E6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説明性が重要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379476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950208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776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モダリティ比較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4270248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819656" y="4270248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434340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410712" y="4270248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9808" y="4700016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" y="4745736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1819656" y="4700016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65376" y="4745736"/>
            <a:ext cx="1481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形・サイズ・表面状態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3410712" y="4700016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4745736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成分は直接決まらない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749808" y="5129784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5175504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1819656" y="5129784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65376" y="5175504"/>
            <a:ext cx="1481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元素候補・主成分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3410712" y="5129784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6432" y="5175504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重なり/吸収/基板寄与で不安定</a:t>
            </a:r>
            <a:endParaRPr lang="en-US" sz="1160" dirty="0"/>
          </a:p>
        </p:txBody>
      </p:sp>
      <p:sp>
        <p:nvSpPr>
          <p:cNvPr id="55" name="Shape 53"/>
          <p:cNvSpPr/>
          <p:nvPr/>
        </p:nvSpPr>
        <p:spPr>
          <a:xfrm>
            <a:off x="749808" y="5559552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" y="560527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工程情報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1819656" y="5559552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65376" y="5605272"/>
            <a:ext cx="1481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原因装置や工程の絞り込み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3410712" y="5559552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56432" y="560527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単独では粒子成分を確定しにくい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5897880" y="379476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53328" y="3950208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53328" y="397764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なぜ特許テーマになるか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89904" y="42976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全欠陥へ詳細 EDX を適用するのは現実的でない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/ EDX / 工程情報の役割分担を整理した自動化が必要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説明可能な信頼度がないと製造技術判断に使いにくい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従来技術と先行カテゴリ: 速度・忠実度・必要データのトレードオフ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ピーク検出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分布 fitting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ガウス/擬似Voigt で局所 fitting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ルールベースで line を割当て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軽いが近接ピークに弱い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283464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F7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Filter-fitting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 EDX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6265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参照スペクトルや定量補正を使用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XPP 等で組成へ変換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精度は高いが運用は重い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516636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608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物理シミュレーション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9437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 / PENELOPE で前向き計算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吸収・連続X線・幾何を反映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高忠実だが毎回回すと重い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749808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780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SEM分類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SEM-EDS融合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2609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画像だけ又は融合で分類・高解像化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空間情報に強い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EDX成分そのものの説明は別設計</a:t>
            </a:r>
            <a:endParaRPr lang="en-US" sz="154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5230368"/>
            <a:ext cx="12344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257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相対位置づけ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1560" y="6181344"/>
            <a:ext cx="3840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1560" y="6181344"/>
            <a:ext cx="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977640" y="62453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 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 rot="16200000">
            <a:off x="658368" y="5285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忠実度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0" y="5833872"/>
            <a:ext cx="146304" cy="146304"/>
          </a:xfrm>
          <a:prstGeom prst="ellipse">
            <a:avLst/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9968" y="58247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ピークfitting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51760" y="5532120"/>
            <a:ext cx="146304" cy="146304"/>
          </a:xfrm>
          <a:prstGeom prst="ellipse">
            <a:avLst/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55229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Filter-fitting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5413248"/>
            <a:ext cx="146304" cy="146304"/>
          </a:xfrm>
          <a:prstGeom prst="ellipse">
            <a:avLst/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5404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物理sim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29000" y="5742432"/>
            <a:ext cx="146304" cy="146304"/>
          </a:xfrm>
          <a:prstGeom prst="ellipse">
            <a:avLst/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0168" y="5733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SEM融合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5074920"/>
            <a:ext cx="5806440" cy="1325880"/>
          </a:xfrm>
          <a:prstGeom prst="roundRect">
            <a:avLst>
              <a:gd name="adj" fmla="val 5517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87568" y="523036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52578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本提案の立場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42432" y="55138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日常運転は「軽い辞書 + 学習器」で回し、難例だけを高忠実度解析へ送る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従来カテゴリを置換するのではなく、役割分担を整理して組み合わせる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従来の課題: 物理・計測・データ・運用の4要因が同時に効く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3703320"/>
            <a:ext cx="4709160" cy="0"/>
          </a:xfrm>
          <a:prstGeom prst="line">
            <a:avLst/>
          </a:prstGeom>
          <a:noFill/>
          <a:ln w="25400">
            <a:solidFill>
              <a:srgbClr val="D95D5D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349240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成分推定が不安定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606040"/>
            <a:ext cx="685800" cy="109728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606040"/>
            <a:ext cx="548640" cy="109728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4800600"/>
            <a:ext cx="502920" cy="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4800600"/>
            <a:ext cx="411480" cy="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3258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1344168"/>
            <a:ext cx="708660" cy="292608"/>
          </a:xfrm>
          <a:prstGeom prst="roundRect">
            <a:avLst>
              <a:gd name="adj" fmla="val 21875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389888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" y="171907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近接ピーーク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吸収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基板混合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65960" y="13258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4248" y="1344168"/>
            <a:ext cx="708660" cy="292608"/>
          </a:xfrm>
          <a:prstGeom prst="roundRect">
            <a:avLst>
              <a:gd name="adj" fmla="val 21875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389888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75688" y="171907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ドリフト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S/N不足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分解能差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20440" y="46177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38728" y="4636008"/>
            <a:ext cx="708660" cy="292608"/>
          </a:xfrm>
          <a:prstGeom prst="roundRect">
            <a:avLst>
              <a:gd name="adj" fmla="val 21875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4681728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30168" y="501091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実測ラベル不足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工程差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装置差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4920" y="4617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3208" y="4636008"/>
            <a:ext cx="800100" cy="292608"/>
          </a:xfrm>
          <a:prstGeom prst="roundRect">
            <a:avLst>
              <a:gd name="adj" fmla="val 21875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4681728"/>
            <a:ext cx="800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50109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全件詳細解析は重い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説明性不足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更新負荷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95160" y="1234440"/>
            <a:ext cx="4617720" cy="5120640"/>
          </a:xfrm>
          <a:prstGeom prst="roundRect">
            <a:avLst>
              <a:gd name="adj" fmla="val 158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389888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41732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評価で見るべき項目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50608" y="1691640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6328" y="176479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86216" y="1691640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31936" y="17647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50608" y="2212848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2258568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micro/macro F1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86216" y="2212848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31936" y="2258568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元素候補を外さない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50608" y="2734056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96328" y="2779776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Recall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86216" y="2734056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31936" y="2779776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副線欠落でも見逃さない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50608" y="3255264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3300984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Top-1 accuracy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86216" y="3255264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1936" y="3300984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主成分を誤らない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50608" y="3776472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3822192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Confidence calibration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86216" y="3776472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3822192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高信頼サンプルだけ自動化する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150608" y="4297680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6328" y="4343400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Re-eval rate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586216" y="4297680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31936" y="4343400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詳細再評価の量を抑える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87184" y="49560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4要因が同時に作用するため、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単純なピーク検出だけでは安定しにくい。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スペクトル上で実際に何が難しいのか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1143000"/>
            <a:ext cx="662940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" y="4526280"/>
            <a:ext cx="2148840" cy="402336"/>
          </a:xfrm>
          <a:prstGeom prst="roundRect">
            <a:avLst>
              <a:gd name="adj" fmla="val 15909"/>
            </a:avLst>
          </a:prstGeom>
          <a:solidFill>
            <a:srgbClr val="FFF9EE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60857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 energy 側は吸収と背景の影響が大きい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63240" y="4526280"/>
            <a:ext cx="2514600" cy="402336"/>
          </a:xfrm>
          <a:prstGeom prst="roundRect">
            <a:avLst>
              <a:gd name="adj" fmla="val 15909"/>
            </a:avLst>
          </a:prstGeom>
          <a:solidFill>
            <a:srgbClr val="FFF4F3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18104" y="460857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Al/Si/Y は近いので単純 fitting だと揺れやすい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15000" y="4526280"/>
            <a:ext cx="1965960" cy="402336"/>
          </a:xfrm>
          <a:prstGeom prst="roundRect">
            <a:avLst>
              <a:gd name="adj" fmla="val 15909"/>
            </a:avLst>
          </a:prstGeom>
          <a:solidFill>
            <a:srgbClr val="F8FBFE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9864" y="46085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Hf/Ta/W は 8〜10 keV に密集しやすい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1143000"/>
            <a:ext cx="3886200" cy="4983480"/>
          </a:xfrm>
          <a:prstGeom prst="roundRect">
            <a:avLst>
              <a:gd name="adj" fmla="val 18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99832" y="129844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99832" y="132588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 + 基板の混合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4983480"/>
            <a:ext cx="3017520" cy="457200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71432" y="51023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32520" y="3950208"/>
            <a:ext cx="1572768" cy="1188720"/>
          </a:xfrm>
          <a:prstGeom prst="arc">
            <a:avLst/>
          </a:prstGeom>
          <a:solidFill>
            <a:srgbClr val="EAF6FF"/>
          </a:solidFill>
          <a:ln w="15240">
            <a:solidFill>
              <a:srgbClr val="199E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53728" y="43616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835640" y="2011680"/>
            <a:ext cx="0" cy="17830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10771632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SEMでは形が見える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92440" y="1828800"/>
            <a:ext cx="868680" cy="2011680"/>
          </a:xfrm>
          <a:prstGeom prst="line">
            <a:avLst/>
          </a:prstGeom>
          <a:noFill/>
          <a:ln w="17780">
            <a:solidFill>
              <a:srgbClr val="D95D5D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7790688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EDXは粒子と基板が重なる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45552" y="25146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同じ元素の主線・副線が全部見えるとは限らない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近接ピーークは「単一ピーク」ではなく「アンカー群」で見た方が安定する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基板寄与は差し引きよりも「混合成分」として扱う方が運用しやすい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提案技術の狙い: 辞書をシンプルに保ち、学習・推論・説明を一体化する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0" y="2788920"/>
            <a:ext cx="178308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2788920"/>
            <a:ext cx="173736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1168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0391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辞書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複数アンカー辞書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1元素1行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energy_1~3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10 keVまで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201168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0391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データ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3984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 EDX 生成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35424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line dropout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overlap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noise / drift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86384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201168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20391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推論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10144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辞書ガイド AI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01584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presence + fraction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anchor整合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confidence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315968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43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従来との違い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599432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67258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29968" y="4599432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75688" y="4672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従来の中心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0096" y="4599432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4672584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本提案の中心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4400" y="5020056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065776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2029968" y="5020056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5688" y="5065776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line表や個別 fitting 条件が分散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5340096" y="5020056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5065776"/>
            <a:ext cx="6217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同一辞書を生成・学習・推論・信頼度で共通利用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914400" y="5440680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486400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2029968" y="5440680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75688" y="5486400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実測依存、又は高忠実度計算を都度実行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5340096" y="5440680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5486400"/>
            <a:ext cx="6217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簡易辞書から失敗モードを含む人工 EDX を先に大量生成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914400" y="5861304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5907024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2029968" y="5861304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75688" y="5907024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元素候補か数値のみ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5340096" y="5861304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85816" y="5907024"/>
            <a:ext cx="6217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 + 擬似成分比 + アンカー根拠 + 再評価要否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全体システム構成: 初期版は軽く、拡張版は段階的に追加する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2148840"/>
          </a:xfrm>
          <a:prstGeom prst="roundRect">
            <a:avLst>
              <a:gd name="adj" fmla="val 3404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52144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795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オフライン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11155680" cy="2148840"/>
          </a:xfrm>
          <a:prstGeom prst="roundRect">
            <a:avLst>
              <a:gd name="adj" fmla="val 3404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803904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313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205740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205740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205740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48840" y="4709160"/>
            <a:ext cx="10972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4709160"/>
            <a:ext cx="10972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4709160"/>
            <a:ext cx="10972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人工データ生成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2764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AI学習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6228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閾値/版管理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実測EDX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156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AI推論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6228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116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 / 再評価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0" y="2615184"/>
            <a:ext cx="9875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269748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任意: clean wafer / 前後スペクトル / SEM特徴 / 高忠実度計算は、初期版の上に「追加」する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269480" y="59893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低信頼度だけ詳細解析へ送るのが実装上の要点</a:t>
            </a:r>
            <a:endParaRPr lang="en-US" sz="1520" dirty="0"/>
          </a:p>
        </p:txBody>
      </p:sp>
      <p:sp>
        <p:nvSpPr>
          <p:cNvPr id="46" name="Shape 44"/>
          <p:cNvSpPr/>
          <p:nvPr/>
        </p:nvSpPr>
        <p:spPr>
          <a:xfrm>
            <a:off x="9098280" y="1600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1F0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179222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将来: DTSA-II / PENELOPE
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将来: xraylib / SRD164 / XCOM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初期版の辞書データ仕様: 1元素1行、複数アンカーを同一レコードで保持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5486400" cy="5440680"/>
          </a:xfrm>
          <a:prstGeom prst="roundRect">
            <a:avLst>
              <a:gd name="adj" fmla="val 13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143000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04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辞書の例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29384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90672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929384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75104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0.5249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3090672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4251960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68096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1929384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0.6768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3090672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4251960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68096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1929384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75104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1.4867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3090672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1.5574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4251960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768096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1929384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75104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1.7400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3090672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392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1.8359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4251960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0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768096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1929384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75104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1.9226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3090672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1.9958</a:t>
            </a:r>
            <a:endParaRPr lang="en-US" sz="1180" dirty="0"/>
          </a:p>
        </p:txBody>
      </p:sp>
      <p:sp>
        <p:nvSpPr>
          <p:cNvPr id="55" name="Shape 53"/>
          <p:cNvSpPr/>
          <p:nvPr/>
        </p:nvSpPr>
        <p:spPr>
          <a:xfrm>
            <a:off x="4251960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768096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1929384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75104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7.8990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3090672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36392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9.0227</a:t>
            </a:r>
            <a:endParaRPr lang="en-US" sz="1180" dirty="0"/>
          </a:p>
        </p:txBody>
      </p:sp>
      <p:sp>
        <p:nvSpPr>
          <p:cNvPr id="63" name="Shape 61"/>
          <p:cNvSpPr/>
          <p:nvPr/>
        </p:nvSpPr>
        <p:spPr>
          <a:xfrm>
            <a:off x="4251960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0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9.3473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768096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</a:t>
            </a:r>
            <a:endParaRPr lang="en-US" sz="1180" dirty="0"/>
          </a:p>
        </p:txBody>
      </p:sp>
      <p:sp>
        <p:nvSpPr>
          <p:cNvPr id="67" name="Shape 65"/>
          <p:cNvSpPr/>
          <p:nvPr/>
        </p:nvSpPr>
        <p:spPr>
          <a:xfrm>
            <a:off x="1929384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75104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8.1461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3090672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36392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9.3431</a:t>
            </a:r>
            <a:endParaRPr lang="en-US" sz="1180" dirty="0"/>
          </a:p>
        </p:txBody>
      </p:sp>
      <p:sp>
        <p:nvSpPr>
          <p:cNvPr id="71" name="Shape 69"/>
          <p:cNvSpPr/>
          <p:nvPr/>
        </p:nvSpPr>
        <p:spPr>
          <a:xfrm>
            <a:off x="4251960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97680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9.6518</a:t>
            </a:r>
            <a:endParaRPr lang="en-US" sz="1180" dirty="0"/>
          </a:p>
        </p:txBody>
      </p:sp>
      <p:sp>
        <p:nvSpPr>
          <p:cNvPr id="73" name="Shape 71"/>
          <p:cNvSpPr/>
          <p:nvPr/>
        </p:nvSpPr>
        <p:spPr>
          <a:xfrm>
            <a:off x="768096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3816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180" dirty="0"/>
          </a:p>
        </p:txBody>
      </p:sp>
      <p:sp>
        <p:nvSpPr>
          <p:cNvPr id="75" name="Shape 73"/>
          <p:cNvSpPr/>
          <p:nvPr/>
        </p:nvSpPr>
        <p:spPr>
          <a:xfrm>
            <a:off x="1929384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75104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8.3976</a:t>
            </a:r>
            <a:endParaRPr lang="en-US" sz="1180" dirty="0"/>
          </a:p>
        </p:txBody>
      </p:sp>
      <p:sp>
        <p:nvSpPr>
          <p:cNvPr id="77" name="Shape 75"/>
          <p:cNvSpPr/>
          <p:nvPr/>
        </p:nvSpPr>
        <p:spPr>
          <a:xfrm>
            <a:off x="3090672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36392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9.6724</a:t>
            </a:r>
            <a:endParaRPr lang="en-US" sz="1180" dirty="0"/>
          </a:p>
        </p:txBody>
      </p:sp>
      <p:sp>
        <p:nvSpPr>
          <p:cNvPr id="79" name="Shape 77"/>
          <p:cNvSpPr/>
          <p:nvPr/>
        </p:nvSpPr>
        <p:spPr>
          <a:xfrm>
            <a:off x="4251960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9.9615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804672" y="5157216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60120" y="53400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辞書には物性値を書かない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同じ元素の主線/副線を同じ行にまとめる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10 keV 以下を初期版の対象にする</a:t>
            </a:r>
            <a:endParaRPr lang="en-US" sz="1520" dirty="0"/>
          </a:p>
        </p:txBody>
      </p:sp>
      <p:sp>
        <p:nvSpPr>
          <p:cNvPr id="83" name="Shape 81"/>
          <p:cNvSpPr/>
          <p:nvPr/>
        </p:nvSpPr>
        <p:spPr>
          <a:xfrm>
            <a:off x="6400800" y="987552"/>
            <a:ext cx="5166360" cy="5440680"/>
          </a:xfrm>
          <a:prstGeom prst="roundRect">
            <a:avLst>
              <a:gd name="adj" fmla="val 1416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565392" y="1143000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65392" y="11704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推論時の扱い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60920" y="2176272"/>
            <a:ext cx="960120" cy="0"/>
          </a:xfrm>
          <a:prstGeom prst="line">
            <a:avLst/>
          </a:prstGeom>
          <a:noFill/>
          <a:ln w="2159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464040" y="2176272"/>
            <a:ext cx="960120" cy="0"/>
          </a:xfrm>
          <a:prstGeom prst="line">
            <a:avLst/>
          </a:prstGeom>
          <a:noFill/>
          <a:ln w="2159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583680" y="1783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29984" y="1984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1本一致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候補に残す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8549640" y="1783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68512" y="1984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2本以上一致
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信頼度を上げる</a:t>
            </a:r>
            <a:endParaRPr lang="en-US" sz="1350" dirty="0"/>
          </a:p>
        </p:txBody>
      </p:sp>
      <p:sp>
        <p:nvSpPr>
          <p:cNvPr id="92" name="Shape 90"/>
          <p:cNvSpPr/>
          <p:nvPr/>
        </p:nvSpPr>
        <p:spPr>
          <a:xfrm>
            <a:off x="10515600" y="178308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88752" y="19659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重なり時は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アンカー群で判定</a:t>
            </a:r>
            <a:endParaRPr lang="en-US" sz="1170" dirty="0"/>
          </a:p>
        </p:txBody>
      </p:sp>
      <p:pic>
        <p:nvPicPr>
          <p:cNvPr id="9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2880360"/>
            <a:ext cx="4709160" cy="1920240"/>
          </a:xfrm>
          <a:prstGeom prst="rect">
            <a:avLst/>
          </a:prstGeom>
        </p:spPr>
      </p:pic>
      <p:sp>
        <p:nvSpPr>
          <p:cNvPr id="95" name="Shape 92"/>
          <p:cNvSpPr/>
          <p:nvPr/>
        </p:nvSpPr>
        <p:spPr>
          <a:xfrm>
            <a:off x="6656832" y="5166360"/>
            <a:ext cx="46634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711696" y="5248656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辞書は簡素でも、複数アンカーを使うことで「1本でも候補維持」「複数本なら分離」が両立しやすい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初期版の擬似データ生成: 失敗モードを先に作り込む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4892040" cy="5440680"/>
          </a:xfrm>
          <a:prstGeom prst="roundRect">
            <a:avLst>
              <a:gd name="adj" fmla="val 149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97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生成式（初期版）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6276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x(E) = B(E) + Σe Σj ce · mej · wej · G(E ; Eej + ΔE, σ) + αSsub(E) + η(E)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B(E): 背景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mej: line dropout 用マスク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ΔE: エネルギードリフト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αSsub(E): 基板混合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η(E): ノイズ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971800" y="2212848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揺らぎ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7408" y="2212848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71800" y="2697480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dropout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4407408" y="2697480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53128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副線が見えない条件を学習させる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2971800" y="3182112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227832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peak overlap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4407408" y="3182112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3227832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近接ピーク分離の難例を増やす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2971800" y="3666744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712464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drift / broadening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4407408" y="3666744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3712464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実機差と再校正ずれを吸収する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2971800" y="4151376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197096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background / noise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4407408" y="4151376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4197096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 S/N 条件の頑健性を見る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2971800" y="4636008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4681728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substrate mix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4407408" y="4636008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4681728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 + 基板の混合を再現する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5650992" y="1024128"/>
            <a:ext cx="5961888" cy="5440680"/>
          </a:xfrm>
          <a:prstGeom prst="roundRect">
            <a:avLst>
              <a:gd name="adj" fmla="val 1345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15584" y="1170432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15584" y="119786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生成される代表ケース</a:t>
            </a:r>
            <a:endParaRPr lang="en-US" sz="10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0448" y="1627632"/>
            <a:ext cx="1737360" cy="1143000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4112" y="1627632"/>
            <a:ext cx="1737360" cy="1143000"/>
          </a:xfrm>
          <a:prstGeom prst="rect">
            <a:avLst/>
          </a:prstGeom>
        </p:spPr>
      </p:pic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37776" y="1627632"/>
            <a:ext cx="1737360" cy="1143000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6364224" y="2816352"/>
            <a:ext cx="7315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419088" y="28986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8165592" y="2816352"/>
            <a:ext cx="89611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220456" y="28986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重なり強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9848088" y="2816352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902952" y="289864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低S/N・欠落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5852160" y="333756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053328" y="3639312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生成ラベルとして、元素 presence、擬似成分比、低 energy risk、overlap risk、substrate share を保存する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初期版では辞書だけで動くが、将来は DTSA-II / xraylib / SRD164 / XCOM に置換して物理忠実度を上げられる
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ポイントは「実運用で困る失敗モード」を人工的に先に増やすこと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AIモデル仕様: 多スケール1D-CNN + アンカープーリングを初期版の本命とする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94560" y="2331720"/>
            <a:ext cx="1143000" cy="0"/>
          </a:xfrm>
          <a:prstGeom prst="line">
            <a:avLst/>
          </a:prstGeom>
          <a:noFill/>
          <a:ln w="2413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2331720"/>
            <a:ext cx="1143000" cy="0"/>
          </a:xfrm>
          <a:prstGeom prst="line">
            <a:avLst/>
          </a:prstGeom>
          <a:noFill/>
          <a:ln w="2413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26680" y="1828800"/>
            <a:ext cx="1005840" cy="0"/>
          </a:xfrm>
          <a:prstGeom prst="line">
            <a:avLst/>
          </a:prstGeom>
          <a:noFill/>
          <a:ln w="2032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26680" y="2331720"/>
            <a:ext cx="1005840" cy="0"/>
          </a:xfrm>
          <a:prstGeom prst="line">
            <a:avLst/>
          </a:prstGeom>
          <a:noFill/>
          <a:ln w="2032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26680" y="2834640"/>
            <a:ext cx="1005840" cy="228600"/>
          </a:xfrm>
          <a:prstGeom prst="line">
            <a:avLst/>
          </a:prstGeom>
          <a:noFill/>
          <a:ln w="2032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17830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938528"/>
            <a:ext cx="8686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659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入力EDX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600200"/>
            <a:ext cx="1234440" cy="1463040"/>
          </a:xfrm>
          <a:prstGeom prst="roundRect">
            <a:avLst>
              <a:gd name="adj" fmla="val 5926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8456" y="1783080"/>
            <a:ext cx="868680" cy="219456"/>
          </a:xfrm>
          <a:prstGeom prst="roundRect">
            <a:avLst>
              <a:gd name="adj" fmla="val 33333"/>
            </a:avLst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8105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多スケール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CNN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1143000" cy="1463040"/>
          </a:xfrm>
          <a:prstGeom prst="roundRect">
            <a:avLst>
              <a:gd name="adj" fmla="val 6400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783080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8105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12344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37160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39903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元素presence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15400" y="20116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14884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21762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擬似成分比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27889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29260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29535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886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041648"/>
            <a:ext cx="2240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0690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なぜ単純1D-CNNより一歩進めるか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440740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多スケール CNN で、狭いピーク・広いピーク・重なりピークを同時に見やすい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辞書アンカー窓を明示的に集約するため、同じ元素の複数線関係をモデルに渡せる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presence / fraction / confidence を同時学習させることで、単なる分類器より実運用に近い出力になる</a:t>
            </a:r>
            <a:endParaRPr lang="en-US" sz="154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4041648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06908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将来拡張（任意）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01968" y="4407408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attention / transformer を追加し、離れた複数アンカーの関係を見る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低次元特徴を後段で結合し、geometry prior を与える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前後スペクトルを別枝で入れ、基板寄与補正に使う</a:t>
            </a:r>
            <a:endParaRPr lang="en-US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推論・信頼度・再評価: 出力だけでなく「根拠」と「次アクション」を返す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5120640" cy="5394960"/>
          </a:xfrm>
          <a:prstGeom prst="roundRect">
            <a:avLst>
              <a:gd name="adj" fmla="val 142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152144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95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信頼度の考え方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481328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54480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入力根拠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95728" y="1481328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554480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1956816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02536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モデル確率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95728" y="1956816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2002536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presence / fraction の出力強度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2432304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478024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アンカー一致数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95728" y="2432304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2478024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1本一致か、2本以上一致か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2907792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953512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アンカー整合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2907792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1448" y="2953512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主線/副線の矛盾がないか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383280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429000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overlap risk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95728" y="3383280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1448" y="3429000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近接ピーークで取り違えやすいか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3858768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904488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low energy risk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95728" y="3858768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41448" y="3904488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 energy 側が支配的で不安定か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4334256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379976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substrate risk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395728" y="4334256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41448" y="4379976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基板寄与で粒子が埋もれていないか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4800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confidence = f(model score, anchor match, anchor consistency, risk flags)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989320" y="1005840"/>
            <a:ext cx="5577840" cy="5394960"/>
          </a:xfrm>
          <a:prstGeom prst="roundRect">
            <a:avLst>
              <a:gd name="adj" fmla="val 1356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3912" y="1152144"/>
            <a:ext cx="128016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53912" y="117957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運用での返し方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0840" y="1965960"/>
            <a:ext cx="3840480" cy="0"/>
          </a:xfrm>
          <a:prstGeom prst="line">
            <a:avLst/>
          </a:prstGeom>
          <a:noFill/>
          <a:ln w="22860">
            <a:solidFill>
              <a:srgbClr val="2F9B6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20840" y="3063240"/>
            <a:ext cx="38404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20840" y="4160520"/>
            <a:ext cx="3840480" cy="0"/>
          </a:xfrm>
          <a:prstGeom prst="line">
            <a:avLst/>
          </a:prstGeom>
          <a:noFill/>
          <a:ln w="22860">
            <a:solidFill>
              <a:srgbClr val="D95D5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263640" y="16459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1656" y="1801368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182880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27432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91656" y="2898648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29260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8404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91656" y="3995928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40233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744200" y="1554480"/>
            <a:ext cx="658368" cy="822960"/>
          </a:xfrm>
          <a:prstGeom prst="roundRect">
            <a:avLst>
              <a:gd name="adj" fmla="val 11111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26496" y="1764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744200" y="2651760"/>
            <a:ext cx="658368" cy="822960"/>
          </a:xfrm>
          <a:prstGeom prst="roundRect">
            <a:avLst>
              <a:gd name="adj" fmla="val 11111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808208" y="2852928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技術者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744200" y="3749040"/>
            <a:ext cx="658368" cy="822960"/>
          </a:xfrm>
          <a:prstGeom prst="roundRect">
            <a:avLst>
              <a:gd name="adj" fmla="val 11111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780776" y="389534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再測定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詳細解析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4892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高: 2本以上一致・矛盾少・risk低 → 自動候補化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中: 1本一致や overlap 有 → 技術者の確認候補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低: 低 energy 支配・基板混合大・矛盾有 → 再測定/高忠実度解析</a:t>
            </a:r>
            <a:endParaRPr lang="en-US" sz="15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将来拡張: SEM・前後スペクトル・高忠実度物理計算を「追加モジュール」として接続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199ED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990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26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前後スペクトル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 wafer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基板寄与の校正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 drift / resolution の補正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domain shift の縮小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41648" y="1234440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2F9B6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990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26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(低次元)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61104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面積→等価直径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円形度/長短比/コントラスト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geometry prior として利用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88936" y="1234440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E39A31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53528" y="13990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1426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高忠実度計算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(任意)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08392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DTSA-II: EDS sim / Filter-fitting / XPP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PENELOPE: 複雑幾何
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xraylib / SRD164 / XCOM: 物理量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65960" y="4709160"/>
            <a:ext cx="4023360" cy="10972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13248" y="4709160"/>
            <a:ext cx="576072" cy="10972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0536" y="4709160"/>
            <a:ext cx="0" cy="10972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97680" y="54864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5641848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6692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初期版の核は変えない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566928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 → 人工データ → 辞書ガイドAI → 信頼度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526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690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前工程/clean wafer があると、差分ではなく「substrate basis」として扱える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4160520" y="4526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4690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SEM画像そのものではなく、特徴量だけ prior に使うと実装が軽い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7607808" y="4526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3256" y="4690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高忠実度計算は全件ではなく「難例」と「校正」に限定する</a:t>
            </a:r>
            <a:endParaRPr lang="en-US" sz="13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提案手法の活用イメージ: 初期PoCで確認したい3つの代表ケース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63040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90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F系プラズマ装置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91056" y="2011680"/>
            <a:ext cx="914400" cy="228600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572768"/>
            <a:ext cx="594360" cy="475488"/>
          </a:xfrm>
          <a:prstGeom prst="arc">
            <a:avLst/>
          </a:prstGeom>
          <a:solidFill>
            <a:srgbClr val="EAF6FF"/>
          </a:solidFill>
          <a:ln w="13970">
            <a:solidFill>
              <a:srgbClr val="2F9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828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59536" y="30632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Y / O / F 系 + Al / Si 系の候補が多い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側が不安定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辞書の候補制限が効く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932688" y="4681728"/>
            <a:ext cx="23317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F9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7640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課題→提案→効果 を個別に整理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50792" y="1298448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97096" y="1463040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7096" y="1490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高Z近接ピーーク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0832" y="1828800"/>
            <a:ext cx="2240280" cy="1051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251960" y="30632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Hf / Ta / W が 8〜10 keV に密集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単純 fitting が揺れやすい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複数アンカー整合が効く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4325112" y="4681728"/>
            <a:ext cx="23317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9976" y="47640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課題→提案→効果 を個別に整理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43216" y="1298448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1463040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1490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小粒子 + 基板混合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311896" y="2139696"/>
            <a:ext cx="1097280" cy="228600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13648" y="1609344"/>
            <a:ext cx="512064" cy="420624"/>
          </a:xfrm>
          <a:prstGeom prst="arc">
            <a:avLst/>
          </a:prstGeom>
          <a:solidFill>
            <a:srgbClr val="FFF1D9"/>
          </a:solidFill>
          <a:ln w="13970">
            <a:solidFill>
              <a:srgbClr val="E39A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76488" y="187452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weak signal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44384" y="30632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Si / O が基板由来で混ざる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粒子信号が弱い
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前後スペクトルや SEM prior が効く</a:t>
            </a:r>
            <a:endParaRPr lang="en-US" sz="1520" dirty="0"/>
          </a:p>
        </p:txBody>
      </p:sp>
      <p:sp>
        <p:nvSpPr>
          <p:cNvPr id="29" name="Shape 26"/>
          <p:cNvSpPr/>
          <p:nvPr/>
        </p:nvSpPr>
        <p:spPr>
          <a:xfrm>
            <a:off x="7717536" y="4681728"/>
            <a:ext cx="23317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7640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課題→提案→効果 を個別に整理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4672" y="5687568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8338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3事例とも、初期版では「辞書のみ」でPoC可能。実測が増えた段階で clean wafer / SEM / DTSA-II を段階追加する。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活用事例A: F系プラズマ工程での Y/O/F 系・Al/Si 系候補の早期絞り込み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3063240" cy="5440680"/>
          </a:xfrm>
          <a:prstGeom prst="roundRect">
            <a:avLst>
              <a:gd name="adj" fmla="val 2388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07008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2344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現場課題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57276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フッ素系ガス環境では Y2O3 / YF3 / YOF 系 coating 由来粒子が候補になる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 / F は低 energy 側で背景・吸収の影響を受けやすい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Y / Al / Si も同時に見えると候補数が一気に増える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2194560" cy="1508760"/>
          </a:xfrm>
          <a:prstGeom prst="rect">
            <a:avLst/>
          </a:prstGeom>
          <a:solidFill>
            <a:srgbClr val="EAF6FF"/>
          </a:solidFill>
          <a:ln w="12700">
            <a:solidFill>
              <a:srgbClr val="B7D1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3749040"/>
            <a:ext cx="1865376" cy="164592"/>
          </a:xfrm>
          <a:prstGeom prst="rect">
            <a:avLst/>
          </a:prstGeom>
          <a:solidFill>
            <a:srgbClr val="BFD9E8"/>
          </a:solidFill>
          <a:ln w="10160">
            <a:solidFill>
              <a:srgbClr val="BF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7088" y="4041648"/>
            <a:ext cx="530352" cy="438912"/>
          </a:xfrm>
          <a:prstGeom prst="arc">
            <a:avLst/>
          </a:prstGeom>
          <a:solidFill>
            <a:srgbClr val="E6FFF1"/>
          </a:solidFill>
          <a:ln w="13970">
            <a:solidFill>
              <a:srgbClr val="2F9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6232" y="378561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0784" y="45262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Y/O/F particle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1051560"/>
            <a:ext cx="3474720" cy="5440680"/>
          </a:xfrm>
          <a:prstGeom prst="roundRect">
            <a:avLst>
              <a:gd name="adj" fmla="val 210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59936" y="1207008"/>
            <a:ext cx="14630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9936" y="1234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提案手法の使い方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96512" y="1572768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辞書候補を Y / O / F / Al / Si に寄せた人工データを先に生成する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 / F の line dropout と low energy risk を強めに学習させる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 Y の複数アンカー一致で、1本欠けても候補を落としにくくする</a:t>
            </a:r>
            <a:endParaRPr lang="en-US" sz="154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9080" y="3931920"/>
            <a:ext cx="3108960" cy="1234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589520" y="1051560"/>
            <a:ext cx="3977640" cy="5440680"/>
          </a:xfrm>
          <a:prstGeom prst="roundRect">
            <a:avLst>
              <a:gd name="adj" fmla="val 1839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54112" y="1207008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12344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35824" y="1572768"/>
            <a:ext cx="91440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81544" y="1645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68512" y="1572768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14232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0012680" y="1572768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0" y="1645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提案後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35824" y="2039112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81544" y="2084832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候補数</a:t>
            </a:r>
            <a:endParaRPr lang="en-US" sz="1160" dirty="0"/>
          </a:p>
        </p:txBody>
      </p:sp>
      <p:sp>
        <p:nvSpPr>
          <p:cNvPr id="31" name="Shape 28"/>
          <p:cNvSpPr/>
          <p:nvPr/>
        </p:nvSpPr>
        <p:spPr>
          <a:xfrm>
            <a:off x="8668512" y="2039112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14232" y="2084832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手動で広く疑う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10012680" y="2039112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58400" y="2084832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辞書と工程で上位候補へ絞る</a:t>
            </a:r>
            <a:endParaRPr lang="en-US" sz="1160" dirty="0"/>
          </a:p>
        </p:txBody>
      </p:sp>
      <p:sp>
        <p:nvSpPr>
          <p:cNvPr id="35" name="Shape 32"/>
          <p:cNvSpPr/>
          <p:nvPr/>
        </p:nvSpPr>
        <p:spPr>
          <a:xfrm>
            <a:off x="7735824" y="2505456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81544" y="2551176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見逃し</a:t>
            </a:r>
            <a:endParaRPr lang="en-US" sz="1160" dirty="0"/>
          </a:p>
        </p:txBody>
      </p:sp>
      <p:sp>
        <p:nvSpPr>
          <p:cNvPr id="37" name="Shape 34"/>
          <p:cNvSpPr/>
          <p:nvPr/>
        </p:nvSpPr>
        <p:spPr>
          <a:xfrm>
            <a:off x="8668512" y="2505456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14232" y="2551176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副線欠落で落ちやすい</a:t>
            </a:r>
            <a:endParaRPr lang="en-US" sz="1160" dirty="0"/>
          </a:p>
        </p:txBody>
      </p:sp>
      <p:sp>
        <p:nvSpPr>
          <p:cNvPr id="39" name="Shape 36"/>
          <p:cNvSpPr/>
          <p:nvPr/>
        </p:nvSpPr>
        <p:spPr>
          <a:xfrm>
            <a:off x="10012680" y="2505456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58400" y="2551176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1本一致でも候補維持</a:t>
            </a:r>
            <a:endParaRPr lang="en-US" sz="1160" dirty="0"/>
          </a:p>
        </p:txBody>
      </p:sp>
      <p:sp>
        <p:nvSpPr>
          <p:cNvPr id="41" name="Shape 38"/>
          <p:cNvSpPr/>
          <p:nvPr/>
        </p:nvSpPr>
        <p:spPr>
          <a:xfrm>
            <a:off x="7735824" y="2971800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再評価</a:t>
            </a:r>
            <a:endParaRPr lang="en-US" sz="1160" dirty="0"/>
          </a:p>
        </p:txBody>
      </p:sp>
      <p:sp>
        <p:nvSpPr>
          <p:cNvPr id="43" name="Shape 40"/>
          <p:cNvSpPr/>
          <p:nvPr/>
        </p:nvSpPr>
        <p:spPr>
          <a:xfrm>
            <a:off x="8668512" y="2971800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14232" y="3017520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広範囲に必要</a:t>
            </a:r>
            <a:endParaRPr lang="en-US" sz="1160" dirty="0"/>
          </a:p>
        </p:txBody>
      </p:sp>
      <p:sp>
        <p:nvSpPr>
          <p:cNvPr id="45" name="Shape 42"/>
          <p:cNvSpPr/>
          <p:nvPr/>
        </p:nvSpPr>
        <p:spPr>
          <a:xfrm>
            <a:off x="10012680" y="2971800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05840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低信頼度だけに集約</a:t>
            </a:r>
            <a:endParaRPr lang="en-US" sz="1160" dirty="0"/>
          </a:p>
        </p:txBody>
      </p:sp>
      <p:sp>
        <p:nvSpPr>
          <p:cNvPr id="47" name="Text 44"/>
          <p:cNvSpPr/>
          <p:nvPr/>
        </p:nvSpPr>
        <p:spPr>
          <a:xfrm>
            <a:off x="7772400" y="40233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原因部材・原因工程の初動判断を早めやすい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側の不安定性を risk として表示できる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高信頼群を先にさばき、詳細解析対象を減らせる</a:t>
            </a:r>
            <a:endParaRPr lang="en-US" sz="15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活用事例B: Hf / Ta / W の高Z近接ピーークを「アンカー群」で扱う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6400800" cy="5440680"/>
          </a:xfrm>
          <a:prstGeom prst="roundRect">
            <a:avLst>
              <a:gd name="adj" fmla="val 13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170432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9786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8〜10 keV 帯の近接ピーーク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" y="1600200"/>
            <a:ext cx="5852160" cy="2286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08760" y="4023360"/>
            <a:ext cx="548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63624" y="41056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07792" y="4023360"/>
            <a:ext cx="548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62656" y="41056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70832" y="4023360"/>
            <a:ext cx="548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F9B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25696" y="41056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4400" y="4526280"/>
            <a:ext cx="64008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5994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572768" y="4526280"/>
            <a:ext cx="96012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18488" y="4599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energy_1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551176" y="4526280"/>
            <a:ext cx="96012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96896" y="4599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energy_2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529584" y="4526280"/>
            <a:ext cx="96012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75304" y="4599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energy_3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14400" y="4992624"/>
            <a:ext cx="6400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0120" y="5038344"/>
            <a:ext cx="548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1572768" y="4992624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18488" y="5038344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7.8990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2551176" y="4992624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96896" y="5038344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9.0227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3529584" y="4992624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75304" y="5038344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9.3473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914400" y="5458968"/>
            <a:ext cx="64008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0120" y="5504688"/>
            <a:ext cx="548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</a:t>
            </a:r>
            <a:endParaRPr lang="en-US" sz="1180" dirty="0"/>
          </a:p>
        </p:txBody>
      </p:sp>
      <p:sp>
        <p:nvSpPr>
          <p:cNvPr id="34" name="Shape 31"/>
          <p:cNvSpPr/>
          <p:nvPr/>
        </p:nvSpPr>
        <p:spPr>
          <a:xfrm>
            <a:off x="1572768" y="5458968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18488" y="5504688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8.1461</a:t>
            </a:r>
            <a:endParaRPr lang="en-US" sz="1180" dirty="0"/>
          </a:p>
        </p:txBody>
      </p:sp>
      <p:sp>
        <p:nvSpPr>
          <p:cNvPr id="36" name="Shape 33"/>
          <p:cNvSpPr/>
          <p:nvPr/>
        </p:nvSpPr>
        <p:spPr>
          <a:xfrm>
            <a:off x="2551176" y="5458968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96896" y="5504688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9.3431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3529584" y="5458968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75304" y="5504688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9.6518</a:t>
            </a:r>
            <a:endParaRPr lang="en-US" sz="1180" dirty="0"/>
          </a:p>
        </p:txBody>
      </p:sp>
      <p:sp>
        <p:nvSpPr>
          <p:cNvPr id="40" name="Shape 37"/>
          <p:cNvSpPr/>
          <p:nvPr/>
        </p:nvSpPr>
        <p:spPr>
          <a:xfrm>
            <a:off x="914400" y="5925312"/>
            <a:ext cx="6400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0120" y="5971032"/>
            <a:ext cx="548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180" dirty="0"/>
          </a:p>
        </p:txBody>
      </p:sp>
      <p:sp>
        <p:nvSpPr>
          <p:cNvPr id="42" name="Shape 39"/>
          <p:cNvSpPr/>
          <p:nvPr/>
        </p:nvSpPr>
        <p:spPr>
          <a:xfrm>
            <a:off x="1572768" y="5925312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18488" y="5971032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8.3976</a:t>
            </a:r>
            <a:endParaRPr lang="en-US" sz="1180" dirty="0"/>
          </a:p>
        </p:txBody>
      </p:sp>
      <p:sp>
        <p:nvSpPr>
          <p:cNvPr id="44" name="Shape 41"/>
          <p:cNvSpPr/>
          <p:nvPr/>
        </p:nvSpPr>
        <p:spPr>
          <a:xfrm>
            <a:off x="2551176" y="5925312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596896" y="5971032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9.6724</a:t>
            </a:r>
            <a:endParaRPr lang="en-US" sz="1180" dirty="0"/>
          </a:p>
        </p:txBody>
      </p:sp>
      <p:sp>
        <p:nvSpPr>
          <p:cNvPr id="46" name="Shape 43"/>
          <p:cNvSpPr/>
          <p:nvPr/>
        </p:nvSpPr>
        <p:spPr>
          <a:xfrm>
            <a:off x="3529584" y="5925312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575304" y="5971032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9.9615</a:t>
            </a:r>
            <a:endParaRPr lang="en-US" sz="1180" dirty="0"/>
          </a:p>
        </p:txBody>
      </p:sp>
      <p:sp>
        <p:nvSpPr>
          <p:cNvPr id="48" name="Shape 45"/>
          <p:cNvSpPr/>
          <p:nvPr/>
        </p:nvSpPr>
        <p:spPr>
          <a:xfrm>
            <a:off x="7269480" y="1024128"/>
            <a:ext cx="4297680" cy="5440680"/>
          </a:xfrm>
          <a:prstGeom prst="roundRect">
            <a:avLst>
              <a:gd name="adj" fmla="val 1702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443216" y="11704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43216" y="11978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提案手法の効き方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424928" y="1572768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単一ピーークごとに独立係数を持たせるのではなく、Hf / Ta / W をそれぞれアンカー群で束ねる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1本しか見えないときは候補維持、2本以上が整合すると信頼度を上げる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低信頼サンプルだけ DTSA-II 等の高忠実度計算へ送る</a:t>
            </a:r>
            <a:endParaRPr lang="en-US" sz="1540" dirty="0"/>
          </a:p>
        </p:txBody>
      </p:sp>
      <p:sp>
        <p:nvSpPr>
          <p:cNvPr id="52" name="Shape 49"/>
          <p:cNvSpPr/>
          <p:nvPr/>
        </p:nvSpPr>
        <p:spPr>
          <a:xfrm>
            <a:off x="7424928" y="37947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589520" y="4069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初期版の役割は「候補絞り込み」まで。重元素の近接系は、詳細定量を後段へ分離できる点が価値。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活用事例C: 小粒子・薄付着物では「前後スペクトル + SEM特徴」が効く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3657600" cy="544068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170432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978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現場課題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2971800" cy="384048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46360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pattern / wafer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4187952"/>
            <a:ext cx="777240" cy="384048"/>
          </a:xfrm>
          <a:prstGeom prst="arc">
            <a:avLst/>
          </a:prstGeom>
          <a:solidFill>
            <a:srgbClr val="FFF1D9"/>
          </a:solidFill>
          <a:ln w="13970">
            <a:solidFill>
              <a:srgbClr val="E39A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395020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small particle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572768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粒子が小さいと Si / O 等の基板由来信号が勝ちやすい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粒子面積だけでは EDX の見え方を決めきれない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の形態情報と前後スペクトルを足すと推定が安定しやすい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4526280" y="1024128"/>
            <a:ext cx="3291840" cy="5440680"/>
          </a:xfrm>
          <a:prstGeom prst="roundRect">
            <a:avLst>
              <a:gd name="adj" fmla="val 222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170432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1978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1572768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wafer / 前工程スペクトルを substrate basis として一緒に入れる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画像は面積・円形度・長短比などの低次元特徴へ圧縮する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 は主経路のまま、prior だけを追加する</a:t>
            </a:r>
            <a:endParaRPr lang="en-US" sz="154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3794760"/>
            <a:ext cx="2697480" cy="1143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092440" y="1024128"/>
            <a:ext cx="3474720" cy="5440680"/>
          </a:xfrm>
          <a:prstGeom prst="roundRect">
            <a:avLst>
              <a:gd name="adj" fmla="val 2105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6176" y="1170432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11978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47888" y="1572768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基板成分を粒子成分として誤帰属する頻度を下げやすい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を prior に使うため、画像モデルを大きくしなくてよい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難例のみ高忠実度シミュレーションへ送る設計と相性がよい</a:t>
            </a:r>
            <a:endParaRPr lang="en-US" sz="1540" dirty="0"/>
          </a:p>
        </p:txBody>
      </p:sp>
      <p:sp>
        <p:nvSpPr>
          <p:cNvPr id="23" name="Shape 20"/>
          <p:cNvSpPr/>
          <p:nvPr/>
        </p:nvSpPr>
        <p:spPr>
          <a:xfrm>
            <a:off x="8275320" y="3822192"/>
            <a:ext cx="29718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40965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面積のみでは不足。等価直径 + 形状クラス + substrate share の方が実務向き。</a:t>
            </a:r>
            <a:endParaRPr lang="en-US" sz="14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新規性・進歩性の整理（推定）: 発明の芯は「入力・生成・信頼度」にある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7132320" cy="5440680"/>
          </a:xfrm>
          <a:prstGeom prst="roundRect">
            <a:avLst>
              <a:gd name="adj" fmla="val 13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70432"/>
            <a:ext cx="11430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19786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比較マトリクス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49961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7276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31136" y="149961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157276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簡易辞書を共通利用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9584" y="149961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辞書起点の人工EDX学習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02352" y="149961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57276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アンカー整合信頼度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149961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572768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低信頼のみ再評価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204825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09397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 fitting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2231136" y="204825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76856" y="209397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529584" y="204825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09397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102352" y="204825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209397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92240" y="204825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09397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49808" y="259689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264261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 / PENELOPE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2231136" y="259689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76856" y="264261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3529584" y="259689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5304" y="264261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102352" y="259689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264261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492240" y="259689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264261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749808" y="314553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319125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SEM画像DL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2231136" y="314553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76856" y="319125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3529584" y="314553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75304" y="319125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5102352" y="314553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48072" y="319125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6492240" y="314553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19125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749808" y="369417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373989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SEM-EDS融合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2231136" y="369417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76856" y="373989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3529584" y="369417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75304" y="373989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5102352" y="369417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8072" y="373989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6492240" y="369417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373989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749808" y="424281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" y="428853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2231136" y="424281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76856" y="428853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3" name="Shape 61"/>
          <p:cNvSpPr/>
          <p:nvPr/>
        </p:nvSpPr>
        <p:spPr>
          <a:xfrm>
            <a:off x="3529584" y="424281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75304" y="428853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5" name="Shape 63"/>
          <p:cNvSpPr/>
          <p:nvPr/>
        </p:nvSpPr>
        <p:spPr>
          <a:xfrm>
            <a:off x="5102352" y="424281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48072" y="428853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7" name="Shape 65"/>
          <p:cNvSpPr/>
          <p:nvPr/>
        </p:nvSpPr>
        <p:spPr>
          <a:xfrm>
            <a:off x="6492240" y="424281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428853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9" name="Shape 67"/>
          <p:cNvSpPr/>
          <p:nvPr/>
        </p:nvSpPr>
        <p:spPr>
          <a:xfrm>
            <a:off x="7973568" y="1024128"/>
            <a:ext cx="3611880" cy="5440680"/>
          </a:xfrm>
          <a:prstGeom prst="roundRect">
            <a:avLst>
              <a:gd name="adj" fmla="val 2025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56448" y="1170432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56448" y="11978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新規性の核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56448" y="1572768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同じ辞書を、生成・学習・推論・信頼度で共通利用する点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line dropout / overlap / substrate mix など「失敗モード」を人工データに組み込む点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AI確率だけでなく、複数アンカー整合から説明可能な confidence を出す点</a:t>
            </a:r>
            <a:endParaRPr lang="en-US" sz="1530" dirty="0"/>
          </a:p>
        </p:txBody>
      </p:sp>
      <p:sp>
        <p:nvSpPr>
          <p:cNvPr id="73" name="Shape 71"/>
          <p:cNvSpPr/>
          <p:nvPr/>
        </p:nvSpPr>
        <p:spPr>
          <a:xfrm>
            <a:off x="8156448" y="379476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02752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進歩性の主張軸は「AIだから」ではなく、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入力データの作り方・特徴量の取り方・信頼度設計に置くと整理しやすい。</a:t>
            </a:r>
            <a:endParaRPr lang="en-US" sz="14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請求項例（たたき台）: 方法 / システム / プログラムの3本で整理しやすい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261872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17320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44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独立請求項（方法）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辞書データを取得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人工 EDX スペクトルを生成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AIモデルを学習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実測EDXから元素有無/成分比を推定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アンカー一致度で信頼度算出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4041648" y="1261872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417320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44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独立請求項（システム）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42816" y="18470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辞書記憶部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人工データ生成部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学習部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推論部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信頼度算出部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7461504" y="1261872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6096" y="1417320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1444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独立請求項（プログラム）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62672" y="18470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方法を実行させるプログラム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非一時的記録媒体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低信頼度時の再評価分岐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6108192" y="4617720"/>
            <a:ext cx="0" cy="1124712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5742432"/>
            <a:ext cx="0" cy="493776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08192" y="5742432"/>
            <a:ext cx="0" cy="493776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08192" y="5742432"/>
            <a:ext cx="4133088" cy="493776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59552" y="4315968"/>
            <a:ext cx="10972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439826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5840" y="6144768"/>
            <a:ext cx="20574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622706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広いクレーム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 + 生成 + 推論 + 信頼度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6144768"/>
            <a:ext cx="22402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F9B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9784" y="622706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狭い従属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dropout / SEM prior / 前後スペクトル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15400" y="6144768"/>
            <a:ext cx="21031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0264" y="622706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回避困難化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低信頼のみ再評価 / アンカー整合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まとめ: 初期版は「辞書だけ」で始め、将来は実測と物理計算を段階接続する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024128"/>
            <a:ext cx="5303520" cy="5440680"/>
          </a:xfrm>
          <a:prstGeom prst="roundRect">
            <a:avLst>
              <a:gd name="adj" fmla="val 137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170432"/>
            <a:ext cx="14630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978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価値指標（PoCの見方）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候補抽出精度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67128" y="18013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7128" y="1801368"/>
            <a:ext cx="2977286" cy="283464"/>
          </a:xfrm>
          <a:prstGeom prst="roundRect">
            <a:avLst>
              <a:gd name="adj" fmla="val 19355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18105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micro-F1 / recall を優先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主成分推定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67128" y="22585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7128" y="2258568"/>
            <a:ext cx="2638958" cy="283464"/>
          </a:xfrm>
          <a:prstGeom prst="roundRect">
            <a:avLst>
              <a:gd name="adj" fmla="val 19355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8568" y="22677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top-1 accuracy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再評価率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67128" y="27157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7128" y="2715768"/>
            <a:ext cx="1860804" cy="283464"/>
          </a:xfrm>
          <a:prstGeom prst="roundRect">
            <a:avLst>
              <a:gd name="adj" fmla="val 19355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8568" y="27249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低信頼度だけへ集約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説明可能性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67128" y="31729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67128" y="3172968"/>
            <a:ext cx="3112618" cy="283464"/>
          </a:xfrm>
          <a:prstGeom prst="roundRect">
            <a:avLst>
              <a:gd name="adj" fmla="val 19355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58568" y="31821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どのアンカーが効いたか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" y="37947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4164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初期版だけでも、成分候補の自動スクリーニングという価値がある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特許の主張軸は「簡易辞書」「人工データの作り方」「信頼度設計」に置ける
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実測が増えた段階で clean wafer / SEM / DTSA-II を足しても同じ骨格を維持できる</a:t>
            </a:r>
            <a:endParaRPr lang="en-US" sz="1530" dirty="0"/>
          </a:p>
        </p:txBody>
      </p:sp>
      <p:sp>
        <p:nvSpPr>
          <p:cNvPr id="27" name="Shape 25"/>
          <p:cNvSpPr/>
          <p:nvPr/>
        </p:nvSpPr>
        <p:spPr>
          <a:xfrm>
            <a:off x="6172200" y="1024128"/>
            <a:ext cx="5394960" cy="5440680"/>
          </a:xfrm>
          <a:prstGeom prst="roundRect">
            <a:avLst>
              <a:gd name="adj" fmla="val 1356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170432"/>
            <a:ext cx="11430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19786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導入ステップ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2788920"/>
            <a:ext cx="91440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2788920"/>
            <a:ext cx="91440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19088" y="2212848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395728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辞書のみ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人工データ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30768" y="2212848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2395728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実測校正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前後/SEM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442448" y="2212848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8168" y="2395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難例のみ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物理計算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46520" y="388620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40965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PoC時点では「辞書-only」で可否を判定しやすい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成功したら実測校正を足し、最後に高忠実度解析を難例だけへ限定する
</a:t>
            </a:r>
            <a:endParaRPr lang="en-US" sz="1540" dirty="0"/>
          </a:p>
          <a:p>
            <a:pPr marL="0" indent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この段階設計自体が、開発計画と特許説明を両立しやすい</a:t>
            </a:r>
            <a:endParaRPr lang="en-US" sz="1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3380</Words>
  <Application>Microsoft Macintosh PowerPoint</Application>
  <PresentationFormat>ワイド画面</PresentationFormat>
  <Paragraphs>597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半導体製造×AI パーティクル成分推定 特許開示書スライド</dc:title>
  <dc:subject>Patent disclosure slides for semiconductor manufacturing × AI</dc:subject>
  <dc:creator>OpenAI</dc:creator>
  <cp:lastModifiedBy>kawahito</cp:lastModifiedBy>
  <cp:revision>2</cp:revision>
  <dcterms:created xsi:type="dcterms:W3CDTF">2026-03-09T22:34:32Z</dcterms:created>
  <dcterms:modified xsi:type="dcterms:W3CDTF">2026-03-09T23:31:55Z</dcterms:modified>
</cp:coreProperties>
</file>
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03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Image asset: Unsplash photo by Laura Ockel, “green and brown abstract painting” (macro silicon wafer), https://unsplash.com/photos/nIEHqGSymRU
- User-provided files: particles.csv, samples.csv
- PointMLP paper: https://arxiv.org/abs/2202.07123
- Set Transformer: https://proceedings.mlr.press/v97/lee19d.html
- Perceiver IO: https://arxiv.org/abs/2107.14795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Image asset: Wikimedia Commons, “Cleanroom suit.jpg”, https://commons.wikimedia.org/wiki/File:Cleanroom_suit.jpg
- User-provided files: particles.csv, samples.csv
- synthlab_scaffold README: https://github.com/dkawa2523/synthlab_scaffold
- PointMLP paper: https://arxiv.org/abs/2202.07123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PointNet: https://arxiv.org/abs/1612.00593
- PointMLP: https://arxiv.org/abs/2202.07123
- Set Transformer: https://proceedings.mlr.press/v97/lee19d.html
- Perceiver IO: https://arxiv.org/abs/2107.14795
- Point-MAE: https://www.ecva.net/papers/eccv_2022/papers_ECCV/papers/136620591.pdf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- PointMLP: https://arxiv.org/abs/2202.07123
- synthlab_scaffold labeling docs: https://github.com/dkawa2523/synthlab_scaffold/blob/master/docs/14_LABELING_AND_GROUPS.md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- PointMLP: https://arxiv.org/abs/2202.07123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- synthlab_scaffold README: https://github.com/dkawa2523/synthlab_scaffold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- synthlab_scaffold process structure: https://github.com/dkawa2523/synthlab_scaffold/tree/master/src/synthlab/processes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Set Transformer: https://proceedings.mlr.press/v97/lee19d.html
- Perceiver IO: https://arxiv.org/abs/2107.14795
- PointMLP: https://arxiv.org/abs/2202.07123
- User-provided files: particles.csv, samples.csv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- synthlab_scaffold schema: https://github.com/dkawa2523/synthlab_scaffold/blob/master/src/synthlab/domains/wafer_particles/schema.py
- PointNet / point set rationale: https://arxiv.org/abs/1612.00593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Set Transformer: https://proceedings.mlr.press/v97/lee19d.html
- Perceiver IO: https://arxiv.org/abs/2107.14795
- Point-MAE: https://www.ecva.net/papers/eccv_2022/papers_ECCV/papers/136620591.pdf
- PointMLP: https://arxiv.org/abs/2202.07123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- Point-MAE: https://www.ecva.net/papers/eccv_2022/papers_ECCV/papers/136620591.pdf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PointNet: https://arxiv.org/abs/1612.00593
- PointMLP: https://arxiv.org/abs/2202.07123
- Set Transformer: https://proceedings.mlr.press/v97/lee19d.html
- Perceiver IO: https://arxiv.org/abs/2107.14795
- Point-MAE: https://www.ecva.net/papers/eccv_2022/papers_ECCV/papers/136620591.pdf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Prior technical synthesis based on previous discussion and user-provided files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assets/external/wafer_macro.jpg"/>
          <p:cNvPicPr>
            <a:picLocks noChangeAspect="1"/>
          </p:cNvPicPr>
          <p:nvPr/>
        </p:nvPicPr>
        <p:blipFill>
          <a:blip r:embed="rId3"/>
          <a:srcRect l="20946" r="20946"/>
          <a:stretch/>
        </p:blipFill>
        <p:spPr>
          <a:xfrm>
            <a:off x="6172200" y="0"/>
            <a:ext cx="60167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72200" y="0"/>
            <a:ext cx="6016752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73152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ウェハーパーティクル点群から</a:t>
            </a:r>
            <a:endParaRPr lang="en-US" sz="2700" dirty="0"/>
          </a:p>
          <a:p>
            <a:pPr marL="0" indent="0">
              <a:buNone/>
            </a:pPr>
            <a:r>
              <a:rPr lang="en-US" sz="27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潜在付着場と観測品質を同時推定するAI技術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30352" y="187452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特許開示書向けサマリー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背景・目的・手法概要・活用イメージ・請求項例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30352" y="2468880"/>
            <a:ext cx="4754880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2761488"/>
            <a:ext cx="49377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従来の PointMLP ラベル分類から、潜在 clean 場＋観測品質推定へ課題設定を転換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入力データの作り方、特徴量、信頼度、クレーム化しやすい差分を明確化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添付データ 15,000 sample / 約165万粒子を前提に、特許説明素材として整理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572000"/>
            <a:ext cx="1325880" cy="694944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7000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観測点群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49194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x/y・r・θ・size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920240" y="4773168"/>
            <a:ext cx="411480" cy="292608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31720" y="4572000"/>
            <a:ext cx="1600200" cy="694944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31720" y="47000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集合Encoder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331720" y="491947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 attention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023360" y="4773168"/>
            <a:ext cx="411480" cy="292608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4462272"/>
            <a:ext cx="178308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34840" y="4617720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潜在密度場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＋サイズ場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＋品質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66928" y="5897880"/>
            <a:ext cx="2011680" cy="219456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Patent disclosure draft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743200" y="59070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半導体製造 ×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背景・目的・提案の全体像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900" dirty="0"/>
          </a:p>
        </p:txBody>
      </p:sp>
      <p:pic>
        <p:nvPicPr>
          <p:cNvPr id="6" name="Image 0" descr="/mnt/data/slide_assets/external/cleanroom.jpg"/>
          <p:cNvPicPr>
            <a:picLocks noChangeAspect="1"/>
          </p:cNvPicPr>
          <p:nvPr/>
        </p:nvPicPr>
        <p:blipFill>
          <a:blip r:embed="rId3"/>
          <a:srcRect l="23282" r="23282"/>
          <a:stretch/>
        </p:blipFill>
        <p:spPr>
          <a:xfrm>
            <a:off x="457200" y="1005840"/>
            <a:ext cx="3840480" cy="5349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5440680"/>
            <a:ext cx="3840480" cy="9144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559612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半導体製造では、ウェハ上パーティクル分布の把握と要因切り分けが重要。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2064" y="5815584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従来は分類中心だが、低付着・ノイズ条件では説明が途切れやすい。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2057400"/>
            <a:ext cx="219456" cy="256032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64424" y="2057400"/>
            <a:ext cx="219456" cy="256032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65208" y="2057400"/>
            <a:ext cx="219456" cy="256032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554480"/>
            <a:ext cx="14173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36592" y="1673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検査入力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773168" y="1929384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観測された粒子点群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または付着マップ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64224" y="1554480"/>
            <a:ext cx="14173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37376" y="1673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従来主眼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473952" y="1929384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PointMLP 等で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パターンラベル分類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65008" y="1554480"/>
            <a:ext cx="1417320" cy="1353312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38160" y="1673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本提案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174736" y="1929384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潜在付着場・粒径場・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品質指標を同時出力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765792" y="1554480"/>
            <a:ext cx="14173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38944" y="1673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使い道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875520" y="1929384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再計測判断・保守点検・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レビュー優先度付け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617720" y="3154680"/>
            <a:ext cx="71323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目的は「AI分類器の精度向上」ではなく、低粒子・高ノイズでも製造判断が続く出力体系を作ること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発明の芯は、①人工データで観測劣化を教師化、②粒子集合特徴の定義、③latent field と quality の同時推定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審査官・弁理士・製造技術者が、入力定義・学習方法・価値創出を一目で追える構成とする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1728" y="5010912"/>
          <a:ext cx="6967728" cy="107899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開示観点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このデッキで示す内容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背景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従来の PointMLP ラベル分類と先行カテゴリ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差分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粒子集合→潜在場＋品質という課題設定の転換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有用性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再計測・保守・レビュー優先度付けまで説明可能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四象限① 従来技術（背景）と先行技術カテゴリ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" y="84124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本件は新モデル単体よりも、「何を入力にし」「何を出し」「どう教師化するか」で差分を作る。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89904" y="1188720"/>
            <a:ext cx="0" cy="5303520"/>
          </a:xfrm>
          <a:prstGeom prst="line">
            <a:avLst/>
          </a:prstGeom>
          <a:noFill/>
          <a:ln w="12700">
            <a:solidFill>
              <a:srgbClr val="D6E4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886200"/>
            <a:ext cx="11155680" cy="0"/>
          </a:xfrm>
          <a:prstGeom prst="line">
            <a:avLst/>
          </a:prstGeom>
          <a:noFill/>
          <a:ln w="12700">
            <a:solidFill>
              <a:srgbClr val="D6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6309360"/>
            <a:ext cx="5303520" cy="219456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入力表現：画像/単純分類  ←→  粒子集合/構造化出力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1325880"/>
            <a:ext cx="5257800" cy="2331720"/>
          </a:xfrm>
          <a:prstGeom prst="roundRect">
            <a:avLst>
              <a:gd name="adj" fmla="val 1961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645920"/>
            <a:ext cx="256032" cy="0"/>
          </a:xfrm>
          <a:prstGeom prst="line">
            <a:avLst/>
          </a:prstGeom>
          <a:noFill/>
          <a:ln w="12700">
            <a:solidFill>
              <a:srgbClr val="89C8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14721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 従来運用：付着マップ＋ラベル分類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1828800"/>
            <a:ext cx="49377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主な対象は、識別しやすいパターンのクラス分類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PointMLP 系ではラベル確率を主出力に置きやすい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低粒子・ノイズ条件では「分類不能＝価値が途切れる」問題が残る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1325880"/>
            <a:ext cx="5257800" cy="2331720"/>
          </a:xfrm>
          <a:prstGeom prst="roundRect">
            <a:avLst>
              <a:gd name="adj" fmla="val 1961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9672" y="1645920"/>
            <a:ext cx="256032" cy="0"/>
          </a:xfrm>
          <a:prstGeom prst="line">
            <a:avLst/>
          </a:prstGeom>
          <a:noFill/>
          <a:ln w="12700">
            <a:solidFill>
              <a:srgbClr val="E39D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4721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 一般先行：点群分類の基本系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19672" y="1828800"/>
            <a:ext cx="49377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PointNet：順序のない点集合を直接扱う基本形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PointMLP：軽量・高速な分類器として実装しやすい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ただし主眼は classification であり、field 出力は中心課題でない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4069080"/>
            <a:ext cx="5257800" cy="2057400"/>
          </a:xfrm>
          <a:prstGeom prst="roundRect">
            <a:avLst>
              <a:gd name="adj" fmla="val 2222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38912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2153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 集合相互作用：Set attention 系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49377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Set Transformer：集合要素間の相互作用を attention で表現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低粒子条件で「どの点の関係が効いたか」を持ちやすい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粒子集合入力を自然に扱えるため、本件の本命候補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55080" y="4069080"/>
            <a:ext cx="5257800" cy="2057400"/>
          </a:xfrm>
          <a:prstGeom prst="roundRect">
            <a:avLst>
              <a:gd name="adj" fmla="val 2222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4389120"/>
            <a:ext cx="256032" cy="0"/>
          </a:xfrm>
          <a:prstGeom prst="line">
            <a:avLst/>
          </a:prstGeom>
          <a:noFill/>
          <a:ln w="12700">
            <a:solidFill>
              <a:srgbClr val="CC5C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42153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Q4 構造化出力・自己教師あり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19672" y="4572000"/>
            <a:ext cx="49377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Perceiver IO：任意の query に対して構造化出力を生成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Point-MAE：大量 synthetic を前学習にも転用しやすい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本件では「粒子集合 → 極座標 field」を具体的な出口にする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四象限② 従来の課題（発生条件・限界・評価・制約）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188720"/>
            <a:ext cx="5486400" cy="2286000"/>
          </a:xfrm>
          <a:prstGeom prst="roundRect">
            <a:avLst>
              <a:gd name="adj" fmla="val 2000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33502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 発生条件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51663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付着点数が少ない、または部分的にしか観測されない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偽点・位置ずれ・検出感度差により観測が歪む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複数要因が混在し、単一ラベルに落ちにくい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188720"/>
            <a:ext cx="5486400" cy="2286000"/>
          </a:xfrm>
          <a:prstGeom prst="roundRect">
            <a:avLst>
              <a:gd name="adj" fmla="val 2000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1508760"/>
            <a:ext cx="256032" cy="0"/>
          </a:xfrm>
          <a:prstGeom prst="line">
            <a:avLst/>
          </a:prstGeom>
          <a:noFill/>
          <a:ln w="12700">
            <a:solidFill>
              <a:srgbClr val="E39D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33502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 現行対策の限界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36792" y="1691640"/>
            <a:ext cx="51663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高信頼サンプルだけを学習・運用に採用しがち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分類器はラベル確率を返すが、欠落や偽点の影響を分離しない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結果として「識別できるパターンだけ」で運用が閉じる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657600"/>
            <a:ext cx="5486400" cy="2240280"/>
          </a:xfrm>
          <a:prstGeom prst="roundRect">
            <a:avLst>
              <a:gd name="adj" fmla="val 2041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97764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80390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 評価指標の不足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51663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Top-1 accuracy や F1 は空間傾向の再現を直接測れない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「どこに unseen mass がありそうか」を評価しにくい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品質推定が無いと、再計測やレビュー判断へ繋がりにくい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3657600"/>
            <a:ext cx="5486400" cy="2240280"/>
          </a:xfrm>
          <a:prstGeom prst="roundRect">
            <a:avLst>
              <a:gd name="adj" fmla="val 2041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3977640"/>
            <a:ext cx="256032" cy="0"/>
          </a:xfrm>
          <a:prstGeom prst="line">
            <a:avLst/>
          </a:prstGeom>
          <a:noFill/>
          <a:ln w="12700">
            <a:solidFill>
              <a:srgbClr val="CC5C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80390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Q4 データ・運用制約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36792" y="4160520"/>
            <a:ext cx="51663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実測では latent clean 真値や miss/fp 真値を得にくい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装置差・工程差・検査条件差で汎化が難しい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要因仮説は human review 用 metadata に留まることが多い</a:t>
            </a:r>
            <a:endParaRPr lang="en-US" sz="1400" dirty="0"/>
          </a:p>
        </p:txBody>
      </p:sp>
      <p:pic>
        <p:nvPicPr>
          <p:cNvPr id="22" name="Image 0" descr="/mnt/data/slide_assets/n_particles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360" y="5029200"/>
            <a:ext cx="3176481" cy="1325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269480" y="63550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添付データでも 20〜200 粒子/サンプル。少数点条件を無視できない。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添付データセットの前提整理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1280160" cy="82296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25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15,000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" y="15179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samples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48256" y="1097280"/>
            <a:ext cx="1280160" cy="82296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48256" y="1225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1.65M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48256" y="15179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particles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9584" y="1097280"/>
            <a:ext cx="1280160" cy="82296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1225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9584" y="15179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labels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10912" y="1097280"/>
            <a:ext cx="1280160" cy="82296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1225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20–200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10912" y="15179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particles / sample</a:t>
            </a:r>
            <a:endParaRPr lang="en-US" sz="1100" dirty="0"/>
          </a:p>
        </p:txBody>
      </p:sp>
      <p:pic>
        <p:nvPicPr>
          <p:cNvPr id="18" name="Image 0" descr="/mnt/data/slide_assets/label_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05453"/>
            <a:ext cx="3794760" cy="1389894"/>
          </a:xfrm>
          <a:prstGeom prst="rect">
            <a:avLst/>
          </a:prstGeom>
        </p:spPr>
      </p:pic>
      <p:pic>
        <p:nvPicPr>
          <p:cNvPr id="19" name="Image 1" descr="/mnt/data/slide_assets/n_particles_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437049"/>
            <a:ext cx="3657600" cy="1526702"/>
          </a:xfrm>
          <a:prstGeom prst="rect">
            <a:avLst/>
          </a:prstGeom>
        </p:spPr>
      </p:pic>
      <p:pic>
        <p:nvPicPr>
          <p:cNvPr id="20" name="Image 2" descr="/mnt/data/slide_assets/size_model_sh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2419" y="2240280"/>
            <a:ext cx="1846242" cy="1920240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4617720"/>
          <a:ext cx="10927080" cy="11887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観察事項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開示上の意味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15ラベル均等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クラス不均衡よりも「課題設定・出力設計」の差を示しやすい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size_model 80/20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粒径分布の違いを size field として持ち込める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中央値 110粒子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大規模点群専用より set attention 系が扱いやすいスケール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6"/>
          <p:cNvSpPr/>
          <p:nvPr/>
        </p:nvSpPr>
        <p:spPr>
          <a:xfrm>
            <a:off x="731520" y="5870448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学習の主戦場は「巨大点群」ではなく「小〜中規模の粒子集合」</a:t>
            </a: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したがって、軽量分類器の延長よりも、集合相互作用と構造化出力を優先する設計が妥当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 PointMLP 分類の位置づけと限界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900" dirty="0"/>
          </a:p>
        </p:txBody>
      </p:sp>
      <p:pic>
        <p:nvPicPr>
          <p:cNvPr id="6" name="Image 0" descr="/mnt/data/slide_assets/C02_EdgeBia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53136"/>
            <a:ext cx="1645920" cy="1762809"/>
          </a:xfrm>
          <a:prstGeom prst="rect">
            <a:avLst/>
          </a:prstGeom>
        </p:spPr>
      </p:pic>
      <p:pic>
        <p:nvPicPr>
          <p:cNvPr id="7" name="Image 1" descr="/mnt/data/slide_assets/C03_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1153136"/>
            <a:ext cx="1645920" cy="1762809"/>
          </a:xfrm>
          <a:prstGeom prst="rect">
            <a:avLst/>
          </a:prstGeom>
        </p:spPr>
      </p:pic>
      <p:pic>
        <p:nvPicPr>
          <p:cNvPr id="8" name="Image 2" descr="/mnt/data/slide_assets/C06_RadialLin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1153136"/>
            <a:ext cx="1645920" cy="1762809"/>
          </a:xfrm>
          <a:prstGeom prst="rect">
            <a:avLst/>
          </a:prstGeom>
        </p:spPr>
      </p:pic>
      <p:pic>
        <p:nvPicPr>
          <p:cNvPr id="9" name="Image 3" descr="/mnt/data/slide_assets/C07_Straigh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301976"/>
            <a:ext cx="1645920" cy="1762809"/>
          </a:xfrm>
          <a:prstGeom prst="rect">
            <a:avLst/>
          </a:prstGeom>
        </p:spPr>
      </p:pic>
      <p:pic>
        <p:nvPicPr>
          <p:cNvPr id="10" name="Image 4" descr="/mnt/data/slide_assets/C08_CurvedScrat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1720" y="3301976"/>
            <a:ext cx="1645920" cy="1762809"/>
          </a:xfrm>
          <a:prstGeom prst="rect">
            <a:avLst/>
          </a:prstGeom>
        </p:spPr>
      </p:pic>
      <p:pic>
        <p:nvPicPr>
          <p:cNvPr id="11" name="Image 5" descr="/mnt/data/slide_assets/C10_Hotspot_Is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3303555"/>
            <a:ext cx="1645920" cy="175965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566928" y="546811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添付データに含まれる代表パターン例</a:t>
            </a:r>
            <a:endParaRPr lang="en-US" sz="1300" dirty="0"/>
          </a:p>
        </p:txBody>
      </p:sp>
      <p:sp>
        <p:nvSpPr>
          <p:cNvPr id="13" name="Shape 5"/>
          <p:cNvSpPr/>
          <p:nvPr/>
        </p:nvSpPr>
        <p:spPr>
          <a:xfrm>
            <a:off x="6172200" y="1234440"/>
            <a:ext cx="1508760" cy="77724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4" name="Text 6"/>
          <p:cNvSpPr/>
          <p:nvPr/>
        </p:nvSpPr>
        <p:spPr>
          <a:xfrm>
            <a:off x="6172200" y="14173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観測点群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 付着マップ</a:t>
            </a:r>
            <a:endParaRPr lang="en-US" sz="1600" dirty="0"/>
          </a:p>
        </p:txBody>
      </p:sp>
      <p:sp>
        <p:nvSpPr>
          <p:cNvPr id="15" name="Shape 7"/>
          <p:cNvSpPr/>
          <p:nvPr/>
        </p:nvSpPr>
        <p:spPr>
          <a:xfrm>
            <a:off x="7754112" y="1444752"/>
            <a:ext cx="411480" cy="27432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6" name="Shape 8"/>
          <p:cNvSpPr/>
          <p:nvPr/>
        </p:nvSpPr>
        <p:spPr>
          <a:xfrm>
            <a:off x="8229600" y="1234440"/>
            <a:ext cx="1645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8229600" y="1417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PointMLP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分類器</a:t>
            </a:r>
            <a:endParaRPr lang="en-US" sz="1600" dirty="0"/>
          </a:p>
        </p:txBody>
      </p:sp>
      <p:sp>
        <p:nvSpPr>
          <p:cNvPr id="18" name="Shape 10"/>
          <p:cNvSpPr/>
          <p:nvPr/>
        </p:nvSpPr>
        <p:spPr>
          <a:xfrm>
            <a:off x="9966960" y="1444752"/>
            <a:ext cx="411480" cy="27432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10442448" y="1152144"/>
            <a:ext cx="1170432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10442448" y="13716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ラベル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確率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6172200" y="2423160"/>
            <a:ext cx="544068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336792" y="274320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6629400" y="2569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何が得られるか</a:t>
            </a:r>
            <a:endParaRPr lang="en-US" sz="1800" dirty="0"/>
          </a:p>
        </p:txBody>
      </p:sp>
      <p:sp>
        <p:nvSpPr>
          <p:cNvPr id="24" name="Text 16"/>
          <p:cNvSpPr/>
          <p:nvPr/>
        </p:nvSpPr>
        <p:spPr>
          <a:xfrm>
            <a:off x="6336792" y="2926080"/>
            <a:ext cx="51206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識別可能なパターンに対する class probability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運用説明がシンプルで、既存実装を構築しやすい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6172200" y="4069080"/>
            <a:ext cx="5440680" cy="1783080"/>
          </a:xfrm>
          <a:prstGeom prst="roundRect">
            <a:avLst>
              <a:gd name="adj" fmla="val 2564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6336792" y="4389120"/>
            <a:ext cx="256032" cy="0"/>
          </a:xfrm>
          <a:prstGeom prst="line">
            <a:avLst/>
          </a:prstGeom>
          <a:noFill/>
          <a:ln w="12700">
            <a:solidFill>
              <a:srgbClr val="CC5C4C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629400" y="421538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どこで限界が出るか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6336792" y="4572000"/>
            <a:ext cx="51206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低付着数では確率の高低しか残らず、空間傾向や見落としを説明しにくい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ノイズ・欠落・混合要因の影響を別変数として分離しない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誤分類時に再計測・保守・レビュー優先度へ繋げにくい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発明の基本着想：分類問題から latent field 推定へ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従来の問い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3337560" cy="150876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9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C5C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「この観測は、どのパターン label か？」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274320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主出力はラベル確率</a:t>
            </a: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欠落・偽点・位置ずれは内部で吸収されやすい</a:t>
            </a: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分類不能時の残存価値が小さい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51960" y="1143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提案の問い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24528" y="1417320"/>
            <a:ext cx="3931920" cy="150876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55448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「本来どこに付着があり、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今の観測はどれだけ信頼できるか？」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2084832"/>
            <a:ext cx="33832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潜在密度場・サイズ場・総数・品質指標を出力</a:t>
            </a: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分類不能でも field と quality は使える</a:t>
            </a: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再計測・保守・レビューの意思決定へ接続できる</a:t>
            </a:r>
            <a:endParaRPr lang="en-US" sz="1500" dirty="0"/>
          </a:p>
        </p:txBody>
      </p:sp>
      <p:pic>
        <p:nvPicPr>
          <p:cNvPr id="14" name="Image 0" descr="/mnt/data/slide_assets/hotspot_obs_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257034"/>
            <a:ext cx="3154680" cy="1189251"/>
          </a:xfrm>
          <a:prstGeom prst="rect">
            <a:avLst/>
          </a:prstGeom>
        </p:spPr>
      </p:pic>
      <p:pic>
        <p:nvPicPr>
          <p:cNvPr id="15" name="Image 1" descr="/mnt/data/slide_assets/hotspot_clean_f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912226"/>
            <a:ext cx="3154680" cy="11707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49640" y="43434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例：リング状分布は sparse 観測でも field にすると構造を保持しやすい。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4892040"/>
          <a:ext cx="7406640" cy="10972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比較軸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提案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入力理解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観測そのもの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観測は latent の一部とみなす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主出力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label probability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field + quality + optional label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失敗時の価値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小さい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3"/>
          <p:cNvSpPr/>
          <p:nvPr/>
        </p:nvSpPr>
        <p:spPr>
          <a:xfrm>
            <a:off x="749808" y="6053328"/>
            <a:ext cx="7040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発明の差分は「AIだから」ではなく、課題定義・教師化・出力定義の変更にある。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提案手法の全体システム構成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65960" y="2743200"/>
            <a:ext cx="320040" cy="32004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2743200"/>
            <a:ext cx="320040" cy="32004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2743200"/>
            <a:ext cx="320040" cy="32004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2743200"/>
            <a:ext cx="320040" cy="32004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64040" y="2743200"/>
            <a:ext cx="320040" cy="32004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9456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34086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Clean前処理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61518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粒子CSVを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sample単位に再構成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31720" y="219456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86584" y="234086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Teacher場作成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23160" y="261518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極座標 grid へ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density / size 集約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60520" y="219456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15384" y="234086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観測劣化生成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51960" y="261518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dropout / fp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jitter を付与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0760" y="2194560"/>
            <a:ext cx="1325880" cy="123444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35624" y="234086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Set Encoder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261518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粒子集合を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latent set 化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38160" y="2194560"/>
            <a:ext cx="1325880" cy="123444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3024" y="234086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Query Decoder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0" y="261518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各セル query で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field を生成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149840" y="2194560"/>
            <a:ext cx="1325880" cy="123444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04704" y="234086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Decision出力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241280" y="261518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count / quality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optional label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1520" y="3977640"/>
            <a:ext cx="109728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既存 synthetic 基盤を clean truth 生成に使い、その後ろへ観測劣化 simulator と field 推定器を追加する構成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推論時は observed 点群だけを入力とし、潜在場・品質・補助ラベルを返す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クレームの芯は ①teacher の作り方、②集合特徴、③field と quality の同時出力、④multi-view consistency</a:t>
            </a:r>
            <a:endParaRPr lang="en-US" sz="1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5349240"/>
          <a:ext cx="10927080" cy="89611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ブロック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特許的に押さえたい意味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①〜③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入力データの作り方・観測劣化の教師化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④〜⑤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粒子集合から structured field を出すモデル設計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信頼度・再計測判断へつながる出力定義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四象限③ 提案手法とその内容（従来技術の対比）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188720"/>
            <a:ext cx="5394960" cy="2148840"/>
          </a:xfrm>
          <a:prstGeom prst="roundRect">
            <a:avLst>
              <a:gd name="adj" fmla="val 2128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33502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 入力データの作り方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clean 粒子集合から observed view を人工生成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観測劣化そのものを教師ラベル化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単なる augmentation ではなく、miss / fp / jitter を学習対象化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394960" cy="2148840"/>
          </a:xfrm>
          <a:prstGeom prst="roundRect">
            <a:avLst>
              <a:gd name="adj" fmla="val 2128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82512" y="1508760"/>
            <a:ext cx="256032" cy="0"/>
          </a:xfrm>
          <a:prstGeom prst="line">
            <a:avLst/>
          </a:prstGeom>
          <a:noFill/>
          <a:ln w="12700">
            <a:solidFill>
              <a:srgbClr val="E39D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33502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 特徴量・前処理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82512" y="1691640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x/y 正規化、r_norm、sin/cos(theta)、log(size) を点単位で保持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画像化せず、順序のない粒子集合として入力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粒径と極座標の意味を失わない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657600"/>
            <a:ext cx="5394960" cy="2148840"/>
          </a:xfrm>
          <a:prstGeom prst="roundRect">
            <a:avLst>
              <a:gd name="adj" fmla="val 2128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97764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80390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 AIモデル仕様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Set Transformer 系 encoder で点間相互作用を表現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Perceiver IO 的 query で極座標 field を出力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PointMLP よりも structured output に向く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5394960" cy="2148840"/>
          </a:xfrm>
          <a:prstGeom prst="roundRect">
            <a:avLst>
              <a:gd name="adj" fmla="val 2128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82512" y="3977640"/>
            <a:ext cx="256032" cy="0"/>
          </a:xfrm>
          <a:prstGeom prst="line">
            <a:avLst/>
          </a:prstGeom>
          <a:noFill/>
          <a:ln w="12700">
            <a:solidFill>
              <a:srgbClr val="CC5C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80390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Q4 出力・信頼度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82512" y="4160520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潜在密度場、潜在サイズ場、総粒子数、品質指標を同時出力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same-clean multi-view consistency で安定化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optional に family / label を補助出力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60520" y="6016752"/>
            <a:ext cx="39776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392" y="60624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従来：label 1本 → 提案：field + quality + label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特徴量化仕様：粒子集合をどう表現するか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  <p:pic>
        <p:nvPicPr>
          <p:cNvPr id="6" name="Image 0" descr="/mnt/data/slide_assets/particle_polar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42560"/>
            <a:ext cx="4023360" cy="4235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5595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点群を画像化せず、粒子単位の feature と極座標 grid の両方を持つ。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00600" y="1207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 feature ベクトル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44752"/>
          <a:ext cx="3291840" cy="23317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feature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x_norm, y_norm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ウェハ径差を吸収した平面位置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r_norm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中心〜edge の距離傾向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sinθ, cosθ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角度の周期性を保持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log1p(size)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粒径の heavy-tail を安定化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source flag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size 付与方法の違いを保持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229600" y="1207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出力仕様（例）</a:t>
            </a:r>
            <a:endParaRPr lang="en-US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1444752"/>
          <a:ext cx="3154680" cy="23317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head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density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8×24 = 192 cells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size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8×24 = 192 cells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count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 scalar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quality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miss / fp / jitter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aux label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 classes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754880" y="4069080"/>
            <a:ext cx="6583680" cy="1600200"/>
          </a:xfrm>
          <a:prstGeom prst="roundRect">
            <a:avLst>
              <a:gd name="adj" fmla="val 2857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919472" y="4389120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212080" y="4215384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この特徴量化が発明の芯になる理由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919472" y="4572000"/>
            <a:ext cx="6263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「観測点の並び」ではなく「粒子集合としての意味」を保ったまま学習できる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極座標・粒径・source を保持するため、ring / sector / edge / hotspot の形状差が失われにくい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特徴量の定義自体が、クレームの具体化ポイントになる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学習データ生成：clean → observed の観測劣化シミュレータ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1965960"/>
            <a:ext cx="365760" cy="310896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1965960"/>
            <a:ext cx="365760" cy="310896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965960"/>
            <a:ext cx="365760" cy="310896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45920"/>
            <a:ext cx="1508760" cy="91440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clean 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0665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teacher 点群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97480" y="1645920"/>
            <a:ext cx="1508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8105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dropout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20665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見落とし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1645920"/>
            <a:ext cx="1508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8105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false positives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20665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偽点追加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0" y="1645920"/>
            <a:ext cx="1508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8105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jitter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20665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位置ずれ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49640" y="1645920"/>
            <a:ext cx="1508760" cy="91440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9640" y="18105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observed view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49640" y="20665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学習入力</a:t>
            </a:r>
            <a:endParaRPr lang="en-US" sz="1150" dirty="0"/>
          </a:p>
        </p:txBody>
      </p:sp>
      <p:pic>
        <p:nvPicPr>
          <p:cNvPr id="24" name="Image 0" descr="/mnt/data/slide_assets/C02_EdgeBiased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568" y="2971800"/>
            <a:ext cx="1835601" cy="1965960"/>
          </a:xfrm>
          <a:prstGeom prst="rect">
            <a:avLst/>
          </a:prstGeom>
        </p:spPr>
      </p:pic>
      <p:pic>
        <p:nvPicPr>
          <p:cNvPr id="25" name="Image 1" descr="/mnt/data/slide_assets/C02_EdgeBiased_o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160" y="2971800"/>
            <a:ext cx="1835601" cy="19659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41248" y="504748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例：同一 clean から観測条件の異なる view を生成。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2971800"/>
          <a:ext cx="5486400" cy="162763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劣化要素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教師としての意味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例範囲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dropout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見落とし率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0.10〜0.70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fp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偽陽性率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0.00〜0.20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jitter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位置ずれ量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0.000〜0.020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edge bias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周辺での欠落強化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0.0〜0.25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 23"/>
          <p:cNvSpPr/>
          <p:nvPr/>
        </p:nvSpPr>
        <p:spPr>
          <a:xfrm>
            <a:off x="5806440" y="4892040"/>
            <a:ext cx="55778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単なる augmentation ではなく、観測劣化そのものを学習対象にする点が特許的差分</a:t>
            </a: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 clean sample から複数 view を生成できるため、synthetic データの拡張効率が高い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AIモデル仕様：集合Encoderと構造化Decoder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40280" y="2240280"/>
            <a:ext cx="384048" cy="310896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2240280"/>
            <a:ext cx="384048" cy="310896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2240280"/>
            <a:ext cx="384048" cy="310896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2834640"/>
            <a:ext cx="0" cy="1325880"/>
          </a:xfrm>
          <a:prstGeom prst="line">
            <a:avLst/>
          </a:prstGeom>
          <a:noFill/>
          <a:ln w="12700">
            <a:solidFill>
              <a:srgbClr val="D6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4160520"/>
            <a:ext cx="2926080" cy="0"/>
          </a:xfrm>
          <a:prstGeom prst="line">
            <a:avLst/>
          </a:prstGeom>
          <a:noFill/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783080"/>
            <a:ext cx="1417320" cy="123444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299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Observed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particle set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25968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 y r θ size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1691640"/>
            <a:ext cx="1783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9202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 Encoder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788920" y="221284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 Transformer 系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self-attention による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latent set 化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983480" y="1600200"/>
            <a:ext cx="20574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8288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Latent set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257800" y="221284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粒子間相互作用を保持した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集合表現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94960" y="2697480"/>
            <a:ext cx="109728" cy="109728"/>
          </a:xfrm>
          <a:prstGeom prst="ellipse">
            <a:avLst/>
          </a:prstGeom>
          <a:solidFill>
            <a:srgbClr val="58BFF7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33872" y="2697480"/>
            <a:ext cx="109728" cy="109728"/>
          </a:xfrm>
          <a:prstGeom prst="ellipse">
            <a:avLst/>
          </a:prstGeom>
          <a:solidFill>
            <a:srgbClr val="58BFF7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2697480"/>
            <a:ext cx="109728" cy="109728"/>
          </a:xfrm>
          <a:prstGeom prst="ellipse">
            <a:avLst/>
          </a:prstGeom>
          <a:solidFill>
            <a:srgbClr val="58BFF7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2926080"/>
            <a:ext cx="109728" cy="109728"/>
          </a:xfrm>
          <a:prstGeom prst="ellipse">
            <a:avLst/>
          </a:prstGeom>
          <a:solidFill>
            <a:srgbClr val="58BFF7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33872" y="2926080"/>
            <a:ext cx="109728" cy="109728"/>
          </a:xfrm>
          <a:prstGeom prst="ellipse">
            <a:avLst/>
          </a:prstGeom>
          <a:solidFill>
            <a:srgbClr val="58BFF7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2784" y="2926080"/>
            <a:ext cx="109728" cy="109728"/>
          </a:xfrm>
          <a:prstGeom prst="ellipse">
            <a:avLst/>
          </a:prstGeom>
          <a:solidFill>
            <a:srgbClr val="58BFF7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26680" y="1691640"/>
            <a:ext cx="1783080" cy="141732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19202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Query Decoder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863840" y="223113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極座標セル query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density / size field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646920" y="150876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46920" y="1755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Density field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Size field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9646920" y="2743200"/>
            <a:ext cx="1920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0" y="29992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Count / Quality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optional Label</a:t>
            </a:r>
            <a:endParaRPr lang="en-US" sz="17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572000"/>
          <a:ext cx="10698480" cy="11430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選定理由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今回の目的との適合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Set attention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少数点でも相互作用を保持しやすい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Query 出力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192セルなどの structured output にしやすい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Optional pretrain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大量 synthetic を Point-MAE 的に前学習へ転用可能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822960" y="5870448"/>
            <a:ext cx="10698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PointMLP を否定するのではなく、今回の目的が「分類」より「構造化推定」にあるため主役を置き換える。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学習方法：multi-view synthetic 学習と consistency 損失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463040" cy="82296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33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clean sample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76272" y="1673352"/>
            <a:ext cx="365760" cy="27432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28016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5361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simulator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97480" y="18288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view A / view B / ...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07408" y="1673352"/>
            <a:ext cx="365760" cy="27432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417320"/>
            <a:ext cx="1737360" cy="82296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733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shared model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675120" y="1673352"/>
            <a:ext cx="365760" cy="27432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86600" y="1280160"/>
            <a:ext cx="19202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5361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loss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69480" y="1810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density + size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count + quality + consistency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703320" y="2377440"/>
            <a:ext cx="0" cy="1051560"/>
          </a:xfrm>
          <a:prstGeom prst="line">
            <a:avLst/>
          </a:prstGeom>
          <a:noFill/>
          <a:ln w="12700">
            <a:solidFill>
              <a:srgbClr val="D6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03320" y="3429000"/>
            <a:ext cx="1417320" cy="0"/>
          </a:xfrm>
          <a:prstGeom prst="line">
            <a:avLst/>
          </a:prstGeom>
          <a:noFill/>
          <a:ln w="12700">
            <a:solidFill>
              <a:srgbClr val="D6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3320" y="3429000"/>
            <a:ext cx="0" cy="0"/>
          </a:xfrm>
          <a:prstGeom prst="line">
            <a:avLst/>
          </a:prstGeom>
          <a:noFill/>
          <a:ln w="12700">
            <a:solidFill>
              <a:srgbClr val="D6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5661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同一 clean 由来の複数観測</a:t>
            </a:r>
            <a:endParaRPr lang="en-US" sz="1300" dirty="0"/>
          </a:p>
        </p:txBody>
      </p:sp>
      <p:pic>
        <p:nvPicPr>
          <p:cNvPr id="23" name="Image 0" descr="/mnt/data/slide_assets/C07_StraightLine_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57" y="3822192"/>
            <a:ext cx="1536782" cy="1645920"/>
          </a:xfrm>
          <a:prstGeom prst="rect">
            <a:avLst/>
          </a:prstGeom>
        </p:spPr>
      </p:pic>
      <p:pic>
        <p:nvPicPr>
          <p:cNvPr id="24" name="Image 1" descr="/mnt/data/slide_assets/C07_StraightLine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809" y="3822192"/>
            <a:ext cx="1536782" cy="16459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" y="55229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view A と clean teacher の例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3657600"/>
          <a:ext cx="5577840" cy="15544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損失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狙い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density KL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潜在付着場の再現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size masked L1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粒径場の再現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count / quality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総数と観測品質の同時学習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consistency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same-clean view 間の安定化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2"/>
          <p:cNvSpPr/>
          <p:nvPr/>
        </p:nvSpPr>
        <p:spPr>
          <a:xfrm>
            <a:off x="5715000" y="5440680"/>
            <a:ext cx="56692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synthetic を大量に生成できるため、1 clean → K view の拡張で学習密度を高められる</a:t>
            </a: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後段拡張として Point-MAE 的 pretraining を追加しやすい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推論出力：latent field・品質・補助ラベル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2468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81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600" dirty="0"/>
          </a:p>
        </p:txBody>
      </p:sp>
      <p:pic>
        <p:nvPicPr>
          <p:cNvPr id="8" name="Image 0" descr="/mnt/data/slide_assets/C10_Hotspot_Iso_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32" y="1783080"/>
            <a:ext cx="1707535" cy="1828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36758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疎でノイズを含む observed 点群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3977640"/>
            <a:ext cx="1920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入力は点群のみ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画像化を必須としない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46120" y="2743200"/>
            <a:ext cx="411480" cy="292608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94760" y="1325880"/>
            <a:ext cx="3657600" cy="420624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14813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主出力</a:t>
            </a:r>
            <a:endParaRPr lang="en-US" sz="1600" dirty="0"/>
          </a:p>
        </p:txBody>
      </p:sp>
      <p:pic>
        <p:nvPicPr>
          <p:cNvPr id="14" name="Image 1" descr="/mnt/data/slide_assets/ring_clean_f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834159"/>
            <a:ext cx="3246120" cy="122372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05072" y="33832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aux label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330952" y="3419856"/>
            <a:ext cx="1463040" cy="109728"/>
          </a:xfrm>
          <a:prstGeom prst="rect">
            <a:avLst/>
          </a:prstGeom>
          <a:solidFill>
            <a:srgbClr val="EDF3F7"/>
          </a:solidFill>
          <a:ln w="12700">
            <a:solidFill>
              <a:srgbClr val="EDF3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330952" y="3419856"/>
            <a:ext cx="1053389" cy="109728"/>
          </a:xfrm>
          <a:prstGeom prst="rect">
            <a:avLst/>
          </a:prstGeom>
          <a:solidFill>
            <a:srgbClr val="58BFF7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12280" y="337413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005072" y="36576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family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330952" y="3694176"/>
            <a:ext cx="1463040" cy="109728"/>
          </a:xfrm>
          <a:prstGeom prst="rect">
            <a:avLst/>
          </a:prstGeom>
          <a:solidFill>
            <a:srgbClr val="EDF3F7"/>
          </a:solidFill>
          <a:ln w="12700">
            <a:solidFill>
              <a:srgbClr val="EDF3F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30952" y="3694176"/>
            <a:ext cx="1228954" cy="10972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812280" y="36484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84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005072" y="39319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recoverable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330952" y="3968496"/>
            <a:ext cx="1463040" cy="109728"/>
          </a:xfrm>
          <a:prstGeom prst="rect">
            <a:avLst/>
          </a:prstGeom>
          <a:solidFill>
            <a:srgbClr val="EDF3F7"/>
          </a:solidFill>
          <a:ln w="12700">
            <a:solidFill>
              <a:srgbClr val="EDF3F7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330952" y="3968496"/>
            <a:ext cx="921715" cy="109728"/>
          </a:xfrm>
          <a:prstGeom prst="rect">
            <a:avLst/>
          </a:prstGeom>
          <a:solidFill>
            <a:srgbClr val="E39D37"/>
          </a:solidFill>
          <a:ln w="12700">
            <a:solidFill>
              <a:srgbClr val="E39D3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812280" y="39227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023360" y="4315968"/>
            <a:ext cx="30175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密度場で「どこに付着がありそうか」を返す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ラベルは補助。主役は field と quality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7635240" y="2743200"/>
            <a:ext cx="411480" cy="292608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183880" y="1325880"/>
            <a:ext cx="3429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321040" y="14813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品質・意思決定</a:t>
            </a:r>
            <a:endParaRPr lang="en-US" sz="1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02752" y="1773936"/>
          <a:ext cx="3154680" cy="17373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例値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使い道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total_count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hidden mass を含む総数推定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miss_rate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見えていない可能性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fp_rate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偽点混入の疑い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jitter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0.11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位置ばらつき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Text 27"/>
          <p:cNvSpPr/>
          <p:nvPr/>
        </p:nvSpPr>
        <p:spPr>
          <a:xfrm>
            <a:off x="8302752" y="3749040"/>
            <a:ext cx="30632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分類不能でも、再計測要否・レビュー優先度・保守点検方向を返せる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特許的には「信頼度の中身」を具体化している点が重要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四象限④ 提案技術による効果（従来課題に対応）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143000"/>
            <a:ext cx="5394960" cy="2148840"/>
          </a:xfrm>
          <a:prstGeom prst="roundRect">
            <a:avLst>
              <a:gd name="adj" fmla="val 2128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28930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 低粒子条件への強さ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ラベルが不安定でも、空間傾向を field として保持できる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20〜200粒子の添付データ条件でも設計の妥当性を説明しやすい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「観測値そのもの」ではなく「潜在分布」を扱うため意味が残る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6208" y="1143000"/>
            <a:ext cx="5394960" cy="2148840"/>
          </a:xfrm>
          <a:prstGeom prst="roundRect">
            <a:avLst>
              <a:gd name="adj" fmla="val 2128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463040"/>
            <a:ext cx="256032" cy="0"/>
          </a:xfrm>
          <a:prstGeom prst="line">
            <a:avLst/>
          </a:prstGeom>
          <a:noFill/>
          <a:ln w="12700">
            <a:solidFill>
              <a:srgbClr val="E39D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128930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 説明可能性の向上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1645920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どこに unseen mass がありそうかを空間的に示せる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miss / fp / jitter を別 head で返すため、誤判定理由を言語化しやすい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審査官にも「新しい出力価値」が伝わりやすい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657600"/>
            <a:ext cx="5394960" cy="2148840"/>
          </a:xfrm>
          <a:prstGeom prst="roundRect">
            <a:avLst>
              <a:gd name="adj" fmla="val 2128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97764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80390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 製造判断との接続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再計測要否、保守点検箇所、レビュー優先度を出力に接続できる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装置要因仮説は要確認だが、空間傾向を根拠として提示可能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ラベル中心より運用価値が高い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6208" y="3657600"/>
            <a:ext cx="5394960" cy="2148840"/>
          </a:xfrm>
          <a:prstGeom prst="roundRect">
            <a:avLst>
              <a:gd name="adj" fmla="val 2128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977640"/>
            <a:ext cx="256032" cy="0"/>
          </a:xfrm>
          <a:prstGeom prst="line">
            <a:avLst/>
          </a:prstGeom>
          <a:noFill/>
          <a:ln w="12700">
            <a:solidFill>
              <a:srgbClr val="CC5C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380390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Q4 synthetic 活用効率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4160520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 clean sample から複数 observed view を生成し学習密度を上げられる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前学習・本学習・品質学習へ同じ synthetic 基盤を再利用できる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教師が取りにくい real 制約を補う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5596128"/>
          <a:ext cx="4572000" cy="51206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構造比較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提案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主出力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label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field + quality + optional label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失敗時の残存価値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再計測判断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間接的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直接的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活用イメージ① 周辺起因の疑い（Edge biased / sector 系）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900" dirty="0"/>
          </a:p>
        </p:txBody>
      </p:sp>
      <p:pic>
        <p:nvPicPr>
          <p:cNvPr id="6" name="Image 0" descr="/mnt/data/slide_assets/C02_EdgeBiased_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375" y="1417320"/>
            <a:ext cx="1878289" cy="2011680"/>
          </a:xfrm>
          <a:prstGeom prst="rect">
            <a:avLst/>
          </a:prstGeom>
        </p:spPr>
      </p:pic>
      <p:pic>
        <p:nvPicPr>
          <p:cNvPr id="7" name="Image 1" descr="/mnt/data/slide_assets/C02_EdgeBiased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975" y="1417320"/>
            <a:ext cx="1878289" cy="20116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80360" y="2331720"/>
            <a:ext cx="274320" cy="256032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325880" y="352958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左：観測 view　右：潜在分布のイメージ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897880" y="1325880"/>
            <a:ext cx="5669280" cy="1554480"/>
          </a:xfrm>
          <a:prstGeom prst="roundRect">
            <a:avLst>
              <a:gd name="adj" fmla="val 2941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062472" y="1645920"/>
            <a:ext cx="256032" cy="0"/>
          </a:xfrm>
          <a:prstGeom prst="line">
            <a:avLst/>
          </a:prstGeom>
          <a:noFill/>
          <a:ln w="12700">
            <a:solidFill>
              <a:srgbClr val="CC5C4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14721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062472" y="1828800"/>
            <a:ext cx="5349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edge 近傍に疎な点が見えても、真の低発生か欠落かを区別しづらい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従来は uniform / edge 系の境界で確信度が揺れやすい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897880" y="3063240"/>
            <a:ext cx="566928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62472" y="338328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55080" y="320954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提案手法の使い方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062472" y="3566160"/>
            <a:ext cx="53492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density field で outer radial band 偏りを推定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miss_rate と total_count を併記して「見えていない量」を示す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optional family 出力で edge-origin 系の補助判定を返す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897880" y="4864608"/>
            <a:ext cx="5669280" cy="1097280"/>
          </a:xfrm>
          <a:prstGeom prst="roundRect">
            <a:avLst>
              <a:gd name="adj" fmla="val 4167"/>
            </a:avLst>
          </a:prstGeom>
          <a:solidFill>
            <a:srgbClr val="EEF8FD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62472" y="5184648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55080" y="501091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062472" y="5367528"/>
            <a:ext cx="5349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周辺部材・シール・周辺流れの点検優先度付けに繋がる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「分類」ではなく「周辺に latent mass がある」根拠を提示できる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4754880"/>
          <a:ext cx="4663440" cy="685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判断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提案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再計測要否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人手依存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quality に基づき定量化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活用イメージ② 搬送・擦れ起因の疑い（Straight line / scratch 系）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900" dirty="0"/>
          </a:p>
        </p:txBody>
      </p:sp>
      <p:pic>
        <p:nvPicPr>
          <p:cNvPr id="6" name="Image 0" descr="/mnt/data/slide_assets/C07_StraightLine_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375" y="1417320"/>
            <a:ext cx="1878289" cy="2011680"/>
          </a:xfrm>
          <a:prstGeom prst="rect">
            <a:avLst/>
          </a:prstGeom>
        </p:spPr>
      </p:pic>
      <p:pic>
        <p:nvPicPr>
          <p:cNvPr id="7" name="Image 1" descr="/mnt/data/slide_assets/C07_StraightLine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975" y="1417320"/>
            <a:ext cx="1878289" cy="20116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80360" y="2331720"/>
            <a:ext cx="274320" cy="256032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14400" y="352958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低粒子でも、方向性の強い構造は field で保持しやすい。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897880" y="1325880"/>
            <a:ext cx="5669280" cy="1554480"/>
          </a:xfrm>
          <a:prstGeom prst="roundRect">
            <a:avLst>
              <a:gd name="adj" fmla="val 2941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062472" y="1645920"/>
            <a:ext cx="256032" cy="0"/>
          </a:xfrm>
          <a:prstGeom prst="line">
            <a:avLst/>
          </a:prstGeom>
          <a:noFill/>
          <a:ln w="12700">
            <a:solidFill>
              <a:srgbClr val="CC5C4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14721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062472" y="1828800"/>
            <a:ext cx="5349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数十点規模では line 系か偶然配置かが曖昧になりやすい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従来確率だけでは、搬送経路確認に踏み込みにくい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897880" y="3063240"/>
            <a:ext cx="566928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62472" y="338328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55080" y="320954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提案手法の使い方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062472" y="3566160"/>
            <a:ext cx="53492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集合相互作用により、少数点でも線状相関を latent set に保持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field と recoverability で、レビュー優先・再計測優先を振り分ける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family head を補助指標として scratch/line 系を返す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897880" y="4864608"/>
            <a:ext cx="5669280" cy="1097280"/>
          </a:xfrm>
          <a:prstGeom prst="roundRect">
            <a:avLst>
              <a:gd name="adj" fmla="val 4167"/>
            </a:avLst>
          </a:prstGeom>
          <a:solidFill>
            <a:srgbClr val="EEF8FD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62472" y="5184648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55080" y="501091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062472" y="5367528"/>
            <a:ext cx="5349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搬送経路、接触部材、擦れイベントの点検候補を絞り込める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誤分類時も「線状傾向がある」事実を残せる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4754880"/>
          <a:ext cx="4663440" cy="685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価値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保守導線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分類器より直接的にメンテ候補へ接続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活用イメージ③ 局所異常と Clean化価値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900" dirty="0"/>
          </a:p>
        </p:txBody>
      </p:sp>
      <p:pic>
        <p:nvPicPr>
          <p:cNvPr id="6" name="Image 0" descr="/mnt/data/slide_assets/C10_Hotspot_Iso_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860" y="1417320"/>
            <a:ext cx="1835601" cy="1965960"/>
          </a:xfrm>
          <a:prstGeom prst="rect">
            <a:avLst/>
          </a:prstGeom>
        </p:spPr>
      </p:pic>
      <p:pic>
        <p:nvPicPr>
          <p:cNvPr id="7" name="Image 1" descr="/mnt/data/slide_assets/C10_Hotspot_Is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580" y="1417320"/>
            <a:ext cx="1835601" cy="1965960"/>
          </a:xfrm>
          <a:prstGeom prst="rect">
            <a:avLst/>
          </a:prstGeom>
        </p:spPr>
      </p:pic>
      <p:pic>
        <p:nvPicPr>
          <p:cNvPr id="8" name="Image 2" descr="/mnt/data/slide_assets/hotspot_obs_f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43309"/>
            <a:ext cx="2468880" cy="931702"/>
          </a:xfrm>
          <a:prstGeom prst="rect">
            <a:avLst/>
          </a:prstGeom>
        </p:spPr>
      </p:pic>
      <p:pic>
        <p:nvPicPr>
          <p:cNvPr id="9" name="Image 3" descr="/mnt/data/slide_assets/hotspot_clean_f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4251057"/>
            <a:ext cx="2468880" cy="91620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25880" y="35478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観測点群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3520440" y="35478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latent clean のイメージ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6217920" y="1325880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382512" y="1645920"/>
            <a:ext cx="256032" cy="0"/>
          </a:xfrm>
          <a:prstGeom prst="line">
            <a:avLst/>
          </a:prstGeom>
          <a:noFill/>
          <a:ln w="12700">
            <a:solidFill>
              <a:srgbClr val="CC5C4C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675120" y="14721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382512" y="1828800"/>
            <a:ext cx="5029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局所 cluster は粒子数が少ないと uniform ノイズと見分けにくい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実測では「本来の hotspot 量」を知れない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217920" y="3154680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382512" y="347472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675120" y="33009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提案手法の利用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382512" y="3657600"/>
            <a:ext cx="5029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local cluster を density field と size field の局所ピークとして推定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quality 指標で「観測不足」か「本当に小さい異常」かを整理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17920" y="4983480"/>
            <a:ext cx="5349240" cy="960120"/>
          </a:xfrm>
          <a:prstGeom prst="roundRect">
            <a:avLst>
              <a:gd name="adj" fmla="val 4762"/>
            </a:avLst>
          </a:prstGeom>
          <a:solidFill>
            <a:srgbClr val="EEF8FD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82512" y="5303520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675120" y="51297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382512" y="5486400"/>
            <a:ext cx="5029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clean 化により、局所汚染点検・再計測・レビューの判断を前倒しできる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新規性・進歩性・有用性の整理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3566160" cy="4434840"/>
          </a:xfrm>
          <a:prstGeom prst="roundRect">
            <a:avLst>
              <a:gd name="adj" fmla="val 1282"/>
            </a:avLst>
          </a:prstGeom>
          <a:solidFill>
            <a:srgbClr val="EEF8FD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42646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新規性の候補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32461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clean→observed を人工生成し、観測劣化そのものを教師化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粒子集合から latent density / size field を出す出力定義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quality を同時推定し、分類以外の価値へ接続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5968" y="1280160"/>
            <a:ext cx="3566160" cy="4434840"/>
          </a:xfrm>
          <a:prstGeom prst="roundRect">
            <a:avLst>
              <a:gd name="adj" fmla="val 1282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0020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42646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進歩性の候補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1783080"/>
            <a:ext cx="32461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PointMLP 等の分類器置換ではなく、課題設定自体を変更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Set attention と query decoder をウェハ点群に具体化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same-clean multi-view consistency を synthetic 基盤と結合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65008" y="1280160"/>
            <a:ext cx="3566160" cy="443484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00200"/>
            <a:ext cx="256032" cy="0"/>
          </a:xfrm>
          <a:prstGeom prst="line">
            <a:avLst/>
          </a:prstGeom>
          <a:noFill/>
          <a:ln w="12700">
            <a:solidFill>
              <a:srgbClr val="E39D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2208" y="142646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有用性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0" y="1783080"/>
            <a:ext cx="32461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再計測、保守点検、レビュー優先度へ直結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誤分類時にも field と quality が残る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第三者に「なぜ有用か」を説明しやすい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5468112"/>
          <a:ext cx="10881360" cy="60350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比較軸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一般的 prior art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本提案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入力定義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点群分類 or 画像分類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粒子集合 + 観測劣化 teacher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主出力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class / score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field + quality + optional label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実務価値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識別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識別 + 判断支援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96112" y="6254496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※公報調査は別途要確認。本スライドは技術的な差分整理。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請求項例（たたき台）とクレーム設計の勘所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743200" cy="96012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36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独立請求項（方法）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810512"/>
            <a:ext cx="2377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粒子集合を入力し、latent density / size field と quality を出力する方法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70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独立請求項（システム）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044952"/>
            <a:ext cx="2377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前処理部・集合 encoder・query decoder・品質推定部を備えるシステム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0050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独立請求項（プログラム）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279392"/>
            <a:ext cx="2377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上記方法をコンピュータに実行させるプログラム / 記録媒体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86200" y="1417320"/>
          <a:ext cx="4846320" cy="196596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従属で押さえる要素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特徴量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x/y 正規化、r_norm、sin/cos(theta)、log(size)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教師設計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clean→observed の劣化 teacher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field + count + quality + optional label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same-clean multi-view consistency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86200" y="3657600"/>
            <a:ext cx="4846320" cy="1417320"/>
          </a:xfrm>
          <a:prstGeom prst="roundRect">
            <a:avLst>
              <a:gd name="adj" fmla="val 3226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50792" y="3977640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3803904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クレーム設計メモ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050792" y="4160520"/>
            <a:ext cx="45262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広い独立項では特定モデル名を避け、「順序不変 set encoder」「query による空間場出力」を押さえる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狭い従属では極座標 grid、品質指標、synthetic teacher、consistency を具体化する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006840" y="1417320"/>
            <a:ext cx="2514600" cy="3657600"/>
          </a:xfrm>
          <a:prstGeom prst="roundRect">
            <a:avLst>
              <a:gd name="adj" fmla="val 1818"/>
            </a:avLst>
          </a:prstGeom>
          <a:solidFill>
            <a:srgbClr val="EEF8FD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Shape 18"/>
          <p:cNvSpPr/>
          <p:nvPr/>
        </p:nvSpPr>
        <p:spPr>
          <a:xfrm>
            <a:off x="9171432" y="173736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64040" y="15636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本資料の締め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171432" y="1920240"/>
            <a:ext cx="219456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背景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課題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提案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効果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活用例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請求項例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125712" y="53035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第三者が「何が新しいか」を追いやすい構成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2827</Words>
  <Application>Microsoft Macintosh PowerPoint</Application>
  <PresentationFormat>ワイド画面</PresentationFormat>
  <Paragraphs>535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3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ウェハーパーティクルAI 特許開示書案</dc:title>
  <dc:subject>Patent disclosure deck</dc:subject>
  <dc:creator>OpenAI</dc:creator>
  <cp:lastModifiedBy>kawahito</cp:lastModifiedBy>
  <cp:revision>2</cp:revision>
  <dcterms:created xsi:type="dcterms:W3CDTF">2026-03-09T23:41:31Z</dcterms:created>
  <dcterms:modified xsi:type="dcterms:W3CDTF">2026-03-10T00:26:38Z</dcterms:modified>
</cp:coreProperties>
</file>
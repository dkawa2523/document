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Zhang et al., "Shape-informed surrogate models based on signed distance function domain encoding", arXiv:2409.12400, 2024. https://arxiv.org/abs/2409.12400
- Baglin, CERN Basic Vacuum Science lecture, effective pumping speed and conductance, 2012. https://indico.cern.ch/event/264020/attachments/467855/648232/CERN-Basic-Vacuum-2012-lecture.pdf
- Ronneberger et al., "U-Net: Convolutional Networks for Biomedical Image Segmentation", arXiv:1505.04597, 2015. https://arxiv.org/abs/1505.04597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発明の整理観点と図解は本資料用のオリジナル構成。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Breizman and Kiramov, "Plasma sheath and presheath development near a partially reflective surface", Journal of Plasma Physics, 2021. https://www.cambridge.org/core/services/aop-cambridge-core/content/view/F185AFC05D3EE14E6ADB7F7CFA12D5D3/S0022377820001518a.pdf
- Lee et al., "Observation of pressure gradient and related flow rate effect on plasma parameters in a capacitively coupled Ar discharge", Physics of Plasmas, 2011. https://pubs.aip.org/aip/pop/article-pdf/doi/10.1063/1.3546011/15694874/023501_1_online.pdf
- Baglin, CERN Basic Vacuum Science lecture, effective pumping speed and conductance, 2012. https://indico.cern.ch/event/264020/attachments/467855/648232/CERN-Basic-Vacuum-2012-lecture.pdf
- Tian et al., "Charging of dielectric substrate materials during plasma immersion ion implantation", Nuclear Instruments and Methods B, 2002. https://www.sciencedirect.com/science/article/abs/pii/S0168583X01011545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Baglin, CERN Basic Vacuum Science lecture, effective pumping speed and conductance, 2012. https://indico.cern.ch/event/264020/attachments/467855/648232/CERN-Basic-Vacuum-2012-lecture.pdf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Liu et al., "An Intriguing Failing of Convolutional Neural Networks and the CoordConv Solution", arXiv:1807.03247, 2018. https://arxiv.org/abs/1807.03247
- Perez et al., "FiLM: Visual Reasoning with a General Conditioning Layer", arXiv:1709.07871, 2017. https://arxiv.org/abs/1709.07871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Breizman and Kiramov, "Plasma sheath and presheath development near a partially reflective surface", Journal of Plasma Physics, 2021. https://www.cambridge.org/core/services/aop-cambridge-core/content/view/F185AFC05D3EE14E6ADB7F7CFA12D5D3/S0022377820001518a.pdf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Tian et al., "Charging of dielectric substrate materials during plasma immersion ion implantation", Nuclear Instruments and Methods B, 2002. https://www.sciencedirect.com/science/article/abs/pii/S0168583X01011545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Kim et al., "Numerical study of the effect of gas flow in low pressure inductively coupled Ar/N2 plasmas", 2012. (title as cited in literature search).
- Lee et al., "Observation of pressure gradient and related flow rate effect on plasma parameters in a capacitively coupled Ar discharge", Physics of Plasmas, 2011. https://pubs.aip.org/aip/pop/article-pdf/doi/10.1063/1.3546011/15694874/023501_1_online.pdf
- Baglin, CERN Basic Vacuum Science lecture, effective pumping speed and conductance, 2012. https://indico.cern.ch/event/264020/attachments/467855/648232/CERN-Basic-Vacuum-2012-lecture.pdf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Liu et al., "An Intriguing Failing of Convolutional Neural Networks and the CoordConv Solution", arXiv:1807.03247, 2018. https://arxiv.org/abs/1807.03247
- Perez et al., "FiLM: Visual Reasoning with a General Conditioning Layer", arXiv:1709.07871, 2017. https://arxiv.org/abs/1709.07871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Baglin, CERN Basic Vacuum Science lecture, effective pumping speed and conductance, 2012. https://indico.cern.ch/event/264020/attachments/467855/648232/CERN-Basic-Vacuum-2012-lecture.pdf
- 本スライドの統合構成は発明提案の要約図。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Baglin, CERN Basic Vacuum Science lecture, effective pumping speed and conductance, 2012. https://indico.cern.ch/event/264020/attachments/467855/648232/CERN-Basic-Vacuum-2012-lecture.pdf
- Ronneberger et al., "U-Net: Convolutional Networks for Biomedical Image Segmentation", arXiv:1505.04597, 2015. https://arxiv.org/abs/1505.04597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Li et al., "Geometry-Informed Neural Operator for Large-Scale 3D PDEs", OpenReview / GINO. https://openreview.net/forum?id=86dXbqT5Ua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Liu et al., "An Intriguing Failing of Convolutional Neural Networks and the CoordConv Solution", arXiv:1807.03247, 2018. https://arxiv.org/abs/1807.03247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Sukumar and Srivastava, "Exact imposition of boundary conditions with distance functions in physics-informed deep neural networks", CMAME, 2022. https://www.sciencedirect.com/science/article/abs/pii/S0045782521006186
- Zhang et al., "Shape-informed surrogate models based on signed distance function domain encoding", arXiv:2409.12400, 2024. https://arxiv.org/abs/2409.12400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Wu et al., "Solving parametric elliptic interface problems via interfaced operator network", Journal of Computational Physics, 2024. https://www.sciencedirect.com/science/article/pii/S0021999124004662
- Tian et al., "Charging of dielectric substrate materials during plasma immersion ion implantation", Nuclear Instruments and Methods B, 2002. https://www.sciencedirect.com/science/article/abs/pii/S0168583X01011545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Kim et al., "Numerical study of the effect of gas flow in low pressure inductively coupled Ar/N2 plasmas", 2012. (title as cited in literature search).
- Lee et al., "Observation of pressure gradient and related flow rate effect on plasma parameters in a capacitively coupled Ar discharge", Physics of Plasmas, 2011. https://pubs.aip.org/aip/pop/article-pdf/doi/10.1063/1.3546011/15694874/023501_1_online.pdf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Baglin, CERN Basic Vacuum Science lecture, effective pumping speed and conductance, 2012. https://indico.cern.ch/event/264020/attachments/467855/648232/CERN-Basic-Vacuum-2012-lecture.pdf
- Lee et al., "Observation of pressure gradient and related flow rate effect on plasma parameters in a capacitively coupled Ar discharge", Physics of Plasmas, 2011. https://pubs.aip.org/aip/pop/article-pdf/doi/10.1063/1.3546011/15694874/023501_1_online.pdf
- plasma plugging は任意拡張例。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Liu et al., "An Intriguing Failing of Convolutional Neural Networks and the CoordConv Solution", arXiv:1807.03247, 2018. https://arxiv.org/abs/1807.03247
- Perez et al., "FiLM: Visual Reasoning with a General Conditioning Layer", arXiv:1709.07871, 2017. https://arxiv.org/abs/1709.07871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Sukumar and Srivastava, "Exact imposition of boundary conditions with distance functions in physics-informed deep neural networks", CMAME, 2022. https://www.sciencedirect.com/science/article/abs/pii/S0045782521006186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Sukumar and Srivastava, "Exact imposition of boundary conditions with distance functions in physics-informed deep neural networks", CMAME, 2022. https://www.sciencedirect.com/science/article/abs/pii/S0045782521006186
- 信頼度分岐は任意構成。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効果量は設計目標レンジの概念表示であり、未実測の場合は要確認。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Ronneberger et al., "U-Net: Convolutional Networks for Biomedical Image Segmentation", arXiv:1505.04597, 2015. https://arxiv.org/abs/1505.04597
- Zhang et al., "Shape-informed surrogate models based on signed distance function domain encoding", arXiv:2409.12400, 2024. https://arxiv.org/abs/2409.12400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先行技術との比較は本格サーチ前の整理であり、正式なFTO/先行調査の代替ではない。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Tian et al., "Charging of dielectric substrate materials during plasma immersion ion implantation", Nuclear Instruments and Methods B, 2002. https://www.sciencedirect.com/science/article/abs/pii/S0168583X01011545
- Wu et al., "Solving parametric elliptic interface problems via interfaced operator network", Journal of Computational Physics, 2024. https://www.sciencedirect.com/science/article/pii/S0021999124004662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Kim et al., "Numerical study of the effect of gas flow in low pressure inductively coupled Ar/N2 plasmas", 2012. (title as cited in literature search).
- Lee et al., "Observation of pressure gradient and related flow rate effect on plasma parameters in a capacitively coupled Ar discharge", Physics of Plasmas, 2011. https://pubs.aip.org/aip/pop/article-pdf/doi/10.1063/1.3546011/15694874/023501_1_online.pdf
- Baglin, CERN Basic Vacuum Science lecture, effective pumping speed and conductance, 2012. https://indico.cern.ch/event/264020/attachments/467855/648232/CERN-Basic-Vacuum-2012-lecture.pdf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Sukumar and Srivastava, "Exact imposition of boundary conditions with distance functions in physics-informed deep neural networks", CMAME, 2022. https://www.sciencedirect.com/science/article/abs/pii/S0045782521006186
- Baglin, CERN Basic Vacuum Science lecture, effective pumping speed and conductance, 2012. https://indico.cern.ch/event/264020/attachments/467855/648232/CERN-Basic-Vacuum-2012-lecture.pdf
- 請求項文言はたたき台であり、最終表現は出願方針と先行技術調査に応じて要調整。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Zhang et al., "Shape-informed surrogate models based on signed distance function domain encoding", arXiv:2409.12400, 2024. https://arxiv.org/abs/2409.12400
- Ronneberger et al., "U-Net: Convolutional Networks for Biomedical Image Segmentation", arXiv:1505.04597, 2015. https://arxiv.org/abs/1505.04597
- Myra, "A tutorial on radio-frequency sheath physics for magnetically-confined fusion devices", Journal of Plasma Physics, 2021. https://www.cambridge.org/core/journals/journal-of-plasma-physics/article/tutorial-on-radio-frequency-sheath-physics-for-magnetically-confined-fusion-devices/37BDBCF6273303327AD6EC2DD4E80533
- Wu et al., "Solving parametric elliptic interface problems via interfaced operator network", Journal of Computational Physics, 2024. https://www.sciencedirect.com/science/article/pii/S0021999124004662
- Baglin, CERN Basic Vacuum Science lecture, effective pumping speed and conductance, 2012. https://indico.cern.ch/event/264020/attachments/467855/648232/CERN-Basic-Vacuum-2012-lecture.pdf
- 要実証と記した効果値は、比較実験で補強することが望ましい。
- 図表は特記なき限り本資料用のオリジナル概念図。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低圧プラズマ用 SDF 条件付き U-Net サロゲート技術</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表紙</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Text 4"/>
          <p:cNvSpPr/>
          <p:nvPr/>
        </p:nvSpPr>
        <p:spPr>
          <a:xfrm>
            <a:off x="566928" y="932688"/>
            <a:ext cx="5303520" cy="1051560"/>
          </a:xfrm>
          <a:prstGeom prst="rect">
            <a:avLst/>
          </a:prstGeom>
          <a:noFill/>
          <a:ln/>
        </p:spPr>
        <p:txBody>
          <a:bodyPr wrap="square" lIns="0" tIns="0" rIns="0" bIns="0" rtlCol="0" anchor="ctr"/>
          <a:lstStyle/>
          <a:p>
            <a:pPr indent="0" marL="0">
              <a:buNone/>
            </a:pPr>
            <a:r>
              <a:rPr lang="en-US" sz="2400" b="1" dirty="0">
                <a:solidFill>
                  <a:srgbClr val="111111"/>
                </a:solidFill>
                <a:latin typeface="Meiryo" pitchFamily="34" charset="0"/>
                <a:ea typeface="Meiryo" pitchFamily="34" charset="-122"/>
                <a:cs typeface="Meiryo" pitchFamily="34" charset="-120"/>
              </a:rPr>
              <a:t>特許開示書用パワーポイント</a:t>
            </a:r>
            <a:endParaRPr lang="en-US" sz="2400" dirty="0"/>
          </a:p>
          <a:p>
            <a:pPr indent="0" marL="0">
              <a:buNone/>
            </a:pPr>
            <a:r>
              <a:rPr lang="en-US" sz="2400" b="1" dirty="0">
                <a:solidFill>
                  <a:srgbClr val="111111"/>
                </a:solidFill>
                <a:latin typeface="Meiryo" pitchFamily="34" charset="0"/>
                <a:ea typeface="Meiryo" pitchFamily="34" charset="-122"/>
                <a:cs typeface="Meiryo" pitchFamily="34" charset="-120"/>
              </a:rPr>
              <a:t>境界条件変動を吸収する汎用的な学習構成</a:t>
            </a:r>
            <a:endParaRPr lang="en-US" sz="2400" dirty="0"/>
          </a:p>
        </p:txBody>
      </p:sp>
      <p:sp>
        <p:nvSpPr>
          <p:cNvPr id="7" name="Text 5"/>
          <p:cNvSpPr/>
          <p:nvPr/>
        </p:nvSpPr>
        <p:spPr>
          <a:xfrm>
            <a:off x="658368" y="2057400"/>
            <a:ext cx="4846320" cy="1691640"/>
          </a:xfrm>
          <a:prstGeom prst="rect">
            <a:avLst/>
          </a:prstGeom>
          <a:noFill/>
          <a:ln/>
        </p:spPr>
        <p:txBody>
          <a:bodyPr wrap="square" lIns="635" tIns="635" rIns="635" bIns="635" rtlCol="0" anchor="t">
            <a:normAutofit/>
          </a:bodyPr>
          <a:lstStyle/>
          <a:p>
            <a:pPr indent="0" marL="0">
              <a:buNone/>
            </a:pPr>
            <a:r>
              <a:rPr lang="en-US" sz="1700" dirty="0">
                <a:solidFill>
                  <a:srgbClr val="111111"/>
                </a:solidFill>
                <a:latin typeface="Meiryo" pitchFamily="34" charset="0"/>
                <a:ea typeface="Meiryo" pitchFamily="34" charset="-122"/>
                <a:cs typeface="Meiryo" pitchFamily="34" charset="-120"/>
              </a:rPr>
              <a:t>• 対象: 低圧プラズマの φ, ne, ni, Te などの高速推定</a:t>
            </a:r>
            <a:endParaRPr lang="en-US" sz="1700" dirty="0"/>
          </a:p>
          <a:p>
            <a:pPr indent="0" marL="0">
              <a:buNone/>
            </a:pPr>
            <a:r>
              <a:rPr lang="en-US" sz="1700" dirty="0">
                <a:solidFill>
                  <a:srgbClr val="111111"/>
                </a:solidFill>
                <a:latin typeface="Meiryo" pitchFamily="34" charset="0"/>
                <a:ea typeface="Meiryo" pitchFamily="34" charset="-122"/>
                <a:cs typeface="Meiryo" pitchFamily="34" charset="-120"/>
              </a:rPr>
              <a:t>• 芯: 役割別 SDF と境界物理マップを単一 U-Net に統合</a:t>
            </a:r>
            <a:endParaRPr lang="en-US" sz="1700" dirty="0"/>
          </a:p>
          <a:p>
            <a:pPr indent="0" marL="0">
              <a:buNone/>
            </a:pPr>
            <a:r>
              <a:rPr lang="en-US" sz="1700" dirty="0">
                <a:solidFill>
                  <a:srgbClr val="111111"/>
                </a:solidFill>
                <a:latin typeface="Meiryo" pitchFamily="34" charset="0"/>
                <a:ea typeface="Meiryo" pitchFamily="34" charset="-122"/>
                <a:cs typeface="Meiryo" pitchFamily="34" charset="-120"/>
              </a:rPr>
              <a:t>• 用途: 設計探索、工程窓推定、装置差比較、特許化素材</a:t>
            </a:r>
            <a:endParaRPr lang="en-US" sz="1700" dirty="0"/>
          </a:p>
        </p:txBody>
      </p:sp>
      <p:sp>
        <p:nvSpPr>
          <p:cNvPr id="8" name="Shape 6"/>
          <p:cNvSpPr/>
          <p:nvPr/>
        </p:nvSpPr>
        <p:spPr>
          <a:xfrm>
            <a:off x="658368" y="4069080"/>
            <a:ext cx="4663440" cy="1463040"/>
          </a:xfrm>
          <a:prstGeom prst="roundRect">
            <a:avLst>
              <a:gd name="adj" fmla="val 3750"/>
            </a:avLst>
          </a:prstGeom>
          <a:solidFill>
            <a:srgbClr val="F8FBFE"/>
          </a:solidFill>
          <a:ln w="12700">
            <a:solidFill>
              <a:srgbClr val="D7E3ED"/>
            </a:solidFill>
            <a:prstDash val="solid"/>
          </a:ln>
        </p:spPr>
      </p:sp>
      <p:sp>
        <p:nvSpPr>
          <p:cNvPr id="9" name="Text 7"/>
          <p:cNvSpPr/>
          <p:nvPr/>
        </p:nvSpPr>
        <p:spPr>
          <a:xfrm>
            <a:off x="822960" y="4224528"/>
            <a:ext cx="1280160" cy="146304"/>
          </a:xfrm>
          <a:prstGeom prst="rect">
            <a:avLst/>
          </a:prstGeom>
          <a:noFill/>
          <a:ln/>
        </p:spPr>
        <p:txBody>
          <a:bodyPr wrap="square" lIns="0" tIns="0" rIns="0" bIns="0" rtlCol="0" anchor="ctr">
            <a:normAutofit/>
          </a:bodyPr>
          <a:lstStyle/>
          <a:p>
            <a:pPr algn="l" indent="0" marL="0">
              <a:buNone/>
            </a:pPr>
            <a:r>
              <a:rPr lang="en-US" sz="1300" b="1" dirty="0">
                <a:solidFill>
                  <a:srgbClr val="0D4D7E"/>
                </a:solidFill>
                <a:latin typeface="Meiryo" pitchFamily="34" charset="0"/>
                <a:ea typeface="Meiryo" pitchFamily="34" charset="-122"/>
                <a:cs typeface="Meiryo" pitchFamily="34" charset="-120"/>
              </a:rPr>
              <a:t>発明の一文要約</a:t>
            </a:r>
            <a:endParaRPr lang="en-US" sz="1300" dirty="0"/>
          </a:p>
        </p:txBody>
      </p:sp>
      <p:sp>
        <p:nvSpPr>
          <p:cNvPr id="10" name="Text 8"/>
          <p:cNvSpPr/>
          <p:nvPr/>
        </p:nvSpPr>
        <p:spPr>
          <a:xfrm>
            <a:off x="822960" y="4498848"/>
            <a:ext cx="4160520" cy="658368"/>
          </a:xfrm>
          <a:prstGeom prst="rect">
            <a:avLst/>
          </a:prstGeom>
          <a:noFill/>
          <a:ln/>
        </p:spPr>
        <p:txBody>
          <a:bodyPr wrap="square" lIns="0" tIns="0" rIns="0" bIns="0" rtlCol="0" anchor="ctr">
            <a:normAutofit/>
          </a:bodyPr>
          <a:lstStyle/>
          <a:p>
            <a:pPr algn="l" indent="0" marL="0">
              <a:buNone/>
            </a:pPr>
            <a:r>
              <a:rPr lang="en-US" sz="1600" dirty="0">
                <a:solidFill>
                  <a:srgbClr val="111111"/>
                </a:solidFill>
                <a:latin typeface="Meiryo" pitchFamily="34" charset="0"/>
                <a:ea typeface="Meiryo" pitchFamily="34" charset="-122"/>
                <a:cs typeface="Meiryo" pitchFamily="34" charset="-120"/>
              </a:rPr>
              <a:t>境界の「位置」を SDF で、境界の「作用」を電圧・誘電率・ガス入力・排気の</a:t>
            </a:r>
            <a:endParaRPr lang="en-US" sz="1600" dirty="0"/>
          </a:p>
          <a:p>
            <a:pPr algn="l" indent="0" marL="0">
              <a:buNone/>
            </a:pPr>
            <a:r>
              <a:rPr lang="en-US" sz="1600" dirty="0">
                <a:solidFill>
                  <a:srgbClr val="111111"/>
                </a:solidFill>
                <a:latin typeface="Meiryo" pitchFamily="34" charset="0"/>
                <a:ea typeface="Meiryo" pitchFamily="34" charset="-122"/>
                <a:cs typeface="Meiryo" pitchFamily="34" charset="-120"/>
              </a:rPr>
              <a:t>空間マップで表現し、通常 U-Net が弱い壁近傍・界面・port 近傍の精度を改善する。</a:t>
            </a:r>
            <a:endParaRPr lang="en-US" sz="1600" dirty="0"/>
          </a:p>
        </p:txBody>
      </p:sp>
      <p:sp>
        <p:nvSpPr>
          <p:cNvPr id="11" name="Shape 9"/>
          <p:cNvSpPr/>
          <p:nvPr/>
        </p:nvSpPr>
        <p:spPr>
          <a:xfrm>
            <a:off x="5806440" y="896112"/>
            <a:ext cx="5852160" cy="5440680"/>
          </a:xfrm>
          <a:prstGeom prst="roundRect">
            <a:avLst>
              <a:gd name="adj" fmla="val 1008"/>
            </a:avLst>
          </a:prstGeom>
          <a:solidFill>
            <a:srgbClr val="FFFFFF"/>
          </a:solidFill>
          <a:ln w="12700">
            <a:solidFill>
              <a:srgbClr val="D7E3ED"/>
            </a:solidFill>
            <a:prstDash val="solid"/>
          </a:ln>
        </p:spPr>
      </p:sp>
      <p:sp>
        <p:nvSpPr>
          <p:cNvPr id="12" name="Shape 10"/>
          <p:cNvSpPr/>
          <p:nvPr/>
        </p:nvSpPr>
        <p:spPr>
          <a:xfrm>
            <a:off x="6035040" y="1673352"/>
            <a:ext cx="365760" cy="0"/>
          </a:xfrm>
          <a:prstGeom prst="line">
            <a:avLst/>
          </a:prstGeom>
          <a:noFill/>
          <a:ln w="38100">
            <a:solidFill>
              <a:srgbClr val="3B82F6"/>
            </a:solidFill>
            <a:prstDash val="solid"/>
            <a:tailEnd type="triangle"/>
          </a:ln>
        </p:spPr>
      </p:sp>
      <p:sp>
        <p:nvSpPr>
          <p:cNvPr id="13" name="Shape 11"/>
          <p:cNvSpPr/>
          <p:nvPr/>
        </p:nvSpPr>
        <p:spPr>
          <a:xfrm>
            <a:off x="8961120" y="4736592"/>
            <a:ext cx="365760" cy="0"/>
          </a:xfrm>
          <a:prstGeom prst="line">
            <a:avLst/>
          </a:prstGeom>
          <a:noFill/>
          <a:ln w="38100">
            <a:solidFill>
              <a:srgbClr val="EF4444"/>
            </a:solidFill>
            <a:prstDash val="solid"/>
            <a:tailEnd type="triangle"/>
          </a:ln>
        </p:spPr>
      </p:sp>
      <p:sp>
        <p:nvSpPr>
          <p:cNvPr id="14" name="Shape 12"/>
          <p:cNvSpPr/>
          <p:nvPr/>
        </p:nvSpPr>
        <p:spPr>
          <a:xfrm>
            <a:off x="6263640" y="1353312"/>
            <a:ext cx="2834640" cy="3703320"/>
          </a:xfrm>
          <a:prstGeom prst="roundRect">
            <a:avLst>
              <a:gd name="adj" fmla="val 1613"/>
            </a:avLst>
          </a:prstGeom>
          <a:solidFill>
            <a:srgbClr val="FFFFFF"/>
          </a:solidFill>
          <a:ln w="25400">
            <a:solidFill>
              <a:srgbClr val="6B7280"/>
            </a:solidFill>
            <a:prstDash val="solid"/>
          </a:ln>
        </p:spPr>
      </p:sp>
      <p:sp>
        <p:nvSpPr>
          <p:cNvPr id="15" name="Shape 13"/>
          <p:cNvSpPr/>
          <p:nvPr/>
        </p:nvSpPr>
        <p:spPr>
          <a:xfrm>
            <a:off x="6281928" y="4946904"/>
            <a:ext cx="2798064" cy="91440"/>
          </a:xfrm>
          <a:prstGeom prst="rect">
            <a:avLst/>
          </a:prstGeom>
          <a:solidFill>
            <a:srgbClr val="6B7280">
              <a:alpha val="75000"/>
            </a:srgbClr>
          </a:solidFill>
          <a:ln w="12700">
            <a:solidFill>
              <a:srgbClr val="6B7280">
                <a:alpha val="0"/>
              </a:srgbClr>
            </a:solidFill>
            <a:prstDash val="solid"/>
          </a:ln>
        </p:spPr>
      </p:sp>
      <p:sp>
        <p:nvSpPr>
          <p:cNvPr id="16" name="Shape 14"/>
          <p:cNvSpPr/>
          <p:nvPr/>
        </p:nvSpPr>
        <p:spPr>
          <a:xfrm>
            <a:off x="6281928" y="1371600"/>
            <a:ext cx="109728" cy="3666744"/>
          </a:xfrm>
          <a:prstGeom prst="rect">
            <a:avLst/>
          </a:prstGeom>
          <a:solidFill>
            <a:srgbClr val="6B7280">
              <a:alpha val="75000"/>
            </a:srgbClr>
          </a:solidFill>
          <a:ln w="12700">
            <a:solidFill>
              <a:srgbClr val="6B7280">
                <a:alpha val="0"/>
              </a:srgbClr>
            </a:solidFill>
            <a:prstDash val="solid"/>
          </a:ln>
        </p:spPr>
      </p:sp>
      <p:sp>
        <p:nvSpPr>
          <p:cNvPr id="17" name="Shape 15"/>
          <p:cNvSpPr/>
          <p:nvPr/>
        </p:nvSpPr>
        <p:spPr>
          <a:xfrm>
            <a:off x="8970264" y="1371600"/>
            <a:ext cx="109728" cy="3666744"/>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6492240" y="1280160"/>
            <a:ext cx="2377440" cy="109728"/>
          </a:xfrm>
          <a:prstGeom prst="rect">
            <a:avLst/>
          </a:prstGeom>
          <a:solidFill>
            <a:srgbClr val="10B981"/>
          </a:solidFill>
          <a:ln w="12700">
            <a:solidFill>
              <a:srgbClr val="10B981"/>
            </a:solidFill>
            <a:prstDash val="solid"/>
          </a:ln>
        </p:spPr>
      </p:sp>
      <p:sp>
        <p:nvSpPr>
          <p:cNvPr id="19" name="Text 17"/>
          <p:cNvSpPr/>
          <p:nvPr/>
        </p:nvSpPr>
        <p:spPr>
          <a:xfrm>
            <a:off x="7452360" y="114300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0" name="Shape 18"/>
          <p:cNvSpPr/>
          <p:nvPr/>
        </p:nvSpPr>
        <p:spPr>
          <a:xfrm>
            <a:off x="6675120" y="1517904"/>
            <a:ext cx="2011680" cy="91440"/>
          </a:xfrm>
          <a:prstGeom prst="rect">
            <a:avLst/>
          </a:prstGeom>
          <a:solidFill>
            <a:srgbClr val="F59E0B"/>
          </a:solidFill>
          <a:ln w="12700">
            <a:solidFill>
              <a:srgbClr val="F59E0B"/>
            </a:solidFill>
            <a:prstDash val="solid"/>
          </a:ln>
        </p:spPr>
      </p:sp>
      <p:sp>
        <p:nvSpPr>
          <p:cNvPr id="21" name="Text 19"/>
          <p:cNvSpPr/>
          <p:nvPr/>
        </p:nvSpPr>
        <p:spPr>
          <a:xfrm>
            <a:off x="7360920" y="138074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2" name="Shape 20"/>
          <p:cNvSpPr/>
          <p:nvPr/>
        </p:nvSpPr>
        <p:spPr>
          <a:xfrm>
            <a:off x="6766560" y="4645152"/>
            <a:ext cx="1828800" cy="100584"/>
          </a:xfrm>
          <a:prstGeom prst="rect">
            <a:avLst/>
          </a:prstGeom>
          <a:solidFill>
            <a:srgbClr val="B0B8C0"/>
          </a:solidFill>
          <a:ln w="12700">
            <a:solidFill>
              <a:srgbClr val="B0B8C0"/>
            </a:solidFill>
            <a:prstDash val="solid"/>
          </a:ln>
        </p:spPr>
      </p:sp>
      <p:sp>
        <p:nvSpPr>
          <p:cNvPr id="23" name="Text 21"/>
          <p:cNvSpPr/>
          <p:nvPr/>
        </p:nvSpPr>
        <p:spPr>
          <a:xfrm>
            <a:off x="7516368" y="4800600"/>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4" name="Shape 22"/>
          <p:cNvSpPr/>
          <p:nvPr/>
        </p:nvSpPr>
        <p:spPr>
          <a:xfrm>
            <a:off x="6391656" y="1609344"/>
            <a:ext cx="2578608" cy="146304"/>
          </a:xfrm>
          <a:prstGeom prst="rect">
            <a:avLst/>
          </a:prstGeom>
          <a:solidFill>
            <a:srgbClr val="39A8FF">
              <a:alpha val="30000"/>
            </a:srgbClr>
          </a:solidFill>
          <a:ln w="12700">
            <a:solidFill>
              <a:srgbClr val="39A8FF">
                <a:alpha val="0"/>
              </a:srgbClr>
            </a:solidFill>
            <a:prstDash val="solid"/>
          </a:ln>
        </p:spPr>
      </p:sp>
      <p:sp>
        <p:nvSpPr>
          <p:cNvPr id="25" name="Shape 23"/>
          <p:cNvSpPr/>
          <p:nvPr/>
        </p:nvSpPr>
        <p:spPr>
          <a:xfrm>
            <a:off x="6391656" y="4654296"/>
            <a:ext cx="2578608" cy="146304"/>
          </a:xfrm>
          <a:prstGeom prst="rect">
            <a:avLst/>
          </a:prstGeom>
          <a:solidFill>
            <a:srgbClr val="39A8FF">
              <a:alpha val="20000"/>
            </a:srgbClr>
          </a:solidFill>
          <a:ln w="12700">
            <a:solidFill>
              <a:srgbClr val="39A8FF">
                <a:alpha val="0"/>
              </a:srgbClr>
            </a:solidFill>
            <a:prstDash val="solid"/>
          </a:ln>
        </p:spPr>
      </p:sp>
      <p:sp>
        <p:nvSpPr>
          <p:cNvPr id="26" name="Shape 24"/>
          <p:cNvSpPr/>
          <p:nvPr/>
        </p:nvSpPr>
        <p:spPr>
          <a:xfrm>
            <a:off x="6391656" y="1755648"/>
            <a:ext cx="146304" cy="2898648"/>
          </a:xfrm>
          <a:prstGeom prst="rect">
            <a:avLst/>
          </a:prstGeom>
          <a:solidFill>
            <a:srgbClr val="39A8FF">
              <a:alpha val="20000"/>
            </a:srgbClr>
          </a:solidFill>
          <a:ln w="12700">
            <a:solidFill>
              <a:srgbClr val="39A8FF">
                <a:alpha val="0"/>
              </a:srgbClr>
            </a:solidFill>
            <a:prstDash val="solid"/>
          </a:ln>
        </p:spPr>
      </p:sp>
      <p:sp>
        <p:nvSpPr>
          <p:cNvPr id="27" name="Shape 25"/>
          <p:cNvSpPr/>
          <p:nvPr/>
        </p:nvSpPr>
        <p:spPr>
          <a:xfrm>
            <a:off x="8823960" y="1755648"/>
            <a:ext cx="146304" cy="2898648"/>
          </a:xfrm>
          <a:prstGeom prst="rect">
            <a:avLst/>
          </a:prstGeom>
          <a:solidFill>
            <a:srgbClr val="39A8FF">
              <a:alpha val="20000"/>
            </a:srgbClr>
          </a:solidFill>
          <a:ln w="12700">
            <a:solidFill>
              <a:srgbClr val="39A8FF">
                <a:alpha val="0"/>
              </a:srgbClr>
            </a:solidFill>
            <a:prstDash val="solid"/>
          </a:ln>
        </p:spPr>
      </p:sp>
      <p:sp>
        <p:nvSpPr>
          <p:cNvPr id="28" name="Shape 26"/>
          <p:cNvSpPr/>
          <p:nvPr/>
        </p:nvSpPr>
        <p:spPr>
          <a:xfrm>
            <a:off x="6766560" y="1673352"/>
            <a:ext cx="0" cy="2880360"/>
          </a:xfrm>
          <a:prstGeom prst="line">
            <a:avLst/>
          </a:prstGeom>
          <a:noFill/>
          <a:ln w="19050">
            <a:solidFill>
              <a:srgbClr val="8A8A8A"/>
            </a:solidFill>
            <a:prstDash val="solid"/>
            <a:tailEnd type="triangle"/>
          </a:ln>
        </p:spPr>
      </p:sp>
      <p:sp>
        <p:nvSpPr>
          <p:cNvPr id="29" name="Shape 27"/>
          <p:cNvSpPr/>
          <p:nvPr/>
        </p:nvSpPr>
        <p:spPr>
          <a:xfrm>
            <a:off x="7345680" y="1673352"/>
            <a:ext cx="0" cy="2880360"/>
          </a:xfrm>
          <a:prstGeom prst="line">
            <a:avLst/>
          </a:prstGeom>
          <a:noFill/>
          <a:ln w="19050">
            <a:solidFill>
              <a:srgbClr val="8A8A8A"/>
            </a:solidFill>
            <a:prstDash val="solid"/>
            <a:tailEnd type="triangle"/>
          </a:ln>
        </p:spPr>
      </p:sp>
      <p:sp>
        <p:nvSpPr>
          <p:cNvPr id="30" name="Shape 28"/>
          <p:cNvSpPr/>
          <p:nvPr/>
        </p:nvSpPr>
        <p:spPr>
          <a:xfrm>
            <a:off x="7924800" y="1673352"/>
            <a:ext cx="0" cy="2880360"/>
          </a:xfrm>
          <a:prstGeom prst="line">
            <a:avLst/>
          </a:prstGeom>
          <a:noFill/>
          <a:ln w="19050">
            <a:solidFill>
              <a:srgbClr val="8A8A8A"/>
            </a:solidFill>
            <a:prstDash val="solid"/>
            <a:tailEnd type="triangle"/>
          </a:ln>
        </p:spPr>
      </p:sp>
      <p:sp>
        <p:nvSpPr>
          <p:cNvPr id="31" name="Shape 29"/>
          <p:cNvSpPr/>
          <p:nvPr/>
        </p:nvSpPr>
        <p:spPr>
          <a:xfrm>
            <a:off x="8503920" y="1673352"/>
            <a:ext cx="0" cy="2880360"/>
          </a:xfrm>
          <a:prstGeom prst="line">
            <a:avLst/>
          </a:prstGeom>
          <a:noFill/>
          <a:ln w="19050">
            <a:solidFill>
              <a:srgbClr val="8A8A8A"/>
            </a:solidFill>
            <a:prstDash val="solid"/>
            <a:tailEnd type="triangle"/>
          </a:ln>
        </p:spPr>
      </p:sp>
      <p:sp>
        <p:nvSpPr>
          <p:cNvPr id="32" name="Shape 30"/>
          <p:cNvSpPr/>
          <p:nvPr/>
        </p:nvSpPr>
        <p:spPr>
          <a:xfrm>
            <a:off x="6583680" y="1764792"/>
            <a:ext cx="2194560" cy="2880360"/>
          </a:xfrm>
          <a:prstGeom prst="rect">
            <a:avLst/>
          </a:prstGeom>
          <a:solidFill>
            <a:srgbClr val="FFFFFF">
              <a:alpha val="0"/>
            </a:srgbClr>
          </a:solidFill>
          <a:ln w="17780">
            <a:solidFill>
              <a:srgbClr val="0EA5A4"/>
            </a:solidFill>
            <a:prstDash val="solid"/>
          </a:ln>
        </p:spPr>
      </p:sp>
      <p:sp>
        <p:nvSpPr>
          <p:cNvPr id="33" name="Shape 31"/>
          <p:cNvSpPr/>
          <p:nvPr/>
        </p:nvSpPr>
        <p:spPr>
          <a:xfrm>
            <a:off x="6739128" y="1920240"/>
            <a:ext cx="1883664" cy="2569464"/>
          </a:xfrm>
          <a:prstGeom prst="rect">
            <a:avLst/>
          </a:prstGeom>
          <a:solidFill>
            <a:srgbClr val="FFFFFF">
              <a:alpha val="0"/>
            </a:srgbClr>
          </a:solidFill>
          <a:ln w="17780">
            <a:solidFill>
              <a:srgbClr val="0EA5A4"/>
            </a:solidFill>
            <a:prstDash val="solid"/>
          </a:ln>
        </p:spPr>
      </p:sp>
      <p:sp>
        <p:nvSpPr>
          <p:cNvPr id="34" name="Text 32"/>
          <p:cNvSpPr/>
          <p:nvPr/>
        </p:nvSpPr>
        <p:spPr>
          <a:xfrm>
            <a:off x="6464808" y="1792224"/>
            <a:ext cx="530352" cy="109728"/>
          </a:xfrm>
          <a:prstGeom prst="rect">
            <a:avLst/>
          </a:prstGeom>
          <a:noFill/>
          <a:ln/>
        </p:spPr>
        <p:txBody>
          <a:bodyPr wrap="square" lIns="0" tIns="0" rIns="0" bIns="0" rtlCol="0" anchor="ctr">
            <a:normAutofit/>
          </a:bodyPr>
          <a:lstStyle/>
          <a:p>
            <a:pPr algn="l" indent="0" marL="0">
              <a:buNone/>
            </a:pPr>
            <a:r>
              <a:rPr lang="en-US" sz="900" b="1" dirty="0">
                <a:solidFill>
                  <a:srgbClr val="0EA5A4"/>
                </a:solidFill>
                <a:latin typeface="Meiryo" pitchFamily="34" charset="0"/>
                <a:ea typeface="Meiryo" pitchFamily="34" charset="-122"/>
                <a:cs typeface="Meiryo" pitchFamily="34" charset="-120"/>
              </a:rPr>
              <a:t>SDF等値線</a:t>
            </a:r>
            <a:endParaRPr lang="en-US" sz="900" dirty="0"/>
          </a:p>
        </p:txBody>
      </p:sp>
      <p:sp>
        <p:nvSpPr>
          <p:cNvPr id="35" name="Text 33"/>
          <p:cNvSpPr/>
          <p:nvPr/>
        </p:nvSpPr>
        <p:spPr>
          <a:xfrm>
            <a:off x="6062472" y="1609344"/>
            <a:ext cx="182880" cy="109728"/>
          </a:xfrm>
          <a:prstGeom prst="rect">
            <a:avLst/>
          </a:prstGeom>
          <a:noFill/>
          <a:ln/>
        </p:spPr>
        <p:txBody>
          <a:bodyPr wrap="square" lIns="0" tIns="0" rIns="0" bIns="0" rtlCol="0" anchor="ctr">
            <a:normAutofit/>
          </a:bodyPr>
          <a:lstStyle/>
          <a:p>
            <a:pPr algn="r" indent="0" marL="0">
              <a:buNone/>
            </a:pPr>
            <a:r>
              <a:rPr lang="en-US" sz="1000" b="1" dirty="0">
                <a:solidFill>
                  <a:srgbClr val="3B82F6"/>
                </a:solidFill>
                <a:latin typeface="Meiryo" pitchFamily="34" charset="0"/>
                <a:ea typeface="Meiryo" pitchFamily="34" charset="-122"/>
                <a:cs typeface="Meiryo" pitchFamily="34" charset="-120"/>
              </a:rPr>
              <a:t>入口</a:t>
            </a:r>
            <a:endParaRPr lang="en-US" sz="1000" dirty="0"/>
          </a:p>
        </p:txBody>
      </p:sp>
      <p:sp>
        <p:nvSpPr>
          <p:cNvPr id="36" name="Text 34"/>
          <p:cNvSpPr/>
          <p:nvPr/>
        </p:nvSpPr>
        <p:spPr>
          <a:xfrm>
            <a:off x="9116568" y="4672584"/>
            <a:ext cx="201168" cy="109728"/>
          </a:xfrm>
          <a:prstGeom prst="rect">
            <a:avLst/>
          </a:prstGeom>
          <a:noFill/>
          <a:ln/>
        </p:spPr>
        <p:txBody>
          <a:bodyPr wrap="square" lIns="0" tIns="0" rIns="0" bIns="0" rtlCol="0" anchor="ctr">
            <a:normAutofit/>
          </a:bodyPr>
          <a:lstStyle/>
          <a:p>
            <a:pPr algn="l" indent="0" marL="0">
              <a:buNone/>
            </a:pPr>
            <a:r>
              <a:rPr lang="en-US" sz="1000" b="1" dirty="0">
                <a:solidFill>
                  <a:srgbClr val="EF4444"/>
                </a:solidFill>
                <a:latin typeface="Meiryo" pitchFamily="34" charset="0"/>
                <a:ea typeface="Meiryo" pitchFamily="34" charset="-122"/>
                <a:cs typeface="Meiryo" pitchFamily="34" charset="-120"/>
              </a:rPr>
              <a:t>排気</a:t>
            </a:r>
            <a:endParaRPr lang="en-US" sz="1000" dirty="0"/>
          </a:p>
        </p:txBody>
      </p:sp>
      <p:sp>
        <p:nvSpPr>
          <p:cNvPr id="37" name="Text 35"/>
          <p:cNvSpPr/>
          <p:nvPr/>
        </p:nvSpPr>
        <p:spPr>
          <a:xfrm>
            <a:off x="6291072" y="5084064"/>
            <a:ext cx="329184" cy="109728"/>
          </a:xfrm>
          <a:prstGeom prst="rect">
            <a:avLst/>
          </a:prstGeom>
          <a:noFill/>
          <a:ln/>
        </p:spPr>
        <p:txBody>
          <a:bodyPr wrap="square" lIns="0" tIns="0" rIns="0" bIns="0" rtlCol="0" anchor="ctr">
            <a:normAutofit/>
          </a:bodyPr>
          <a:lstStyle/>
          <a:p>
            <a:pPr algn="l" indent="0" marL="0">
              <a:buNone/>
            </a:pPr>
            <a:r>
              <a:rPr lang="en-US" sz="1000" b="1" dirty="0">
                <a:solidFill>
                  <a:srgbClr val="6B7280"/>
                </a:solidFill>
                <a:latin typeface="Meiryo" pitchFamily="34" charset="0"/>
                <a:ea typeface="Meiryo" pitchFamily="34" charset="-122"/>
                <a:cs typeface="Meiryo" pitchFamily="34" charset="-120"/>
              </a:rPr>
              <a:t>接地壁</a:t>
            </a:r>
            <a:endParaRPr lang="en-US" sz="1000" dirty="0"/>
          </a:p>
        </p:txBody>
      </p:sp>
      <p:sp>
        <p:nvSpPr>
          <p:cNvPr id="38" name="Shape 36"/>
          <p:cNvSpPr/>
          <p:nvPr/>
        </p:nvSpPr>
        <p:spPr>
          <a:xfrm>
            <a:off x="9464040" y="1234440"/>
            <a:ext cx="1920240" cy="914400"/>
          </a:xfrm>
          <a:prstGeom prst="roundRect">
            <a:avLst>
              <a:gd name="adj" fmla="val 6000"/>
            </a:avLst>
          </a:prstGeom>
          <a:solidFill>
            <a:srgbClr val="F4FBFF"/>
          </a:solidFill>
          <a:ln w="12700">
            <a:solidFill>
              <a:srgbClr val="C7E7FF"/>
            </a:solidFill>
            <a:prstDash val="solid"/>
          </a:ln>
        </p:spPr>
      </p:sp>
      <p:sp>
        <p:nvSpPr>
          <p:cNvPr id="39" name="Text 37"/>
          <p:cNvSpPr/>
          <p:nvPr/>
        </p:nvSpPr>
        <p:spPr>
          <a:xfrm>
            <a:off x="9573768" y="1389888"/>
            <a:ext cx="548640" cy="146304"/>
          </a:xfrm>
          <a:prstGeom prst="rect">
            <a:avLst/>
          </a:prstGeom>
          <a:noFill/>
          <a:ln/>
        </p:spPr>
        <p:txBody>
          <a:bodyPr wrap="square" lIns="0" tIns="0" rIns="0" bIns="0" rtlCol="0" anchor="ctr">
            <a:normAutofit/>
          </a:bodyPr>
          <a:lstStyle/>
          <a:p>
            <a:pPr algn="l" indent="0" marL="0">
              <a:buNone/>
            </a:pPr>
            <a:r>
              <a:rPr lang="en-US" sz="1600" b="1" dirty="0">
                <a:solidFill>
                  <a:srgbClr val="0EA5A4"/>
                </a:solidFill>
                <a:latin typeface="Meiryo" pitchFamily="34" charset="0"/>
                <a:ea typeface="Meiryo" pitchFamily="34" charset="-122"/>
                <a:cs typeface="Meiryo" pitchFamily="34" charset="-120"/>
              </a:rPr>
              <a:t>SDF</a:t>
            </a:r>
            <a:endParaRPr lang="en-US" sz="1600" dirty="0"/>
          </a:p>
        </p:txBody>
      </p:sp>
      <p:sp>
        <p:nvSpPr>
          <p:cNvPr id="40" name="Text 38"/>
          <p:cNvSpPr/>
          <p:nvPr/>
        </p:nvSpPr>
        <p:spPr>
          <a:xfrm>
            <a:off x="9601200" y="1627632"/>
            <a:ext cx="1371600" cy="41148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境界距離</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法線</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帯域</a:t>
            </a:r>
            <a:endParaRPr lang="en-US" sz="1400" dirty="0"/>
          </a:p>
        </p:txBody>
      </p:sp>
      <p:sp>
        <p:nvSpPr>
          <p:cNvPr id="41" name="Shape 39"/>
          <p:cNvSpPr/>
          <p:nvPr/>
        </p:nvSpPr>
        <p:spPr>
          <a:xfrm>
            <a:off x="9464040" y="2331720"/>
            <a:ext cx="1920240" cy="914400"/>
          </a:xfrm>
          <a:prstGeom prst="roundRect">
            <a:avLst>
              <a:gd name="adj" fmla="val 6000"/>
            </a:avLst>
          </a:prstGeom>
          <a:solidFill>
            <a:srgbClr val="FFF8EE"/>
          </a:solidFill>
          <a:ln w="12700">
            <a:solidFill>
              <a:srgbClr val="F7D6A1"/>
            </a:solidFill>
            <a:prstDash val="solid"/>
          </a:ln>
        </p:spPr>
      </p:sp>
      <p:sp>
        <p:nvSpPr>
          <p:cNvPr id="42" name="Text 40"/>
          <p:cNvSpPr/>
          <p:nvPr/>
        </p:nvSpPr>
        <p:spPr>
          <a:xfrm>
            <a:off x="9573768" y="2487168"/>
            <a:ext cx="822960" cy="146304"/>
          </a:xfrm>
          <a:prstGeom prst="rect">
            <a:avLst/>
          </a:prstGeom>
          <a:noFill/>
          <a:ln/>
        </p:spPr>
        <p:txBody>
          <a:bodyPr wrap="square" lIns="0" tIns="0" rIns="0" bIns="0" rtlCol="0" anchor="ctr">
            <a:normAutofit/>
          </a:bodyPr>
          <a:lstStyle/>
          <a:p>
            <a:pPr algn="l" indent="0" marL="0">
              <a:buNone/>
            </a:pPr>
            <a:r>
              <a:rPr lang="en-US" sz="1600" b="1" dirty="0">
                <a:solidFill>
                  <a:srgbClr val="A16207"/>
                </a:solidFill>
                <a:latin typeface="Meiryo" pitchFamily="34" charset="0"/>
                <a:ea typeface="Meiryo" pitchFamily="34" charset="-122"/>
                <a:cs typeface="Meiryo" pitchFamily="34" charset="-120"/>
              </a:rPr>
              <a:t>境界物理</a:t>
            </a:r>
            <a:endParaRPr lang="en-US" sz="1600" dirty="0"/>
          </a:p>
        </p:txBody>
      </p:sp>
      <p:sp>
        <p:nvSpPr>
          <p:cNvPr id="43" name="Text 41"/>
          <p:cNvSpPr/>
          <p:nvPr/>
        </p:nvSpPr>
        <p:spPr>
          <a:xfrm>
            <a:off x="9601200" y="2724912"/>
            <a:ext cx="1371600" cy="41148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電圧</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εr</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流入/排気</a:t>
            </a:r>
            <a:endParaRPr lang="en-US" sz="1400" dirty="0"/>
          </a:p>
        </p:txBody>
      </p:sp>
      <p:sp>
        <p:nvSpPr>
          <p:cNvPr id="44" name="Shape 42"/>
          <p:cNvSpPr/>
          <p:nvPr/>
        </p:nvSpPr>
        <p:spPr>
          <a:xfrm>
            <a:off x="9464040" y="3429000"/>
            <a:ext cx="1920240" cy="914400"/>
          </a:xfrm>
          <a:prstGeom prst="roundRect">
            <a:avLst>
              <a:gd name="adj" fmla="val 6000"/>
            </a:avLst>
          </a:prstGeom>
          <a:solidFill>
            <a:srgbClr val="F1FBF7"/>
          </a:solidFill>
          <a:ln w="12700">
            <a:solidFill>
              <a:srgbClr val="CBEFDB"/>
            </a:solidFill>
            <a:prstDash val="solid"/>
          </a:ln>
        </p:spPr>
      </p:sp>
      <p:sp>
        <p:nvSpPr>
          <p:cNvPr id="45" name="Text 43"/>
          <p:cNvSpPr/>
          <p:nvPr/>
        </p:nvSpPr>
        <p:spPr>
          <a:xfrm>
            <a:off x="9573768" y="3584448"/>
            <a:ext cx="640080" cy="146304"/>
          </a:xfrm>
          <a:prstGeom prst="rect">
            <a:avLst/>
          </a:prstGeom>
          <a:noFill/>
          <a:ln/>
        </p:spPr>
        <p:txBody>
          <a:bodyPr wrap="square" lIns="0" tIns="0" rIns="0" bIns="0" rtlCol="0" anchor="ctr">
            <a:normAutofit/>
          </a:bodyPr>
          <a:lstStyle/>
          <a:p>
            <a:pPr algn="l" indent="0" marL="0">
              <a:buNone/>
            </a:pPr>
            <a:r>
              <a:rPr lang="en-US" sz="1600" b="1" dirty="0">
                <a:solidFill>
                  <a:srgbClr val="059669"/>
                </a:solidFill>
                <a:latin typeface="Meiryo" pitchFamily="34" charset="0"/>
                <a:ea typeface="Meiryo" pitchFamily="34" charset="-122"/>
                <a:cs typeface="Meiryo" pitchFamily="34" charset="-120"/>
              </a:rPr>
              <a:t>U-Net</a:t>
            </a:r>
            <a:endParaRPr lang="en-US" sz="1600" dirty="0"/>
          </a:p>
        </p:txBody>
      </p:sp>
      <p:sp>
        <p:nvSpPr>
          <p:cNvPr id="46" name="Text 44"/>
          <p:cNvSpPr/>
          <p:nvPr/>
        </p:nvSpPr>
        <p:spPr>
          <a:xfrm>
            <a:off x="9601200" y="3822192"/>
            <a:ext cx="1371600" cy="4389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単一構造</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直接出力</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後処理拘束</a:t>
            </a:r>
            <a:endParaRPr lang="en-US" sz="1400" dirty="0"/>
          </a:p>
        </p:txBody>
      </p:sp>
      <p:sp>
        <p:nvSpPr>
          <p:cNvPr id="47" name="Shape 45"/>
          <p:cNvSpPr/>
          <p:nvPr/>
        </p:nvSpPr>
        <p:spPr>
          <a:xfrm>
            <a:off x="8961120" y="1682496"/>
            <a:ext cx="438912" cy="0"/>
          </a:xfrm>
          <a:prstGeom prst="line">
            <a:avLst/>
          </a:prstGeom>
          <a:noFill/>
          <a:ln w="25400">
            <a:solidFill>
              <a:srgbClr val="0EA5A4"/>
            </a:solidFill>
            <a:prstDash val="solid"/>
            <a:tailEnd type="triangle"/>
          </a:ln>
        </p:spPr>
      </p:sp>
      <p:sp>
        <p:nvSpPr>
          <p:cNvPr id="48" name="Shape 46"/>
          <p:cNvSpPr/>
          <p:nvPr/>
        </p:nvSpPr>
        <p:spPr>
          <a:xfrm>
            <a:off x="8961120" y="2788920"/>
            <a:ext cx="438912" cy="0"/>
          </a:xfrm>
          <a:prstGeom prst="line">
            <a:avLst/>
          </a:prstGeom>
          <a:noFill/>
          <a:ln w="25400">
            <a:solidFill>
              <a:srgbClr val="B7791F"/>
            </a:solidFill>
            <a:prstDash val="solid"/>
            <a:tailEnd type="triangle"/>
          </a:ln>
        </p:spPr>
      </p:sp>
      <p:sp>
        <p:nvSpPr>
          <p:cNvPr id="49" name="Shape 47"/>
          <p:cNvSpPr/>
          <p:nvPr/>
        </p:nvSpPr>
        <p:spPr>
          <a:xfrm>
            <a:off x="8961120" y="3895344"/>
            <a:ext cx="438912" cy="0"/>
          </a:xfrm>
          <a:prstGeom prst="line">
            <a:avLst/>
          </a:prstGeom>
          <a:noFill/>
          <a:ln w="25400">
            <a:solidFill>
              <a:srgbClr val="059669"/>
            </a:solidFill>
            <a:prstDash val="solid"/>
            <a:tailEnd type="triangle"/>
          </a:ln>
        </p:spPr>
      </p:sp>
      <p:sp>
        <p:nvSpPr>
          <p:cNvPr id="50" name="Text 4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背景・目的・本資料で示すこと</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概要</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40080" y="914400"/>
            <a:ext cx="3611880" cy="1828800"/>
          </a:xfrm>
          <a:prstGeom prst="roundRect">
            <a:avLst>
              <a:gd name="adj" fmla="val 3000"/>
            </a:avLst>
          </a:prstGeom>
          <a:solidFill>
            <a:srgbClr val="F8FBFE"/>
          </a:solidFill>
          <a:ln w="12700">
            <a:solidFill>
              <a:srgbClr val="D7E3ED"/>
            </a:solidFill>
            <a:prstDash val="solid"/>
          </a:ln>
        </p:spPr>
      </p:sp>
      <p:sp>
        <p:nvSpPr>
          <p:cNvPr id="7" name="Shape 5"/>
          <p:cNvSpPr/>
          <p:nvPr/>
        </p:nvSpPr>
        <p:spPr>
          <a:xfrm>
            <a:off x="768096" y="1024128"/>
            <a:ext cx="621792" cy="201168"/>
          </a:xfrm>
          <a:prstGeom prst="roundRect">
            <a:avLst>
              <a:gd name="adj" fmla="val 22727"/>
            </a:avLst>
          </a:prstGeom>
          <a:solidFill>
            <a:srgbClr val="39A8FF"/>
          </a:solidFill>
          <a:ln w="12700">
            <a:solidFill>
              <a:srgbClr val="39A8FF"/>
            </a:solidFill>
            <a:prstDash val="solid"/>
          </a:ln>
        </p:spPr>
      </p:sp>
      <p:sp>
        <p:nvSpPr>
          <p:cNvPr id="8" name="Text 6"/>
          <p:cNvSpPr/>
          <p:nvPr/>
        </p:nvSpPr>
        <p:spPr>
          <a:xfrm>
            <a:off x="768096" y="1033272"/>
            <a:ext cx="62179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背景</a:t>
            </a:r>
            <a:endParaRPr lang="en-US" sz="1100" dirty="0"/>
          </a:p>
        </p:txBody>
      </p:sp>
      <p:sp>
        <p:nvSpPr>
          <p:cNvPr id="9" name="Text 7"/>
          <p:cNvSpPr/>
          <p:nvPr/>
        </p:nvSpPr>
        <p:spPr>
          <a:xfrm>
            <a:off x="822960" y="1353312"/>
            <a:ext cx="3154680" cy="118872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低圧プラズマは壁近傍 sheath、誘電体界面、gas in / out の影響が強い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通常 U-Net は bulk 平均には強いが、境界条件の空間作用を表しにくい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特許化では「AI」よりも入力構成と活用の芯を明確化する必要がある</a:t>
            </a:r>
            <a:endParaRPr lang="en-US" sz="1600" dirty="0"/>
          </a:p>
        </p:txBody>
      </p:sp>
      <p:sp>
        <p:nvSpPr>
          <p:cNvPr id="10" name="Shape 8"/>
          <p:cNvSpPr/>
          <p:nvPr/>
        </p:nvSpPr>
        <p:spPr>
          <a:xfrm>
            <a:off x="4434840" y="914400"/>
            <a:ext cx="3611880" cy="1828800"/>
          </a:xfrm>
          <a:prstGeom prst="roundRect">
            <a:avLst>
              <a:gd name="adj" fmla="val 3000"/>
            </a:avLst>
          </a:prstGeom>
          <a:solidFill>
            <a:srgbClr val="F8FBFE"/>
          </a:solidFill>
          <a:ln w="12700">
            <a:solidFill>
              <a:srgbClr val="D7E3ED"/>
            </a:solidFill>
            <a:prstDash val="solid"/>
          </a:ln>
        </p:spPr>
      </p:sp>
      <p:sp>
        <p:nvSpPr>
          <p:cNvPr id="11" name="Shape 9"/>
          <p:cNvSpPr/>
          <p:nvPr/>
        </p:nvSpPr>
        <p:spPr>
          <a:xfrm>
            <a:off x="4562856" y="1024128"/>
            <a:ext cx="621792" cy="201168"/>
          </a:xfrm>
          <a:prstGeom prst="roundRect">
            <a:avLst>
              <a:gd name="adj" fmla="val 22727"/>
            </a:avLst>
          </a:prstGeom>
          <a:solidFill>
            <a:srgbClr val="F59E0B"/>
          </a:solidFill>
          <a:ln w="12700">
            <a:solidFill>
              <a:srgbClr val="F59E0B"/>
            </a:solidFill>
            <a:prstDash val="solid"/>
          </a:ln>
        </p:spPr>
      </p:sp>
      <p:sp>
        <p:nvSpPr>
          <p:cNvPr id="12" name="Text 10"/>
          <p:cNvSpPr/>
          <p:nvPr/>
        </p:nvSpPr>
        <p:spPr>
          <a:xfrm>
            <a:off x="4562856" y="1033272"/>
            <a:ext cx="62179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目的</a:t>
            </a:r>
            <a:endParaRPr lang="en-US" sz="1100" dirty="0"/>
          </a:p>
        </p:txBody>
      </p:sp>
      <p:sp>
        <p:nvSpPr>
          <p:cNvPr id="13" name="Text 11"/>
          <p:cNvSpPr/>
          <p:nvPr/>
        </p:nvSpPr>
        <p:spPr>
          <a:xfrm>
            <a:off x="4617720" y="1353312"/>
            <a:ext cx="3154680" cy="118872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第三者が新規性・進歩性・有用性を短時間で把握できる構成に整理</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通常 U-Net との差を、境界条件表現と学習方法の観点で具体化</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請求項へ落とし込める発明の芯を、方法・装置・システムで整理</a:t>
            </a:r>
            <a:endParaRPr lang="en-US" sz="1600" dirty="0"/>
          </a:p>
        </p:txBody>
      </p:sp>
      <p:sp>
        <p:nvSpPr>
          <p:cNvPr id="14" name="Shape 12"/>
          <p:cNvSpPr/>
          <p:nvPr/>
        </p:nvSpPr>
        <p:spPr>
          <a:xfrm>
            <a:off x="8229600" y="914400"/>
            <a:ext cx="3310128" cy="1828800"/>
          </a:xfrm>
          <a:prstGeom prst="roundRect">
            <a:avLst>
              <a:gd name="adj" fmla="val 3000"/>
            </a:avLst>
          </a:prstGeom>
          <a:solidFill>
            <a:srgbClr val="F8FBFE"/>
          </a:solidFill>
          <a:ln w="12700">
            <a:solidFill>
              <a:srgbClr val="D7E3ED"/>
            </a:solidFill>
            <a:prstDash val="solid"/>
          </a:ln>
        </p:spPr>
      </p:sp>
      <p:sp>
        <p:nvSpPr>
          <p:cNvPr id="15" name="Shape 13"/>
          <p:cNvSpPr/>
          <p:nvPr/>
        </p:nvSpPr>
        <p:spPr>
          <a:xfrm>
            <a:off x="8357616" y="1024128"/>
            <a:ext cx="786384" cy="201168"/>
          </a:xfrm>
          <a:prstGeom prst="roundRect">
            <a:avLst>
              <a:gd name="adj" fmla="val 22727"/>
            </a:avLst>
          </a:prstGeom>
          <a:solidFill>
            <a:srgbClr val="10B981"/>
          </a:solidFill>
          <a:ln w="12700">
            <a:solidFill>
              <a:srgbClr val="10B981"/>
            </a:solidFill>
            <a:prstDash val="solid"/>
          </a:ln>
        </p:spPr>
      </p:sp>
      <p:sp>
        <p:nvSpPr>
          <p:cNvPr id="16" name="Text 14"/>
          <p:cNvSpPr/>
          <p:nvPr/>
        </p:nvSpPr>
        <p:spPr>
          <a:xfrm>
            <a:off x="8357616" y="1033272"/>
            <a:ext cx="786384"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示すこと</a:t>
            </a:r>
            <a:endParaRPr lang="en-US" sz="1100" dirty="0"/>
          </a:p>
        </p:txBody>
      </p:sp>
      <p:sp>
        <p:nvSpPr>
          <p:cNvPr id="17" name="Text 15"/>
          <p:cNvSpPr/>
          <p:nvPr/>
        </p:nvSpPr>
        <p:spPr>
          <a:xfrm>
            <a:off x="8449056" y="1389888"/>
            <a:ext cx="2651760" cy="91440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従来技術と課題</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提案手法と活用像</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請求項たたき台</a:t>
            </a:r>
            <a:endParaRPr lang="en-US" sz="1600" dirty="0"/>
          </a:p>
        </p:txBody>
      </p:sp>
      <p:sp>
        <p:nvSpPr>
          <p:cNvPr id="18" name="Shape 16"/>
          <p:cNvSpPr/>
          <p:nvPr/>
        </p:nvSpPr>
        <p:spPr>
          <a:xfrm>
            <a:off x="685800" y="3063240"/>
            <a:ext cx="10972800" cy="2880360"/>
          </a:xfrm>
          <a:prstGeom prst="roundRect">
            <a:avLst>
              <a:gd name="adj" fmla="val 1905"/>
            </a:avLst>
          </a:prstGeom>
          <a:solidFill>
            <a:srgbClr val="FFFFFF"/>
          </a:solidFill>
          <a:ln w="12700">
            <a:solidFill>
              <a:srgbClr val="D7E3ED"/>
            </a:solidFill>
            <a:prstDash val="solid"/>
          </a:ln>
        </p:spPr>
      </p:sp>
      <p:sp>
        <p:nvSpPr>
          <p:cNvPr id="19" name="Text 17"/>
          <p:cNvSpPr/>
          <p:nvPr/>
        </p:nvSpPr>
        <p:spPr>
          <a:xfrm>
            <a:off x="868680" y="3200400"/>
            <a:ext cx="1097280" cy="146304"/>
          </a:xfrm>
          <a:prstGeom prst="rect">
            <a:avLst/>
          </a:prstGeom>
          <a:noFill/>
          <a:ln/>
        </p:spPr>
        <p:txBody>
          <a:bodyPr wrap="square" lIns="0" tIns="0" rIns="0" bIns="0" rtlCol="0" anchor="ctr">
            <a:normAutofit/>
          </a:bodyPr>
          <a:lstStyle/>
          <a:p>
            <a:pPr algn="l" indent="0" marL="0">
              <a:buNone/>
            </a:pPr>
            <a:r>
              <a:rPr lang="en-US" sz="1400" b="1" dirty="0">
                <a:solidFill>
                  <a:srgbClr val="0D4D7E"/>
                </a:solidFill>
                <a:latin typeface="Meiryo" pitchFamily="34" charset="0"/>
                <a:ea typeface="Meiryo" pitchFamily="34" charset="-122"/>
                <a:cs typeface="Meiryo" pitchFamily="34" charset="-120"/>
              </a:rPr>
              <a:t>資料全体の読み筋</a:t>
            </a:r>
            <a:endParaRPr lang="en-US" sz="1400" dirty="0"/>
          </a:p>
        </p:txBody>
      </p:sp>
      <p:sp>
        <p:nvSpPr>
          <p:cNvPr id="20" name="Shape 18"/>
          <p:cNvSpPr/>
          <p:nvPr/>
        </p:nvSpPr>
        <p:spPr>
          <a:xfrm>
            <a:off x="960120" y="3794760"/>
            <a:ext cx="1508760" cy="1325880"/>
          </a:xfrm>
          <a:prstGeom prst="roundRect">
            <a:avLst>
              <a:gd name="adj" fmla="val 4138"/>
            </a:avLst>
          </a:prstGeom>
          <a:solidFill>
            <a:srgbClr val="EAF5FE"/>
          </a:solidFill>
          <a:ln w="12700">
            <a:solidFill>
              <a:srgbClr val="C7E7FF"/>
            </a:solidFill>
            <a:prstDash val="solid"/>
          </a:ln>
        </p:spPr>
      </p:sp>
      <p:sp>
        <p:nvSpPr>
          <p:cNvPr id="21" name="Text 19"/>
          <p:cNvSpPr/>
          <p:nvPr/>
        </p:nvSpPr>
        <p:spPr>
          <a:xfrm>
            <a:off x="1033272" y="4142232"/>
            <a:ext cx="1362456" cy="50292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従来背景</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通常U-Net</a:t>
            </a:r>
            <a:endParaRPr lang="en-US" sz="1600" dirty="0"/>
          </a:p>
        </p:txBody>
      </p:sp>
      <p:sp>
        <p:nvSpPr>
          <p:cNvPr id="22" name="Shape 20"/>
          <p:cNvSpPr/>
          <p:nvPr/>
        </p:nvSpPr>
        <p:spPr>
          <a:xfrm>
            <a:off x="2496312" y="4462272"/>
            <a:ext cx="493776" cy="0"/>
          </a:xfrm>
          <a:prstGeom prst="line">
            <a:avLst/>
          </a:prstGeom>
          <a:noFill/>
          <a:ln w="25400">
            <a:solidFill>
              <a:srgbClr val="39A8FF"/>
            </a:solidFill>
            <a:prstDash val="solid"/>
            <a:tailEnd type="triangle"/>
          </a:ln>
        </p:spPr>
      </p:sp>
      <p:sp>
        <p:nvSpPr>
          <p:cNvPr id="23" name="Shape 21"/>
          <p:cNvSpPr/>
          <p:nvPr/>
        </p:nvSpPr>
        <p:spPr>
          <a:xfrm>
            <a:off x="3063240" y="3794760"/>
            <a:ext cx="1508760" cy="1325880"/>
          </a:xfrm>
          <a:prstGeom prst="roundRect">
            <a:avLst>
              <a:gd name="adj" fmla="val 4138"/>
            </a:avLst>
          </a:prstGeom>
          <a:solidFill>
            <a:srgbClr val="FFF7ED"/>
          </a:solidFill>
          <a:ln w="12700">
            <a:solidFill>
              <a:srgbClr val="F7D6A1"/>
            </a:solidFill>
            <a:prstDash val="solid"/>
          </a:ln>
        </p:spPr>
      </p:sp>
      <p:sp>
        <p:nvSpPr>
          <p:cNvPr id="24" name="Text 22"/>
          <p:cNvSpPr/>
          <p:nvPr/>
        </p:nvSpPr>
        <p:spPr>
          <a:xfrm>
            <a:off x="3136392" y="4142232"/>
            <a:ext cx="1362456" cy="50292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低圧プラズマ</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固有の課題</a:t>
            </a:r>
            <a:endParaRPr lang="en-US" sz="1600" dirty="0"/>
          </a:p>
        </p:txBody>
      </p:sp>
      <p:sp>
        <p:nvSpPr>
          <p:cNvPr id="25" name="Shape 23"/>
          <p:cNvSpPr/>
          <p:nvPr/>
        </p:nvSpPr>
        <p:spPr>
          <a:xfrm>
            <a:off x="4599432" y="4462272"/>
            <a:ext cx="557784" cy="0"/>
          </a:xfrm>
          <a:prstGeom prst="line">
            <a:avLst/>
          </a:prstGeom>
          <a:noFill/>
          <a:ln w="25400">
            <a:solidFill>
              <a:srgbClr val="39A8FF"/>
            </a:solidFill>
            <a:prstDash val="solid"/>
            <a:tailEnd type="triangle"/>
          </a:ln>
        </p:spPr>
      </p:sp>
      <p:sp>
        <p:nvSpPr>
          <p:cNvPr id="26" name="Shape 24"/>
          <p:cNvSpPr/>
          <p:nvPr/>
        </p:nvSpPr>
        <p:spPr>
          <a:xfrm>
            <a:off x="5230368" y="3794760"/>
            <a:ext cx="1508760" cy="1325880"/>
          </a:xfrm>
          <a:prstGeom prst="roundRect">
            <a:avLst>
              <a:gd name="adj" fmla="val 4138"/>
            </a:avLst>
          </a:prstGeom>
          <a:solidFill>
            <a:srgbClr val="ECFDF5"/>
          </a:solidFill>
          <a:ln w="12700">
            <a:solidFill>
              <a:srgbClr val="CBEFDB"/>
            </a:solidFill>
            <a:prstDash val="solid"/>
          </a:ln>
        </p:spPr>
      </p:sp>
      <p:sp>
        <p:nvSpPr>
          <p:cNvPr id="27" name="Text 25"/>
          <p:cNvSpPr/>
          <p:nvPr/>
        </p:nvSpPr>
        <p:spPr>
          <a:xfrm>
            <a:off x="5303520" y="4142232"/>
            <a:ext cx="1362456" cy="50292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SDF + 境界物理</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入力構成</a:t>
            </a:r>
            <a:endParaRPr lang="en-US" sz="1600" dirty="0"/>
          </a:p>
        </p:txBody>
      </p:sp>
      <p:sp>
        <p:nvSpPr>
          <p:cNvPr id="28" name="Shape 26"/>
          <p:cNvSpPr/>
          <p:nvPr/>
        </p:nvSpPr>
        <p:spPr>
          <a:xfrm>
            <a:off x="6766560" y="4462272"/>
            <a:ext cx="566928" cy="0"/>
          </a:xfrm>
          <a:prstGeom prst="line">
            <a:avLst/>
          </a:prstGeom>
          <a:noFill/>
          <a:ln w="25400">
            <a:solidFill>
              <a:srgbClr val="39A8FF"/>
            </a:solidFill>
            <a:prstDash val="solid"/>
            <a:tailEnd type="triangle"/>
          </a:ln>
        </p:spPr>
      </p:sp>
      <p:sp>
        <p:nvSpPr>
          <p:cNvPr id="29" name="Shape 27"/>
          <p:cNvSpPr/>
          <p:nvPr/>
        </p:nvSpPr>
        <p:spPr>
          <a:xfrm>
            <a:off x="7406640" y="3794760"/>
            <a:ext cx="1508760" cy="1325880"/>
          </a:xfrm>
          <a:prstGeom prst="roundRect">
            <a:avLst>
              <a:gd name="adj" fmla="val 4138"/>
            </a:avLst>
          </a:prstGeom>
          <a:solidFill>
            <a:srgbClr val="EEF2FF"/>
          </a:solidFill>
          <a:ln w="12700">
            <a:solidFill>
              <a:srgbClr val="C7D2FE"/>
            </a:solidFill>
            <a:prstDash val="solid"/>
          </a:ln>
        </p:spPr>
      </p:sp>
      <p:sp>
        <p:nvSpPr>
          <p:cNvPr id="30" name="Text 28"/>
          <p:cNvSpPr/>
          <p:nvPr/>
        </p:nvSpPr>
        <p:spPr>
          <a:xfrm>
            <a:off x="7479792" y="4142232"/>
            <a:ext cx="1362456" cy="50292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単一U-Net</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学習と推論</a:t>
            </a:r>
            <a:endParaRPr lang="en-US" sz="1600" dirty="0"/>
          </a:p>
        </p:txBody>
      </p:sp>
      <p:sp>
        <p:nvSpPr>
          <p:cNvPr id="31" name="Shape 29"/>
          <p:cNvSpPr/>
          <p:nvPr/>
        </p:nvSpPr>
        <p:spPr>
          <a:xfrm>
            <a:off x="8942832" y="4462272"/>
            <a:ext cx="557784" cy="0"/>
          </a:xfrm>
          <a:prstGeom prst="line">
            <a:avLst/>
          </a:prstGeom>
          <a:noFill/>
          <a:ln w="25400">
            <a:solidFill>
              <a:srgbClr val="39A8FF"/>
            </a:solidFill>
            <a:prstDash val="solid"/>
            <a:tailEnd type="triangle"/>
          </a:ln>
        </p:spPr>
      </p:sp>
      <p:sp>
        <p:nvSpPr>
          <p:cNvPr id="32" name="Shape 30"/>
          <p:cNvSpPr/>
          <p:nvPr/>
        </p:nvSpPr>
        <p:spPr>
          <a:xfrm>
            <a:off x="9573768" y="3794760"/>
            <a:ext cx="1508760" cy="1325880"/>
          </a:xfrm>
          <a:prstGeom prst="roundRect">
            <a:avLst>
              <a:gd name="adj" fmla="val 4138"/>
            </a:avLst>
          </a:prstGeom>
          <a:solidFill>
            <a:srgbClr val="F5F3FF"/>
          </a:solidFill>
          <a:ln w="12700">
            <a:solidFill>
              <a:srgbClr val="DDD6FE"/>
            </a:solidFill>
            <a:prstDash val="solid"/>
          </a:ln>
        </p:spPr>
      </p:sp>
      <p:sp>
        <p:nvSpPr>
          <p:cNvPr id="33" name="Text 31"/>
          <p:cNvSpPr/>
          <p:nvPr/>
        </p:nvSpPr>
        <p:spPr>
          <a:xfrm>
            <a:off x="9646920" y="4142232"/>
            <a:ext cx="1362456" cy="50292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効果・請求項</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活用事例</a:t>
            </a:r>
            <a:endParaRPr lang="en-US" sz="1600" dirty="0"/>
          </a:p>
        </p:txBody>
      </p:sp>
      <p:sp>
        <p:nvSpPr>
          <p:cNvPr id="34" name="Text 32"/>
          <p:cNvSpPr/>
          <p:nvPr/>
        </p:nvSpPr>
        <p:spPr>
          <a:xfrm>
            <a:off x="1828800" y="5532120"/>
            <a:ext cx="8686800" cy="182880"/>
          </a:xfrm>
          <a:prstGeom prst="rect">
            <a:avLst/>
          </a:prstGeom>
          <a:noFill/>
          <a:ln/>
        </p:spPr>
        <p:txBody>
          <a:bodyPr wrap="square" lIns="0" tIns="0" rIns="0" bIns="0" rtlCol="0" anchor="ctr">
            <a:normAutofit/>
          </a:bodyPr>
          <a:lstStyle/>
          <a:p>
            <a:pPr algn="ctr" indent="0" marL="0">
              <a:buNone/>
            </a:pPr>
            <a:r>
              <a:rPr lang="en-US" sz="1400" dirty="0">
                <a:solidFill>
                  <a:srgbClr val="555555"/>
                </a:solidFill>
                <a:latin typeface="Meiryo" pitchFamily="34" charset="0"/>
                <a:ea typeface="Meiryo" pitchFamily="34" charset="-122"/>
                <a:cs typeface="Meiryo" pitchFamily="34" charset="-120"/>
              </a:rPr>
              <a:t>審査官: 進歩性の芯 / 弁理士: クレーム化ポイント / 製造技術者: 使いどころ</a:t>
            </a:r>
            <a:endParaRPr lang="en-US" sz="1400" dirty="0"/>
          </a:p>
        </p:txBody>
      </p:sp>
      <p:sp>
        <p:nvSpPr>
          <p:cNvPr id="35" name="Text 33"/>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背景: 低圧プラズマでは境界が解を支配しやすい</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背景</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58368" y="896112"/>
            <a:ext cx="5212080" cy="5303520"/>
          </a:xfrm>
          <a:prstGeom prst="roundRect">
            <a:avLst>
              <a:gd name="adj" fmla="val 1053"/>
            </a:avLst>
          </a:prstGeom>
          <a:solidFill>
            <a:srgbClr val="FFFFFF"/>
          </a:solidFill>
          <a:ln w="12700">
            <a:solidFill>
              <a:srgbClr val="D7E3ED"/>
            </a:solidFill>
            <a:prstDash val="solid"/>
          </a:ln>
        </p:spPr>
      </p:sp>
      <p:sp>
        <p:nvSpPr>
          <p:cNvPr id="7" name="Shape 5"/>
          <p:cNvSpPr/>
          <p:nvPr/>
        </p:nvSpPr>
        <p:spPr>
          <a:xfrm>
            <a:off x="822960" y="1645920"/>
            <a:ext cx="365760" cy="0"/>
          </a:xfrm>
          <a:prstGeom prst="line">
            <a:avLst/>
          </a:prstGeom>
          <a:noFill/>
          <a:ln w="38100">
            <a:solidFill>
              <a:srgbClr val="3B82F6"/>
            </a:solidFill>
            <a:prstDash val="solid"/>
            <a:tailEnd type="triangle"/>
          </a:ln>
        </p:spPr>
      </p:sp>
      <p:sp>
        <p:nvSpPr>
          <p:cNvPr id="8" name="Shape 6"/>
          <p:cNvSpPr/>
          <p:nvPr/>
        </p:nvSpPr>
        <p:spPr>
          <a:xfrm>
            <a:off x="5303520" y="5394960"/>
            <a:ext cx="365760" cy="0"/>
          </a:xfrm>
          <a:prstGeom prst="line">
            <a:avLst/>
          </a:prstGeom>
          <a:noFill/>
          <a:ln w="38100">
            <a:solidFill>
              <a:srgbClr val="EF4444"/>
            </a:solidFill>
            <a:prstDash val="solid"/>
            <a:tailEnd type="triangle"/>
          </a:ln>
        </p:spPr>
      </p:sp>
      <p:sp>
        <p:nvSpPr>
          <p:cNvPr id="9" name="Shape 7"/>
          <p:cNvSpPr/>
          <p:nvPr/>
        </p:nvSpPr>
        <p:spPr>
          <a:xfrm>
            <a:off x="1051560" y="1325880"/>
            <a:ext cx="4389120" cy="4389120"/>
          </a:xfrm>
          <a:prstGeom prst="roundRect">
            <a:avLst>
              <a:gd name="adj" fmla="val 1042"/>
            </a:avLst>
          </a:prstGeom>
          <a:solidFill>
            <a:srgbClr val="FFFFFF"/>
          </a:solidFill>
          <a:ln w="25400">
            <a:solidFill>
              <a:srgbClr val="6B7280"/>
            </a:solidFill>
            <a:prstDash val="solid"/>
          </a:ln>
        </p:spPr>
      </p:sp>
      <p:sp>
        <p:nvSpPr>
          <p:cNvPr id="10" name="Shape 8"/>
          <p:cNvSpPr/>
          <p:nvPr/>
        </p:nvSpPr>
        <p:spPr>
          <a:xfrm>
            <a:off x="1069848" y="5605272"/>
            <a:ext cx="4352544" cy="91440"/>
          </a:xfrm>
          <a:prstGeom prst="rect">
            <a:avLst/>
          </a:prstGeom>
          <a:solidFill>
            <a:srgbClr val="6B7280">
              <a:alpha val="75000"/>
            </a:srgbClr>
          </a:solidFill>
          <a:ln w="12700">
            <a:solidFill>
              <a:srgbClr val="6B7280">
                <a:alpha val="0"/>
              </a:srgbClr>
            </a:solidFill>
            <a:prstDash val="solid"/>
          </a:ln>
        </p:spPr>
      </p:sp>
      <p:sp>
        <p:nvSpPr>
          <p:cNvPr id="11" name="Shape 9"/>
          <p:cNvSpPr/>
          <p:nvPr/>
        </p:nvSpPr>
        <p:spPr>
          <a:xfrm>
            <a:off x="1069848" y="1344168"/>
            <a:ext cx="109728" cy="4352544"/>
          </a:xfrm>
          <a:prstGeom prst="rect">
            <a:avLst/>
          </a:prstGeom>
          <a:solidFill>
            <a:srgbClr val="6B7280">
              <a:alpha val="75000"/>
            </a:srgbClr>
          </a:solidFill>
          <a:ln w="12700">
            <a:solidFill>
              <a:srgbClr val="6B7280">
                <a:alpha val="0"/>
              </a:srgbClr>
            </a:solidFill>
            <a:prstDash val="solid"/>
          </a:ln>
        </p:spPr>
      </p:sp>
      <p:sp>
        <p:nvSpPr>
          <p:cNvPr id="12" name="Shape 10"/>
          <p:cNvSpPr/>
          <p:nvPr/>
        </p:nvSpPr>
        <p:spPr>
          <a:xfrm>
            <a:off x="5312664" y="1344168"/>
            <a:ext cx="109728" cy="4352544"/>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80160" y="1252728"/>
            <a:ext cx="3931920" cy="109728"/>
          </a:xfrm>
          <a:prstGeom prst="rect">
            <a:avLst/>
          </a:prstGeom>
          <a:solidFill>
            <a:srgbClr val="10B981"/>
          </a:solidFill>
          <a:ln w="12700">
            <a:solidFill>
              <a:srgbClr val="10B981"/>
            </a:solidFill>
            <a:prstDash val="solid"/>
          </a:ln>
        </p:spPr>
      </p:sp>
      <p:sp>
        <p:nvSpPr>
          <p:cNvPr id="14" name="Text 12"/>
          <p:cNvSpPr/>
          <p:nvPr/>
        </p:nvSpPr>
        <p:spPr>
          <a:xfrm>
            <a:off x="3017520" y="111556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5" name="Shape 13"/>
          <p:cNvSpPr/>
          <p:nvPr/>
        </p:nvSpPr>
        <p:spPr>
          <a:xfrm>
            <a:off x="1463040" y="1490472"/>
            <a:ext cx="3566160" cy="91440"/>
          </a:xfrm>
          <a:prstGeom prst="rect">
            <a:avLst/>
          </a:prstGeom>
          <a:solidFill>
            <a:srgbClr val="F59E0B"/>
          </a:solidFill>
          <a:ln w="12700">
            <a:solidFill>
              <a:srgbClr val="F59E0B"/>
            </a:solidFill>
            <a:prstDash val="solid"/>
          </a:ln>
        </p:spPr>
      </p:sp>
      <p:sp>
        <p:nvSpPr>
          <p:cNvPr id="16" name="Text 14"/>
          <p:cNvSpPr/>
          <p:nvPr/>
        </p:nvSpPr>
        <p:spPr>
          <a:xfrm>
            <a:off x="2926080" y="135331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554480" y="5303520"/>
            <a:ext cx="3383280" cy="100584"/>
          </a:xfrm>
          <a:prstGeom prst="rect">
            <a:avLst/>
          </a:prstGeom>
          <a:solidFill>
            <a:srgbClr val="B0B8C0"/>
          </a:solidFill>
          <a:ln w="12700">
            <a:solidFill>
              <a:srgbClr val="B0B8C0"/>
            </a:solidFill>
            <a:prstDash val="solid"/>
          </a:ln>
        </p:spPr>
      </p:sp>
      <p:sp>
        <p:nvSpPr>
          <p:cNvPr id="18" name="Text 16"/>
          <p:cNvSpPr/>
          <p:nvPr/>
        </p:nvSpPr>
        <p:spPr>
          <a:xfrm>
            <a:off x="3081528" y="545896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1179576" y="1581912"/>
            <a:ext cx="4133088" cy="146304"/>
          </a:xfrm>
          <a:prstGeom prst="rect">
            <a:avLst/>
          </a:prstGeom>
          <a:solidFill>
            <a:srgbClr val="39A8FF">
              <a:alpha val="30000"/>
            </a:srgbClr>
          </a:solidFill>
          <a:ln w="12700">
            <a:solidFill>
              <a:srgbClr val="39A8FF">
                <a:alpha val="0"/>
              </a:srgbClr>
            </a:solidFill>
            <a:prstDash val="solid"/>
          </a:ln>
        </p:spPr>
      </p:sp>
      <p:sp>
        <p:nvSpPr>
          <p:cNvPr id="20" name="Shape 18"/>
          <p:cNvSpPr/>
          <p:nvPr/>
        </p:nvSpPr>
        <p:spPr>
          <a:xfrm>
            <a:off x="1179576" y="5312664"/>
            <a:ext cx="4133088" cy="146304"/>
          </a:xfrm>
          <a:prstGeom prst="rect">
            <a:avLst/>
          </a:prstGeom>
          <a:solidFill>
            <a:srgbClr val="39A8FF">
              <a:alpha val="20000"/>
            </a:srgbClr>
          </a:solidFill>
          <a:ln w="12700">
            <a:solidFill>
              <a:srgbClr val="39A8FF">
                <a:alpha val="0"/>
              </a:srgbClr>
            </a:solidFill>
            <a:prstDash val="solid"/>
          </a:ln>
        </p:spPr>
      </p:sp>
      <p:sp>
        <p:nvSpPr>
          <p:cNvPr id="21" name="Shape 19"/>
          <p:cNvSpPr/>
          <p:nvPr/>
        </p:nvSpPr>
        <p:spPr>
          <a:xfrm>
            <a:off x="1179576" y="1728216"/>
            <a:ext cx="146304" cy="3584448"/>
          </a:xfrm>
          <a:prstGeom prst="rect">
            <a:avLst/>
          </a:prstGeom>
          <a:solidFill>
            <a:srgbClr val="39A8FF">
              <a:alpha val="20000"/>
            </a:srgbClr>
          </a:solidFill>
          <a:ln w="12700">
            <a:solidFill>
              <a:srgbClr val="39A8FF">
                <a:alpha val="0"/>
              </a:srgbClr>
            </a:solidFill>
            <a:prstDash val="solid"/>
          </a:ln>
        </p:spPr>
      </p:sp>
      <p:sp>
        <p:nvSpPr>
          <p:cNvPr id="22" name="Shape 20"/>
          <p:cNvSpPr/>
          <p:nvPr/>
        </p:nvSpPr>
        <p:spPr>
          <a:xfrm>
            <a:off x="5166360" y="1728216"/>
            <a:ext cx="146304" cy="3584448"/>
          </a:xfrm>
          <a:prstGeom prst="rect">
            <a:avLst/>
          </a:prstGeom>
          <a:solidFill>
            <a:srgbClr val="39A8FF">
              <a:alpha val="20000"/>
            </a:srgbClr>
          </a:solidFill>
          <a:ln w="12700">
            <a:solidFill>
              <a:srgbClr val="39A8FF">
                <a:alpha val="0"/>
              </a:srgbClr>
            </a:solidFill>
            <a:prstDash val="solid"/>
          </a:ln>
        </p:spPr>
      </p:sp>
      <p:sp>
        <p:nvSpPr>
          <p:cNvPr id="23" name="Shape 21"/>
          <p:cNvSpPr/>
          <p:nvPr/>
        </p:nvSpPr>
        <p:spPr>
          <a:xfrm>
            <a:off x="1554480" y="1645920"/>
            <a:ext cx="0" cy="3566160"/>
          </a:xfrm>
          <a:prstGeom prst="line">
            <a:avLst/>
          </a:prstGeom>
          <a:noFill/>
          <a:ln w="19050">
            <a:solidFill>
              <a:srgbClr val="8A8A8A"/>
            </a:solidFill>
            <a:prstDash val="solid"/>
            <a:tailEnd type="triangle"/>
          </a:ln>
        </p:spPr>
      </p:sp>
      <p:sp>
        <p:nvSpPr>
          <p:cNvPr id="24" name="Shape 22"/>
          <p:cNvSpPr/>
          <p:nvPr/>
        </p:nvSpPr>
        <p:spPr>
          <a:xfrm>
            <a:off x="2651760" y="1645920"/>
            <a:ext cx="0" cy="3566160"/>
          </a:xfrm>
          <a:prstGeom prst="line">
            <a:avLst/>
          </a:prstGeom>
          <a:noFill/>
          <a:ln w="19050">
            <a:solidFill>
              <a:srgbClr val="8A8A8A"/>
            </a:solidFill>
            <a:prstDash val="solid"/>
            <a:tailEnd type="triangle"/>
          </a:ln>
        </p:spPr>
      </p:sp>
      <p:sp>
        <p:nvSpPr>
          <p:cNvPr id="25" name="Shape 23"/>
          <p:cNvSpPr/>
          <p:nvPr/>
        </p:nvSpPr>
        <p:spPr>
          <a:xfrm>
            <a:off x="3749040" y="1645920"/>
            <a:ext cx="0" cy="3566160"/>
          </a:xfrm>
          <a:prstGeom prst="line">
            <a:avLst/>
          </a:prstGeom>
          <a:noFill/>
          <a:ln w="19050">
            <a:solidFill>
              <a:srgbClr val="8A8A8A"/>
            </a:solidFill>
            <a:prstDash val="solid"/>
            <a:tailEnd type="triangle"/>
          </a:ln>
        </p:spPr>
      </p:sp>
      <p:sp>
        <p:nvSpPr>
          <p:cNvPr id="26" name="Shape 24"/>
          <p:cNvSpPr/>
          <p:nvPr/>
        </p:nvSpPr>
        <p:spPr>
          <a:xfrm>
            <a:off x="4846320" y="1645920"/>
            <a:ext cx="0" cy="3566160"/>
          </a:xfrm>
          <a:prstGeom prst="line">
            <a:avLst/>
          </a:prstGeom>
          <a:noFill/>
          <a:ln w="19050">
            <a:solidFill>
              <a:srgbClr val="8A8A8A"/>
            </a:solidFill>
            <a:prstDash val="solid"/>
            <a:tailEnd type="triangle"/>
          </a:ln>
        </p:spPr>
      </p:sp>
      <p:sp>
        <p:nvSpPr>
          <p:cNvPr id="27" name="Text 25"/>
          <p:cNvSpPr/>
          <p:nvPr/>
        </p:nvSpPr>
        <p:spPr>
          <a:xfrm>
            <a:off x="850392" y="1581912"/>
            <a:ext cx="182880" cy="109728"/>
          </a:xfrm>
          <a:prstGeom prst="rect">
            <a:avLst/>
          </a:prstGeom>
          <a:noFill/>
          <a:ln/>
        </p:spPr>
        <p:txBody>
          <a:bodyPr wrap="square" lIns="0" tIns="0" rIns="0" bIns="0" rtlCol="0" anchor="ctr">
            <a:normAutofit/>
          </a:bodyPr>
          <a:lstStyle/>
          <a:p>
            <a:pPr algn="r" indent="0" marL="0">
              <a:buNone/>
            </a:pPr>
            <a:r>
              <a:rPr lang="en-US" sz="1000" b="1" dirty="0">
                <a:solidFill>
                  <a:srgbClr val="3B82F6"/>
                </a:solidFill>
                <a:latin typeface="Meiryo" pitchFamily="34" charset="0"/>
                <a:ea typeface="Meiryo" pitchFamily="34" charset="-122"/>
                <a:cs typeface="Meiryo" pitchFamily="34" charset="-120"/>
              </a:rPr>
              <a:t>入口</a:t>
            </a:r>
            <a:endParaRPr lang="en-US" sz="1000" dirty="0"/>
          </a:p>
        </p:txBody>
      </p:sp>
      <p:sp>
        <p:nvSpPr>
          <p:cNvPr id="28" name="Text 26"/>
          <p:cNvSpPr/>
          <p:nvPr/>
        </p:nvSpPr>
        <p:spPr>
          <a:xfrm>
            <a:off x="5458968" y="5330952"/>
            <a:ext cx="201168" cy="109728"/>
          </a:xfrm>
          <a:prstGeom prst="rect">
            <a:avLst/>
          </a:prstGeom>
          <a:noFill/>
          <a:ln/>
        </p:spPr>
        <p:txBody>
          <a:bodyPr wrap="square" lIns="0" tIns="0" rIns="0" bIns="0" rtlCol="0" anchor="ctr">
            <a:normAutofit/>
          </a:bodyPr>
          <a:lstStyle/>
          <a:p>
            <a:pPr algn="l" indent="0" marL="0">
              <a:buNone/>
            </a:pPr>
            <a:r>
              <a:rPr lang="en-US" sz="1000" b="1" dirty="0">
                <a:solidFill>
                  <a:srgbClr val="EF4444"/>
                </a:solidFill>
                <a:latin typeface="Meiryo" pitchFamily="34" charset="0"/>
                <a:ea typeface="Meiryo" pitchFamily="34" charset="-122"/>
                <a:cs typeface="Meiryo" pitchFamily="34" charset="-120"/>
              </a:rPr>
              <a:t>排気</a:t>
            </a:r>
            <a:endParaRPr lang="en-US" sz="1000" dirty="0"/>
          </a:p>
        </p:txBody>
      </p:sp>
      <p:sp>
        <p:nvSpPr>
          <p:cNvPr id="29" name="Text 27"/>
          <p:cNvSpPr/>
          <p:nvPr/>
        </p:nvSpPr>
        <p:spPr>
          <a:xfrm>
            <a:off x="1078992" y="5742432"/>
            <a:ext cx="329184" cy="109728"/>
          </a:xfrm>
          <a:prstGeom prst="rect">
            <a:avLst/>
          </a:prstGeom>
          <a:noFill/>
          <a:ln/>
        </p:spPr>
        <p:txBody>
          <a:bodyPr wrap="square" lIns="0" tIns="0" rIns="0" bIns="0" rtlCol="0" anchor="ctr">
            <a:normAutofit/>
          </a:bodyPr>
          <a:lstStyle/>
          <a:p>
            <a:pPr algn="l" indent="0" marL="0">
              <a:buNone/>
            </a:pPr>
            <a:r>
              <a:rPr lang="en-US" sz="1000" b="1" dirty="0">
                <a:solidFill>
                  <a:srgbClr val="6B7280"/>
                </a:solidFill>
                <a:latin typeface="Meiryo" pitchFamily="34" charset="0"/>
                <a:ea typeface="Meiryo" pitchFamily="34" charset="-122"/>
                <a:cs typeface="Meiryo" pitchFamily="34" charset="-120"/>
              </a:rPr>
              <a:t>接地壁</a:t>
            </a:r>
            <a:endParaRPr lang="en-US" sz="1000" dirty="0"/>
          </a:p>
        </p:txBody>
      </p:sp>
      <p:sp>
        <p:nvSpPr>
          <p:cNvPr id="30" name="Shape 28"/>
          <p:cNvSpPr/>
          <p:nvPr/>
        </p:nvSpPr>
        <p:spPr>
          <a:xfrm>
            <a:off x="1005840" y="987552"/>
            <a:ext cx="822960" cy="201168"/>
          </a:xfrm>
          <a:prstGeom prst="roundRect">
            <a:avLst>
              <a:gd name="adj" fmla="val 22727"/>
            </a:avLst>
          </a:prstGeom>
          <a:solidFill>
            <a:srgbClr val="39A8FF"/>
          </a:solidFill>
          <a:ln w="12700">
            <a:solidFill>
              <a:srgbClr val="39A8FF"/>
            </a:solidFill>
            <a:prstDash val="solid"/>
          </a:ln>
        </p:spPr>
      </p:sp>
      <p:sp>
        <p:nvSpPr>
          <p:cNvPr id="31" name="Text 29"/>
          <p:cNvSpPr/>
          <p:nvPr/>
        </p:nvSpPr>
        <p:spPr>
          <a:xfrm>
            <a:off x="1005840" y="996696"/>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装置断面の概念図</a:t>
            </a:r>
            <a:endParaRPr lang="en-US" sz="1100" dirty="0"/>
          </a:p>
        </p:txBody>
      </p:sp>
      <p:sp>
        <p:nvSpPr>
          <p:cNvPr id="32" name="Shape 30"/>
          <p:cNvSpPr/>
          <p:nvPr/>
        </p:nvSpPr>
        <p:spPr>
          <a:xfrm>
            <a:off x="6108192" y="914400"/>
            <a:ext cx="5440680" cy="5303520"/>
          </a:xfrm>
          <a:prstGeom prst="roundRect">
            <a:avLst>
              <a:gd name="adj" fmla="val 1034"/>
            </a:avLst>
          </a:prstGeom>
          <a:solidFill>
            <a:srgbClr val="FFFFFF"/>
          </a:solidFill>
          <a:ln w="12700">
            <a:solidFill>
              <a:srgbClr val="D7E3ED"/>
            </a:solidFill>
            <a:prstDash val="solid"/>
          </a:ln>
        </p:spPr>
      </p:sp>
      <p:sp>
        <p:nvSpPr>
          <p:cNvPr id="33" name="Text 31"/>
          <p:cNvSpPr/>
          <p:nvPr/>
        </p:nvSpPr>
        <p:spPr>
          <a:xfrm>
            <a:off x="6327648" y="1078992"/>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境界が効く主因</a:t>
            </a:r>
            <a:endParaRPr lang="en-US" sz="1600" dirty="0"/>
          </a:p>
        </p:txBody>
      </p:sp>
      <p:sp>
        <p:nvSpPr>
          <p:cNvPr id="34" name="Text 32"/>
          <p:cNvSpPr/>
          <p:nvPr/>
        </p:nvSpPr>
        <p:spPr>
          <a:xfrm>
            <a:off x="6355080" y="1417320"/>
            <a:ext cx="4754880" cy="17830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壁近傍には非中性 sheath が形成され、法線方向の電場・流束が急変する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誘電体は εr の不連続と表面帯電により界面の電束条件を変える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ガス導入口と排気口は、流入・流出条件と圧力分布を変え、plasma 状態にも影響する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同じ chamber pressure に見えても、流量・duct・conductance の違いで内部状態は変わり得る</a:t>
            </a:r>
            <a:endParaRPr lang="en-US" sz="1600" dirty="0"/>
          </a:p>
        </p:txBody>
      </p:sp>
      <p:sp>
        <p:nvSpPr>
          <p:cNvPr id="35" name="Text 33"/>
          <p:cNvSpPr/>
          <p:nvPr/>
        </p:nvSpPr>
        <p:spPr>
          <a:xfrm>
            <a:off x="6327648" y="3520440"/>
            <a:ext cx="914400" cy="146304"/>
          </a:xfrm>
          <a:prstGeom prst="rect">
            <a:avLst/>
          </a:prstGeom>
          <a:noFill/>
          <a:ln/>
        </p:spPr>
        <p:txBody>
          <a:bodyPr wrap="square" lIns="0" tIns="0" rIns="0" bIns="0" rtlCol="0" anchor="ctr">
            <a:normAutofit/>
          </a:bodyPr>
          <a:lstStyle/>
          <a:p>
            <a:pPr algn="l" indent="0" marL="0">
              <a:buNone/>
            </a:pPr>
            <a:r>
              <a:rPr lang="en-US" sz="1400" b="1" dirty="0">
                <a:solidFill>
                  <a:srgbClr val="0D4D7E"/>
                </a:solidFill>
                <a:latin typeface="Meiryo" pitchFamily="34" charset="0"/>
                <a:ea typeface="Meiryo" pitchFamily="34" charset="-122"/>
                <a:cs typeface="Meiryo" pitchFamily="34" charset="-120"/>
              </a:rPr>
              <a:t>境界条件の種類</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327648" y="3749040"/>
          <a:ext cx="4800600" cy="1783080"/>
        </p:xfrm>
        <a:graphic>
          <a:graphicData uri="http://schemas.openxmlformats.org/drawingml/2006/table">
            <a:tbl>
              <a:tblPr/>
              <a:tblGrid>
                <a:gridCol w="1056132"/>
                <a:gridCol w="1728216"/>
                <a:gridCol w="2016252"/>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印加電圧</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RF / DC / 位相差</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電位境界が内部場へ与える作用</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誘電体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εr / 帯電</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界面 jump と局所電場の変形</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ガス入力</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流量 / 組成 / 温度</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中性種・密度・温度分布の変化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排気</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pump / conductance</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滞留時間・圧力場・species 引抜きの変化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37" name="Shape 34"/>
          <p:cNvSpPr/>
          <p:nvPr/>
        </p:nvSpPr>
        <p:spPr>
          <a:xfrm>
            <a:off x="6355080" y="5687568"/>
            <a:ext cx="1234440" cy="219456"/>
          </a:xfrm>
          <a:prstGeom prst="roundRect">
            <a:avLst>
              <a:gd name="adj" fmla="val 20833"/>
            </a:avLst>
          </a:prstGeom>
          <a:solidFill>
            <a:srgbClr val="DC2626"/>
          </a:solidFill>
          <a:ln w="12700">
            <a:solidFill>
              <a:srgbClr val="DC2626"/>
            </a:solidFill>
            <a:prstDash val="solid"/>
          </a:ln>
        </p:spPr>
      </p:sp>
      <p:sp>
        <p:nvSpPr>
          <p:cNvPr id="38" name="Text 35"/>
          <p:cNvSpPr/>
          <p:nvPr/>
        </p:nvSpPr>
        <p:spPr>
          <a:xfrm>
            <a:off x="6355080" y="5696712"/>
            <a:ext cx="1234440" cy="21031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結論: 境界条件の空間化が必要</a:t>
            </a:r>
            <a:endParaRPr lang="en-US" sz="1100" dirty="0"/>
          </a:p>
        </p:txBody>
      </p:sp>
      <p:sp>
        <p:nvSpPr>
          <p:cNvPr id="39" name="Text 36"/>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4象限でみる本資料の全体像</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俯瞰</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5303520" cy="2240280"/>
          </a:xfrm>
          <a:prstGeom prst="roundRect">
            <a:avLst>
              <a:gd name="adj" fmla="val 2449"/>
            </a:avLst>
          </a:prstGeom>
          <a:solidFill>
            <a:srgbClr val="F8FBFE"/>
          </a:solidFill>
          <a:ln w="12700">
            <a:solidFill>
              <a:srgbClr val="C7E7FF"/>
            </a:solidFill>
            <a:prstDash val="solid"/>
          </a:ln>
        </p:spPr>
      </p:sp>
      <p:sp>
        <p:nvSpPr>
          <p:cNvPr id="7" name="Shape 5"/>
          <p:cNvSpPr/>
          <p:nvPr/>
        </p:nvSpPr>
        <p:spPr>
          <a:xfrm>
            <a:off x="850392" y="1042416"/>
            <a:ext cx="713232" cy="201168"/>
          </a:xfrm>
          <a:prstGeom prst="roundRect">
            <a:avLst>
              <a:gd name="adj" fmla="val 22727"/>
            </a:avLst>
          </a:prstGeom>
          <a:solidFill>
            <a:srgbClr val="39A8FF"/>
          </a:solidFill>
          <a:ln w="12700">
            <a:solidFill>
              <a:srgbClr val="39A8FF"/>
            </a:solidFill>
            <a:prstDash val="solid"/>
          </a:ln>
        </p:spPr>
      </p:sp>
      <p:sp>
        <p:nvSpPr>
          <p:cNvPr id="8" name="Text 6"/>
          <p:cNvSpPr/>
          <p:nvPr/>
        </p:nvSpPr>
        <p:spPr>
          <a:xfrm>
            <a:off x="850392" y="1051560"/>
            <a:ext cx="71323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背景</a:t>
            </a:r>
            <a:endParaRPr lang="en-US" sz="1100" dirty="0"/>
          </a:p>
        </p:txBody>
      </p:sp>
      <p:sp>
        <p:nvSpPr>
          <p:cNvPr id="9" name="Text 7"/>
          <p:cNvSpPr/>
          <p:nvPr/>
        </p:nvSpPr>
        <p:spPr>
          <a:xfrm>
            <a:off x="1645920" y="1060704"/>
            <a:ext cx="4206240" cy="164592"/>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従来技術（背景）</a:t>
            </a:r>
            <a:endParaRPr lang="en-US" sz="1600" dirty="0"/>
          </a:p>
        </p:txBody>
      </p:sp>
      <p:sp>
        <p:nvSpPr>
          <p:cNvPr id="10" name="Text 8"/>
          <p:cNvSpPr/>
          <p:nvPr/>
        </p:nvSpPr>
        <p:spPr>
          <a:xfrm>
            <a:off x="905256" y="1426464"/>
            <a:ext cx="3474720" cy="141732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通常 U-Net はマスク+条件スカラーで場を回帰</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位置と条件の関係は暗黙学習に依存</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形状変化と境界条件変化が同時に入ると弱い</a:t>
            </a:r>
            <a:endParaRPr lang="en-US" sz="1600" dirty="0"/>
          </a:p>
        </p:txBody>
      </p:sp>
      <p:sp>
        <p:nvSpPr>
          <p:cNvPr id="11" name="Shape 9"/>
          <p:cNvSpPr/>
          <p:nvPr/>
        </p:nvSpPr>
        <p:spPr>
          <a:xfrm>
            <a:off x="6199632" y="914400"/>
            <a:ext cx="5303520" cy="2240280"/>
          </a:xfrm>
          <a:prstGeom prst="roundRect">
            <a:avLst>
              <a:gd name="adj" fmla="val 2449"/>
            </a:avLst>
          </a:prstGeom>
          <a:solidFill>
            <a:srgbClr val="FFF8EE"/>
          </a:solidFill>
          <a:ln w="12700">
            <a:solidFill>
              <a:srgbClr val="F7D6A1"/>
            </a:solidFill>
            <a:prstDash val="solid"/>
          </a:ln>
        </p:spPr>
      </p:sp>
      <p:sp>
        <p:nvSpPr>
          <p:cNvPr id="12" name="Shape 10"/>
          <p:cNvSpPr/>
          <p:nvPr/>
        </p:nvSpPr>
        <p:spPr>
          <a:xfrm>
            <a:off x="6364224" y="1042416"/>
            <a:ext cx="713232" cy="201168"/>
          </a:xfrm>
          <a:prstGeom prst="roundRect">
            <a:avLst>
              <a:gd name="adj" fmla="val 22727"/>
            </a:avLst>
          </a:prstGeom>
          <a:solidFill>
            <a:srgbClr val="F59E0B"/>
          </a:solidFill>
          <a:ln w="12700">
            <a:solidFill>
              <a:srgbClr val="F59E0B"/>
            </a:solidFill>
            <a:prstDash val="solid"/>
          </a:ln>
        </p:spPr>
      </p:sp>
      <p:sp>
        <p:nvSpPr>
          <p:cNvPr id="13" name="Text 11"/>
          <p:cNvSpPr/>
          <p:nvPr/>
        </p:nvSpPr>
        <p:spPr>
          <a:xfrm>
            <a:off x="6364224" y="1051560"/>
            <a:ext cx="71323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課題</a:t>
            </a:r>
            <a:endParaRPr lang="en-US" sz="1100" dirty="0"/>
          </a:p>
        </p:txBody>
      </p:sp>
      <p:sp>
        <p:nvSpPr>
          <p:cNvPr id="14" name="Text 12"/>
          <p:cNvSpPr/>
          <p:nvPr/>
        </p:nvSpPr>
        <p:spPr>
          <a:xfrm>
            <a:off x="7159752" y="1060704"/>
            <a:ext cx="4206240" cy="164592"/>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従来の課題</a:t>
            </a:r>
            <a:endParaRPr lang="en-US" sz="1600" dirty="0"/>
          </a:p>
        </p:txBody>
      </p:sp>
      <p:sp>
        <p:nvSpPr>
          <p:cNvPr id="15" name="Text 13"/>
          <p:cNvSpPr/>
          <p:nvPr/>
        </p:nvSpPr>
        <p:spPr>
          <a:xfrm>
            <a:off x="6419088" y="1426464"/>
            <a:ext cx="3474720" cy="141732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壁近傍 sheath、誘電体界面、port 近傍で誤差集中</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電圧・εr・流量・排気差が空間に展開されない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全域 RMSE では境界失敗が埋もれやすい</a:t>
            </a:r>
            <a:endParaRPr lang="en-US" sz="1600" dirty="0"/>
          </a:p>
        </p:txBody>
      </p:sp>
      <p:sp>
        <p:nvSpPr>
          <p:cNvPr id="16" name="Shape 14"/>
          <p:cNvSpPr/>
          <p:nvPr/>
        </p:nvSpPr>
        <p:spPr>
          <a:xfrm>
            <a:off x="685800" y="3429000"/>
            <a:ext cx="5303520" cy="2240280"/>
          </a:xfrm>
          <a:prstGeom prst="roundRect">
            <a:avLst>
              <a:gd name="adj" fmla="val 2449"/>
            </a:avLst>
          </a:prstGeom>
          <a:solidFill>
            <a:srgbClr val="ECFDF5"/>
          </a:solidFill>
          <a:ln w="12700">
            <a:solidFill>
              <a:srgbClr val="CBEFDB"/>
            </a:solidFill>
            <a:prstDash val="solid"/>
          </a:ln>
        </p:spPr>
      </p:sp>
      <p:sp>
        <p:nvSpPr>
          <p:cNvPr id="17" name="Shape 15"/>
          <p:cNvSpPr/>
          <p:nvPr/>
        </p:nvSpPr>
        <p:spPr>
          <a:xfrm>
            <a:off x="850392" y="3557016"/>
            <a:ext cx="713232" cy="201168"/>
          </a:xfrm>
          <a:prstGeom prst="roundRect">
            <a:avLst>
              <a:gd name="adj" fmla="val 22727"/>
            </a:avLst>
          </a:prstGeom>
          <a:solidFill>
            <a:srgbClr val="10B981"/>
          </a:solidFill>
          <a:ln w="12700">
            <a:solidFill>
              <a:srgbClr val="10B981"/>
            </a:solidFill>
            <a:prstDash val="solid"/>
          </a:ln>
        </p:spPr>
      </p:sp>
      <p:sp>
        <p:nvSpPr>
          <p:cNvPr id="18" name="Text 16"/>
          <p:cNvSpPr/>
          <p:nvPr/>
        </p:nvSpPr>
        <p:spPr>
          <a:xfrm>
            <a:off x="850392" y="3566160"/>
            <a:ext cx="71323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a:t>
            </a:r>
            <a:endParaRPr lang="en-US" sz="1100" dirty="0"/>
          </a:p>
        </p:txBody>
      </p:sp>
      <p:sp>
        <p:nvSpPr>
          <p:cNvPr id="19" name="Text 17"/>
          <p:cNvSpPr/>
          <p:nvPr/>
        </p:nvSpPr>
        <p:spPr>
          <a:xfrm>
            <a:off x="1645920" y="3575304"/>
            <a:ext cx="4206240" cy="164592"/>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提案手法</a:t>
            </a:r>
            <a:endParaRPr lang="en-US" sz="1600" dirty="0"/>
          </a:p>
        </p:txBody>
      </p:sp>
      <p:sp>
        <p:nvSpPr>
          <p:cNvPr id="20" name="Text 18"/>
          <p:cNvSpPr/>
          <p:nvPr/>
        </p:nvSpPr>
        <p:spPr>
          <a:xfrm>
            <a:off x="905256" y="3941064"/>
            <a:ext cx="3474720" cy="141732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役割別 multi-SDF で境界位置を固定仕様化</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電圧・誘電率・in/out を境界物理マップへ変換</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単一の SDF 条件付き U-Net で直接推定</a:t>
            </a:r>
            <a:endParaRPr lang="en-US" sz="1600" dirty="0"/>
          </a:p>
        </p:txBody>
      </p:sp>
      <p:sp>
        <p:nvSpPr>
          <p:cNvPr id="21" name="Shape 19"/>
          <p:cNvSpPr/>
          <p:nvPr/>
        </p:nvSpPr>
        <p:spPr>
          <a:xfrm>
            <a:off x="6199632" y="3429000"/>
            <a:ext cx="5303520" cy="2240280"/>
          </a:xfrm>
          <a:prstGeom prst="roundRect">
            <a:avLst>
              <a:gd name="adj" fmla="val 2449"/>
            </a:avLst>
          </a:prstGeom>
          <a:solidFill>
            <a:srgbClr val="EEF4FF"/>
          </a:solidFill>
          <a:ln w="12700">
            <a:solidFill>
              <a:srgbClr val="BDD8FF"/>
            </a:solidFill>
            <a:prstDash val="solid"/>
          </a:ln>
        </p:spPr>
      </p:sp>
      <p:sp>
        <p:nvSpPr>
          <p:cNvPr id="22" name="Shape 20"/>
          <p:cNvSpPr/>
          <p:nvPr/>
        </p:nvSpPr>
        <p:spPr>
          <a:xfrm>
            <a:off x="6364224" y="3557016"/>
            <a:ext cx="713232" cy="201168"/>
          </a:xfrm>
          <a:prstGeom prst="roundRect">
            <a:avLst>
              <a:gd name="adj" fmla="val 22727"/>
            </a:avLst>
          </a:prstGeom>
          <a:solidFill>
            <a:srgbClr val="7C3AED"/>
          </a:solidFill>
          <a:ln w="12700">
            <a:solidFill>
              <a:srgbClr val="7C3AED"/>
            </a:solidFill>
            <a:prstDash val="solid"/>
          </a:ln>
        </p:spPr>
      </p:sp>
      <p:sp>
        <p:nvSpPr>
          <p:cNvPr id="23" name="Text 21"/>
          <p:cNvSpPr/>
          <p:nvPr/>
        </p:nvSpPr>
        <p:spPr>
          <a:xfrm>
            <a:off x="6364224" y="3566160"/>
            <a:ext cx="71323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効果</a:t>
            </a:r>
            <a:endParaRPr lang="en-US" sz="1100" dirty="0"/>
          </a:p>
        </p:txBody>
      </p:sp>
      <p:sp>
        <p:nvSpPr>
          <p:cNvPr id="24" name="Text 22"/>
          <p:cNvSpPr/>
          <p:nvPr/>
        </p:nvSpPr>
        <p:spPr>
          <a:xfrm>
            <a:off x="7159752" y="3575304"/>
            <a:ext cx="4206240" cy="164592"/>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期待効果</a:t>
            </a:r>
            <a:endParaRPr lang="en-US" sz="1600" dirty="0"/>
          </a:p>
        </p:txBody>
      </p:sp>
      <p:sp>
        <p:nvSpPr>
          <p:cNvPr id="25" name="Text 23"/>
          <p:cNvSpPr/>
          <p:nvPr/>
        </p:nvSpPr>
        <p:spPr>
          <a:xfrm>
            <a:off x="6419088" y="3941064"/>
            <a:ext cx="3474720" cy="141732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境界近傍精度・条件外挿性・装置差適応を改善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設計探索の候補絞り込みを高速化</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方法・装置・システムへ請求項化しやすい</a:t>
            </a:r>
            <a:endParaRPr lang="en-US" sz="1600" dirty="0"/>
          </a:p>
        </p:txBody>
      </p:sp>
      <p:sp>
        <p:nvSpPr>
          <p:cNvPr id="26" name="Shape 24"/>
          <p:cNvSpPr/>
          <p:nvPr/>
        </p:nvSpPr>
        <p:spPr>
          <a:xfrm>
            <a:off x="5669280" y="2889504"/>
            <a:ext cx="841248" cy="841248"/>
          </a:xfrm>
          <a:prstGeom prst="ellipse">
            <a:avLst/>
          </a:prstGeom>
          <a:solidFill>
            <a:srgbClr val="FFFFFF"/>
          </a:solidFill>
          <a:ln w="25400">
            <a:solidFill>
              <a:srgbClr val="39A8FF"/>
            </a:solidFill>
            <a:prstDash val="solid"/>
          </a:ln>
        </p:spPr>
      </p:sp>
      <p:sp>
        <p:nvSpPr>
          <p:cNvPr id="27" name="Text 25"/>
          <p:cNvSpPr/>
          <p:nvPr/>
        </p:nvSpPr>
        <p:spPr>
          <a:xfrm>
            <a:off x="5687568" y="3163824"/>
            <a:ext cx="804672" cy="128016"/>
          </a:xfrm>
          <a:prstGeom prst="rect">
            <a:avLst/>
          </a:prstGeom>
          <a:noFill/>
          <a:ln/>
        </p:spPr>
        <p:txBody>
          <a:bodyPr wrap="square" lIns="0" tIns="0" rIns="0" bIns="0" rtlCol="0" anchor="ctr">
            <a:normAutofit/>
          </a:bodyPr>
          <a:lstStyle/>
          <a:p>
            <a:pPr algn="ctr" indent="0" marL="0">
              <a:buNone/>
            </a:pPr>
            <a:r>
              <a:rPr lang="en-US" sz="1200" b="1" dirty="0">
                <a:solidFill>
                  <a:srgbClr val="39A8FF"/>
                </a:solidFill>
                <a:latin typeface="Meiryo" pitchFamily="34" charset="0"/>
                <a:ea typeface="Meiryo" pitchFamily="34" charset="-122"/>
                <a:cs typeface="Meiryo" pitchFamily="34" charset="-120"/>
              </a:rPr>
              <a:t>発明の芯</a:t>
            </a:r>
            <a:endParaRPr lang="en-US" sz="1200" dirty="0"/>
          </a:p>
        </p:txBody>
      </p:sp>
      <p:sp>
        <p:nvSpPr>
          <p:cNvPr id="28" name="Shape 26"/>
          <p:cNvSpPr/>
          <p:nvPr/>
        </p:nvSpPr>
        <p:spPr>
          <a:xfrm>
            <a:off x="5349240" y="2761488"/>
            <a:ext cx="320040" cy="256032"/>
          </a:xfrm>
          <a:prstGeom prst="line">
            <a:avLst/>
          </a:prstGeom>
          <a:noFill/>
          <a:ln w="20320">
            <a:solidFill>
              <a:srgbClr val="39A8FF"/>
            </a:solidFill>
            <a:prstDash val="solid"/>
            <a:tailEnd type="triangle"/>
          </a:ln>
        </p:spPr>
      </p:sp>
      <p:sp>
        <p:nvSpPr>
          <p:cNvPr id="29" name="Shape 27"/>
          <p:cNvSpPr/>
          <p:nvPr/>
        </p:nvSpPr>
        <p:spPr>
          <a:xfrm>
            <a:off x="6510528" y="2761488"/>
            <a:ext cx="-128016" cy="256032"/>
          </a:xfrm>
          <a:prstGeom prst="line">
            <a:avLst/>
          </a:prstGeom>
          <a:noFill/>
          <a:ln w="20320">
            <a:solidFill>
              <a:srgbClr val="F59E0B"/>
            </a:solidFill>
            <a:prstDash val="solid"/>
            <a:tailEnd type="triangle"/>
          </a:ln>
        </p:spPr>
      </p:sp>
      <p:sp>
        <p:nvSpPr>
          <p:cNvPr id="30" name="Shape 28"/>
          <p:cNvSpPr/>
          <p:nvPr/>
        </p:nvSpPr>
        <p:spPr>
          <a:xfrm>
            <a:off x="5349240" y="3767328"/>
            <a:ext cx="320040" cy="-201168"/>
          </a:xfrm>
          <a:prstGeom prst="line">
            <a:avLst/>
          </a:prstGeom>
          <a:noFill/>
          <a:ln w="20320">
            <a:solidFill>
              <a:srgbClr val="10B981"/>
            </a:solidFill>
            <a:prstDash val="solid"/>
            <a:tailEnd type="triangle"/>
          </a:ln>
        </p:spPr>
      </p:sp>
      <p:sp>
        <p:nvSpPr>
          <p:cNvPr id="31" name="Shape 29"/>
          <p:cNvSpPr/>
          <p:nvPr/>
        </p:nvSpPr>
        <p:spPr>
          <a:xfrm>
            <a:off x="6510528" y="3767328"/>
            <a:ext cx="-128016" cy="-201168"/>
          </a:xfrm>
          <a:prstGeom prst="line">
            <a:avLst/>
          </a:prstGeom>
          <a:noFill/>
          <a:ln w="20320">
            <a:solidFill>
              <a:srgbClr val="7C3AED"/>
            </a:solidFill>
            <a:prstDash val="solid"/>
            <a:tailEnd type="triangle"/>
          </a:ln>
        </p:spPr>
      </p:sp>
      <p:sp>
        <p:nvSpPr>
          <p:cNvPr id="32" name="Text 30"/>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従来技術1: 通常 U-Net ベースのプラズマサロゲート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従来</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58368" y="914400"/>
            <a:ext cx="10972800" cy="5440680"/>
          </a:xfrm>
          <a:prstGeom prst="roundRect">
            <a:avLst>
              <a:gd name="adj" fmla="val 1008"/>
            </a:avLst>
          </a:prstGeom>
          <a:solidFill>
            <a:srgbClr val="FFFFFF"/>
          </a:solidFill>
          <a:ln w="12700">
            <a:solidFill>
              <a:srgbClr val="D7E3ED"/>
            </a:solidFill>
            <a:prstDash val="solid"/>
          </a:ln>
        </p:spPr>
      </p:sp>
      <p:sp>
        <p:nvSpPr>
          <p:cNvPr id="7" name="Shape 5"/>
          <p:cNvSpPr/>
          <p:nvPr/>
        </p:nvSpPr>
        <p:spPr>
          <a:xfrm>
            <a:off x="841248" y="1042416"/>
            <a:ext cx="1051560" cy="201168"/>
          </a:xfrm>
          <a:prstGeom prst="roundRect">
            <a:avLst>
              <a:gd name="adj" fmla="val 22727"/>
            </a:avLst>
          </a:prstGeom>
          <a:solidFill>
            <a:srgbClr val="39A8FF"/>
          </a:solidFill>
          <a:ln w="12700">
            <a:solidFill>
              <a:srgbClr val="39A8FF"/>
            </a:solidFill>
            <a:prstDash val="solid"/>
          </a:ln>
        </p:spPr>
      </p:sp>
      <p:sp>
        <p:nvSpPr>
          <p:cNvPr id="8" name="Text 6"/>
          <p:cNvSpPr/>
          <p:nvPr/>
        </p:nvSpPr>
        <p:spPr>
          <a:xfrm>
            <a:off x="841248" y="1051560"/>
            <a:ext cx="10515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比較対象の想定</a:t>
            </a:r>
            <a:endParaRPr lang="en-US" sz="1100" dirty="0"/>
          </a:p>
        </p:txBody>
      </p:sp>
      <p:sp>
        <p:nvSpPr>
          <p:cNvPr id="9" name="Text 7"/>
          <p:cNvSpPr/>
          <p:nvPr/>
        </p:nvSpPr>
        <p:spPr>
          <a:xfrm>
            <a:off x="2011680" y="1060704"/>
            <a:ext cx="6217920" cy="164592"/>
          </a:xfrm>
          <a:prstGeom prst="rect">
            <a:avLst/>
          </a:prstGeom>
          <a:noFill/>
          <a:ln/>
        </p:spPr>
        <p:txBody>
          <a:bodyPr wrap="square" lIns="0" tIns="0" rIns="0" bIns="0" rtlCol="0" anchor="ctr">
            <a:normAutofit/>
          </a:bodyPr>
          <a:lstStyle/>
          <a:p>
            <a:pPr algn="l" indent="0" marL="0">
              <a:buNone/>
            </a:pPr>
            <a:r>
              <a:rPr lang="en-US" sz="1600" b="1" dirty="0">
                <a:solidFill>
                  <a:srgbClr val="111111"/>
                </a:solidFill>
                <a:latin typeface="Meiryo" pitchFamily="34" charset="0"/>
                <a:ea typeface="Meiryo" pitchFamily="34" charset="-122"/>
                <a:cs typeface="Meiryo" pitchFamily="34" charset="-120"/>
              </a:rPr>
              <a:t>幾何マスク + 材料マスク + 少数の条件スカラー → U-Net → φ, ne, ni, Te</a:t>
            </a:r>
            <a:endParaRPr lang="en-US" sz="1600" dirty="0"/>
          </a:p>
        </p:txBody>
      </p:sp>
      <p:sp>
        <p:nvSpPr>
          <p:cNvPr id="10" name="Shape 8"/>
          <p:cNvSpPr/>
          <p:nvPr/>
        </p:nvSpPr>
        <p:spPr>
          <a:xfrm>
            <a:off x="914400" y="1645920"/>
            <a:ext cx="2194560" cy="3566160"/>
          </a:xfrm>
          <a:prstGeom prst="roundRect">
            <a:avLst>
              <a:gd name="adj" fmla="val 2500"/>
            </a:avLst>
          </a:prstGeom>
          <a:solidFill>
            <a:srgbClr val="F8FBFE"/>
          </a:solidFill>
          <a:ln w="12700">
            <a:solidFill>
              <a:srgbClr val="C7E7FF"/>
            </a:solidFill>
            <a:prstDash val="solid"/>
          </a:ln>
        </p:spPr>
      </p:sp>
      <p:sp>
        <p:nvSpPr>
          <p:cNvPr id="11" name="Text 9"/>
          <p:cNvSpPr/>
          <p:nvPr/>
        </p:nvSpPr>
        <p:spPr>
          <a:xfrm>
            <a:off x="1060704" y="1810512"/>
            <a:ext cx="365760" cy="128016"/>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入力</a:t>
            </a:r>
            <a:endParaRPr lang="en-US" sz="1600" dirty="0"/>
          </a:p>
        </p:txBody>
      </p:sp>
      <p:sp>
        <p:nvSpPr>
          <p:cNvPr id="12" name="Shape 10"/>
          <p:cNvSpPr/>
          <p:nvPr/>
        </p:nvSpPr>
        <p:spPr>
          <a:xfrm>
            <a:off x="1033272" y="2587752"/>
            <a:ext cx="365760" cy="0"/>
          </a:xfrm>
          <a:prstGeom prst="line">
            <a:avLst/>
          </a:prstGeom>
          <a:noFill/>
          <a:ln w="38100">
            <a:solidFill>
              <a:srgbClr val="3B82F6"/>
            </a:solidFill>
            <a:prstDash val="solid"/>
            <a:tailEnd type="triangle"/>
          </a:ln>
        </p:spPr>
      </p:sp>
      <p:sp>
        <p:nvSpPr>
          <p:cNvPr id="13" name="Shape 11"/>
          <p:cNvSpPr/>
          <p:nvPr/>
        </p:nvSpPr>
        <p:spPr>
          <a:xfrm>
            <a:off x="2587752" y="3319272"/>
            <a:ext cx="365760" cy="0"/>
          </a:xfrm>
          <a:prstGeom prst="line">
            <a:avLst/>
          </a:prstGeom>
          <a:noFill/>
          <a:ln w="38100">
            <a:solidFill>
              <a:srgbClr val="EF4444"/>
            </a:solidFill>
            <a:prstDash val="solid"/>
            <a:tailEnd type="triangle"/>
          </a:ln>
        </p:spPr>
      </p:sp>
      <p:sp>
        <p:nvSpPr>
          <p:cNvPr id="14" name="Shape 12"/>
          <p:cNvSpPr/>
          <p:nvPr/>
        </p:nvSpPr>
        <p:spPr>
          <a:xfrm>
            <a:off x="1261872" y="2267712"/>
            <a:ext cx="1463040" cy="1371600"/>
          </a:xfrm>
          <a:prstGeom prst="roundRect">
            <a:avLst>
              <a:gd name="adj" fmla="val 3333"/>
            </a:avLst>
          </a:prstGeom>
          <a:solidFill>
            <a:srgbClr val="FFFFFF"/>
          </a:solidFill>
          <a:ln w="25400">
            <a:solidFill>
              <a:srgbClr val="6B7280"/>
            </a:solidFill>
            <a:prstDash val="solid"/>
          </a:ln>
        </p:spPr>
      </p:sp>
      <p:sp>
        <p:nvSpPr>
          <p:cNvPr id="15" name="Shape 13"/>
          <p:cNvSpPr/>
          <p:nvPr/>
        </p:nvSpPr>
        <p:spPr>
          <a:xfrm>
            <a:off x="1280160" y="3529584"/>
            <a:ext cx="1426464" cy="91440"/>
          </a:xfrm>
          <a:prstGeom prst="rect">
            <a:avLst/>
          </a:prstGeom>
          <a:solidFill>
            <a:srgbClr val="6B7280">
              <a:alpha val="75000"/>
            </a:srgbClr>
          </a:solidFill>
          <a:ln w="12700">
            <a:solidFill>
              <a:srgbClr val="6B7280">
                <a:alpha val="0"/>
              </a:srgbClr>
            </a:solidFill>
            <a:prstDash val="solid"/>
          </a:ln>
        </p:spPr>
      </p:sp>
      <p:sp>
        <p:nvSpPr>
          <p:cNvPr id="16" name="Shape 14"/>
          <p:cNvSpPr/>
          <p:nvPr/>
        </p:nvSpPr>
        <p:spPr>
          <a:xfrm>
            <a:off x="1280160" y="2286000"/>
            <a:ext cx="109728" cy="1335024"/>
          </a:xfrm>
          <a:prstGeom prst="rect">
            <a:avLst/>
          </a:prstGeom>
          <a:solidFill>
            <a:srgbClr val="6B7280">
              <a:alpha val="75000"/>
            </a:srgbClr>
          </a:solidFill>
          <a:ln w="12700">
            <a:solidFill>
              <a:srgbClr val="6B7280">
                <a:alpha val="0"/>
              </a:srgbClr>
            </a:solidFill>
            <a:prstDash val="solid"/>
          </a:ln>
        </p:spPr>
      </p:sp>
      <p:sp>
        <p:nvSpPr>
          <p:cNvPr id="17" name="Shape 15"/>
          <p:cNvSpPr/>
          <p:nvPr/>
        </p:nvSpPr>
        <p:spPr>
          <a:xfrm>
            <a:off x="2596896" y="2286000"/>
            <a:ext cx="109728" cy="1335024"/>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1490472" y="2194560"/>
            <a:ext cx="1005840" cy="109728"/>
          </a:xfrm>
          <a:prstGeom prst="rect">
            <a:avLst/>
          </a:prstGeom>
          <a:solidFill>
            <a:srgbClr val="10B981"/>
          </a:solidFill>
          <a:ln w="12700">
            <a:solidFill>
              <a:srgbClr val="10B981"/>
            </a:solidFill>
            <a:prstDash val="solid"/>
          </a:ln>
        </p:spPr>
      </p:sp>
      <p:sp>
        <p:nvSpPr>
          <p:cNvPr id="19" name="Text 17"/>
          <p:cNvSpPr/>
          <p:nvPr/>
        </p:nvSpPr>
        <p:spPr>
          <a:xfrm>
            <a:off x="1764792" y="205740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0" name="Shape 18"/>
          <p:cNvSpPr/>
          <p:nvPr/>
        </p:nvSpPr>
        <p:spPr>
          <a:xfrm>
            <a:off x="1673352" y="2432304"/>
            <a:ext cx="640080" cy="91440"/>
          </a:xfrm>
          <a:prstGeom prst="rect">
            <a:avLst/>
          </a:prstGeom>
          <a:solidFill>
            <a:srgbClr val="F59E0B"/>
          </a:solidFill>
          <a:ln w="12700">
            <a:solidFill>
              <a:srgbClr val="F59E0B"/>
            </a:solidFill>
            <a:prstDash val="solid"/>
          </a:ln>
        </p:spPr>
      </p:sp>
      <p:sp>
        <p:nvSpPr>
          <p:cNvPr id="21" name="Text 19"/>
          <p:cNvSpPr/>
          <p:nvPr/>
        </p:nvSpPr>
        <p:spPr>
          <a:xfrm>
            <a:off x="1673352" y="229514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2" name="Shape 20"/>
          <p:cNvSpPr/>
          <p:nvPr/>
        </p:nvSpPr>
        <p:spPr>
          <a:xfrm>
            <a:off x="1764792" y="3227832"/>
            <a:ext cx="457200" cy="100584"/>
          </a:xfrm>
          <a:prstGeom prst="rect">
            <a:avLst/>
          </a:prstGeom>
          <a:solidFill>
            <a:srgbClr val="B0B8C0"/>
          </a:solidFill>
          <a:ln w="12700">
            <a:solidFill>
              <a:srgbClr val="B0B8C0"/>
            </a:solidFill>
            <a:prstDash val="solid"/>
          </a:ln>
        </p:spPr>
      </p:sp>
      <p:sp>
        <p:nvSpPr>
          <p:cNvPr id="23" name="Text 21"/>
          <p:cNvSpPr/>
          <p:nvPr/>
        </p:nvSpPr>
        <p:spPr>
          <a:xfrm>
            <a:off x="1828800" y="3383280"/>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4" name="Text 22"/>
          <p:cNvSpPr/>
          <p:nvPr/>
        </p:nvSpPr>
        <p:spPr>
          <a:xfrm>
            <a:off x="1042416" y="3977640"/>
            <a:ext cx="1828800" cy="100584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binary mask</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材料 one-hot</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V, p, flow などの scalar</a:t>
            </a:r>
            <a:endParaRPr lang="en-US" sz="1500" dirty="0"/>
          </a:p>
        </p:txBody>
      </p:sp>
      <p:sp>
        <p:nvSpPr>
          <p:cNvPr id="25" name="Shape 23"/>
          <p:cNvSpPr/>
          <p:nvPr/>
        </p:nvSpPr>
        <p:spPr>
          <a:xfrm>
            <a:off x="3154680" y="3401568"/>
            <a:ext cx="594360" cy="0"/>
          </a:xfrm>
          <a:prstGeom prst="line">
            <a:avLst/>
          </a:prstGeom>
          <a:noFill/>
          <a:ln w="31750">
            <a:solidFill>
              <a:srgbClr val="39A8FF"/>
            </a:solidFill>
            <a:prstDash val="solid"/>
            <a:tailEnd type="triangle"/>
          </a:ln>
        </p:spPr>
      </p:sp>
      <p:sp>
        <p:nvSpPr>
          <p:cNvPr id="26" name="Shape 24"/>
          <p:cNvSpPr/>
          <p:nvPr/>
        </p:nvSpPr>
        <p:spPr>
          <a:xfrm>
            <a:off x="4572000" y="2121408"/>
            <a:ext cx="1645920" cy="2834640"/>
          </a:xfrm>
          <a:prstGeom prst="line">
            <a:avLst/>
          </a:prstGeom>
          <a:noFill/>
          <a:ln w="13970">
            <a:solidFill>
              <a:srgbClr val="D4EEFF"/>
            </a:solidFill>
            <a:prstDash val="solid"/>
          </a:ln>
        </p:spPr>
      </p:sp>
      <p:sp>
        <p:nvSpPr>
          <p:cNvPr id="27" name="Shape 25"/>
          <p:cNvSpPr/>
          <p:nvPr/>
        </p:nvSpPr>
        <p:spPr>
          <a:xfrm>
            <a:off x="4572000" y="2578608"/>
            <a:ext cx="1645920" cy="1920240"/>
          </a:xfrm>
          <a:prstGeom prst="line">
            <a:avLst/>
          </a:prstGeom>
          <a:noFill/>
          <a:ln w="13970">
            <a:solidFill>
              <a:srgbClr val="D4EEFF"/>
            </a:solidFill>
            <a:prstDash val="solid"/>
          </a:ln>
        </p:spPr>
      </p:sp>
      <p:sp>
        <p:nvSpPr>
          <p:cNvPr id="28" name="Shape 26"/>
          <p:cNvSpPr/>
          <p:nvPr/>
        </p:nvSpPr>
        <p:spPr>
          <a:xfrm>
            <a:off x="4572000" y="3035808"/>
            <a:ext cx="1645920" cy="1005840"/>
          </a:xfrm>
          <a:prstGeom prst="line">
            <a:avLst/>
          </a:prstGeom>
          <a:noFill/>
          <a:ln w="13970">
            <a:solidFill>
              <a:srgbClr val="D4EEFF"/>
            </a:solidFill>
            <a:prstDash val="solid"/>
          </a:ln>
        </p:spPr>
      </p:sp>
      <p:sp>
        <p:nvSpPr>
          <p:cNvPr id="29" name="Shape 27"/>
          <p:cNvSpPr/>
          <p:nvPr/>
        </p:nvSpPr>
        <p:spPr>
          <a:xfrm>
            <a:off x="4572000" y="3493008"/>
            <a:ext cx="1645920" cy="91440"/>
          </a:xfrm>
          <a:prstGeom prst="line">
            <a:avLst/>
          </a:prstGeom>
          <a:noFill/>
          <a:ln w="13970">
            <a:solidFill>
              <a:srgbClr val="D4EEFF"/>
            </a:solidFill>
            <a:prstDash val="solid"/>
          </a:ln>
        </p:spPr>
      </p:sp>
      <p:sp>
        <p:nvSpPr>
          <p:cNvPr id="30" name="Shape 28"/>
          <p:cNvSpPr/>
          <p:nvPr/>
        </p:nvSpPr>
        <p:spPr>
          <a:xfrm>
            <a:off x="4069080" y="2103120"/>
            <a:ext cx="502920" cy="502920"/>
          </a:xfrm>
          <a:prstGeom prst="roundRect">
            <a:avLst>
              <a:gd name="adj" fmla="val 10909"/>
            </a:avLst>
          </a:prstGeom>
          <a:solidFill>
            <a:srgbClr val="EAF4FF"/>
          </a:solidFill>
          <a:ln w="12700">
            <a:solidFill>
              <a:srgbClr val="C7E7FF"/>
            </a:solidFill>
            <a:prstDash val="solid"/>
          </a:ln>
        </p:spPr>
      </p:sp>
      <p:sp>
        <p:nvSpPr>
          <p:cNvPr id="31" name="Text 29"/>
          <p:cNvSpPr/>
          <p:nvPr/>
        </p:nvSpPr>
        <p:spPr>
          <a:xfrm>
            <a:off x="4069080" y="2029968"/>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Enc1</a:t>
            </a:r>
            <a:endParaRPr lang="en-US" sz="1000" dirty="0"/>
          </a:p>
        </p:txBody>
      </p:sp>
      <p:sp>
        <p:nvSpPr>
          <p:cNvPr id="32" name="Shape 30"/>
          <p:cNvSpPr/>
          <p:nvPr/>
        </p:nvSpPr>
        <p:spPr>
          <a:xfrm>
            <a:off x="4773168" y="2432304"/>
            <a:ext cx="502920" cy="685800"/>
          </a:xfrm>
          <a:prstGeom prst="roundRect">
            <a:avLst>
              <a:gd name="adj" fmla="val 10909"/>
            </a:avLst>
          </a:prstGeom>
          <a:solidFill>
            <a:srgbClr val="EAF4FF"/>
          </a:solidFill>
          <a:ln w="12700">
            <a:solidFill>
              <a:srgbClr val="C7E7FF"/>
            </a:solidFill>
            <a:prstDash val="solid"/>
          </a:ln>
        </p:spPr>
      </p:sp>
      <p:sp>
        <p:nvSpPr>
          <p:cNvPr id="33" name="Text 31"/>
          <p:cNvSpPr/>
          <p:nvPr/>
        </p:nvSpPr>
        <p:spPr>
          <a:xfrm>
            <a:off x="4773168" y="2359152"/>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Enc2</a:t>
            </a:r>
            <a:endParaRPr lang="en-US" sz="1000" dirty="0"/>
          </a:p>
        </p:txBody>
      </p:sp>
      <p:sp>
        <p:nvSpPr>
          <p:cNvPr id="34" name="Shape 32"/>
          <p:cNvSpPr/>
          <p:nvPr/>
        </p:nvSpPr>
        <p:spPr>
          <a:xfrm>
            <a:off x="5477256" y="2761488"/>
            <a:ext cx="502920" cy="868680"/>
          </a:xfrm>
          <a:prstGeom prst="roundRect">
            <a:avLst>
              <a:gd name="adj" fmla="val 10909"/>
            </a:avLst>
          </a:prstGeom>
          <a:solidFill>
            <a:srgbClr val="EAF4FF"/>
          </a:solidFill>
          <a:ln w="12700">
            <a:solidFill>
              <a:srgbClr val="C7E7FF"/>
            </a:solidFill>
            <a:prstDash val="solid"/>
          </a:ln>
        </p:spPr>
      </p:sp>
      <p:sp>
        <p:nvSpPr>
          <p:cNvPr id="35" name="Text 33"/>
          <p:cNvSpPr/>
          <p:nvPr/>
        </p:nvSpPr>
        <p:spPr>
          <a:xfrm>
            <a:off x="5477256" y="2688336"/>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Enc3</a:t>
            </a:r>
            <a:endParaRPr lang="en-US" sz="1000" dirty="0"/>
          </a:p>
        </p:txBody>
      </p:sp>
      <p:sp>
        <p:nvSpPr>
          <p:cNvPr id="36" name="Shape 34"/>
          <p:cNvSpPr/>
          <p:nvPr/>
        </p:nvSpPr>
        <p:spPr>
          <a:xfrm>
            <a:off x="6181344" y="3090672"/>
            <a:ext cx="502920" cy="1051560"/>
          </a:xfrm>
          <a:prstGeom prst="roundRect">
            <a:avLst>
              <a:gd name="adj" fmla="val 10909"/>
            </a:avLst>
          </a:prstGeom>
          <a:solidFill>
            <a:srgbClr val="EAF4FF"/>
          </a:solidFill>
          <a:ln w="12700">
            <a:solidFill>
              <a:srgbClr val="C7E7FF"/>
            </a:solidFill>
            <a:prstDash val="solid"/>
          </a:ln>
        </p:spPr>
      </p:sp>
      <p:sp>
        <p:nvSpPr>
          <p:cNvPr id="37" name="Text 35"/>
          <p:cNvSpPr/>
          <p:nvPr/>
        </p:nvSpPr>
        <p:spPr>
          <a:xfrm>
            <a:off x="6181344" y="3017520"/>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Enc4</a:t>
            </a:r>
            <a:endParaRPr lang="en-US" sz="1000" dirty="0"/>
          </a:p>
        </p:txBody>
      </p:sp>
      <p:sp>
        <p:nvSpPr>
          <p:cNvPr id="38" name="Shape 36"/>
          <p:cNvSpPr/>
          <p:nvPr/>
        </p:nvSpPr>
        <p:spPr>
          <a:xfrm>
            <a:off x="5623560" y="2926080"/>
            <a:ext cx="822960" cy="1005840"/>
          </a:xfrm>
          <a:prstGeom prst="roundRect">
            <a:avLst>
              <a:gd name="adj" fmla="val 6667"/>
            </a:avLst>
          </a:prstGeom>
          <a:solidFill>
            <a:srgbClr val="DDF1FF"/>
          </a:solidFill>
          <a:ln w="12700">
            <a:solidFill>
              <a:srgbClr val="A6D7FF"/>
            </a:solidFill>
            <a:prstDash val="solid"/>
          </a:ln>
        </p:spPr>
      </p:sp>
      <p:sp>
        <p:nvSpPr>
          <p:cNvPr id="39" name="Text 37"/>
          <p:cNvSpPr/>
          <p:nvPr/>
        </p:nvSpPr>
        <p:spPr>
          <a:xfrm>
            <a:off x="5623560" y="3355848"/>
            <a:ext cx="822960" cy="182880"/>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Bottleneck</a:t>
            </a:r>
            <a:endParaRPr lang="en-US" sz="1000" dirty="0"/>
          </a:p>
        </p:txBody>
      </p:sp>
      <p:sp>
        <p:nvSpPr>
          <p:cNvPr id="40" name="Shape 38"/>
          <p:cNvSpPr/>
          <p:nvPr/>
        </p:nvSpPr>
        <p:spPr>
          <a:xfrm>
            <a:off x="7498080" y="3090672"/>
            <a:ext cx="502920" cy="1051560"/>
          </a:xfrm>
          <a:prstGeom prst="roundRect">
            <a:avLst>
              <a:gd name="adj" fmla="val 10909"/>
            </a:avLst>
          </a:prstGeom>
          <a:solidFill>
            <a:srgbClr val="FFF5E8"/>
          </a:solidFill>
          <a:ln w="12700">
            <a:solidFill>
              <a:srgbClr val="FDD9A6"/>
            </a:solidFill>
            <a:prstDash val="solid"/>
          </a:ln>
        </p:spPr>
      </p:sp>
      <p:sp>
        <p:nvSpPr>
          <p:cNvPr id="41" name="Text 39"/>
          <p:cNvSpPr/>
          <p:nvPr/>
        </p:nvSpPr>
        <p:spPr>
          <a:xfrm>
            <a:off x="7498080" y="3017520"/>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Dec1</a:t>
            </a:r>
            <a:endParaRPr lang="en-US" sz="1000" dirty="0"/>
          </a:p>
        </p:txBody>
      </p:sp>
      <p:sp>
        <p:nvSpPr>
          <p:cNvPr id="42" name="Shape 40"/>
          <p:cNvSpPr/>
          <p:nvPr/>
        </p:nvSpPr>
        <p:spPr>
          <a:xfrm>
            <a:off x="6793992" y="2761488"/>
            <a:ext cx="502920" cy="868680"/>
          </a:xfrm>
          <a:prstGeom prst="roundRect">
            <a:avLst>
              <a:gd name="adj" fmla="val 10909"/>
            </a:avLst>
          </a:prstGeom>
          <a:solidFill>
            <a:srgbClr val="FFF5E8"/>
          </a:solidFill>
          <a:ln w="12700">
            <a:solidFill>
              <a:srgbClr val="FDD9A6"/>
            </a:solidFill>
            <a:prstDash val="solid"/>
          </a:ln>
        </p:spPr>
      </p:sp>
      <p:sp>
        <p:nvSpPr>
          <p:cNvPr id="43" name="Text 41"/>
          <p:cNvSpPr/>
          <p:nvPr/>
        </p:nvSpPr>
        <p:spPr>
          <a:xfrm>
            <a:off x="6793992" y="2688336"/>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Dec2</a:t>
            </a:r>
            <a:endParaRPr lang="en-US" sz="1000" dirty="0"/>
          </a:p>
        </p:txBody>
      </p:sp>
      <p:sp>
        <p:nvSpPr>
          <p:cNvPr id="44" name="Shape 42"/>
          <p:cNvSpPr/>
          <p:nvPr/>
        </p:nvSpPr>
        <p:spPr>
          <a:xfrm>
            <a:off x="6089904" y="2432304"/>
            <a:ext cx="502920" cy="685800"/>
          </a:xfrm>
          <a:prstGeom prst="roundRect">
            <a:avLst>
              <a:gd name="adj" fmla="val 10909"/>
            </a:avLst>
          </a:prstGeom>
          <a:solidFill>
            <a:srgbClr val="FFF5E8"/>
          </a:solidFill>
          <a:ln w="12700">
            <a:solidFill>
              <a:srgbClr val="FDD9A6"/>
            </a:solidFill>
            <a:prstDash val="solid"/>
          </a:ln>
        </p:spPr>
      </p:sp>
      <p:sp>
        <p:nvSpPr>
          <p:cNvPr id="45" name="Text 43"/>
          <p:cNvSpPr/>
          <p:nvPr/>
        </p:nvSpPr>
        <p:spPr>
          <a:xfrm>
            <a:off x="6089904" y="2359152"/>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Dec3</a:t>
            </a:r>
            <a:endParaRPr lang="en-US" sz="1000" dirty="0"/>
          </a:p>
        </p:txBody>
      </p:sp>
      <p:sp>
        <p:nvSpPr>
          <p:cNvPr id="46" name="Shape 44"/>
          <p:cNvSpPr/>
          <p:nvPr/>
        </p:nvSpPr>
        <p:spPr>
          <a:xfrm>
            <a:off x="5385816" y="2103120"/>
            <a:ext cx="502920" cy="502920"/>
          </a:xfrm>
          <a:prstGeom prst="roundRect">
            <a:avLst>
              <a:gd name="adj" fmla="val 10909"/>
            </a:avLst>
          </a:prstGeom>
          <a:solidFill>
            <a:srgbClr val="FFF5E8"/>
          </a:solidFill>
          <a:ln w="12700">
            <a:solidFill>
              <a:srgbClr val="FDD9A6"/>
            </a:solidFill>
            <a:prstDash val="solid"/>
          </a:ln>
        </p:spPr>
      </p:sp>
      <p:sp>
        <p:nvSpPr>
          <p:cNvPr id="47" name="Text 45"/>
          <p:cNvSpPr/>
          <p:nvPr/>
        </p:nvSpPr>
        <p:spPr>
          <a:xfrm>
            <a:off x="5385816" y="2029968"/>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Dec4</a:t>
            </a:r>
            <a:endParaRPr lang="en-US" sz="1000" dirty="0"/>
          </a:p>
        </p:txBody>
      </p:sp>
      <p:sp>
        <p:nvSpPr>
          <p:cNvPr id="48" name="Shape 46"/>
          <p:cNvSpPr/>
          <p:nvPr/>
        </p:nvSpPr>
        <p:spPr>
          <a:xfrm>
            <a:off x="4572000" y="2350008"/>
            <a:ext cx="201168" cy="329184"/>
          </a:xfrm>
          <a:prstGeom prst="line">
            <a:avLst/>
          </a:prstGeom>
          <a:noFill/>
          <a:ln w="22860">
            <a:solidFill>
              <a:srgbClr val="39A8FF"/>
            </a:solidFill>
            <a:prstDash val="solid"/>
            <a:tailEnd type="triangle"/>
          </a:ln>
        </p:spPr>
      </p:sp>
      <p:sp>
        <p:nvSpPr>
          <p:cNvPr id="49" name="Shape 47"/>
          <p:cNvSpPr/>
          <p:nvPr/>
        </p:nvSpPr>
        <p:spPr>
          <a:xfrm>
            <a:off x="5276088" y="2679192"/>
            <a:ext cx="201168" cy="329184"/>
          </a:xfrm>
          <a:prstGeom prst="line">
            <a:avLst/>
          </a:prstGeom>
          <a:noFill/>
          <a:ln w="22860">
            <a:solidFill>
              <a:srgbClr val="39A8FF"/>
            </a:solidFill>
            <a:prstDash val="solid"/>
            <a:tailEnd type="triangle"/>
          </a:ln>
        </p:spPr>
      </p:sp>
      <p:sp>
        <p:nvSpPr>
          <p:cNvPr id="50" name="Shape 48"/>
          <p:cNvSpPr/>
          <p:nvPr/>
        </p:nvSpPr>
        <p:spPr>
          <a:xfrm>
            <a:off x="5980176" y="3008376"/>
            <a:ext cx="201168" cy="329184"/>
          </a:xfrm>
          <a:prstGeom prst="line">
            <a:avLst/>
          </a:prstGeom>
          <a:noFill/>
          <a:ln w="22860">
            <a:solidFill>
              <a:srgbClr val="39A8FF"/>
            </a:solidFill>
            <a:prstDash val="solid"/>
            <a:tailEnd type="triangle"/>
          </a:ln>
        </p:spPr>
      </p:sp>
      <p:sp>
        <p:nvSpPr>
          <p:cNvPr id="51" name="Shape 49"/>
          <p:cNvSpPr/>
          <p:nvPr/>
        </p:nvSpPr>
        <p:spPr>
          <a:xfrm>
            <a:off x="6684264" y="3337560"/>
            <a:ext cx="-1060704" cy="91440"/>
          </a:xfrm>
          <a:prstGeom prst="line">
            <a:avLst/>
          </a:prstGeom>
          <a:noFill/>
          <a:ln w="22860">
            <a:solidFill>
              <a:srgbClr val="39A8FF"/>
            </a:solidFill>
            <a:prstDash val="solid"/>
            <a:tailEnd type="triangle"/>
          </a:ln>
        </p:spPr>
      </p:sp>
      <p:sp>
        <p:nvSpPr>
          <p:cNvPr id="52" name="Shape 50"/>
          <p:cNvSpPr/>
          <p:nvPr/>
        </p:nvSpPr>
        <p:spPr>
          <a:xfrm>
            <a:off x="6446520" y="3429000"/>
            <a:ext cx="-1060704" cy="-91440"/>
          </a:xfrm>
          <a:prstGeom prst="line">
            <a:avLst/>
          </a:prstGeom>
          <a:noFill/>
          <a:ln w="22860">
            <a:solidFill>
              <a:srgbClr val="F59E0B"/>
            </a:solidFill>
            <a:prstDash val="solid"/>
            <a:tailEnd type="triangle"/>
          </a:ln>
        </p:spPr>
      </p:sp>
      <p:sp>
        <p:nvSpPr>
          <p:cNvPr id="53" name="Shape 51"/>
          <p:cNvSpPr/>
          <p:nvPr/>
        </p:nvSpPr>
        <p:spPr>
          <a:xfrm>
            <a:off x="7498080" y="2350008"/>
            <a:ext cx="-201168" cy="329184"/>
          </a:xfrm>
          <a:prstGeom prst="line">
            <a:avLst/>
          </a:prstGeom>
          <a:noFill/>
          <a:ln w="22860">
            <a:solidFill>
              <a:srgbClr val="F59E0B"/>
            </a:solidFill>
            <a:prstDash val="solid"/>
            <a:tailEnd type="triangle"/>
          </a:ln>
        </p:spPr>
      </p:sp>
      <p:sp>
        <p:nvSpPr>
          <p:cNvPr id="54" name="Shape 52"/>
          <p:cNvSpPr/>
          <p:nvPr/>
        </p:nvSpPr>
        <p:spPr>
          <a:xfrm>
            <a:off x="6793992" y="2679192"/>
            <a:ext cx="-201168" cy="329184"/>
          </a:xfrm>
          <a:prstGeom prst="line">
            <a:avLst/>
          </a:prstGeom>
          <a:noFill/>
          <a:ln w="22860">
            <a:solidFill>
              <a:srgbClr val="F59E0B"/>
            </a:solidFill>
            <a:prstDash val="solid"/>
            <a:tailEnd type="triangle"/>
          </a:ln>
        </p:spPr>
      </p:sp>
      <p:sp>
        <p:nvSpPr>
          <p:cNvPr id="55" name="Shape 53"/>
          <p:cNvSpPr/>
          <p:nvPr/>
        </p:nvSpPr>
        <p:spPr>
          <a:xfrm>
            <a:off x="6089904" y="3008376"/>
            <a:ext cx="-201168" cy="329184"/>
          </a:xfrm>
          <a:prstGeom prst="line">
            <a:avLst/>
          </a:prstGeom>
          <a:noFill/>
          <a:ln w="22860">
            <a:solidFill>
              <a:srgbClr val="F59E0B"/>
            </a:solidFill>
            <a:prstDash val="solid"/>
            <a:tailEnd type="triangle"/>
          </a:ln>
        </p:spPr>
      </p:sp>
      <p:sp>
        <p:nvSpPr>
          <p:cNvPr id="56" name="Shape 54"/>
          <p:cNvSpPr/>
          <p:nvPr/>
        </p:nvSpPr>
        <p:spPr>
          <a:xfrm>
            <a:off x="7315200" y="4690872"/>
            <a:ext cx="777240" cy="438912"/>
          </a:xfrm>
          <a:prstGeom prst="roundRect">
            <a:avLst>
              <a:gd name="adj" fmla="val 12500"/>
            </a:avLst>
          </a:prstGeom>
          <a:solidFill>
            <a:srgbClr val="F8FAFC"/>
          </a:solidFill>
          <a:ln w="12700">
            <a:solidFill>
              <a:srgbClr val="DCE3EA"/>
            </a:solidFill>
            <a:prstDash val="solid"/>
          </a:ln>
        </p:spPr>
      </p:sp>
      <p:sp>
        <p:nvSpPr>
          <p:cNvPr id="57" name="Text 55"/>
          <p:cNvSpPr/>
          <p:nvPr/>
        </p:nvSpPr>
        <p:spPr>
          <a:xfrm>
            <a:off x="7333488" y="4727448"/>
            <a:ext cx="740664" cy="365760"/>
          </a:xfrm>
          <a:prstGeom prst="rect">
            <a:avLst/>
          </a:prstGeom>
          <a:noFill/>
          <a:ln/>
        </p:spPr>
        <p:txBody>
          <a:bodyPr wrap="square" lIns="0" tIns="0" rIns="0" bIns="0" rtlCol="0" anchor="ctr">
            <a:normAutofit/>
          </a:bodyPr>
          <a:lstStyle/>
          <a:p>
            <a:pPr algn="ctr" indent="0" marL="0">
              <a:buNone/>
            </a:pPr>
            <a:r>
              <a:rPr lang="en-US" sz="1000" b="1" dirty="0">
                <a:solidFill>
                  <a:srgbClr val="111111"/>
                </a:solidFill>
                <a:latin typeface="Meiryo" pitchFamily="34" charset="0"/>
                <a:ea typeface="Meiryo" pitchFamily="34" charset="-122"/>
                <a:cs typeface="Meiryo" pitchFamily="34" charset="-120"/>
              </a:rPr>
              <a:t>出力</a:t>
            </a:r>
            <a:endParaRPr lang="en-US" sz="1000" dirty="0"/>
          </a:p>
          <a:p>
            <a:pPr algn="ctr" indent="0" marL="0">
              <a:buNone/>
            </a:pPr>
            <a:r>
              <a:rPr lang="en-US" sz="1000" b="1" dirty="0">
                <a:solidFill>
                  <a:srgbClr val="111111"/>
                </a:solidFill>
                <a:latin typeface="Meiryo" pitchFamily="34" charset="0"/>
                <a:ea typeface="Meiryo" pitchFamily="34" charset="-122"/>
                <a:cs typeface="Meiryo" pitchFamily="34" charset="-120"/>
              </a:rPr>
              <a:t>φ, ne, ni, Te</a:t>
            </a:r>
            <a:endParaRPr lang="en-US" sz="1000" dirty="0"/>
          </a:p>
        </p:txBody>
      </p:sp>
      <p:sp>
        <p:nvSpPr>
          <p:cNvPr id="58" name="Shape 56"/>
          <p:cNvSpPr/>
          <p:nvPr/>
        </p:nvSpPr>
        <p:spPr>
          <a:xfrm>
            <a:off x="8458200" y="3401568"/>
            <a:ext cx="685800" cy="0"/>
          </a:xfrm>
          <a:prstGeom prst="line">
            <a:avLst/>
          </a:prstGeom>
          <a:noFill/>
          <a:ln w="31750">
            <a:solidFill>
              <a:srgbClr val="39A8FF"/>
            </a:solidFill>
            <a:prstDash val="solid"/>
            <a:tailEnd type="triangle"/>
          </a:ln>
        </p:spPr>
      </p:sp>
      <p:sp>
        <p:nvSpPr>
          <p:cNvPr id="59" name="Shape 57"/>
          <p:cNvSpPr/>
          <p:nvPr/>
        </p:nvSpPr>
        <p:spPr>
          <a:xfrm>
            <a:off x="9189720" y="1691640"/>
            <a:ext cx="2103120" cy="3383280"/>
          </a:xfrm>
          <a:prstGeom prst="roundRect">
            <a:avLst>
              <a:gd name="adj" fmla="val 2609"/>
            </a:avLst>
          </a:prstGeom>
          <a:solidFill>
            <a:srgbClr val="FFFDF8"/>
          </a:solidFill>
          <a:ln w="12700">
            <a:solidFill>
              <a:srgbClr val="F4DFB6"/>
            </a:solidFill>
            <a:prstDash val="solid"/>
          </a:ln>
        </p:spPr>
      </p:sp>
      <p:sp>
        <p:nvSpPr>
          <p:cNvPr id="60" name="Text 58"/>
          <p:cNvSpPr/>
          <p:nvPr/>
        </p:nvSpPr>
        <p:spPr>
          <a:xfrm>
            <a:off x="9326880" y="1828800"/>
            <a:ext cx="365760" cy="128016"/>
          </a:xfrm>
          <a:prstGeom prst="rect">
            <a:avLst/>
          </a:prstGeom>
          <a:noFill/>
          <a:ln/>
        </p:spPr>
        <p:txBody>
          <a:bodyPr wrap="square" lIns="0" tIns="0" rIns="0" bIns="0" rtlCol="0" anchor="ctr">
            <a:normAutofit/>
          </a:bodyPr>
          <a:lstStyle/>
          <a:p>
            <a:pPr algn="l" indent="0" marL="0">
              <a:buNone/>
            </a:pPr>
            <a:r>
              <a:rPr lang="en-US" sz="1600" b="1" dirty="0">
                <a:solidFill>
                  <a:srgbClr val="8A5A0A"/>
                </a:solidFill>
                <a:latin typeface="Meiryo" pitchFamily="34" charset="0"/>
                <a:ea typeface="Meiryo" pitchFamily="34" charset="-122"/>
                <a:cs typeface="Meiryo" pitchFamily="34" charset="-120"/>
              </a:rPr>
              <a:t>出力</a:t>
            </a:r>
            <a:endParaRPr lang="en-US" sz="1600" dirty="0"/>
          </a:p>
        </p:txBody>
      </p:sp>
      <p:sp>
        <p:nvSpPr>
          <p:cNvPr id="61" name="Shape 59"/>
          <p:cNvSpPr/>
          <p:nvPr/>
        </p:nvSpPr>
        <p:spPr>
          <a:xfrm>
            <a:off x="9345168" y="2148840"/>
            <a:ext cx="1691640" cy="822960"/>
          </a:xfrm>
          <a:prstGeom prst="roundRect">
            <a:avLst>
              <a:gd name="adj" fmla="val 6667"/>
            </a:avLst>
          </a:prstGeom>
          <a:solidFill>
            <a:srgbClr val="FFFFFF"/>
          </a:solidFill>
          <a:ln w="12700">
            <a:solidFill>
              <a:srgbClr val="D7E3ED"/>
            </a:solidFill>
            <a:prstDash val="solid"/>
          </a:ln>
        </p:spPr>
      </p:sp>
      <p:sp>
        <p:nvSpPr>
          <p:cNvPr id="62" name="Text 60"/>
          <p:cNvSpPr/>
          <p:nvPr/>
        </p:nvSpPr>
        <p:spPr>
          <a:xfrm>
            <a:off x="9473184" y="2240280"/>
            <a:ext cx="143560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φ</a:t>
            </a:r>
            <a:endParaRPr lang="en-US" sz="1200" dirty="0"/>
          </a:p>
        </p:txBody>
      </p:sp>
      <p:sp>
        <p:nvSpPr>
          <p:cNvPr id="63" name="Text 61"/>
          <p:cNvSpPr/>
          <p:nvPr/>
        </p:nvSpPr>
        <p:spPr>
          <a:xfrm>
            <a:off x="9473184" y="2404872"/>
            <a:ext cx="1435608" cy="256032"/>
          </a:xfrm>
          <a:prstGeom prst="rect">
            <a:avLst/>
          </a:prstGeom>
          <a:noFill/>
          <a:ln/>
        </p:spPr>
        <p:txBody>
          <a:bodyPr wrap="square" lIns="0" tIns="0" rIns="0" bIns="0" rtlCol="0" anchor="ctr">
            <a:normAutofit/>
          </a:bodyPr>
          <a:lstStyle/>
          <a:p>
            <a:pPr algn="ctr" indent="0" marL="0">
              <a:buNone/>
            </a:pPr>
            <a:r>
              <a:rPr lang="en-US" sz="1800" b="1" dirty="0">
                <a:solidFill>
                  <a:srgbClr val="F59E0B"/>
                </a:solidFill>
                <a:latin typeface="Meiryo" pitchFamily="34" charset="0"/>
                <a:ea typeface="Meiryo" pitchFamily="34" charset="-122"/>
                <a:cs typeface="Meiryo" pitchFamily="34" charset="-120"/>
              </a:rPr>
              <a:t>potential</a:t>
            </a:r>
            <a:endParaRPr lang="en-US" sz="1800" dirty="0"/>
          </a:p>
        </p:txBody>
      </p:sp>
      <p:sp>
        <p:nvSpPr>
          <p:cNvPr id="64" name="Text 62"/>
          <p:cNvSpPr/>
          <p:nvPr/>
        </p:nvSpPr>
        <p:spPr>
          <a:xfrm>
            <a:off x="9473184" y="2752344"/>
            <a:ext cx="143560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直接回帰</a:t>
            </a:r>
            <a:endParaRPr lang="en-US" sz="900" dirty="0"/>
          </a:p>
        </p:txBody>
      </p:sp>
      <p:sp>
        <p:nvSpPr>
          <p:cNvPr id="65" name="Shape 63"/>
          <p:cNvSpPr/>
          <p:nvPr/>
        </p:nvSpPr>
        <p:spPr>
          <a:xfrm>
            <a:off x="9345168" y="3063240"/>
            <a:ext cx="1691640" cy="822960"/>
          </a:xfrm>
          <a:prstGeom prst="roundRect">
            <a:avLst>
              <a:gd name="adj" fmla="val 6667"/>
            </a:avLst>
          </a:prstGeom>
          <a:solidFill>
            <a:srgbClr val="FFFFFF"/>
          </a:solidFill>
          <a:ln w="12700">
            <a:solidFill>
              <a:srgbClr val="D7E3ED"/>
            </a:solidFill>
            <a:prstDash val="solid"/>
          </a:ln>
        </p:spPr>
      </p:sp>
      <p:sp>
        <p:nvSpPr>
          <p:cNvPr id="66" name="Text 64"/>
          <p:cNvSpPr/>
          <p:nvPr/>
        </p:nvSpPr>
        <p:spPr>
          <a:xfrm>
            <a:off x="9473184" y="3154680"/>
            <a:ext cx="143560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ne / ni</a:t>
            </a:r>
            <a:endParaRPr lang="en-US" sz="1200" dirty="0"/>
          </a:p>
        </p:txBody>
      </p:sp>
      <p:sp>
        <p:nvSpPr>
          <p:cNvPr id="67" name="Text 65"/>
          <p:cNvSpPr/>
          <p:nvPr/>
        </p:nvSpPr>
        <p:spPr>
          <a:xfrm>
            <a:off x="9473184" y="3319272"/>
            <a:ext cx="1435608" cy="256032"/>
          </a:xfrm>
          <a:prstGeom prst="rect">
            <a:avLst/>
          </a:prstGeom>
          <a:noFill/>
          <a:ln/>
        </p:spPr>
        <p:txBody>
          <a:bodyPr wrap="square" lIns="0" tIns="0" rIns="0" bIns="0" rtlCol="0" anchor="ctr">
            <a:normAutofit/>
          </a:bodyPr>
          <a:lstStyle/>
          <a:p>
            <a:pPr algn="ctr" indent="0" marL="0">
              <a:buNone/>
            </a:pPr>
            <a:r>
              <a:rPr lang="en-US" sz="1800" b="1" dirty="0">
                <a:solidFill>
                  <a:srgbClr val="39A8FF"/>
                </a:solidFill>
                <a:latin typeface="Meiryo" pitchFamily="34" charset="0"/>
                <a:ea typeface="Meiryo" pitchFamily="34" charset="-122"/>
                <a:cs typeface="Meiryo" pitchFamily="34" charset="-120"/>
              </a:rPr>
              <a:t>density</a:t>
            </a:r>
            <a:endParaRPr lang="en-US" sz="1800" dirty="0"/>
          </a:p>
        </p:txBody>
      </p:sp>
      <p:sp>
        <p:nvSpPr>
          <p:cNvPr id="68" name="Text 66"/>
          <p:cNvSpPr/>
          <p:nvPr/>
        </p:nvSpPr>
        <p:spPr>
          <a:xfrm>
            <a:off x="9473184" y="3666744"/>
            <a:ext cx="143560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直接回帰</a:t>
            </a:r>
            <a:endParaRPr lang="en-US" sz="900" dirty="0"/>
          </a:p>
        </p:txBody>
      </p:sp>
      <p:sp>
        <p:nvSpPr>
          <p:cNvPr id="69" name="Shape 67"/>
          <p:cNvSpPr/>
          <p:nvPr/>
        </p:nvSpPr>
        <p:spPr>
          <a:xfrm>
            <a:off x="9345168" y="3977640"/>
            <a:ext cx="1691640" cy="822960"/>
          </a:xfrm>
          <a:prstGeom prst="roundRect">
            <a:avLst>
              <a:gd name="adj" fmla="val 6667"/>
            </a:avLst>
          </a:prstGeom>
          <a:solidFill>
            <a:srgbClr val="FFFFFF"/>
          </a:solidFill>
          <a:ln w="12700">
            <a:solidFill>
              <a:srgbClr val="D7E3ED"/>
            </a:solidFill>
            <a:prstDash val="solid"/>
          </a:ln>
        </p:spPr>
      </p:sp>
      <p:sp>
        <p:nvSpPr>
          <p:cNvPr id="70" name="Text 68"/>
          <p:cNvSpPr/>
          <p:nvPr/>
        </p:nvSpPr>
        <p:spPr>
          <a:xfrm>
            <a:off x="9473184" y="4069080"/>
            <a:ext cx="143560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Te</a:t>
            </a:r>
            <a:endParaRPr lang="en-US" sz="1200" dirty="0"/>
          </a:p>
        </p:txBody>
      </p:sp>
      <p:sp>
        <p:nvSpPr>
          <p:cNvPr id="71" name="Text 69"/>
          <p:cNvSpPr/>
          <p:nvPr/>
        </p:nvSpPr>
        <p:spPr>
          <a:xfrm>
            <a:off x="9473184" y="4233672"/>
            <a:ext cx="1435608" cy="256032"/>
          </a:xfrm>
          <a:prstGeom prst="rect">
            <a:avLst/>
          </a:prstGeom>
          <a:noFill/>
          <a:ln/>
        </p:spPr>
        <p:txBody>
          <a:bodyPr wrap="square" lIns="0" tIns="0" rIns="0" bIns="0" rtlCol="0" anchor="ctr">
            <a:normAutofit/>
          </a:bodyPr>
          <a:lstStyle/>
          <a:p>
            <a:pPr algn="ctr" indent="0" marL="0">
              <a:buNone/>
            </a:pPr>
            <a:r>
              <a:rPr lang="en-US" sz="1800" b="1" dirty="0">
                <a:solidFill>
                  <a:srgbClr val="10B981"/>
                </a:solidFill>
                <a:latin typeface="Meiryo" pitchFamily="34" charset="0"/>
                <a:ea typeface="Meiryo" pitchFamily="34" charset="-122"/>
                <a:cs typeface="Meiryo" pitchFamily="34" charset="-120"/>
              </a:rPr>
              <a:t>temperature</a:t>
            </a:r>
            <a:endParaRPr lang="en-US" sz="1800" dirty="0"/>
          </a:p>
        </p:txBody>
      </p:sp>
      <p:sp>
        <p:nvSpPr>
          <p:cNvPr id="72" name="Text 70"/>
          <p:cNvSpPr/>
          <p:nvPr/>
        </p:nvSpPr>
        <p:spPr>
          <a:xfrm>
            <a:off x="9473184" y="4581144"/>
            <a:ext cx="143560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直接回帰</a:t>
            </a:r>
            <a:endParaRPr lang="en-US" sz="900" dirty="0"/>
          </a:p>
        </p:txBody>
      </p:sp>
      <p:sp>
        <p:nvSpPr>
          <p:cNvPr id="73" name="Shape 71"/>
          <p:cNvSpPr/>
          <p:nvPr/>
        </p:nvSpPr>
        <p:spPr>
          <a:xfrm>
            <a:off x="896112" y="5440680"/>
            <a:ext cx="10378440" cy="566928"/>
          </a:xfrm>
          <a:prstGeom prst="roundRect">
            <a:avLst>
              <a:gd name="adj" fmla="val 9677"/>
            </a:avLst>
          </a:prstGeom>
          <a:solidFill>
            <a:srgbClr val="F9FAFB"/>
          </a:solidFill>
          <a:ln w="12700">
            <a:solidFill>
              <a:srgbClr val="EAEEF2"/>
            </a:solidFill>
            <a:prstDash val="solid"/>
          </a:ln>
        </p:spPr>
      </p:sp>
      <p:sp>
        <p:nvSpPr>
          <p:cNvPr id="74" name="Text 72"/>
          <p:cNvSpPr/>
          <p:nvPr/>
        </p:nvSpPr>
        <p:spPr>
          <a:xfrm>
            <a:off x="1042416" y="5541264"/>
            <a:ext cx="9966960" cy="347472"/>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利点: 実装が簡単で高速、同一幾何・同一境界条件系では有効</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弱点: 境界条件の空間作用を暗黙的に学習するため、条件変動と形状変動が重なると劣化しやすい</a:t>
            </a:r>
            <a:endParaRPr lang="en-US" sz="1500" dirty="0"/>
          </a:p>
        </p:txBody>
      </p:sp>
      <p:sp>
        <p:nvSpPr>
          <p:cNvPr id="75" name="Text 73"/>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従来技術2: 先行技術カテゴリの整理</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従来</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4572000" cy="5303520"/>
          </a:xfrm>
          <a:prstGeom prst="roundRect">
            <a:avLst>
              <a:gd name="adj" fmla="val 1200"/>
            </a:avLst>
          </a:prstGeom>
          <a:solidFill>
            <a:srgbClr val="FFFFFF"/>
          </a:solidFill>
          <a:ln w="12700">
            <a:solidFill>
              <a:srgbClr val="D7E3ED"/>
            </a:solidFill>
            <a:prstDash val="solid"/>
          </a:ln>
        </p:spPr>
      </p:sp>
      <p:sp>
        <p:nvSpPr>
          <p:cNvPr id="7" name="Text 5"/>
          <p:cNvSpPr/>
          <p:nvPr/>
        </p:nvSpPr>
        <p:spPr>
          <a:xfrm>
            <a:off x="868680" y="1078992"/>
            <a:ext cx="18288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一般的カテゴリの位置付け</a:t>
            </a:r>
            <a:endParaRPr lang="en-US" sz="1600" dirty="0"/>
          </a:p>
        </p:txBody>
      </p:sp>
      <p:sp>
        <p:nvSpPr>
          <p:cNvPr id="8" name="Shape 6"/>
          <p:cNvSpPr/>
          <p:nvPr/>
        </p:nvSpPr>
        <p:spPr>
          <a:xfrm>
            <a:off x="2926080" y="1645920"/>
            <a:ext cx="0" cy="3474720"/>
          </a:xfrm>
          <a:prstGeom prst="line">
            <a:avLst/>
          </a:prstGeom>
          <a:noFill/>
          <a:ln w="12700">
            <a:solidFill>
              <a:srgbClr val="AAB7C4"/>
            </a:solidFill>
            <a:prstDash val="solid"/>
          </a:ln>
        </p:spPr>
      </p:sp>
      <p:sp>
        <p:nvSpPr>
          <p:cNvPr id="9" name="Shape 7"/>
          <p:cNvSpPr/>
          <p:nvPr/>
        </p:nvSpPr>
        <p:spPr>
          <a:xfrm>
            <a:off x="1097280" y="3383280"/>
            <a:ext cx="3657600" cy="0"/>
          </a:xfrm>
          <a:prstGeom prst="line">
            <a:avLst/>
          </a:prstGeom>
          <a:noFill/>
          <a:ln w="12700">
            <a:solidFill>
              <a:srgbClr val="AAB7C4"/>
            </a:solidFill>
            <a:prstDash val="solid"/>
          </a:ln>
        </p:spPr>
      </p:sp>
      <p:sp>
        <p:nvSpPr>
          <p:cNvPr id="10" name="Text 8"/>
          <p:cNvSpPr/>
          <p:nvPr/>
        </p:nvSpPr>
        <p:spPr>
          <a:xfrm>
            <a:off x="2057400" y="1417320"/>
            <a:ext cx="1828800" cy="109728"/>
          </a:xfrm>
          <a:prstGeom prst="rect">
            <a:avLst/>
          </a:prstGeom>
          <a:noFill/>
          <a:ln/>
        </p:spPr>
        <p:txBody>
          <a:bodyPr wrap="square" lIns="0" tIns="0" rIns="0" bIns="0" rtlCol="0" anchor="ctr">
            <a:normAutofit/>
          </a:bodyPr>
          <a:lstStyle/>
          <a:p>
            <a:pPr algn="ctr" indent="0" marL="0">
              <a:buNone/>
            </a:pPr>
            <a:r>
              <a:rPr lang="en-US" sz="1200" dirty="0">
                <a:solidFill>
                  <a:srgbClr val="555555"/>
                </a:solidFill>
                <a:latin typeface="Meiryo" pitchFamily="34" charset="0"/>
                <a:ea typeface="Meiryo" pitchFamily="34" charset="-122"/>
                <a:cs typeface="Meiryo" pitchFamily="34" charset="-120"/>
              </a:rPr>
              <a:t>境界物理の明示</a:t>
            </a:r>
            <a:endParaRPr lang="en-US" sz="1200" dirty="0"/>
          </a:p>
        </p:txBody>
      </p:sp>
      <p:sp>
        <p:nvSpPr>
          <p:cNvPr id="11" name="Text 9"/>
          <p:cNvSpPr/>
          <p:nvPr/>
        </p:nvSpPr>
        <p:spPr>
          <a:xfrm>
            <a:off x="1143000" y="3429000"/>
            <a:ext cx="228600" cy="109728"/>
          </a:xfrm>
          <a:prstGeom prst="rect">
            <a:avLst/>
          </a:prstGeom>
          <a:noFill/>
          <a:ln/>
        </p:spPr>
        <p:txBody>
          <a:bodyPr wrap="square" lIns="0" tIns="0" rIns="0" bIns="0" rtlCol="0" anchor="ctr">
            <a:normAutofit/>
          </a:bodyPr>
          <a:lstStyle/>
          <a:p>
            <a:pPr algn="l" indent="0" marL="0">
              <a:buNone/>
            </a:pPr>
            <a:r>
              <a:rPr lang="en-US" sz="1000" dirty="0">
                <a:solidFill>
                  <a:srgbClr val="555555"/>
                </a:solidFill>
                <a:latin typeface="Meiryo" pitchFamily="34" charset="0"/>
                <a:ea typeface="Meiryo" pitchFamily="34" charset="-122"/>
                <a:cs typeface="Meiryo" pitchFamily="34" charset="-120"/>
              </a:rPr>
              <a:t>低</a:t>
            </a:r>
            <a:endParaRPr lang="en-US" sz="1000" dirty="0"/>
          </a:p>
        </p:txBody>
      </p:sp>
      <p:sp>
        <p:nvSpPr>
          <p:cNvPr id="12" name="Text 10"/>
          <p:cNvSpPr/>
          <p:nvPr/>
        </p:nvSpPr>
        <p:spPr>
          <a:xfrm>
            <a:off x="4590288" y="3429000"/>
            <a:ext cx="228600" cy="109728"/>
          </a:xfrm>
          <a:prstGeom prst="rect">
            <a:avLst/>
          </a:prstGeom>
          <a:noFill/>
          <a:ln/>
        </p:spPr>
        <p:txBody>
          <a:bodyPr wrap="square" lIns="0" tIns="0" rIns="0" bIns="0" rtlCol="0" anchor="ctr">
            <a:normAutofit/>
          </a:bodyPr>
          <a:lstStyle/>
          <a:p>
            <a:pPr algn="r" indent="0" marL="0">
              <a:buNone/>
            </a:pPr>
            <a:r>
              <a:rPr lang="en-US" sz="1000" dirty="0">
                <a:solidFill>
                  <a:srgbClr val="555555"/>
                </a:solidFill>
                <a:latin typeface="Meiryo" pitchFamily="34" charset="0"/>
                <a:ea typeface="Meiryo" pitchFamily="34" charset="-122"/>
                <a:cs typeface="Meiryo" pitchFamily="34" charset="-120"/>
              </a:rPr>
              <a:t>高</a:t>
            </a:r>
            <a:endParaRPr lang="en-US" sz="1000" dirty="0"/>
          </a:p>
        </p:txBody>
      </p:sp>
      <p:sp>
        <p:nvSpPr>
          <p:cNvPr id="13" name="Text 11"/>
          <p:cNvSpPr/>
          <p:nvPr/>
        </p:nvSpPr>
        <p:spPr>
          <a:xfrm>
            <a:off x="594360" y="3063240"/>
            <a:ext cx="411480" cy="109728"/>
          </a:xfrm>
          <a:prstGeom prst="rect">
            <a:avLst/>
          </a:prstGeom>
          <a:noFill/>
          <a:ln/>
        </p:spPr>
        <p:txBody>
          <a:bodyPr wrap="square" lIns="0" tIns="0" rIns="0" bIns="0" rtlCol="0" anchor="ctr">
            <a:normAutofit/>
          </a:bodyPr>
          <a:lstStyle/>
          <a:p>
            <a:pPr algn="ctr" indent="0" marL="0">
              <a:buNone/>
            </a:pPr>
            <a:r>
              <a:rPr lang="en-US" sz="1200" dirty="0">
                <a:solidFill>
                  <a:srgbClr val="555555"/>
                </a:solidFill>
                <a:latin typeface="Meiryo" pitchFamily="34" charset="0"/>
                <a:ea typeface="Meiryo" pitchFamily="34" charset="-122"/>
                <a:cs typeface="Meiryo" pitchFamily="34" charset="-120"/>
              </a:rPr>
              <a:t>幾何表現</a:t>
            </a:r>
            <a:endParaRPr lang="en-US" sz="1200" dirty="0"/>
          </a:p>
        </p:txBody>
      </p:sp>
      <p:sp>
        <p:nvSpPr>
          <p:cNvPr id="14" name="Text 12"/>
          <p:cNvSpPr/>
          <p:nvPr/>
        </p:nvSpPr>
        <p:spPr>
          <a:xfrm>
            <a:off x="841248" y="1719072"/>
            <a:ext cx="182880" cy="109728"/>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高</a:t>
            </a:r>
            <a:endParaRPr lang="en-US" sz="1000" dirty="0"/>
          </a:p>
        </p:txBody>
      </p:sp>
      <p:sp>
        <p:nvSpPr>
          <p:cNvPr id="15" name="Text 13"/>
          <p:cNvSpPr/>
          <p:nvPr/>
        </p:nvSpPr>
        <p:spPr>
          <a:xfrm>
            <a:off x="841248" y="5029200"/>
            <a:ext cx="182880" cy="109728"/>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低</a:t>
            </a:r>
            <a:endParaRPr lang="en-US" sz="1000" dirty="0"/>
          </a:p>
        </p:txBody>
      </p:sp>
      <p:sp>
        <p:nvSpPr>
          <p:cNvPr id="16" name="Shape 14"/>
          <p:cNvSpPr/>
          <p:nvPr/>
        </p:nvSpPr>
        <p:spPr>
          <a:xfrm>
            <a:off x="1280160" y="3566160"/>
            <a:ext cx="1325880" cy="640080"/>
          </a:xfrm>
          <a:prstGeom prst="roundRect">
            <a:avLst>
              <a:gd name="adj" fmla="val 8571"/>
            </a:avLst>
          </a:prstGeom>
          <a:solidFill>
            <a:srgbClr val="F8FBFE"/>
          </a:solidFill>
          <a:ln w="12700">
            <a:solidFill>
              <a:srgbClr val="C7E7FF"/>
            </a:solidFill>
            <a:prstDash val="solid"/>
          </a:ln>
        </p:spPr>
      </p:sp>
      <p:sp>
        <p:nvSpPr>
          <p:cNvPr id="17" name="Text 15"/>
          <p:cNvSpPr/>
          <p:nvPr/>
        </p:nvSpPr>
        <p:spPr>
          <a:xfrm>
            <a:off x="1280160" y="3730752"/>
            <a:ext cx="1325880" cy="27432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通常 U-Net</a:t>
            </a:r>
            <a:endParaRPr lang="en-US" sz="1400" dirty="0"/>
          </a:p>
          <a:p>
            <a:pPr algn="ctr" indent="0" marL="0">
              <a:buNone/>
            </a:pPr>
            <a:r>
              <a:rPr lang="en-US" sz="1400" b="1" dirty="0">
                <a:solidFill>
                  <a:srgbClr val="111111"/>
                </a:solidFill>
                <a:latin typeface="Meiryo" pitchFamily="34" charset="0"/>
                <a:ea typeface="Meiryo" pitchFamily="34" charset="-122"/>
                <a:cs typeface="Meiryo" pitchFamily="34" charset="-120"/>
              </a:rPr>
              <a:t>mask + scalar</a:t>
            </a:r>
            <a:endParaRPr lang="en-US" sz="1400" dirty="0"/>
          </a:p>
        </p:txBody>
      </p:sp>
      <p:sp>
        <p:nvSpPr>
          <p:cNvPr id="18" name="Shape 16"/>
          <p:cNvSpPr/>
          <p:nvPr/>
        </p:nvSpPr>
        <p:spPr>
          <a:xfrm>
            <a:off x="3063240" y="2148840"/>
            <a:ext cx="1325880" cy="640080"/>
          </a:xfrm>
          <a:prstGeom prst="roundRect">
            <a:avLst>
              <a:gd name="adj" fmla="val 8571"/>
            </a:avLst>
          </a:prstGeom>
          <a:solidFill>
            <a:srgbClr val="ECFDF5"/>
          </a:solidFill>
          <a:ln w="12700">
            <a:solidFill>
              <a:srgbClr val="CBEFDB"/>
            </a:solidFill>
            <a:prstDash val="solid"/>
          </a:ln>
        </p:spPr>
      </p:sp>
      <p:sp>
        <p:nvSpPr>
          <p:cNvPr id="19" name="Text 17"/>
          <p:cNvSpPr/>
          <p:nvPr/>
        </p:nvSpPr>
        <p:spPr>
          <a:xfrm>
            <a:off x="3063240" y="2267712"/>
            <a:ext cx="1325880" cy="310896"/>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SDF / geometry-aware</a:t>
            </a:r>
            <a:endParaRPr lang="en-US" sz="1400" dirty="0"/>
          </a:p>
          <a:p>
            <a:pPr algn="ctr" indent="0" marL="0">
              <a:buNone/>
            </a:pPr>
            <a:r>
              <a:rPr lang="en-US" sz="1400" b="1" dirty="0">
                <a:solidFill>
                  <a:srgbClr val="111111"/>
                </a:solidFill>
                <a:latin typeface="Meiryo" pitchFamily="34" charset="0"/>
                <a:ea typeface="Meiryo" pitchFamily="34" charset="-122"/>
                <a:cs typeface="Meiryo" pitchFamily="34" charset="-120"/>
              </a:rPr>
              <a:t>PDE surrogate</a:t>
            </a:r>
            <a:endParaRPr lang="en-US" sz="1400" dirty="0"/>
          </a:p>
        </p:txBody>
      </p:sp>
      <p:sp>
        <p:nvSpPr>
          <p:cNvPr id="20" name="Shape 18"/>
          <p:cNvSpPr/>
          <p:nvPr/>
        </p:nvSpPr>
        <p:spPr>
          <a:xfrm>
            <a:off x="3063240" y="3566160"/>
            <a:ext cx="1325880" cy="640080"/>
          </a:xfrm>
          <a:prstGeom prst="roundRect">
            <a:avLst>
              <a:gd name="adj" fmla="val 8571"/>
            </a:avLst>
          </a:prstGeom>
          <a:solidFill>
            <a:srgbClr val="FFF8EE"/>
          </a:solidFill>
          <a:ln w="12700">
            <a:solidFill>
              <a:srgbClr val="F7D6A1"/>
            </a:solidFill>
            <a:prstDash val="solid"/>
          </a:ln>
        </p:spPr>
      </p:sp>
      <p:sp>
        <p:nvSpPr>
          <p:cNvPr id="21" name="Text 19"/>
          <p:cNvSpPr/>
          <p:nvPr/>
        </p:nvSpPr>
        <p:spPr>
          <a:xfrm>
            <a:off x="3063240" y="3694176"/>
            <a:ext cx="1325880" cy="292608"/>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FiLM / 条件注入</a:t>
            </a:r>
            <a:endParaRPr lang="en-US" sz="1400" dirty="0"/>
          </a:p>
          <a:p>
            <a:pPr algn="ctr" indent="0" marL="0">
              <a:buNone/>
            </a:pPr>
            <a:r>
              <a:rPr lang="en-US" sz="1400" b="1" dirty="0">
                <a:solidFill>
                  <a:srgbClr val="111111"/>
                </a:solidFill>
                <a:latin typeface="Meiryo" pitchFamily="34" charset="0"/>
                <a:ea typeface="Meiryo" pitchFamily="34" charset="-122"/>
                <a:cs typeface="Meiryo" pitchFamily="34" charset="-120"/>
              </a:rPr>
              <a:t>境界条件埋め込み</a:t>
            </a:r>
            <a:endParaRPr lang="en-US" sz="1400" dirty="0"/>
          </a:p>
        </p:txBody>
      </p:sp>
      <p:sp>
        <p:nvSpPr>
          <p:cNvPr id="22" name="Shape 20"/>
          <p:cNvSpPr/>
          <p:nvPr/>
        </p:nvSpPr>
        <p:spPr>
          <a:xfrm>
            <a:off x="3063240" y="2834640"/>
            <a:ext cx="1325880" cy="640080"/>
          </a:xfrm>
          <a:prstGeom prst="roundRect">
            <a:avLst>
              <a:gd name="adj" fmla="val 8571"/>
            </a:avLst>
          </a:prstGeom>
          <a:solidFill>
            <a:srgbClr val="F5F3FF"/>
          </a:solidFill>
          <a:ln w="12700">
            <a:solidFill>
              <a:srgbClr val="DDD6FE"/>
            </a:solidFill>
            <a:prstDash val="solid"/>
          </a:ln>
        </p:spPr>
      </p:sp>
      <p:sp>
        <p:nvSpPr>
          <p:cNvPr id="23" name="Text 21"/>
          <p:cNvSpPr/>
          <p:nvPr/>
        </p:nvSpPr>
        <p:spPr>
          <a:xfrm>
            <a:off x="3063240" y="2962656"/>
            <a:ext cx="1325880" cy="292608"/>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Interface / operator</a:t>
            </a:r>
            <a:endParaRPr lang="en-US" sz="1400" dirty="0"/>
          </a:p>
          <a:p>
            <a:pPr algn="ctr" indent="0" marL="0">
              <a:buNone/>
            </a:pPr>
            <a:r>
              <a:rPr lang="en-US" sz="1400" b="1" dirty="0">
                <a:solidFill>
                  <a:srgbClr val="111111"/>
                </a:solidFill>
                <a:latin typeface="Meiryo" pitchFamily="34" charset="0"/>
                <a:ea typeface="Meiryo" pitchFamily="34" charset="-122"/>
                <a:cs typeface="Meiryo" pitchFamily="34" charset="-120"/>
              </a:rPr>
              <a:t>learning</a:t>
            </a:r>
            <a:endParaRPr lang="en-US" sz="1400" dirty="0"/>
          </a:p>
        </p:txBody>
      </p:sp>
      <p:sp>
        <p:nvSpPr>
          <p:cNvPr id="24" name="Shape 22"/>
          <p:cNvSpPr/>
          <p:nvPr/>
        </p:nvSpPr>
        <p:spPr>
          <a:xfrm>
            <a:off x="5486400" y="914400"/>
            <a:ext cx="6080760" cy="5303520"/>
          </a:xfrm>
          <a:prstGeom prst="roundRect">
            <a:avLst>
              <a:gd name="adj" fmla="val 1034"/>
            </a:avLst>
          </a:prstGeom>
          <a:solidFill>
            <a:srgbClr val="FFFFFF"/>
          </a:solidFill>
          <a:ln w="12700">
            <a:solidFill>
              <a:srgbClr val="D7E3ED"/>
            </a:solidFill>
            <a:prstDash val="solid"/>
          </a:ln>
        </p:spPr>
      </p:sp>
      <p:sp>
        <p:nvSpPr>
          <p:cNvPr id="25" name="Text 23"/>
          <p:cNvSpPr/>
          <p:nvPr/>
        </p:nvSpPr>
        <p:spPr>
          <a:xfrm>
            <a:off x="5669280" y="1078992"/>
            <a:ext cx="13716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本資料での整理</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0" y="1417320"/>
          <a:ext cx="5623560" cy="3108960"/>
        </p:xfrm>
        <a:graphic>
          <a:graphicData uri="http://schemas.openxmlformats.org/drawingml/2006/table">
            <a:tbl>
              <a:tblPr/>
              <a:tblGrid>
                <a:gridCol w="1237183"/>
                <a:gridCol w="2024482"/>
                <a:gridCol w="2361895"/>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 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画像回帰に強い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境界条件の空間作用は弱い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CoordConv</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位置情報を明示</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どの境界が何をするかは別設計が必要</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FiLM / 条件注入</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条件スカラー注入が容易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物理作用の空間化は未解決</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SDF / geometry-aware</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形状変動に強い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電圧・流量・排気の内容表現が別途必要</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Interface learning</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係数不連続に強い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構造が重くなりやすい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27" name="Shape 24"/>
          <p:cNvSpPr/>
          <p:nvPr/>
        </p:nvSpPr>
        <p:spPr>
          <a:xfrm>
            <a:off x="5669280" y="4663440"/>
            <a:ext cx="5623560" cy="1143000"/>
          </a:xfrm>
          <a:prstGeom prst="roundRect">
            <a:avLst>
              <a:gd name="adj" fmla="val 4800"/>
            </a:avLst>
          </a:prstGeom>
          <a:solidFill>
            <a:srgbClr val="F4FBFF"/>
          </a:solidFill>
          <a:ln w="12700">
            <a:solidFill>
              <a:srgbClr val="C7E7FF"/>
            </a:solidFill>
            <a:prstDash val="solid"/>
          </a:ln>
        </p:spPr>
      </p:sp>
      <p:sp>
        <p:nvSpPr>
          <p:cNvPr id="28" name="Text 25"/>
          <p:cNvSpPr/>
          <p:nvPr/>
        </p:nvSpPr>
        <p:spPr>
          <a:xfrm>
            <a:off x="5833872" y="4864608"/>
            <a:ext cx="5212080" cy="74980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提案技術は、上記カテゴリの有効要素を「低圧プラズマ向けの最小構成」で統合する点に特徴がある。</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単一 U-Net を維持しつつ、SDF と境界物理マップで境界条件変動を吸収する。</a:t>
            </a:r>
            <a:endParaRPr lang="en-US" sz="1500" dirty="0"/>
          </a:p>
        </p:txBody>
      </p:sp>
      <p:sp>
        <p:nvSpPr>
          <p:cNvPr id="29" name="Text 26"/>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従来の課題1: 壁近傍の sheath / boundary band で誤差が集中</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4663440" cy="5303520"/>
          </a:xfrm>
          <a:prstGeom prst="roundRect">
            <a:avLst>
              <a:gd name="adj" fmla="val 1176"/>
            </a:avLst>
          </a:prstGeom>
          <a:solidFill>
            <a:srgbClr val="FFFFFF"/>
          </a:solidFill>
          <a:ln w="12700">
            <a:solidFill>
              <a:srgbClr val="D7E3ED"/>
            </a:solidFill>
            <a:prstDash val="solid"/>
          </a:ln>
        </p:spPr>
      </p:sp>
      <p:sp>
        <p:nvSpPr>
          <p:cNvPr id="7" name="Shape 5"/>
          <p:cNvSpPr/>
          <p:nvPr/>
        </p:nvSpPr>
        <p:spPr>
          <a:xfrm>
            <a:off x="850392" y="1042416"/>
            <a:ext cx="896112" cy="201168"/>
          </a:xfrm>
          <a:prstGeom prst="roundRect">
            <a:avLst>
              <a:gd name="adj" fmla="val 22727"/>
            </a:avLst>
          </a:prstGeom>
          <a:solidFill>
            <a:srgbClr val="DC2626"/>
          </a:solidFill>
          <a:ln w="12700">
            <a:solidFill>
              <a:srgbClr val="DC2626"/>
            </a:solidFill>
            <a:prstDash val="solid"/>
          </a:ln>
        </p:spPr>
      </p:sp>
      <p:sp>
        <p:nvSpPr>
          <p:cNvPr id="8" name="Text 6"/>
          <p:cNvSpPr/>
          <p:nvPr/>
        </p:nvSpPr>
        <p:spPr>
          <a:xfrm>
            <a:off x="850392" y="1051560"/>
            <a:ext cx="89611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発生条件</a:t>
            </a:r>
            <a:endParaRPr lang="en-US" sz="1100" dirty="0"/>
          </a:p>
        </p:txBody>
      </p:sp>
      <p:sp>
        <p:nvSpPr>
          <p:cNvPr id="9" name="Shape 7"/>
          <p:cNvSpPr/>
          <p:nvPr/>
        </p:nvSpPr>
        <p:spPr>
          <a:xfrm>
            <a:off x="868680" y="1874520"/>
            <a:ext cx="365760" cy="0"/>
          </a:xfrm>
          <a:prstGeom prst="line">
            <a:avLst/>
          </a:prstGeom>
          <a:noFill/>
          <a:ln w="38100">
            <a:solidFill>
              <a:srgbClr val="3B82F6"/>
            </a:solidFill>
            <a:prstDash val="solid"/>
            <a:tailEnd type="triangle"/>
          </a:ln>
        </p:spPr>
      </p:sp>
      <p:sp>
        <p:nvSpPr>
          <p:cNvPr id="10" name="Shape 8"/>
          <p:cNvSpPr/>
          <p:nvPr/>
        </p:nvSpPr>
        <p:spPr>
          <a:xfrm>
            <a:off x="4800600" y="4709160"/>
            <a:ext cx="365760" cy="0"/>
          </a:xfrm>
          <a:prstGeom prst="line">
            <a:avLst/>
          </a:prstGeom>
          <a:noFill/>
          <a:ln w="38100">
            <a:solidFill>
              <a:srgbClr val="EF4444"/>
            </a:solidFill>
            <a:prstDash val="solid"/>
            <a:tailEnd type="triangle"/>
          </a:ln>
        </p:spPr>
      </p:sp>
      <p:sp>
        <p:nvSpPr>
          <p:cNvPr id="11" name="Shape 9"/>
          <p:cNvSpPr/>
          <p:nvPr/>
        </p:nvSpPr>
        <p:spPr>
          <a:xfrm>
            <a:off x="1097280" y="1554480"/>
            <a:ext cx="3840480" cy="3474720"/>
          </a:xfrm>
          <a:prstGeom prst="roundRect">
            <a:avLst>
              <a:gd name="adj" fmla="val 1316"/>
            </a:avLst>
          </a:prstGeom>
          <a:solidFill>
            <a:srgbClr val="FFFFFF"/>
          </a:solidFill>
          <a:ln w="25400">
            <a:solidFill>
              <a:srgbClr val="6B7280"/>
            </a:solidFill>
            <a:prstDash val="solid"/>
          </a:ln>
        </p:spPr>
      </p:sp>
      <p:sp>
        <p:nvSpPr>
          <p:cNvPr id="12" name="Shape 10"/>
          <p:cNvSpPr/>
          <p:nvPr/>
        </p:nvSpPr>
        <p:spPr>
          <a:xfrm>
            <a:off x="1115568" y="4919472"/>
            <a:ext cx="380390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115568" y="1572768"/>
            <a:ext cx="109728" cy="343814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4809744" y="1572768"/>
            <a:ext cx="109728" cy="343814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325880" y="1481328"/>
            <a:ext cx="3383280" cy="109728"/>
          </a:xfrm>
          <a:prstGeom prst="rect">
            <a:avLst/>
          </a:prstGeom>
          <a:solidFill>
            <a:srgbClr val="10B981"/>
          </a:solidFill>
          <a:ln w="12700">
            <a:solidFill>
              <a:srgbClr val="10B981"/>
            </a:solidFill>
            <a:prstDash val="solid"/>
          </a:ln>
        </p:spPr>
      </p:sp>
      <p:sp>
        <p:nvSpPr>
          <p:cNvPr id="16" name="Text 14"/>
          <p:cNvSpPr/>
          <p:nvPr/>
        </p:nvSpPr>
        <p:spPr>
          <a:xfrm>
            <a:off x="2788920" y="134416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7" name="Shape 15"/>
          <p:cNvSpPr/>
          <p:nvPr/>
        </p:nvSpPr>
        <p:spPr>
          <a:xfrm>
            <a:off x="1508760" y="1719072"/>
            <a:ext cx="3017520" cy="91440"/>
          </a:xfrm>
          <a:prstGeom prst="rect">
            <a:avLst/>
          </a:prstGeom>
          <a:solidFill>
            <a:srgbClr val="F59E0B"/>
          </a:solidFill>
          <a:ln w="12700">
            <a:solidFill>
              <a:srgbClr val="F59E0B"/>
            </a:solidFill>
            <a:prstDash val="solid"/>
          </a:ln>
        </p:spPr>
      </p:sp>
      <p:sp>
        <p:nvSpPr>
          <p:cNvPr id="18" name="Text 16"/>
          <p:cNvSpPr/>
          <p:nvPr/>
        </p:nvSpPr>
        <p:spPr>
          <a:xfrm>
            <a:off x="2697480" y="158191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9" name="Shape 17"/>
          <p:cNvSpPr/>
          <p:nvPr/>
        </p:nvSpPr>
        <p:spPr>
          <a:xfrm>
            <a:off x="1600200" y="4617720"/>
            <a:ext cx="2834640" cy="100584"/>
          </a:xfrm>
          <a:prstGeom prst="rect">
            <a:avLst/>
          </a:prstGeom>
          <a:solidFill>
            <a:srgbClr val="B0B8C0"/>
          </a:solidFill>
          <a:ln w="12700">
            <a:solidFill>
              <a:srgbClr val="B0B8C0"/>
            </a:solidFill>
            <a:prstDash val="solid"/>
          </a:ln>
        </p:spPr>
      </p:sp>
      <p:sp>
        <p:nvSpPr>
          <p:cNvPr id="20" name="Text 18"/>
          <p:cNvSpPr/>
          <p:nvPr/>
        </p:nvSpPr>
        <p:spPr>
          <a:xfrm>
            <a:off x="2852928" y="477316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1" name="Shape 19"/>
          <p:cNvSpPr/>
          <p:nvPr/>
        </p:nvSpPr>
        <p:spPr>
          <a:xfrm>
            <a:off x="1225296" y="1810512"/>
            <a:ext cx="3584448" cy="146304"/>
          </a:xfrm>
          <a:prstGeom prst="rect">
            <a:avLst/>
          </a:prstGeom>
          <a:solidFill>
            <a:srgbClr val="39A8FF">
              <a:alpha val="30000"/>
            </a:srgbClr>
          </a:solidFill>
          <a:ln w="12700">
            <a:solidFill>
              <a:srgbClr val="39A8FF">
                <a:alpha val="0"/>
              </a:srgbClr>
            </a:solidFill>
            <a:prstDash val="solid"/>
          </a:ln>
        </p:spPr>
      </p:sp>
      <p:sp>
        <p:nvSpPr>
          <p:cNvPr id="22" name="Shape 20"/>
          <p:cNvSpPr/>
          <p:nvPr/>
        </p:nvSpPr>
        <p:spPr>
          <a:xfrm>
            <a:off x="1225296" y="4626864"/>
            <a:ext cx="3584448" cy="146304"/>
          </a:xfrm>
          <a:prstGeom prst="rect">
            <a:avLst/>
          </a:prstGeom>
          <a:solidFill>
            <a:srgbClr val="39A8FF">
              <a:alpha val="20000"/>
            </a:srgbClr>
          </a:solidFill>
          <a:ln w="12700">
            <a:solidFill>
              <a:srgbClr val="39A8FF">
                <a:alpha val="0"/>
              </a:srgbClr>
            </a:solidFill>
            <a:prstDash val="solid"/>
          </a:ln>
        </p:spPr>
      </p:sp>
      <p:sp>
        <p:nvSpPr>
          <p:cNvPr id="23" name="Shape 21"/>
          <p:cNvSpPr/>
          <p:nvPr/>
        </p:nvSpPr>
        <p:spPr>
          <a:xfrm>
            <a:off x="1225296" y="1956816"/>
            <a:ext cx="146304" cy="2670048"/>
          </a:xfrm>
          <a:prstGeom prst="rect">
            <a:avLst/>
          </a:prstGeom>
          <a:solidFill>
            <a:srgbClr val="39A8FF">
              <a:alpha val="20000"/>
            </a:srgbClr>
          </a:solidFill>
          <a:ln w="12700">
            <a:solidFill>
              <a:srgbClr val="39A8FF">
                <a:alpha val="0"/>
              </a:srgbClr>
            </a:solidFill>
            <a:prstDash val="solid"/>
          </a:ln>
        </p:spPr>
      </p:sp>
      <p:sp>
        <p:nvSpPr>
          <p:cNvPr id="24" name="Shape 22"/>
          <p:cNvSpPr/>
          <p:nvPr/>
        </p:nvSpPr>
        <p:spPr>
          <a:xfrm>
            <a:off x="4663440" y="1956816"/>
            <a:ext cx="146304" cy="2670048"/>
          </a:xfrm>
          <a:prstGeom prst="rect">
            <a:avLst/>
          </a:prstGeom>
          <a:solidFill>
            <a:srgbClr val="39A8FF">
              <a:alpha val="20000"/>
            </a:srgbClr>
          </a:solidFill>
          <a:ln w="12700">
            <a:solidFill>
              <a:srgbClr val="39A8FF">
                <a:alpha val="0"/>
              </a:srgbClr>
            </a:solidFill>
            <a:prstDash val="solid"/>
          </a:ln>
        </p:spPr>
      </p:sp>
      <p:sp>
        <p:nvSpPr>
          <p:cNvPr id="25" name="Shape 23"/>
          <p:cNvSpPr/>
          <p:nvPr/>
        </p:nvSpPr>
        <p:spPr>
          <a:xfrm>
            <a:off x="1600200" y="1874520"/>
            <a:ext cx="0" cy="2651760"/>
          </a:xfrm>
          <a:prstGeom prst="line">
            <a:avLst/>
          </a:prstGeom>
          <a:noFill/>
          <a:ln w="19050">
            <a:solidFill>
              <a:srgbClr val="8A8A8A"/>
            </a:solidFill>
            <a:prstDash val="solid"/>
            <a:tailEnd type="triangle"/>
          </a:ln>
        </p:spPr>
      </p:sp>
      <p:sp>
        <p:nvSpPr>
          <p:cNvPr id="26" name="Shape 24"/>
          <p:cNvSpPr/>
          <p:nvPr/>
        </p:nvSpPr>
        <p:spPr>
          <a:xfrm>
            <a:off x="2514600" y="1874520"/>
            <a:ext cx="0" cy="2651760"/>
          </a:xfrm>
          <a:prstGeom prst="line">
            <a:avLst/>
          </a:prstGeom>
          <a:noFill/>
          <a:ln w="19050">
            <a:solidFill>
              <a:srgbClr val="8A8A8A"/>
            </a:solidFill>
            <a:prstDash val="solid"/>
            <a:tailEnd type="triangle"/>
          </a:ln>
        </p:spPr>
      </p:sp>
      <p:sp>
        <p:nvSpPr>
          <p:cNvPr id="27" name="Shape 25"/>
          <p:cNvSpPr/>
          <p:nvPr/>
        </p:nvSpPr>
        <p:spPr>
          <a:xfrm>
            <a:off x="3429000" y="1874520"/>
            <a:ext cx="0" cy="2651760"/>
          </a:xfrm>
          <a:prstGeom prst="line">
            <a:avLst/>
          </a:prstGeom>
          <a:noFill/>
          <a:ln w="19050">
            <a:solidFill>
              <a:srgbClr val="8A8A8A"/>
            </a:solidFill>
            <a:prstDash val="solid"/>
            <a:tailEnd type="triangle"/>
          </a:ln>
        </p:spPr>
      </p:sp>
      <p:sp>
        <p:nvSpPr>
          <p:cNvPr id="28" name="Shape 26"/>
          <p:cNvSpPr/>
          <p:nvPr/>
        </p:nvSpPr>
        <p:spPr>
          <a:xfrm>
            <a:off x="4343400" y="1874520"/>
            <a:ext cx="0" cy="2651760"/>
          </a:xfrm>
          <a:prstGeom prst="line">
            <a:avLst/>
          </a:prstGeom>
          <a:noFill/>
          <a:ln w="19050">
            <a:solidFill>
              <a:srgbClr val="8A8A8A"/>
            </a:solidFill>
            <a:prstDash val="solid"/>
            <a:tailEnd type="triangle"/>
          </a:ln>
        </p:spPr>
      </p:sp>
      <p:sp>
        <p:nvSpPr>
          <p:cNvPr id="29" name="Text 27"/>
          <p:cNvSpPr/>
          <p:nvPr/>
        </p:nvSpPr>
        <p:spPr>
          <a:xfrm>
            <a:off x="914400" y="5440680"/>
            <a:ext cx="4160520" cy="219456"/>
          </a:xfrm>
          <a:prstGeom prst="rect">
            <a:avLst/>
          </a:prstGeom>
          <a:noFill/>
          <a:ln/>
        </p:spPr>
        <p:txBody>
          <a:bodyPr wrap="square" lIns="0" tIns="0" rIns="0" bIns="0" rtlCol="0" anchor="ctr">
            <a:normAutofit/>
          </a:bodyPr>
          <a:lstStyle/>
          <a:p>
            <a:pPr algn="ctr" indent="0" marL="0">
              <a:buNone/>
            </a:pPr>
            <a:r>
              <a:rPr lang="en-US" sz="1500" dirty="0">
                <a:solidFill>
                  <a:srgbClr val="111111"/>
                </a:solidFill>
                <a:latin typeface="Meiryo" pitchFamily="34" charset="0"/>
                <a:ea typeface="Meiryo" pitchFamily="34" charset="-122"/>
                <a:cs typeface="Meiryo" pitchFamily="34" charset="-120"/>
              </a:rPr>
              <a:t>壁から数 Debye 長の薄い帯域に、非中性 sheath と急勾配が現れる。</a:t>
            </a:r>
            <a:endParaRPr lang="en-US" sz="1500" dirty="0"/>
          </a:p>
        </p:txBody>
      </p:sp>
      <p:sp>
        <p:nvSpPr>
          <p:cNvPr id="30" name="Shape 28"/>
          <p:cNvSpPr/>
          <p:nvPr/>
        </p:nvSpPr>
        <p:spPr>
          <a:xfrm>
            <a:off x="5532120" y="914400"/>
            <a:ext cx="6035040" cy="5303520"/>
          </a:xfrm>
          <a:prstGeom prst="roundRect">
            <a:avLst>
              <a:gd name="adj" fmla="val 1034"/>
            </a:avLst>
          </a:prstGeom>
          <a:solidFill>
            <a:srgbClr val="FFFFFF"/>
          </a:solidFill>
          <a:ln w="12700">
            <a:solidFill>
              <a:srgbClr val="D7E3ED"/>
            </a:solidFill>
            <a:prstDash val="solid"/>
          </a:ln>
        </p:spPr>
      </p:sp>
      <p:sp>
        <p:nvSpPr>
          <p:cNvPr id="31" name="Text 29"/>
          <p:cNvSpPr/>
          <p:nvPr/>
        </p:nvSpPr>
        <p:spPr>
          <a:xfrm>
            <a:off x="5715000" y="1078992"/>
            <a:ext cx="20116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なぜ通常 U-Net で外れやすいか</a:t>
            </a:r>
            <a:endParaRPr lang="en-US" sz="1600" dirty="0"/>
          </a:p>
        </p:txBody>
      </p:sp>
      <p:sp>
        <p:nvSpPr>
          <p:cNvPr id="32" name="Text 30"/>
          <p:cNvSpPr/>
          <p:nvPr/>
        </p:nvSpPr>
        <p:spPr>
          <a:xfrm>
            <a:off x="5742432" y="1371600"/>
            <a:ext cx="5349240" cy="1261872"/>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bulk と sheath を同じ統計で学習すると、薄い境界層が平均化されやすい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全域 MSE では体積の大きい bulk が支配し、壁帯域の誤差が埋もれる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法線方向 E-field や wall flux を明示しないと、値は合っても勾配が外れる</a:t>
            </a:r>
            <a:endParaRPr lang="en-US" sz="1600" dirty="0"/>
          </a:p>
        </p:txBody>
      </p:sp>
      <p:sp>
        <p:nvSpPr>
          <p:cNvPr id="33" name="Shape 31"/>
          <p:cNvSpPr/>
          <p:nvPr/>
        </p:nvSpPr>
        <p:spPr>
          <a:xfrm>
            <a:off x="5715000" y="2788920"/>
            <a:ext cx="5486400" cy="1828800"/>
          </a:xfrm>
          <a:prstGeom prst="roundRect">
            <a:avLst>
              <a:gd name="adj" fmla="val 3000"/>
            </a:avLst>
          </a:prstGeom>
          <a:solidFill>
            <a:srgbClr val="FFFFFF"/>
          </a:solidFill>
          <a:ln w="12700">
            <a:solidFill>
              <a:srgbClr val="D7E3ED"/>
            </a:solidFill>
            <a:prstDash val="solid"/>
          </a:ln>
        </p:spPr>
      </p:sp>
      <p:sp>
        <p:nvSpPr>
          <p:cNvPr id="34" name="Text 32"/>
          <p:cNvSpPr/>
          <p:nvPr/>
        </p:nvSpPr>
        <p:spPr>
          <a:xfrm>
            <a:off x="5870448" y="2907792"/>
            <a:ext cx="1645920" cy="146304"/>
          </a:xfrm>
          <a:prstGeom prst="rect">
            <a:avLst/>
          </a:prstGeom>
          <a:noFill/>
          <a:ln/>
        </p:spPr>
        <p:txBody>
          <a:bodyPr wrap="square" lIns="0" tIns="0" rIns="0" bIns="0" rtlCol="0" anchor="ctr">
            <a:normAutofit/>
          </a:bodyPr>
          <a:lstStyle/>
          <a:p>
            <a:pPr algn="l" indent="0" marL="0">
              <a:buNone/>
            </a:pPr>
            <a:r>
              <a:rPr lang="en-US" sz="1400" b="1" dirty="0">
                <a:solidFill>
                  <a:srgbClr val="0D4D7E"/>
                </a:solidFill>
                <a:latin typeface="Meiryo" pitchFamily="34" charset="0"/>
                <a:ea typeface="Meiryo" pitchFamily="34" charset="-122"/>
                <a:cs typeface="Meiryo" pitchFamily="34" charset="-120"/>
              </a:rPr>
              <a:t>誤差の距離依存（概念図）</a:t>
            </a:r>
            <a:endParaRPr lang="en-US" sz="1400" dirty="0"/>
          </a:p>
        </p:txBody>
      </p:sp>
      <p:sp>
        <p:nvSpPr>
          <p:cNvPr id="35" name="Shape 33"/>
          <p:cNvSpPr/>
          <p:nvPr/>
        </p:nvSpPr>
        <p:spPr>
          <a:xfrm>
            <a:off x="6172200" y="4315968"/>
            <a:ext cx="4343400" cy="0"/>
          </a:xfrm>
          <a:prstGeom prst="line">
            <a:avLst/>
          </a:prstGeom>
          <a:noFill/>
          <a:ln w="12700">
            <a:solidFill>
              <a:srgbClr val="AAB7C4"/>
            </a:solidFill>
            <a:prstDash val="solid"/>
          </a:ln>
        </p:spPr>
      </p:sp>
      <p:sp>
        <p:nvSpPr>
          <p:cNvPr id="36" name="Shape 34"/>
          <p:cNvSpPr/>
          <p:nvPr/>
        </p:nvSpPr>
        <p:spPr>
          <a:xfrm>
            <a:off x="6172200" y="3154680"/>
            <a:ext cx="0" cy="1161288"/>
          </a:xfrm>
          <a:prstGeom prst="line">
            <a:avLst/>
          </a:prstGeom>
          <a:noFill/>
          <a:ln w="12700">
            <a:solidFill>
              <a:srgbClr val="AAB7C4"/>
            </a:solidFill>
            <a:prstDash val="solid"/>
          </a:ln>
        </p:spPr>
      </p:sp>
      <p:sp>
        <p:nvSpPr>
          <p:cNvPr id="37" name="Text 35"/>
          <p:cNvSpPr/>
          <p:nvPr/>
        </p:nvSpPr>
        <p:spPr>
          <a:xfrm>
            <a:off x="5742432" y="3054096"/>
            <a:ext cx="320040" cy="109728"/>
          </a:xfrm>
          <a:prstGeom prst="rect">
            <a:avLst/>
          </a:prstGeom>
          <a:noFill/>
          <a:ln/>
        </p:spPr>
        <p:txBody>
          <a:bodyPr wrap="square" lIns="0" tIns="0" rIns="0" bIns="0" rtlCol="0" anchor="ctr"/>
          <a:lstStyle/>
          <a:p>
            <a:pPr indent="0" marL="0">
              <a:buNone/>
            </a:pPr>
            <a:r>
              <a:rPr lang="en-US" sz="1000" dirty="0">
                <a:solidFill>
                  <a:srgbClr val="555555"/>
                </a:solidFill>
                <a:latin typeface="Meiryo" pitchFamily="34" charset="0"/>
                <a:ea typeface="Meiryo" pitchFamily="34" charset="-122"/>
                <a:cs typeface="Meiryo" pitchFamily="34" charset="-120"/>
              </a:rPr>
              <a:t>誤差</a:t>
            </a:r>
            <a:endParaRPr lang="en-US" sz="1000" dirty="0"/>
          </a:p>
        </p:txBody>
      </p:sp>
      <p:sp>
        <p:nvSpPr>
          <p:cNvPr id="38" name="Text 36"/>
          <p:cNvSpPr/>
          <p:nvPr/>
        </p:nvSpPr>
        <p:spPr>
          <a:xfrm>
            <a:off x="9966960" y="4407408"/>
            <a:ext cx="822960" cy="109728"/>
          </a:xfrm>
          <a:prstGeom prst="rect">
            <a:avLst/>
          </a:prstGeom>
          <a:noFill/>
          <a:ln/>
        </p:spPr>
        <p:txBody>
          <a:bodyPr wrap="square" lIns="0" tIns="0" rIns="0" bIns="0" rtlCol="0" anchor="ctr"/>
          <a:lstStyle/>
          <a:p>
            <a:pPr indent="0" marL="0">
              <a:buNone/>
            </a:pPr>
            <a:r>
              <a:rPr lang="en-US" sz="1000" dirty="0">
                <a:solidFill>
                  <a:srgbClr val="555555"/>
                </a:solidFill>
                <a:latin typeface="Meiryo" pitchFamily="34" charset="0"/>
                <a:ea typeface="Meiryo" pitchFamily="34" charset="-122"/>
                <a:cs typeface="Meiryo" pitchFamily="34" charset="-120"/>
              </a:rPr>
              <a:t>壁からの距離</a:t>
            </a:r>
            <a:endParaRPr lang="en-US" sz="1000" dirty="0"/>
          </a:p>
        </p:txBody>
      </p:sp>
      <p:sp>
        <p:nvSpPr>
          <p:cNvPr id="39" name="Shape 37"/>
          <p:cNvSpPr/>
          <p:nvPr/>
        </p:nvSpPr>
        <p:spPr>
          <a:xfrm>
            <a:off x="6199632" y="3246120"/>
            <a:ext cx="475488" cy="210312"/>
          </a:xfrm>
          <a:prstGeom prst="line">
            <a:avLst/>
          </a:prstGeom>
          <a:noFill/>
          <a:ln w="31750">
            <a:solidFill>
              <a:srgbClr val="DC2626"/>
            </a:solidFill>
            <a:prstDash val="solid"/>
          </a:ln>
        </p:spPr>
      </p:sp>
      <p:sp>
        <p:nvSpPr>
          <p:cNvPr id="40" name="Shape 38"/>
          <p:cNvSpPr/>
          <p:nvPr/>
        </p:nvSpPr>
        <p:spPr>
          <a:xfrm>
            <a:off x="6675120" y="3456432"/>
            <a:ext cx="548640" cy="292608"/>
          </a:xfrm>
          <a:prstGeom prst="line">
            <a:avLst/>
          </a:prstGeom>
          <a:noFill/>
          <a:ln w="31750">
            <a:solidFill>
              <a:srgbClr val="DC2626"/>
            </a:solidFill>
            <a:prstDash val="solid"/>
          </a:ln>
        </p:spPr>
      </p:sp>
      <p:sp>
        <p:nvSpPr>
          <p:cNvPr id="41" name="Shape 39"/>
          <p:cNvSpPr/>
          <p:nvPr/>
        </p:nvSpPr>
        <p:spPr>
          <a:xfrm>
            <a:off x="7223760" y="3749040"/>
            <a:ext cx="640080" cy="228600"/>
          </a:xfrm>
          <a:prstGeom prst="line">
            <a:avLst/>
          </a:prstGeom>
          <a:noFill/>
          <a:ln w="31750">
            <a:solidFill>
              <a:srgbClr val="DC2626"/>
            </a:solidFill>
            <a:prstDash val="solid"/>
          </a:ln>
        </p:spPr>
      </p:sp>
      <p:sp>
        <p:nvSpPr>
          <p:cNvPr id="42" name="Shape 40"/>
          <p:cNvSpPr/>
          <p:nvPr/>
        </p:nvSpPr>
        <p:spPr>
          <a:xfrm>
            <a:off x="7863840" y="3977640"/>
            <a:ext cx="731520" cy="182880"/>
          </a:xfrm>
          <a:prstGeom prst="line">
            <a:avLst/>
          </a:prstGeom>
          <a:noFill/>
          <a:ln w="31750">
            <a:solidFill>
              <a:srgbClr val="DC2626"/>
            </a:solidFill>
            <a:prstDash val="solid"/>
          </a:ln>
        </p:spPr>
      </p:sp>
      <p:sp>
        <p:nvSpPr>
          <p:cNvPr id="43" name="Shape 41"/>
          <p:cNvSpPr/>
          <p:nvPr/>
        </p:nvSpPr>
        <p:spPr>
          <a:xfrm>
            <a:off x="8595360" y="4160520"/>
            <a:ext cx="914400" cy="64008"/>
          </a:xfrm>
          <a:prstGeom prst="line">
            <a:avLst/>
          </a:prstGeom>
          <a:noFill/>
          <a:ln w="31750">
            <a:solidFill>
              <a:srgbClr val="DC2626"/>
            </a:solidFill>
            <a:prstDash val="solid"/>
          </a:ln>
        </p:spPr>
      </p:sp>
      <p:sp>
        <p:nvSpPr>
          <p:cNvPr id="44" name="Shape 42"/>
          <p:cNvSpPr/>
          <p:nvPr/>
        </p:nvSpPr>
        <p:spPr>
          <a:xfrm>
            <a:off x="9509760" y="4224528"/>
            <a:ext cx="777240" cy="54864"/>
          </a:xfrm>
          <a:prstGeom prst="line">
            <a:avLst/>
          </a:prstGeom>
          <a:noFill/>
          <a:ln w="31750">
            <a:solidFill>
              <a:srgbClr val="DC2626"/>
            </a:solidFill>
            <a:prstDash val="solid"/>
          </a:ln>
        </p:spPr>
      </p:sp>
      <p:sp>
        <p:nvSpPr>
          <p:cNvPr id="45" name="Shape 43"/>
          <p:cNvSpPr/>
          <p:nvPr/>
        </p:nvSpPr>
        <p:spPr>
          <a:xfrm>
            <a:off x="6199632" y="3611880"/>
            <a:ext cx="475488" cy="155448"/>
          </a:xfrm>
          <a:prstGeom prst="line">
            <a:avLst/>
          </a:prstGeom>
          <a:noFill/>
          <a:ln w="22860">
            <a:solidFill>
              <a:srgbClr val="999999"/>
            </a:solidFill>
            <a:prstDash val="solid"/>
          </a:ln>
        </p:spPr>
      </p:sp>
      <p:sp>
        <p:nvSpPr>
          <p:cNvPr id="46" name="Shape 44"/>
          <p:cNvSpPr/>
          <p:nvPr/>
        </p:nvSpPr>
        <p:spPr>
          <a:xfrm>
            <a:off x="6675120" y="3767328"/>
            <a:ext cx="548640" cy="146304"/>
          </a:xfrm>
          <a:prstGeom prst="line">
            <a:avLst/>
          </a:prstGeom>
          <a:noFill/>
          <a:ln w="22860">
            <a:solidFill>
              <a:srgbClr val="999999"/>
            </a:solidFill>
            <a:prstDash val="solid"/>
          </a:ln>
        </p:spPr>
      </p:sp>
      <p:sp>
        <p:nvSpPr>
          <p:cNvPr id="47" name="Shape 45"/>
          <p:cNvSpPr/>
          <p:nvPr/>
        </p:nvSpPr>
        <p:spPr>
          <a:xfrm>
            <a:off x="7223760" y="3913632"/>
            <a:ext cx="640080" cy="137160"/>
          </a:xfrm>
          <a:prstGeom prst="line">
            <a:avLst/>
          </a:prstGeom>
          <a:noFill/>
          <a:ln w="22860">
            <a:solidFill>
              <a:srgbClr val="999999"/>
            </a:solidFill>
            <a:prstDash val="solid"/>
          </a:ln>
        </p:spPr>
      </p:sp>
      <p:sp>
        <p:nvSpPr>
          <p:cNvPr id="48" name="Shape 46"/>
          <p:cNvSpPr/>
          <p:nvPr/>
        </p:nvSpPr>
        <p:spPr>
          <a:xfrm>
            <a:off x="7863840" y="4050792"/>
            <a:ext cx="731520" cy="118872"/>
          </a:xfrm>
          <a:prstGeom prst="line">
            <a:avLst/>
          </a:prstGeom>
          <a:noFill/>
          <a:ln w="22860">
            <a:solidFill>
              <a:srgbClr val="999999"/>
            </a:solidFill>
            <a:prstDash val="solid"/>
          </a:ln>
        </p:spPr>
      </p:sp>
      <p:sp>
        <p:nvSpPr>
          <p:cNvPr id="49" name="Shape 47"/>
          <p:cNvSpPr/>
          <p:nvPr/>
        </p:nvSpPr>
        <p:spPr>
          <a:xfrm>
            <a:off x="8595360" y="4169664"/>
            <a:ext cx="914400" cy="73152"/>
          </a:xfrm>
          <a:prstGeom prst="line">
            <a:avLst/>
          </a:prstGeom>
          <a:noFill/>
          <a:ln w="22860">
            <a:solidFill>
              <a:srgbClr val="999999"/>
            </a:solidFill>
            <a:prstDash val="solid"/>
          </a:ln>
        </p:spPr>
      </p:sp>
      <p:sp>
        <p:nvSpPr>
          <p:cNvPr id="50" name="Shape 48"/>
          <p:cNvSpPr/>
          <p:nvPr/>
        </p:nvSpPr>
        <p:spPr>
          <a:xfrm>
            <a:off x="9509760" y="4242816"/>
            <a:ext cx="777240" cy="45720"/>
          </a:xfrm>
          <a:prstGeom prst="line">
            <a:avLst/>
          </a:prstGeom>
          <a:noFill/>
          <a:ln w="22860">
            <a:solidFill>
              <a:srgbClr val="999999"/>
            </a:solidFill>
            <a:prstDash val="solid"/>
          </a:ln>
        </p:spPr>
      </p:sp>
      <p:sp>
        <p:nvSpPr>
          <p:cNvPr id="51" name="Shape 49"/>
          <p:cNvSpPr/>
          <p:nvPr/>
        </p:nvSpPr>
        <p:spPr>
          <a:xfrm>
            <a:off x="10149840" y="2926080"/>
            <a:ext cx="640080" cy="182880"/>
          </a:xfrm>
          <a:prstGeom prst="roundRect">
            <a:avLst>
              <a:gd name="adj" fmla="val 25000"/>
            </a:avLst>
          </a:prstGeom>
          <a:solidFill>
            <a:srgbClr val="DC2626"/>
          </a:solidFill>
          <a:ln w="12700">
            <a:solidFill>
              <a:srgbClr val="DC2626"/>
            </a:solidFill>
            <a:prstDash val="solid"/>
          </a:ln>
        </p:spPr>
      </p:sp>
      <p:sp>
        <p:nvSpPr>
          <p:cNvPr id="52" name="Text 50"/>
          <p:cNvSpPr/>
          <p:nvPr/>
        </p:nvSpPr>
        <p:spPr>
          <a:xfrm>
            <a:off x="10149840" y="2935224"/>
            <a:ext cx="640080"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従来</a:t>
            </a:r>
            <a:endParaRPr lang="en-US" sz="1100" dirty="0"/>
          </a:p>
        </p:txBody>
      </p:sp>
      <p:sp>
        <p:nvSpPr>
          <p:cNvPr id="53" name="Shape 51"/>
          <p:cNvSpPr/>
          <p:nvPr/>
        </p:nvSpPr>
        <p:spPr>
          <a:xfrm>
            <a:off x="10149840" y="3182112"/>
            <a:ext cx="640080" cy="182880"/>
          </a:xfrm>
          <a:prstGeom prst="roundRect">
            <a:avLst>
              <a:gd name="adj" fmla="val 25000"/>
            </a:avLst>
          </a:prstGeom>
          <a:solidFill>
            <a:srgbClr val="999999"/>
          </a:solidFill>
          <a:ln w="12700">
            <a:solidFill>
              <a:srgbClr val="999999"/>
            </a:solidFill>
            <a:prstDash val="solid"/>
          </a:ln>
        </p:spPr>
      </p:sp>
      <p:sp>
        <p:nvSpPr>
          <p:cNvPr id="54" name="Text 52"/>
          <p:cNvSpPr/>
          <p:nvPr/>
        </p:nvSpPr>
        <p:spPr>
          <a:xfrm>
            <a:off x="10149840" y="3191256"/>
            <a:ext cx="640080"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目標</a:t>
            </a:r>
            <a:endParaRPr lang="en-US" sz="1100" dirty="0"/>
          </a:p>
        </p:txBody>
      </p:sp>
      <p:sp>
        <p:nvSpPr>
          <p:cNvPr id="55" name="Shape 53"/>
          <p:cNvSpPr/>
          <p:nvPr/>
        </p:nvSpPr>
        <p:spPr>
          <a:xfrm>
            <a:off x="5715000" y="4800600"/>
            <a:ext cx="5486400" cy="1051560"/>
          </a:xfrm>
          <a:prstGeom prst="roundRect">
            <a:avLst>
              <a:gd name="adj" fmla="val 5217"/>
            </a:avLst>
          </a:prstGeom>
          <a:solidFill>
            <a:srgbClr val="FFF8EE"/>
          </a:solidFill>
          <a:ln w="12700">
            <a:solidFill>
              <a:srgbClr val="F7D6A1"/>
            </a:solidFill>
            <a:prstDash val="solid"/>
          </a:ln>
        </p:spPr>
      </p:sp>
      <p:sp>
        <p:nvSpPr>
          <p:cNvPr id="56" name="Text 54"/>
          <p:cNvSpPr/>
          <p:nvPr/>
        </p:nvSpPr>
        <p:spPr>
          <a:xfrm>
            <a:off x="5870448" y="5029200"/>
            <a:ext cx="5074920" cy="47548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評価指標は global RMSE だけでなく、wall-band RMSE と En 誤差を別に持つ必要がある。</a:t>
            </a:r>
            <a:endParaRPr lang="en-US" sz="1500" dirty="0"/>
          </a:p>
        </p:txBody>
      </p:sp>
      <p:sp>
        <p:nvSpPr>
          <p:cNvPr id="57" name="Text 55"/>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従来の課題2: 入力電圧と誘電率が「空間化されず」に混ざる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713232" y="914400"/>
            <a:ext cx="10972800" cy="5303520"/>
          </a:xfrm>
          <a:prstGeom prst="roundRect">
            <a:avLst>
              <a:gd name="adj" fmla="val 1034"/>
            </a:avLst>
          </a:prstGeom>
          <a:solidFill>
            <a:srgbClr val="FFFFFF"/>
          </a:solidFill>
          <a:ln w="12700">
            <a:solidFill>
              <a:srgbClr val="D7E3ED"/>
            </a:solidFill>
            <a:prstDash val="solid"/>
          </a:ln>
        </p:spPr>
      </p:sp>
      <p:sp>
        <p:nvSpPr>
          <p:cNvPr id="7" name="Shape 5"/>
          <p:cNvSpPr/>
          <p:nvPr/>
        </p:nvSpPr>
        <p:spPr>
          <a:xfrm>
            <a:off x="877824" y="1042416"/>
            <a:ext cx="987552" cy="201168"/>
          </a:xfrm>
          <a:prstGeom prst="roundRect">
            <a:avLst>
              <a:gd name="adj" fmla="val 22727"/>
            </a:avLst>
          </a:prstGeom>
          <a:solidFill>
            <a:srgbClr val="DC2626"/>
          </a:solidFill>
          <a:ln w="12700">
            <a:solidFill>
              <a:srgbClr val="DC2626"/>
            </a:solidFill>
            <a:prstDash val="solid"/>
          </a:ln>
        </p:spPr>
      </p:sp>
      <p:sp>
        <p:nvSpPr>
          <p:cNvPr id="8" name="Text 6"/>
          <p:cNvSpPr/>
          <p:nvPr/>
        </p:nvSpPr>
        <p:spPr>
          <a:xfrm>
            <a:off x="877824" y="1051560"/>
            <a:ext cx="98755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対比の概念</a:t>
            </a:r>
            <a:endParaRPr lang="en-US" sz="1100" dirty="0"/>
          </a:p>
        </p:txBody>
      </p:sp>
      <p:sp>
        <p:nvSpPr>
          <p:cNvPr id="9" name="Shape 7"/>
          <p:cNvSpPr/>
          <p:nvPr/>
        </p:nvSpPr>
        <p:spPr>
          <a:xfrm>
            <a:off x="914400" y="1463040"/>
            <a:ext cx="3337560" cy="3474720"/>
          </a:xfrm>
          <a:prstGeom prst="roundRect">
            <a:avLst>
              <a:gd name="adj" fmla="val 1644"/>
            </a:avLst>
          </a:prstGeom>
          <a:solidFill>
            <a:srgbClr val="F9FBFD"/>
          </a:solidFill>
          <a:ln w="12700">
            <a:solidFill>
              <a:srgbClr val="D7E3ED"/>
            </a:solidFill>
            <a:prstDash val="solid"/>
          </a:ln>
        </p:spPr>
      </p:sp>
      <p:sp>
        <p:nvSpPr>
          <p:cNvPr id="10" name="Text 8"/>
          <p:cNvSpPr/>
          <p:nvPr/>
        </p:nvSpPr>
        <p:spPr>
          <a:xfrm>
            <a:off x="1078992" y="1609344"/>
            <a:ext cx="411480" cy="128016"/>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Case A</a:t>
            </a:r>
            <a:endParaRPr lang="en-US" sz="1600" dirty="0"/>
          </a:p>
        </p:txBody>
      </p:sp>
      <p:sp>
        <p:nvSpPr>
          <p:cNvPr id="11" name="Shape 9"/>
          <p:cNvSpPr/>
          <p:nvPr/>
        </p:nvSpPr>
        <p:spPr>
          <a:xfrm>
            <a:off x="1298448" y="2057400"/>
            <a:ext cx="1645920" cy="1874520"/>
          </a:xfrm>
          <a:prstGeom prst="roundRect">
            <a:avLst>
              <a:gd name="adj" fmla="val 2778"/>
            </a:avLst>
          </a:prstGeom>
          <a:solidFill>
            <a:srgbClr val="FFFFFF"/>
          </a:solidFill>
          <a:ln w="25400">
            <a:solidFill>
              <a:srgbClr val="6B7280"/>
            </a:solidFill>
            <a:prstDash val="solid"/>
          </a:ln>
        </p:spPr>
      </p:sp>
      <p:sp>
        <p:nvSpPr>
          <p:cNvPr id="12" name="Shape 10"/>
          <p:cNvSpPr/>
          <p:nvPr/>
        </p:nvSpPr>
        <p:spPr>
          <a:xfrm>
            <a:off x="1316736" y="3822192"/>
            <a:ext cx="160934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316736" y="2075688"/>
            <a:ext cx="109728" cy="183794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2816352" y="2075688"/>
            <a:ext cx="109728" cy="183794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527048" y="1984248"/>
            <a:ext cx="1188720" cy="109728"/>
          </a:xfrm>
          <a:prstGeom prst="rect">
            <a:avLst/>
          </a:prstGeom>
          <a:solidFill>
            <a:srgbClr val="10B981"/>
          </a:solidFill>
          <a:ln w="12700">
            <a:solidFill>
              <a:srgbClr val="10B981"/>
            </a:solidFill>
            <a:prstDash val="solid"/>
          </a:ln>
        </p:spPr>
      </p:sp>
      <p:sp>
        <p:nvSpPr>
          <p:cNvPr id="16" name="Text 14"/>
          <p:cNvSpPr/>
          <p:nvPr/>
        </p:nvSpPr>
        <p:spPr>
          <a:xfrm>
            <a:off x="1892808" y="184708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7" name="Shape 15"/>
          <p:cNvSpPr/>
          <p:nvPr/>
        </p:nvSpPr>
        <p:spPr>
          <a:xfrm>
            <a:off x="1709928" y="2221992"/>
            <a:ext cx="822960" cy="91440"/>
          </a:xfrm>
          <a:prstGeom prst="rect">
            <a:avLst/>
          </a:prstGeom>
          <a:solidFill>
            <a:srgbClr val="F59E0B"/>
          </a:solidFill>
          <a:ln w="12700">
            <a:solidFill>
              <a:srgbClr val="F59E0B"/>
            </a:solidFill>
            <a:prstDash val="solid"/>
          </a:ln>
        </p:spPr>
      </p:sp>
      <p:sp>
        <p:nvSpPr>
          <p:cNvPr id="18" name="Text 16"/>
          <p:cNvSpPr/>
          <p:nvPr/>
        </p:nvSpPr>
        <p:spPr>
          <a:xfrm>
            <a:off x="1801368"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9" name="Shape 17"/>
          <p:cNvSpPr/>
          <p:nvPr/>
        </p:nvSpPr>
        <p:spPr>
          <a:xfrm>
            <a:off x="1801368" y="3520440"/>
            <a:ext cx="640080" cy="100584"/>
          </a:xfrm>
          <a:prstGeom prst="rect">
            <a:avLst/>
          </a:prstGeom>
          <a:solidFill>
            <a:srgbClr val="B0B8C0"/>
          </a:solidFill>
          <a:ln w="12700">
            <a:solidFill>
              <a:srgbClr val="B0B8C0"/>
            </a:solidFill>
            <a:prstDash val="solid"/>
          </a:ln>
        </p:spPr>
      </p:sp>
      <p:sp>
        <p:nvSpPr>
          <p:cNvPr id="20" name="Text 18"/>
          <p:cNvSpPr/>
          <p:nvPr/>
        </p:nvSpPr>
        <p:spPr>
          <a:xfrm>
            <a:off x="1956816" y="367588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1" name="Shape 19"/>
          <p:cNvSpPr/>
          <p:nvPr/>
        </p:nvSpPr>
        <p:spPr>
          <a:xfrm>
            <a:off x="1426464" y="2313432"/>
            <a:ext cx="1389888" cy="146304"/>
          </a:xfrm>
          <a:prstGeom prst="rect">
            <a:avLst/>
          </a:prstGeom>
          <a:solidFill>
            <a:srgbClr val="39A8FF">
              <a:alpha val="30000"/>
            </a:srgbClr>
          </a:solidFill>
          <a:ln w="12700">
            <a:solidFill>
              <a:srgbClr val="39A8FF">
                <a:alpha val="0"/>
              </a:srgbClr>
            </a:solidFill>
            <a:prstDash val="solid"/>
          </a:ln>
        </p:spPr>
      </p:sp>
      <p:sp>
        <p:nvSpPr>
          <p:cNvPr id="22" name="Shape 20"/>
          <p:cNvSpPr/>
          <p:nvPr/>
        </p:nvSpPr>
        <p:spPr>
          <a:xfrm>
            <a:off x="1426464" y="3529584"/>
            <a:ext cx="1389888" cy="146304"/>
          </a:xfrm>
          <a:prstGeom prst="rect">
            <a:avLst/>
          </a:prstGeom>
          <a:solidFill>
            <a:srgbClr val="39A8FF">
              <a:alpha val="20000"/>
            </a:srgbClr>
          </a:solidFill>
          <a:ln w="12700">
            <a:solidFill>
              <a:srgbClr val="39A8FF">
                <a:alpha val="0"/>
              </a:srgbClr>
            </a:solidFill>
            <a:prstDash val="solid"/>
          </a:ln>
        </p:spPr>
      </p:sp>
      <p:sp>
        <p:nvSpPr>
          <p:cNvPr id="23" name="Shape 21"/>
          <p:cNvSpPr/>
          <p:nvPr/>
        </p:nvSpPr>
        <p:spPr>
          <a:xfrm>
            <a:off x="1426464" y="2459736"/>
            <a:ext cx="146304" cy="1069848"/>
          </a:xfrm>
          <a:prstGeom prst="rect">
            <a:avLst/>
          </a:prstGeom>
          <a:solidFill>
            <a:srgbClr val="39A8FF">
              <a:alpha val="20000"/>
            </a:srgbClr>
          </a:solidFill>
          <a:ln w="12700">
            <a:solidFill>
              <a:srgbClr val="39A8FF">
                <a:alpha val="0"/>
              </a:srgbClr>
            </a:solidFill>
            <a:prstDash val="solid"/>
          </a:ln>
        </p:spPr>
      </p:sp>
      <p:sp>
        <p:nvSpPr>
          <p:cNvPr id="24" name="Shape 22"/>
          <p:cNvSpPr/>
          <p:nvPr/>
        </p:nvSpPr>
        <p:spPr>
          <a:xfrm>
            <a:off x="2670048" y="2459736"/>
            <a:ext cx="146304" cy="1069848"/>
          </a:xfrm>
          <a:prstGeom prst="rect">
            <a:avLst/>
          </a:prstGeom>
          <a:solidFill>
            <a:srgbClr val="39A8FF">
              <a:alpha val="20000"/>
            </a:srgbClr>
          </a:solidFill>
          <a:ln w="12700">
            <a:solidFill>
              <a:srgbClr val="39A8FF">
                <a:alpha val="0"/>
              </a:srgbClr>
            </a:solidFill>
            <a:prstDash val="solid"/>
          </a:ln>
        </p:spPr>
      </p:sp>
      <p:sp>
        <p:nvSpPr>
          <p:cNvPr id="25" name="Shape 23"/>
          <p:cNvSpPr/>
          <p:nvPr/>
        </p:nvSpPr>
        <p:spPr>
          <a:xfrm>
            <a:off x="3310128" y="1993392"/>
            <a:ext cx="658368" cy="201168"/>
          </a:xfrm>
          <a:prstGeom prst="roundRect">
            <a:avLst>
              <a:gd name="adj" fmla="val 22727"/>
            </a:avLst>
          </a:prstGeom>
          <a:solidFill>
            <a:srgbClr val="F59E0B"/>
          </a:solidFill>
          <a:ln w="12700">
            <a:solidFill>
              <a:srgbClr val="F59E0B"/>
            </a:solidFill>
            <a:prstDash val="solid"/>
          </a:ln>
        </p:spPr>
      </p:sp>
      <p:sp>
        <p:nvSpPr>
          <p:cNvPr id="26" name="Text 24"/>
          <p:cNvSpPr/>
          <p:nvPr/>
        </p:nvSpPr>
        <p:spPr>
          <a:xfrm>
            <a:off x="3310128" y="2002536"/>
            <a:ext cx="65836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V=低</a:t>
            </a:r>
            <a:endParaRPr lang="en-US" sz="1100" dirty="0"/>
          </a:p>
        </p:txBody>
      </p:sp>
      <p:sp>
        <p:nvSpPr>
          <p:cNvPr id="27" name="Shape 25"/>
          <p:cNvSpPr/>
          <p:nvPr/>
        </p:nvSpPr>
        <p:spPr>
          <a:xfrm>
            <a:off x="3310128" y="2267712"/>
            <a:ext cx="822960" cy="201168"/>
          </a:xfrm>
          <a:prstGeom prst="roundRect">
            <a:avLst>
              <a:gd name="adj" fmla="val 22727"/>
            </a:avLst>
          </a:prstGeom>
          <a:solidFill>
            <a:srgbClr val="10B981"/>
          </a:solidFill>
          <a:ln w="12700">
            <a:solidFill>
              <a:srgbClr val="10B981"/>
            </a:solidFill>
            <a:prstDash val="solid"/>
          </a:ln>
        </p:spPr>
      </p:sp>
      <p:sp>
        <p:nvSpPr>
          <p:cNvPr id="28" name="Text 26"/>
          <p:cNvSpPr/>
          <p:nvPr/>
        </p:nvSpPr>
        <p:spPr>
          <a:xfrm>
            <a:off x="3310128" y="2276856"/>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εr=低</a:t>
            </a:r>
            <a:endParaRPr lang="en-US" sz="1100" dirty="0"/>
          </a:p>
        </p:txBody>
      </p:sp>
      <p:sp>
        <p:nvSpPr>
          <p:cNvPr id="29" name="Text 27"/>
          <p:cNvSpPr/>
          <p:nvPr/>
        </p:nvSpPr>
        <p:spPr>
          <a:xfrm>
            <a:off x="1078992" y="4389120"/>
            <a:ext cx="2834640" cy="256032"/>
          </a:xfrm>
          <a:prstGeom prst="rect">
            <a:avLst/>
          </a:prstGeom>
          <a:noFill/>
          <a:ln/>
        </p:spPr>
        <p:txBody>
          <a:bodyPr wrap="square" lIns="0" tIns="0" rIns="0" bIns="0" rtlCol="0" anchor="ctr">
            <a:normAutofit/>
          </a:bodyPr>
          <a:lstStyle/>
          <a:p>
            <a:pPr algn="ctr" indent="0" marL="0">
              <a:buNone/>
            </a:pPr>
            <a:r>
              <a:rPr lang="en-US" sz="1400" dirty="0">
                <a:solidFill>
                  <a:srgbClr val="111111"/>
                </a:solidFill>
                <a:latin typeface="Meiryo" pitchFamily="34" charset="0"/>
                <a:ea typeface="Meiryo" pitchFamily="34" charset="-122"/>
                <a:cs typeface="Meiryo" pitchFamily="34" charset="-120"/>
              </a:rPr>
              <a:t>同じ mask でも、内部電位分布は異なる</a:t>
            </a:r>
            <a:endParaRPr lang="en-US" sz="1400" dirty="0"/>
          </a:p>
        </p:txBody>
      </p:sp>
      <p:sp>
        <p:nvSpPr>
          <p:cNvPr id="30" name="Shape 28"/>
          <p:cNvSpPr/>
          <p:nvPr/>
        </p:nvSpPr>
        <p:spPr>
          <a:xfrm>
            <a:off x="4526280" y="1463040"/>
            <a:ext cx="3337560" cy="3474720"/>
          </a:xfrm>
          <a:prstGeom prst="roundRect">
            <a:avLst>
              <a:gd name="adj" fmla="val 1644"/>
            </a:avLst>
          </a:prstGeom>
          <a:solidFill>
            <a:srgbClr val="F9FBFD"/>
          </a:solidFill>
          <a:ln w="12700">
            <a:solidFill>
              <a:srgbClr val="D7E3ED"/>
            </a:solidFill>
            <a:prstDash val="solid"/>
          </a:ln>
        </p:spPr>
      </p:sp>
      <p:sp>
        <p:nvSpPr>
          <p:cNvPr id="31" name="Text 29"/>
          <p:cNvSpPr/>
          <p:nvPr/>
        </p:nvSpPr>
        <p:spPr>
          <a:xfrm>
            <a:off x="4690872" y="1609344"/>
            <a:ext cx="411480" cy="128016"/>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Case B</a:t>
            </a:r>
            <a:endParaRPr lang="en-US" sz="1600" dirty="0"/>
          </a:p>
        </p:txBody>
      </p:sp>
      <p:sp>
        <p:nvSpPr>
          <p:cNvPr id="32" name="Shape 30"/>
          <p:cNvSpPr/>
          <p:nvPr/>
        </p:nvSpPr>
        <p:spPr>
          <a:xfrm>
            <a:off x="4910328" y="2057400"/>
            <a:ext cx="1645920" cy="1874520"/>
          </a:xfrm>
          <a:prstGeom prst="roundRect">
            <a:avLst>
              <a:gd name="adj" fmla="val 2778"/>
            </a:avLst>
          </a:prstGeom>
          <a:solidFill>
            <a:srgbClr val="FFFFFF"/>
          </a:solidFill>
          <a:ln w="25400">
            <a:solidFill>
              <a:srgbClr val="6B7280"/>
            </a:solidFill>
            <a:prstDash val="solid"/>
          </a:ln>
        </p:spPr>
      </p:sp>
      <p:sp>
        <p:nvSpPr>
          <p:cNvPr id="33" name="Shape 31"/>
          <p:cNvSpPr/>
          <p:nvPr/>
        </p:nvSpPr>
        <p:spPr>
          <a:xfrm>
            <a:off x="4928616" y="3822192"/>
            <a:ext cx="1609344" cy="91440"/>
          </a:xfrm>
          <a:prstGeom prst="rect">
            <a:avLst/>
          </a:prstGeom>
          <a:solidFill>
            <a:srgbClr val="6B7280">
              <a:alpha val="75000"/>
            </a:srgbClr>
          </a:solidFill>
          <a:ln w="12700">
            <a:solidFill>
              <a:srgbClr val="6B7280">
                <a:alpha val="0"/>
              </a:srgbClr>
            </a:solidFill>
            <a:prstDash val="solid"/>
          </a:ln>
        </p:spPr>
      </p:sp>
      <p:sp>
        <p:nvSpPr>
          <p:cNvPr id="34" name="Shape 32"/>
          <p:cNvSpPr/>
          <p:nvPr/>
        </p:nvSpPr>
        <p:spPr>
          <a:xfrm>
            <a:off x="4928616" y="2075688"/>
            <a:ext cx="109728" cy="1837944"/>
          </a:xfrm>
          <a:prstGeom prst="rect">
            <a:avLst/>
          </a:prstGeom>
          <a:solidFill>
            <a:srgbClr val="6B7280">
              <a:alpha val="75000"/>
            </a:srgbClr>
          </a:solidFill>
          <a:ln w="12700">
            <a:solidFill>
              <a:srgbClr val="6B7280">
                <a:alpha val="0"/>
              </a:srgbClr>
            </a:solidFill>
            <a:prstDash val="solid"/>
          </a:ln>
        </p:spPr>
      </p:sp>
      <p:sp>
        <p:nvSpPr>
          <p:cNvPr id="35" name="Shape 33"/>
          <p:cNvSpPr/>
          <p:nvPr/>
        </p:nvSpPr>
        <p:spPr>
          <a:xfrm>
            <a:off x="6428232" y="2075688"/>
            <a:ext cx="109728" cy="1837944"/>
          </a:xfrm>
          <a:prstGeom prst="rect">
            <a:avLst/>
          </a:prstGeom>
          <a:solidFill>
            <a:srgbClr val="6B7280">
              <a:alpha val="75000"/>
            </a:srgbClr>
          </a:solidFill>
          <a:ln w="12700">
            <a:solidFill>
              <a:srgbClr val="6B7280">
                <a:alpha val="0"/>
              </a:srgbClr>
            </a:solidFill>
            <a:prstDash val="solid"/>
          </a:ln>
        </p:spPr>
      </p:sp>
      <p:sp>
        <p:nvSpPr>
          <p:cNvPr id="36" name="Shape 34"/>
          <p:cNvSpPr/>
          <p:nvPr/>
        </p:nvSpPr>
        <p:spPr>
          <a:xfrm>
            <a:off x="5138928" y="1984248"/>
            <a:ext cx="1188720" cy="109728"/>
          </a:xfrm>
          <a:prstGeom prst="rect">
            <a:avLst/>
          </a:prstGeom>
          <a:solidFill>
            <a:srgbClr val="10B981"/>
          </a:solidFill>
          <a:ln w="12700">
            <a:solidFill>
              <a:srgbClr val="10B981"/>
            </a:solidFill>
            <a:prstDash val="solid"/>
          </a:ln>
        </p:spPr>
      </p:sp>
      <p:sp>
        <p:nvSpPr>
          <p:cNvPr id="37" name="Text 35"/>
          <p:cNvSpPr/>
          <p:nvPr/>
        </p:nvSpPr>
        <p:spPr>
          <a:xfrm>
            <a:off x="5504688" y="184708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38" name="Shape 36"/>
          <p:cNvSpPr/>
          <p:nvPr/>
        </p:nvSpPr>
        <p:spPr>
          <a:xfrm>
            <a:off x="5321808" y="2221992"/>
            <a:ext cx="822960" cy="91440"/>
          </a:xfrm>
          <a:prstGeom prst="rect">
            <a:avLst/>
          </a:prstGeom>
          <a:solidFill>
            <a:srgbClr val="F59E0B"/>
          </a:solidFill>
          <a:ln w="12700">
            <a:solidFill>
              <a:srgbClr val="F59E0B"/>
            </a:solidFill>
            <a:prstDash val="solid"/>
          </a:ln>
        </p:spPr>
      </p:sp>
      <p:sp>
        <p:nvSpPr>
          <p:cNvPr id="39" name="Text 37"/>
          <p:cNvSpPr/>
          <p:nvPr/>
        </p:nvSpPr>
        <p:spPr>
          <a:xfrm>
            <a:off x="5413248"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40" name="Shape 38"/>
          <p:cNvSpPr/>
          <p:nvPr/>
        </p:nvSpPr>
        <p:spPr>
          <a:xfrm>
            <a:off x="5413248" y="3520440"/>
            <a:ext cx="640080" cy="100584"/>
          </a:xfrm>
          <a:prstGeom prst="rect">
            <a:avLst/>
          </a:prstGeom>
          <a:solidFill>
            <a:srgbClr val="B0B8C0"/>
          </a:solidFill>
          <a:ln w="12700">
            <a:solidFill>
              <a:srgbClr val="B0B8C0"/>
            </a:solidFill>
            <a:prstDash val="solid"/>
          </a:ln>
        </p:spPr>
      </p:sp>
      <p:sp>
        <p:nvSpPr>
          <p:cNvPr id="41" name="Text 39"/>
          <p:cNvSpPr/>
          <p:nvPr/>
        </p:nvSpPr>
        <p:spPr>
          <a:xfrm>
            <a:off x="5568696" y="367588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42" name="Shape 40"/>
          <p:cNvSpPr/>
          <p:nvPr/>
        </p:nvSpPr>
        <p:spPr>
          <a:xfrm>
            <a:off x="5038344" y="2313432"/>
            <a:ext cx="1389888" cy="146304"/>
          </a:xfrm>
          <a:prstGeom prst="rect">
            <a:avLst/>
          </a:prstGeom>
          <a:solidFill>
            <a:srgbClr val="39A8FF">
              <a:alpha val="30000"/>
            </a:srgbClr>
          </a:solidFill>
          <a:ln w="12700">
            <a:solidFill>
              <a:srgbClr val="39A8FF">
                <a:alpha val="0"/>
              </a:srgbClr>
            </a:solidFill>
            <a:prstDash val="solid"/>
          </a:ln>
        </p:spPr>
      </p:sp>
      <p:sp>
        <p:nvSpPr>
          <p:cNvPr id="43" name="Shape 41"/>
          <p:cNvSpPr/>
          <p:nvPr/>
        </p:nvSpPr>
        <p:spPr>
          <a:xfrm>
            <a:off x="5038344" y="3529584"/>
            <a:ext cx="1389888" cy="146304"/>
          </a:xfrm>
          <a:prstGeom prst="rect">
            <a:avLst/>
          </a:prstGeom>
          <a:solidFill>
            <a:srgbClr val="39A8FF">
              <a:alpha val="20000"/>
            </a:srgbClr>
          </a:solidFill>
          <a:ln w="12700">
            <a:solidFill>
              <a:srgbClr val="39A8FF">
                <a:alpha val="0"/>
              </a:srgbClr>
            </a:solidFill>
            <a:prstDash val="solid"/>
          </a:ln>
        </p:spPr>
      </p:sp>
      <p:sp>
        <p:nvSpPr>
          <p:cNvPr id="44" name="Shape 42"/>
          <p:cNvSpPr/>
          <p:nvPr/>
        </p:nvSpPr>
        <p:spPr>
          <a:xfrm>
            <a:off x="5038344" y="2459736"/>
            <a:ext cx="146304" cy="1069848"/>
          </a:xfrm>
          <a:prstGeom prst="rect">
            <a:avLst/>
          </a:prstGeom>
          <a:solidFill>
            <a:srgbClr val="39A8FF">
              <a:alpha val="20000"/>
            </a:srgbClr>
          </a:solidFill>
          <a:ln w="12700">
            <a:solidFill>
              <a:srgbClr val="39A8FF">
                <a:alpha val="0"/>
              </a:srgbClr>
            </a:solidFill>
            <a:prstDash val="solid"/>
          </a:ln>
        </p:spPr>
      </p:sp>
      <p:sp>
        <p:nvSpPr>
          <p:cNvPr id="45" name="Shape 43"/>
          <p:cNvSpPr/>
          <p:nvPr/>
        </p:nvSpPr>
        <p:spPr>
          <a:xfrm>
            <a:off x="6281928" y="2459736"/>
            <a:ext cx="146304" cy="1069848"/>
          </a:xfrm>
          <a:prstGeom prst="rect">
            <a:avLst/>
          </a:prstGeom>
          <a:solidFill>
            <a:srgbClr val="39A8FF">
              <a:alpha val="20000"/>
            </a:srgbClr>
          </a:solidFill>
          <a:ln w="12700">
            <a:solidFill>
              <a:srgbClr val="39A8FF">
                <a:alpha val="0"/>
              </a:srgbClr>
            </a:solidFill>
            <a:prstDash val="solid"/>
          </a:ln>
        </p:spPr>
      </p:sp>
      <p:sp>
        <p:nvSpPr>
          <p:cNvPr id="46" name="Shape 44"/>
          <p:cNvSpPr/>
          <p:nvPr/>
        </p:nvSpPr>
        <p:spPr>
          <a:xfrm>
            <a:off x="5413248" y="2377440"/>
            <a:ext cx="0" cy="1051560"/>
          </a:xfrm>
          <a:prstGeom prst="line">
            <a:avLst/>
          </a:prstGeom>
          <a:noFill/>
          <a:ln w="19050">
            <a:solidFill>
              <a:srgbClr val="8A8A8A"/>
            </a:solidFill>
            <a:prstDash val="solid"/>
            <a:tailEnd type="triangle"/>
          </a:ln>
        </p:spPr>
      </p:sp>
      <p:sp>
        <p:nvSpPr>
          <p:cNvPr id="47" name="Shape 45"/>
          <p:cNvSpPr/>
          <p:nvPr/>
        </p:nvSpPr>
        <p:spPr>
          <a:xfrm>
            <a:off x="5596128" y="2377440"/>
            <a:ext cx="0" cy="1051560"/>
          </a:xfrm>
          <a:prstGeom prst="line">
            <a:avLst/>
          </a:prstGeom>
          <a:noFill/>
          <a:ln w="19050">
            <a:solidFill>
              <a:srgbClr val="8A8A8A"/>
            </a:solidFill>
            <a:prstDash val="solid"/>
            <a:tailEnd type="triangle"/>
          </a:ln>
        </p:spPr>
      </p:sp>
      <p:sp>
        <p:nvSpPr>
          <p:cNvPr id="48" name="Shape 46"/>
          <p:cNvSpPr/>
          <p:nvPr/>
        </p:nvSpPr>
        <p:spPr>
          <a:xfrm>
            <a:off x="5779008" y="2377440"/>
            <a:ext cx="0" cy="1051560"/>
          </a:xfrm>
          <a:prstGeom prst="line">
            <a:avLst/>
          </a:prstGeom>
          <a:noFill/>
          <a:ln w="19050">
            <a:solidFill>
              <a:srgbClr val="8A8A8A"/>
            </a:solidFill>
            <a:prstDash val="solid"/>
            <a:tailEnd type="triangle"/>
          </a:ln>
        </p:spPr>
      </p:sp>
      <p:sp>
        <p:nvSpPr>
          <p:cNvPr id="49" name="Shape 47"/>
          <p:cNvSpPr/>
          <p:nvPr/>
        </p:nvSpPr>
        <p:spPr>
          <a:xfrm>
            <a:off x="5961888" y="2377440"/>
            <a:ext cx="0" cy="1051560"/>
          </a:xfrm>
          <a:prstGeom prst="line">
            <a:avLst/>
          </a:prstGeom>
          <a:noFill/>
          <a:ln w="19050">
            <a:solidFill>
              <a:srgbClr val="8A8A8A"/>
            </a:solidFill>
            <a:prstDash val="solid"/>
            <a:tailEnd type="triangle"/>
          </a:ln>
        </p:spPr>
      </p:sp>
      <p:sp>
        <p:nvSpPr>
          <p:cNvPr id="50" name="Shape 48"/>
          <p:cNvSpPr/>
          <p:nvPr/>
        </p:nvSpPr>
        <p:spPr>
          <a:xfrm>
            <a:off x="6922008" y="1993392"/>
            <a:ext cx="658368" cy="201168"/>
          </a:xfrm>
          <a:prstGeom prst="roundRect">
            <a:avLst>
              <a:gd name="adj" fmla="val 22727"/>
            </a:avLst>
          </a:prstGeom>
          <a:solidFill>
            <a:srgbClr val="F59E0B"/>
          </a:solidFill>
          <a:ln w="12700">
            <a:solidFill>
              <a:srgbClr val="F59E0B"/>
            </a:solidFill>
            <a:prstDash val="solid"/>
          </a:ln>
        </p:spPr>
      </p:sp>
      <p:sp>
        <p:nvSpPr>
          <p:cNvPr id="51" name="Text 49"/>
          <p:cNvSpPr/>
          <p:nvPr/>
        </p:nvSpPr>
        <p:spPr>
          <a:xfrm>
            <a:off x="6922008" y="2002536"/>
            <a:ext cx="65836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V=高</a:t>
            </a:r>
            <a:endParaRPr lang="en-US" sz="1100" dirty="0"/>
          </a:p>
        </p:txBody>
      </p:sp>
      <p:sp>
        <p:nvSpPr>
          <p:cNvPr id="52" name="Shape 50"/>
          <p:cNvSpPr/>
          <p:nvPr/>
        </p:nvSpPr>
        <p:spPr>
          <a:xfrm>
            <a:off x="6922008" y="2267712"/>
            <a:ext cx="822960" cy="201168"/>
          </a:xfrm>
          <a:prstGeom prst="roundRect">
            <a:avLst>
              <a:gd name="adj" fmla="val 22727"/>
            </a:avLst>
          </a:prstGeom>
          <a:solidFill>
            <a:srgbClr val="10B981"/>
          </a:solidFill>
          <a:ln w="12700">
            <a:solidFill>
              <a:srgbClr val="10B981"/>
            </a:solidFill>
            <a:prstDash val="solid"/>
          </a:ln>
        </p:spPr>
      </p:sp>
      <p:sp>
        <p:nvSpPr>
          <p:cNvPr id="53" name="Text 51"/>
          <p:cNvSpPr/>
          <p:nvPr/>
        </p:nvSpPr>
        <p:spPr>
          <a:xfrm>
            <a:off x="6922008" y="2276856"/>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εr=高</a:t>
            </a:r>
            <a:endParaRPr lang="en-US" sz="1100" dirty="0"/>
          </a:p>
        </p:txBody>
      </p:sp>
      <p:sp>
        <p:nvSpPr>
          <p:cNvPr id="54" name="Text 52"/>
          <p:cNvSpPr/>
          <p:nvPr/>
        </p:nvSpPr>
        <p:spPr>
          <a:xfrm>
            <a:off x="4709160" y="4389120"/>
            <a:ext cx="2834640" cy="256032"/>
          </a:xfrm>
          <a:prstGeom prst="rect">
            <a:avLst/>
          </a:prstGeom>
          <a:noFill/>
          <a:ln/>
        </p:spPr>
        <p:txBody>
          <a:bodyPr wrap="square" lIns="0" tIns="0" rIns="0" bIns="0" rtlCol="0" anchor="ctr">
            <a:normAutofit/>
          </a:bodyPr>
          <a:lstStyle/>
          <a:p>
            <a:pPr algn="ctr" indent="0" marL="0">
              <a:buNone/>
            </a:pPr>
            <a:r>
              <a:rPr lang="en-US" sz="1400" dirty="0">
                <a:solidFill>
                  <a:srgbClr val="111111"/>
                </a:solidFill>
                <a:latin typeface="Meiryo" pitchFamily="34" charset="0"/>
                <a:ea typeface="Meiryo" pitchFamily="34" charset="-122"/>
                <a:cs typeface="Meiryo" pitchFamily="34" charset="-120"/>
              </a:rPr>
              <a:t>scalar 条件だけでは「どこにどう効くか」が弱い</a:t>
            </a:r>
            <a:endParaRPr lang="en-US" sz="1400" dirty="0"/>
          </a:p>
        </p:txBody>
      </p:sp>
      <p:sp>
        <p:nvSpPr>
          <p:cNvPr id="55" name="Shape 53"/>
          <p:cNvSpPr/>
          <p:nvPr/>
        </p:nvSpPr>
        <p:spPr>
          <a:xfrm>
            <a:off x="8183880" y="1463040"/>
            <a:ext cx="3246120" cy="3474720"/>
          </a:xfrm>
          <a:prstGeom prst="roundRect">
            <a:avLst>
              <a:gd name="adj" fmla="val 1690"/>
            </a:avLst>
          </a:prstGeom>
          <a:solidFill>
            <a:srgbClr val="FFF8EE"/>
          </a:solidFill>
          <a:ln w="12700">
            <a:solidFill>
              <a:srgbClr val="F7D6A1"/>
            </a:solidFill>
            <a:prstDash val="solid"/>
          </a:ln>
        </p:spPr>
      </p:sp>
      <p:sp>
        <p:nvSpPr>
          <p:cNvPr id="56" name="Text 54"/>
          <p:cNvSpPr/>
          <p:nvPr/>
        </p:nvSpPr>
        <p:spPr>
          <a:xfrm>
            <a:off x="8366760" y="1645920"/>
            <a:ext cx="1280160" cy="146304"/>
          </a:xfrm>
          <a:prstGeom prst="rect">
            <a:avLst/>
          </a:prstGeom>
          <a:noFill/>
          <a:ln/>
        </p:spPr>
        <p:txBody>
          <a:bodyPr wrap="square" lIns="0" tIns="0" rIns="0" bIns="0" rtlCol="0" anchor="ctr">
            <a:normAutofit/>
          </a:bodyPr>
          <a:lstStyle/>
          <a:p>
            <a:pPr algn="l" indent="0" marL="0">
              <a:buNone/>
            </a:pPr>
            <a:r>
              <a:rPr lang="en-US" sz="1600" b="1" dirty="0">
                <a:solidFill>
                  <a:srgbClr val="8A5A0A"/>
                </a:solidFill>
                <a:latin typeface="Meiryo" pitchFamily="34" charset="0"/>
                <a:ea typeface="Meiryo" pitchFamily="34" charset="-122"/>
                <a:cs typeface="Meiryo" pitchFamily="34" charset="-120"/>
              </a:rPr>
              <a:t>現行対策の限界</a:t>
            </a:r>
            <a:endParaRPr lang="en-US" sz="1600" dirty="0"/>
          </a:p>
        </p:txBody>
      </p:sp>
      <p:sp>
        <p:nvSpPr>
          <p:cNvPr id="57" name="Text 55"/>
          <p:cNvSpPr/>
          <p:nvPr/>
        </p:nvSpPr>
        <p:spPr>
          <a:xfrm>
            <a:off x="8394192" y="1938528"/>
            <a:ext cx="2743200" cy="169164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電圧値 V を 1 個追加しても、電極形状・位置・誘電体越し結合は別問題のまま</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材料 one-hot を増やしても、εr 差による界面電束変化は直接表れない</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結果として、電極端部・誘電体近傍・狭ギャップで外れやすい</a:t>
            </a:r>
            <a:endParaRPr lang="en-US" sz="1500" dirty="0"/>
          </a:p>
        </p:txBody>
      </p:sp>
      <p:sp>
        <p:nvSpPr>
          <p:cNvPr id="58" name="Shape 56"/>
          <p:cNvSpPr/>
          <p:nvPr/>
        </p:nvSpPr>
        <p:spPr>
          <a:xfrm>
            <a:off x="914400" y="5138928"/>
            <a:ext cx="10515600" cy="621792"/>
          </a:xfrm>
          <a:prstGeom prst="roundRect">
            <a:avLst>
              <a:gd name="adj" fmla="val 8824"/>
            </a:avLst>
          </a:prstGeom>
          <a:solidFill>
            <a:srgbClr val="F4FBFF"/>
          </a:solidFill>
          <a:ln w="12700">
            <a:solidFill>
              <a:srgbClr val="C7E7FF"/>
            </a:solidFill>
            <a:prstDash val="solid"/>
          </a:ln>
        </p:spPr>
      </p:sp>
      <p:sp>
        <p:nvSpPr>
          <p:cNvPr id="59" name="Text 57"/>
          <p:cNvSpPr/>
          <p:nvPr/>
        </p:nvSpPr>
        <p:spPr>
          <a:xfrm>
            <a:off x="1078992" y="5303520"/>
            <a:ext cx="10149840" cy="310896"/>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提案の視点: scalar 条件をそのまま入れるのではなく、電圧影響場 Φbc や εr map として空間マップ化して与える。</a:t>
            </a:r>
            <a:endParaRPr lang="en-US" sz="1500" dirty="0"/>
          </a:p>
        </p:txBody>
      </p:sp>
      <p:sp>
        <p:nvSpPr>
          <p:cNvPr id="60" name="Text 5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従来の課題3: ガス入力と排気を chamber pressure 1個で表し切れない</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713232" y="914400"/>
            <a:ext cx="10972800" cy="5303520"/>
          </a:xfrm>
          <a:prstGeom prst="roundRect">
            <a:avLst>
              <a:gd name="adj" fmla="val 1034"/>
            </a:avLst>
          </a:prstGeom>
          <a:solidFill>
            <a:srgbClr val="FFFFFF"/>
          </a:solidFill>
          <a:ln w="12700">
            <a:solidFill>
              <a:srgbClr val="D7E3ED"/>
            </a:solidFill>
            <a:prstDash val="solid"/>
          </a:ln>
        </p:spPr>
      </p:sp>
      <p:sp>
        <p:nvSpPr>
          <p:cNvPr id="7" name="Shape 5"/>
          <p:cNvSpPr/>
          <p:nvPr/>
        </p:nvSpPr>
        <p:spPr>
          <a:xfrm>
            <a:off x="896112" y="1417320"/>
            <a:ext cx="4617720" cy="4160520"/>
          </a:xfrm>
          <a:prstGeom prst="roundRect">
            <a:avLst>
              <a:gd name="adj" fmla="val 1319"/>
            </a:avLst>
          </a:prstGeom>
          <a:solidFill>
            <a:srgbClr val="F9FBFD"/>
          </a:solidFill>
          <a:ln w="12700">
            <a:solidFill>
              <a:srgbClr val="D7E3ED"/>
            </a:solidFill>
            <a:prstDash val="solid"/>
          </a:ln>
        </p:spPr>
      </p:sp>
      <p:sp>
        <p:nvSpPr>
          <p:cNvPr id="8" name="Text 6"/>
          <p:cNvSpPr/>
          <p:nvPr/>
        </p:nvSpPr>
        <p:spPr>
          <a:xfrm>
            <a:off x="1078992" y="1591056"/>
            <a:ext cx="16459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同じ圧力でも異なる内部状態</a:t>
            </a:r>
            <a:endParaRPr lang="en-US" sz="1600" dirty="0"/>
          </a:p>
        </p:txBody>
      </p:sp>
      <p:sp>
        <p:nvSpPr>
          <p:cNvPr id="9" name="Shape 7"/>
          <p:cNvSpPr/>
          <p:nvPr/>
        </p:nvSpPr>
        <p:spPr>
          <a:xfrm>
            <a:off x="1005840" y="2377440"/>
            <a:ext cx="365760" cy="0"/>
          </a:xfrm>
          <a:prstGeom prst="line">
            <a:avLst/>
          </a:prstGeom>
          <a:noFill/>
          <a:ln w="38100">
            <a:solidFill>
              <a:srgbClr val="3B82F6"/>
            </a:solidFill>
            <a:prstDash val="solid"/>
            <a:tailEnd type="triangle"/>
          </a:ln>
        </p:spPr>
      </p:sp>
      <p:sp>
        <p:nvSpPr>
          <p:cNvPr id="10" name="Shape 8"/>
          <p:cNvSpPr/>
          <p:nvPr/>
        </p:nvSpPr>
        <p:spPr>
          <a:xfrm>
            <a:off x="2560320" y="3566160"/>
            <a:ext cx="365760" cy="0"/>
          </a:xfrm>
          <a:prstGeom prst="line">
            <a:avLst/>
          </a:prstGeom>
          <a:noFill/>
          <a:ln w="38100">
            <a:solidFill>
              <a:srgbClr val="EF4444"/>
            </a:solidFill>
            <a:prstDash val="solid"/>
            <a:tailEnd type="triangle"/>
          </a:ln>
        </p:spPr>
      </p:sp>
      <p:sp>
        <p:nvSpPr>
          <p:cNvPr id="11" name="Shape 9"/>
          <p:cNvSpPr/>
          <p:nvPr/>
        </p:nvSpPr>
        <p:spPr>
          <a:xfrm>
            <a:off x="1234440" y="2057400"/>
            <a:ext cx="1463040" cy="1828800"/>
          </a:xfrm>
          <a:prstGeom prst="roundRect">
            <a:avLst>
              <a:gd name="adj" fmla="val 3125"/>
            </a:avLst>
          </a:prstGeom>
          <a:solidFill>
            <a:srgbClr val="FFFFFF"/>
          </a:solidFill>
          <a:ln w="25400">
            <a:solidFill>
              <a:srgbClr val="6B7280"/>
            </a:solidFill>
            <a:prstDash val="solid"/>
          </a:ln>
        </p:spPr>
      </p:sp>
      <p:sp>
        <p:nvSpPr>
          <p:cNvPr id="12" name="Shape 10"/>
          <p:cNvSpPr/>
          <p:nvPr/>
        </p:nvSpPr>
        <p:spPr>
          <a:xfrm>
            <a:off x="1252728" y="3776472"/>
            <a:ext cx="142646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52728" y="2075688"/>
            <a:ext cx="109728" cy="179222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2569464" y="2075688"/>
            <a:ext cx="109728" cy="179222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645920" y="2221992"/>
            <a:ext cx="640080" cy="91440"/>
          </a:xfrm>
          <a:prstGeom prst="rect">
            <a:avLst/>
          </a:prstGeom>
          <a:solidFill>
            <a:srgbClr val="F59E0B"/>
          </a:solidFill>
          <a:ln w="12700">
            <a:solidFill>
              <a:srgbClr val="F59E0B"/>
            </a:solidFill>
            <a:prstDash val="solid"/>
          </a:ln>
        </p:spPr>
      </p:sp>
      <p:sp>
        <p:nvSpPr>
          <p:cNvPr id="16" name="Text 14"/>
          <p:cNvSpPr/>
          <p:nvPr/>
        </p:nvSpPr>
        <p:spPr>
          <a:xfrm>
            <a:off x="1645920"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737360" y="3474720"/>
            <a:ext cx="457200" cy="100584"/>
          </a:xfrm>
          <a:prstGeom prst="rect">
            <a:avLst/>
          </a:prstGeom>
          <a:solidFill>
            <a:srgbClr val="B0B8C0"/>
          </a:solidFill>
          <a:ln w="12700">
            <a:solidFill>
              <a:srgbClr val="B0B8C0"/>
            </a:solidFill>
            <a:prstDash val="solid"/>
          </a:ln>
        </p:spPr>
      </p:sp>
      <p:sp>
        <p:nvSpPr>
          <p:cNvPr id="18" name="Text 16"/>
          <p:cNvSpPr/>
          <p:nvPr/>
        </p:nvSpPr>
        <p:spPr>
          <a:xfrm>
            <a:off x="1801368" y="363016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1188720" y="4160520"/>
            <a:ext cx="822960" cy="201168"/>
          </a:xfrm>
          <a:prstGeom prst="roundRect">
            <a:avLst>
              <a:gd name="adj" fmla="val 22727"/>
            </a:avLst>
          </a:prstGeom>
          <a:solidFill>
            <a:srgbClr val="3B82F6"/>
          </a:solidFill>
          <a:ln w="12700">
            <a:solidFill>
              <a:srgbClr val="3B82F6"/>
            </a:solidFill>
            <a:prstDash val="solid"/>
          </a:ln>
        </p:spPr>
      </p:sp>
      <p:sp>
        <p:nvSpPr>
          <p:cNvPr id="20" name="Text 18"/>
          <p:cNvSpPr/>
          <p:nvPr/>
        </p:nvSpPr>
        <p:spPr>
          <a:xfrm>
            <a:off x="1188720" y="4169664"/>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flow=低</a:t>
            </a:r>
            <a:endParaRPr lang="en-US" sz="1100" dirty="0"/>
          </a:p>
        </p:txBody>
      </p:sp>
      <p:sp>
        <p:nvSpPr>
          <p:cNvPr id="21" name="Shape 19"/>
          <p:cNvSpPr/>
          <p:nvPr/>
        </p:nvSpPr>
        <p:spPr>
          <a:xfrm>
            <a:off x="2057400" y="4160520"/>
            <a:ext cx="822960" cy="201168"/>
          </a:xfrm>
          <a:prstGeom prst="roundRect">
            <a:avLst>
              <a:gd name="adj" fmla="val 22727"/>
            </a:avLst>
          </a:prstGeom>
          <a:solidFill>
            <a:srgbClr val="EF4444"/>
          </a:solidFill>
          <a:ln w="12700">
            <a:solidFill>
              <a:srgbClr val="EF4444"/>
            </a:solidFill>
            <a:prstDash val="solid"/>
          </a:ln>
        </p:spPr>
      </p:sp>
      <p:sp>
        <p:nvSpPr>
          <p:cNvPr id="22" name="Text 20"/>
          <p:cNvSpPr/>
          <p:nvPr/>
        </p:nvSpPr>
        <p:spPr>
          <a:xfrm>
            <a:off x="2057400" y="4169664"/>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Seff=高</a:t>
            </a:r>
            <a:endParaRPr lang="en-US" sz="1100" dirty="0"/>
          </a:p>
        </p:txBody>
      </p:sp>
      <p:sp>
        <p:nvSpPr>
          <p:cNvPr id="23" name="Shape 21"/>
          <p:cNvSpPr/>
          <p:nvPr/>
        </p:nvSpPr>
        <p:spPr>
          <a:xfrm>
            <a:off x="3200400" y="2377440"/>
            <a:ext cx="365760" cy="0"/>
          </a:xfrm>
          <a:prstGeom prst="line">
            <a:avLst/>
          </a:prstGeom>
          <a:noFill/>
          <a:ln w="38100">
            <a:solidFill>
              <a:srgbClr val="3B82F6"/>
            </a:solidFill>
            <a:prstDash val="solid"/>
            <a:tailEnd type="triangle"/>
          </a:ln>
        </p:spPr>
      </p:sp>
      <p:sp>
        <p:nvSpPr>
          <p:cNvPr id="24" name="Shape 22"/>
          <p:cNvSpPr/>
          <p:nvPr/>
        </p:nvSpPr>
        <p:spPr>
          <a:xfrm>
            <a:off x="4754880" y="3566160"/>
            <a:ext cx="365760" cy="0"/>
          </a:xfrm>
          <a:prstGeom prst="line">
            <a:avLst/>
          </a:prstGeom>
          <a:noFill/>
          <a:ln w="38100">
            <a:solidFill>
              <a:srgbClr val="EF4444"/>
            </a:solidFill>
            <a:prstDash val="solid"/>
            <a:tailEnd type="triangle"/>
          </a:ln>
        </p:spPr>
      </p:sp>
      <p:sp>
        <p:nvSpPr>
          <p:cNvPr id="25" name="Shape 23"/>
          <p:cNvSpPr/>
          <p:nvPr/>
        </p:nvSpPr>
        <p:spPr>
          <a:xfrm>
            <a:off x="3429000" y="2057400"/>
            <a:ext cx="1463040" cy="1828800"/>
          </a:xfrm>
          <a:prstGeom prst="roundRect">
            <a:avLst>
              <a:gd name="adj" fmla="val 3125"/>
            </a:avLst>
          </a:prstGeom>
          <a:solidFill>
            <a:srgbClr val="FFFFFF"/>
          </a:solidFill>
          <a:ln w="25400">
            <a:solidFill>
              <a:srgbClr val="6B7280"/>
            </a:solidFill>
            <a:prstDash val="solid"/>
          </a:ln>
        </p:spPr>
      </p:sp>
      <p:sp>
        <p:nvSpPr>
          <p:cNvPr id="26" name="Shape 24"/>
          <p:cNvSpPr/>
          <p:nvPr/>
        </p:nvSpPr>
        <p:spPr>
          <a:xfrm>
            <a:off x="3447288" y="3776472"/>
            <a:ext cx="1426464" cy="91440"/>
          </a:xfrm>
          <a:prstGeom prst="rect">
            <a:avLst/>
          </a:prstGeom>
          <a:solidFill>
            <a:srgbClr val="6B7280">
              <a:alpha val="75000"/>
            </a:srgbClr>
          </a:solidFill>
          <a:ln w="12700">
            <a:solidFill>
              <a:srgbClr val="6B7280">
                <a:alpha val="0"/>
              </a:srgbClr>
            </a:solidFill>
            <a:prstDash val="solid"/>
          </a:ln>
        </p:spPr>
      </p:sp>
      <p:sp>
        <p:nvSpPr>
          <p:cNvPr id="27" name="Shape 25"/>
          <p:cNvSpPr/>
          <p:nvPr/>
        </p:nvSpPr>
        <p:spPr>
          <a:xfrm>
            <a:off x="3447288" y="2075688"/>
            <a:ext cx="109728" cy="1792224"/>
          </a:xfrm>
          <a:prstGeom prst="rect">
            <a:avLst/>
          </a:prstGeom>
          <a:solidFill>
            <a:srgbClr val="6B7280">
              <a:alpha val="75000"/>
            </a:srgbClr>
          </a:solidFill>
          <a:ln w="12700">
            <a:solidFill>
              <a:srgbClr val="6B7280">
                <a:alpha val="0"/>
              </a:srgbClr>
            </a:solidFill>
            <a:prstDash val="solid"/>
          </a:ln>
        </p:spPr>
      </p:sp>
      <p:sp>
        <p:nvSpPr>
          <p:cNvPr id="28" name="Shape 26"/>
          <p:cNvSpPr/>
          <p:nvPr/>
        </p:nvSpPr>
        <p:spPr>
          <a:xfrm>
            <a:off x="4764024" y="2075688"/>
            <a:ext cx="109728" cy="1792224"/>
          </a:xfrm>
          <a:prstGeom prst="rect">
            <a:avLst/>
          </a:prstGeom>
          <a:solidFill>
            <a:srgbClr val="6B7280">
              <a:alpha val="75000"/>
            </a:srgbClr>
          </a:solidFill>
          <a:ln w="12700">
            <a:solidFill>
              <a:srgbClr val="6B7280">
                <a:alpha val="0"/>
              </a:srgbClr>
            </a:solidFill>
            <a:prstDash val="solid"/>
          </a:ln>
        </p:spPr>
      </p:sp>
      <p:sp>
        <p:nvSpPr>
          <p:cNvPr id="29" name="Shape 27"/>
          <p:cNvSpPr/>
          <p:nvPr/>
        </p:nvSpPr>
        <p:spPr>
          <a:xfrm>
            <a:off x="3840480" y="2221992"/>
            <a:ext cx="640080" cy="91440"/>
          </a:xfrm>
          <a:prstGeom prst="rect">
            <a:avLst/>
          </a:prstGeom>
          <a:solidFill>
            <a:srgbClr val="F59E0B"/>
          </a:solidFill>
          <a:ln w="12700">
            <a:solidFill>
              <a:srgbClr val="F59E0B"/>
            </a:solidFill>
            <a:prstDash val="solid"/>
          </a:ln>
        </p:spPr>
      </p:sp>
      <p:sp>
        <p:nvSpPr>
          <p:cNvPr id="30" name="Text 28"/>
          <p:cNvSpPr/>
          <p:nvPr/>
        </p:nvSpPr>
        <p:spPr>
          <a:xfrm>
            <a:off x="3840480"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31" name="Shape 29"/>
          <p:cNvSpPr/>
          <p:nvPr/>
        </p:nvSpPr>
        <p:spPr>
          <a:xfrm>
            <a:off x="3931920" y="3474720"/>
            <a:ext cx="457200" cy="100584"/>
          </a:xfrm>
          <a:prstGeom prst="rect">
            <a:avLst/>
          </a:prstGeom>
          <a:solidFill>
            <a:srgbClr val="B0B8C0"/>
          </a:solidFill>
          <a:ln w="12700">
            <a:solidFill>
              <a:srgbClr val="B0B8C0"/>
            </a:solidFill>
            <a:prstDash val="solid"/>
          </a:ln>
        </p:spPr>
      </p:sp>
      <p:sp>
        <p:nvSpPr>
          <p:cNvPr id="32" name="Text 30"/>
          <p:cNvSpPr/>
          <p:nvPr/>
        </p:nvSpPr>
        <p:spPr>
          <a:xfrm>
            <a:off x="3995928" y="363016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3" name="Shape 31"/>
          <p:cNvSpPr/>
          <p:nvPr/>
        </p:nvSpPr>
        <p:spPr>
          <a:xfrm>
            <a:off x="3931920" y="2377440"/>
            <a:ext cx="0" cy="1005840"/>
          </a:xfrm>
          <a:prstGeom prst="line">
            <a:avLst/>
          </a:prstGeom>
          <a:noFill/>
          <a:ln w="19050">
            <a:solidFill>
              <a:srgbClr val="8A8A8A"/>
            </a:solidFill>
            <a:prstDash val="solid"/>
            <a:tailEnd type="triangle"/>
          </a:ln>
        </p:spPr>
      </p:sp>
      <p:sp>
        <p:nvSpPr>
          <p:cNvPr id="34" name="Shape 32"/>
          <p:cNvSpPr/>
          <p:nvPr/>
        </p:nvSpPr>
        <p:spPr>
          <a:xfrm>
            <a:off x="4053840" y="2377440"/>
            <a:ext cx="0" cy="1005840"/>
          </a:xfrm>
          <a:prstGeom prst="line">
            <a:avLst/>
          </a:prstGeom>
          <a:noFill/>
          <a:ln w="19050">
            <a:solidFill>
              <a:srgbClr val="8A8A8A"/>
            </a:solidFill>
            <a:prstDash val="solid"/>
            <a:tailEnd type="triangle"/>
          </a:ln>
        </p:spPr>
      </p:sp>
      <p:sp>
        <p:nvSpPr>
          <p:cNvPr id="35" name="Shape 33"/>
          <p:cNvSpPr/>
          <p:nvPr/>
        </p:nvSpPr>
        <p:spPr>
          <a:xfrm>
            <a:off x="4175760" y="2377440"/>
            <a:ext cx="0" cy="1005840"/>
          </a:xfrm>
          <a:prstGeom prst="line">
            <a:avLst/>
          </a:prstGeom>
          <a:noFill/>
          <a:ln w="19050">
            <a:solidFill>
              <a:srgbClr val="8A8A8A"/>
            </a:solidFill>
            <a:prstDash val="solid"/>
            <a:tailEnd type="triangle"/>
          </a:ln>
        </p:spPr>
      </p:sp>
      <p:sp>
        <p:nvSpPr>
          <p:cNvPr id="36" name="Shape 34"/>
          <p:cNvSpPr/>
          <p:nvPr/>
        </p:nvSpPr>
        <p:spPr>
          <a:xfrm>
            <a:off x="4297680" y="2377440"/>
            <a:ext cx="0" cy="1005840"/>
          </a:xfrm>
          <a:prstGeom prst="line">
            <a:avLst/>
          </a:prstGeom>
          <a:noFill/>
          <a:ln w="19050">
            <a:solidFill>
              <a:srgbClr val="8A8A8A"/>
            </a:solidFill>
            <a:prstDash val="solid"/>
            <a:tailEnd type="triangle"/>
          </a:ln>
        </p:spPr>
      </p:sp>
      <p:sp>
        <p:nvSpPr>
          <p:cNvPr id="37" name="Shape 35"/>
          <p:cNvSpPr/>
          <p:nvPr/>
        </p:nvSpPr>
        <p:spPr>
          <a:xfrm>
            <a:off x="3383280" y="4160520"/>
            <a:ext cx="822960" cy="201168"/>
          </a:xfrm>
          <a:prstGeom prst="roundRect">
            <a:avLst>
              <a:gd name="adj" fmla="val 22727"/>
            </a:avLst>
          </a:prstGeom>
          <a:solidFill>
            <a:srgbClr val="3B82F6"/>
          </a:solidFill>
          <a:ln w="12700">
            <a:solidFill>
              <a:srgbClr val="3B82F6"/>
            </a:solidFill>
            <a:prstDash val="solid"/>
          </a:ln>
        </p:spPr>
      </p:sp>
      <p:sp>
        <p:nvSpPr>
          <p:cNvPr id="38" name="Text 36"/>
          <p:cNvSpPr/>
          <p:nvPr/>
        </p:nvSpPr>
        <p:spPr>
          <a:xfrm>
            <a:off x="3383280" y="4169664"/>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flow=高</a:t>
            </a:r>
            <a:endParaRPr lang="en-US" sz="1100" dirty="0"/>
          </a:p>
        </p:txBody>
      </p:sp>
      <p:sp>
        <p:nvSpPr>
          <p:cNvPr id="39" name="Shape 37"/>
          <p:cNvSpPr/>
          <p:nvPr/>
        </p:nvSpPr>
        <p:spPr>
          <a:xfrm>
            <a:off x="4251960" y="4160520"/>
            <a:ext cx="822960" cy="201168"/>
          </a:xfrm>
          <a:prstGeom prst="roundRect">
            <a:avLst>
              <a:gd name="adj" fmla="val 22727"/>
            </a:avLst>
          </a:prstGeom>
          <a:solidFill>
            <a:srgbClr val="EF4444"/>
          </a:solidFill>
          <a:ln w="12700">
            <a:solidFill>
              <a:srgbClr val="EF4444"/>
            </a:solidFill>
            <a:prstDash val="solid"/>
          </a:ln>
        </p:spPr>
      </p:sp>
      <p:sp>
        <p:nvSpPr>
          <p:cNvPr id="40" name="Text 38"/>
          <p:cNvSpPr/>
          <p:nvPr/>
        </p:nvSpPr>
        <p:spPr>
          <a:xfrm>
            <a:off x="4251960" y="4169664"/>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Seff=低</a:t>
            </a:r>
            <a:endParaRPr lang="en-US" sz="1100" dirty="0"/>
          </a:p>
        </p:txBody>
      </p:sp>
      <p:sp>
        <p:nvSpPr>
          <p:cNvPr id="41" name="Text 39"/>
          <p:cNvSpPr/>
          <p:nvPr/>
        </p:nvSpPr>
        <p:spPr>
          <a:xfrm>
            <a:off x="1051560" y="4572000"/>
            <a:ext cx="4023360" cy="292608"/>
          </a:xfrm>
          <a:prstGeom prst="rect">
            <a:avLst/>
          </a:prstGeom>
          <a:noFill/>
          <a:ln/>
        </p:spPr>
        <p:txBody>
          <a:bodyPr wrap="square" lIns="0" tIns="0" rIns="0" bIns="0" rtlCol="0" anchor="ctr">
            <a:normAutofit/>
          </a:bodyPr>
          <a:lstStyle/>
          <a:p>
            <a:pPr algn="ctr" indent="0" marL="0">
              <a:buNone/>
            </a:pPr>
            <a:r>
              <a:rPr lang="en-US" sz="1400" dirty="0">
                <a:solidFill>
                  <a:srgbClr val="111111"/>
                </a:solidFill>
                <a:latin typeface="Meiryo" pitchFamily="34" charset="0"/>
                <a:ea typeface="Meiryo" pitchFamily="34" charset="-122"/>
                <a:cs typeface="Meiryo" pitchFamily="34" charset="-120"/>
              </a:rPr>
              <a:t>測定圧力が同等でも、流量・組成・duct・pump 構成により分布は変わる</a:t>
            </a:r>
            <a:endParaRPr lang="en-US" sz="1400" dirty="0"/>
          </a:p>
        </p:txBody>
      </p:sp>
      <p:sp>
        <p:nvSpPr>
          <p:cNvPr id="42" name="Shape 40"/>
          <p:cNvSpPr/>
          <p:nvPr/>
        </p:nvSpPr>
        <p:spPr>
          <a:xfrm>
            <a:off x="5742432" y="1417320"/>
            <a:ext cx="2880360" cy="4160520"/>
          </a:xfrm>
          <a:prstGeom prst="roundRect">
            <a:avLst>
              <a:gd name="adj" fmla="val 1905"/>
            </a:avLst>
          </a:prstGeom>
          <a:solidFill>
            <a:srgbClr val="FFF8EE"/>
          </a:solidFill>
          <a:ln w="12700">
            <a:solidFill>
              <a:srgbClr val="F7D6A1"/>
            </a:solidFill>
            <a:prstDash val="solid"/>
          </a:ln>
        </p:spPr>
      </p:sp>
      <p:sp>
        <p:nvSpPr>
          <p:cNvPr id="43" name="Text 41"/>
          <p:cNvSpPr/>
          <p:nvPr/>
        </p:nvSpPr>
        <p:spPr>
          <a:xfrm>
            <a:off x="5925312" y="1591056"/>
            <a:ext cx="1280160" cy="146304"/>
          </a:xfrm>
          <a:prstGeom prst="rect">
            <a:avLst/>
          </a:prstGeom>
          <a:noFill/>
          <a:ln/>
        </p:spPr>
        <p:txBody>
          <a:bodyPr wrap="square" lIns="0" tIns="0" rIns="0" bIns="0" rtlCol="0" anchor="ctr">
            <a:normAutofit/>
          </a:bodyPr>
          <a:lstStyle/>
          <a:p>
            <a:pPr algn="l" indent="0" marL="0">
              <a:buNone/>
            </a:pPr>
            <a:r>
              <a:rPr lang="en-US" sz="1600" b="1" dirty="0">
                <a:solidFill>
                  <a:srgbClr val="8A5A0A"/>
                </a:solidFill>
                <a:latin typeface="Meiryo" pitchFamily="34" charset="0"/>
                <a:ea typeface="Meiryo" pitchFamily="34" charset="-122"/>
                <a:cs typeface="Meiryo" pitchFamily="34" charset="-120"/>
              </a:rPr>
              <a:t>現行対策の限界</a:t>
            </a:r>
            <a:endParaRPr lang="en-US" sz="1600" dirty="0"/>
          </a:p>
        </p:txBody>
      </p:sp>
      <p:sp>
        <p:nvSpPr>
          <p:cNvPr id="44" name="Text 42"/>
          <p:cNvSpPr/>
          <p:nvPr/>
        </p:nvSpPr>
        <p:spPr>
          <a:xfrm>
            <a:off x="5925312" y="1874520"/>
            <a:ext cx="2423160" cy="173736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pressure only では、mass-flow と pressure inlet の差が吸収されにくい</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公称ポンプ速度だけでは conductance 制約を表せない</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outlet 近傍の局所値だけでは bulk 状態の代理にならない場合がある</a:t>
            </a:r>
            <a:endParaRPr lang="en-US" sz="1500" dirty="0"/>
          </a:p>
        </p:txBody>
      </p:sp>
      <p:sp>
        <p:nvSpPr>
          <p:cNvPr id="45" name="Shape 43"/>
          <p:cNvSpPr/>
          <p:nvPr/>
        </p:nvSpPr>
        <p:spPr>
          <a:xfrm>
            <a:off x="8823960" y="1417320"/>
            <a:ext cx="2697480" cy="4160520"/>
          </a:xfrm>
          <a:prstGeom prst="roundRect">
            <a:avLst>
              <a:gd name="adj" fmla="val 2034"/>
            </a:avLst>
          </a:prstGeom>
          <a:solidFill>
            <a:srgbClr val="F4FBFF"/>
          </a:solidFill>
          <a:ln w="12700">
            <a:solidFill>
              <a:srgbClr val="C7E7FF"/>
            </a:solidFill>
            <a:prstDash val="solid"/>
          </a:ln>
        </p:spPr>
      </p:sp>
      <p:sp>
        <p:nvSpPr>
          <p:cNvPr id="46" name="Text 44"/>
          <p:cNvSpPr/>
          <p:nvPr/>
        </p:nvSpPr>
        <p:spPr>
          <a:xfrm>
            <a:off x="9015984" y="1591056"/>
            <a:ext cx="13716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必要な評価指標</a:t>
            </a:r>
            <a:endParaRPr lang="en-US" sz="1600" dirty="0"/>
          </a:p>
        </p:txBody>
      </p:sp>
      <p:sp>
        <p:nvSpPr>
          <p:cNvPr id="47" name="Text 45"/>
          <p:cNvSpPr/>
          <p:nvPr/>
        </p:nvSpPr>
        <p:spPr>
          <a:xfrm>
            <a:off x="9034272" y="1901952"/>
            <a:ext cx="2240280" cy="141732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inlet / outlet band RMSE</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port balance residual</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条件外挿時の安定性</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gauge 位置差に対する頑健性</a:t>
            </a:r>
            <a:endParaRPr lang="en-US" sz="1500" dirty="0"/>
          </a:p>
        </p:txBody>
      </p:sp>
      <p:sp>
        <p:nvSpPr>
          <p:cNvPr id="48" name="Shape 46"/>
          <p:cNvSpPr/>
          <p:nvPr/>
        </p:nvSpPr>
        <p:spPr>
          <a:xfrm>
            <a:off x="9015984" y="3886200"/>
            <a:ext cx="2139696" cy="1005840"/>
          </a:xfrm>
          <a:prstGeom prst="roundRect">
            <a:avLst>
              <a:gd name="adj" fmla="val 5455"/>
            </a:avLst>
          </a:prstGeom>
          <a:solidFill>
            <a:srgbClr val="FFFFFF"/>
          </a:solidFill>
          <a:ln w="12700">
            <a:solidFill>
              <a:srgbClr val="D7E3ED"/>
            </a:solidFill>
            <a:prstDash val="solid"/>
          </a:ln>
        </p:spPr>
      </p:sp>
      <p:sp>
        <p:nvSpPr>
          <p:cNvPr id="49" name="Text 47"/>
          <p:cNvSpPr/>
          <p:nvPr/>
        </p:nvSpPr>
        <p:spPr>
          <a:xfrm>
            <a:off x="9162288" y="4151376"/>
            <a:ext cx="1828800" cy="164592"/>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Seff = S·C / (S + C)</a:t>
            </a:r>
            <a:endParaRPr lang="en-US" sz="1400" dirty="0"/>
          </a:p>
        </p:txBody>
      </p:sp>
      <p:sp>
        <p:nvSpPr>
          <p:cNvPr id="50" name="Text 48"/>
          <p:cNvSpPr/>
          <p:nvPr/>
        </p:nvSpPr>
        <p:spPr>
          <a:xfrm>
            <a:off x="9107424" y="4553712"/>
            <a:ext cx="1965960" cy="201168"/>
          </a:xfrm>
          <a:prstGeom prst="rect">
            <a:avLst/>
          </a:prstGeom>
          <a:noFill/>
          <a:ln/>
        </p:spPr>
        <p:txBody>
          <a:bodyPr wrap="square" lIns="0" tIns="0" rIns="0" bIns="0" rtlCol="0" anchor="ctr">
            <a:normAutofit/>
          </a:bodyPr>
          <a:lstStyle/>
          <a:p>
            <a:pPr algn="ctr" indent="0" marL="0">
              <a:buNone/>
            </a:pPr>
            <a:r>
              <a:rPr lang="en-US" sz="1100" dirty="0">
                <a:solidFill>
                  <a:srgbClr val="555555"/>
                </a:solidFill>
                <a:latin typeface="Meiryo" pitchFamily="34" charset="0"/>
                <a:ea typeface="Meiryo" pitchFamily="34" charset="-122"/>
                <a:cs typeface="Meiryo" pitchFamily="34" charset="-120"/>
              </a:rPr>
              <a:t>排気能力は pump と conductance の合成で決まる</a:t>
            </a:r>
            <a:endParaRPr lang="en-US" sz="1100" dirty="0"/>
          </a:p>
        </p:txBody>
      </p:sp>
      <p:sp>
        <p:nvSpPr>
          <p:cNvPr id="51" name="Text 49"/>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現行対策の限界: 局所対策では境界条件の表現不足が残る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49240"/>
          </a:xfrm>
          <a:prstGeom prst="roundRect">
            <a:avLst>
              <a:gd name="adj" fmla="val 1026"/>
            </a:avLst>
          </a:prstGeom>
          <a:solidFill>
            <a:srgbClr val="FFFFFF"/>
          </a:solidFill>
          <a:ln w="12700">
            <a:solidFill>
              <a:srgbClr val="D7E3ED"/>
            </a:solidFill>
            <a:prstDash val="solid"/>
          </a:ln>
        </p:spPr>
      </p:sp>
      <p:sp>
        <p:nvSpPr>
          <p:cNvPr id="7" name="Text 5"/>
          <p:cNvSpPr/>
          <p:nvPr/>
        </p:nvSpPr>
        <p:spPr>
          <a:xfrm>
            <a:off x="896112" y="1078992"/>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よく行われる対策</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96112" y="1417320"/>
          <a:ext cx="5486400" cy="2880360"/>
        </p:xfrm>
        <a:graphic>
          <a:graphicData uri="http://schemas.openxmlformats.org/drawingml/2006/table">
            <a:tbl>
              <a:tblPr/>
              <a:tblGrid>
                <a:gridCol w="1207008"/>
                <a:gridCol w="1975104"/>
                <a:gridCol w="2304288"/>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mask チャネル追加</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位置の区別が増える</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境界の値や作用の空間化は弱い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材料 one-hot 追加</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材質区別が増える</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εr の連続値や界面 jump は表しにくい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全域 loss 重み付け</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壁近傍を少し重視できる</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何を重視するかは依然曖昧</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boundary crop 学習</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境界サンプル量は増える</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電圧・排気の空間作用は別途必要</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モデル大型化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表現力は増える</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データ効率と解釈性が悪化しやすい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9" name="Shape 6"/>
          <p:cNvSpPr/>
          <p:nvPr/>
        </p:nvSpPr>
        <p:spPr>
          <a:xfrm>
            <a:off x="6583680" y="1417320"/>
            <a:ext cx="4800600" cy="4480560"/>
          </a:xfrm>
          <a:prstGeom prst="roundRect">
            <a:avLst>
              <a:gd name="adj" fmla="val 1224"/>
            </a:avLst>
          </a:prstGeom>
          <a:solidFill>
            <a:srgbClr val="F9FBFD"/>
          </a:solidFill>
          <a:ln w="12700">
            <a:solidFill>
              <a:srgbClr val="D7E3ED"/>
            </a:solidFill>
            <a:prstDash val="solid"/>
          </a:ln>
        </p:spPr>
      </p:sp>
      <p:sp>
        <p:nvSpPr>
          <p:cNvPr id="10" name="Text 7"/>
          <p:cNvSpPr/>
          <p:nvPr/>
        </p:nvSpPr>
        <p:spPr>
          <a:xfrm>
            <a:off x="6766560" y="1591056"/>
            <a:ext cx="219456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局所対策だけでは「空間作用」が抜ける</a:t>
            </a:r>
            <a:endParaRPr lang="en-US" sz="1600" dirty="0"/>
          </a:p>
        </p:txBody>
      </p:sp>
      <p:sp>
        <p:nvSpPr>
          <p:cNvPr id="11" name="Shape 8"/>
          <p:cNvSpPr/>
          <p:nvPr/>
        </p:nvSpPr>
        <p:spPr>
          <a:xfrm>
            <a:off x="6903720" y="5166360"/>
            <a:ext cx="914400" cy="320040"/>
          </a:xfrm>
          <a:prstGeom prst="rect">
            <a:avLst/>
          </a:prstGeom>
          <a:solidFill>
            <a:srgbClr val="E5EEF8"/>
          </a:solidFill>
          <a:ln w="12700">
            <a:solidFill>
              <a:srgbClr val="BCD0E5"/>
            </a:solidFill>
            <a:prstDash val="solid"/>
          </a:ln>
        </p:spPr>
      </p:sp>
      <p:sp>
        <p:nvSpPr>
          <p:cNvPr id="12" name="Text 9"/>
          <p:cNvSpPr/>
          <p:nvPr/>
        </p:nvSpPr>
        <p:spPr>
          <a:xfrm>
            <a:off x="6903720" y="5253228"/>
            <a:ext cx="914400" cy="146304"/>
          </a:xfrm>
          <a:prstGeom prst="rect">
            <a:avLst/>
          </a:prstGeom>
          <a:noFill/>
          <a:ln/>
        </p:spPr>
        <p:txBody>
          <a:bodyPr wrap="square" lIns="0" tIns="0" rIns="0" bIns="0" rtlCol="0" anchor="ctr">
            <a:normAutofit/>
          </a:bodyPr>
          <a:lstStyle/>
          <a:p>
            <a:pPr algn="ctr" indent="0" marL="0">
              <a:buNone/>
            </a:pPr>
            <a:r>
              <a:rPr lang="en-US" sz="1200" b="1" dirty="0">
                <a:solidFill>
                  <a:srgbClr val="111111"/>
                </a:solidFill>
                <a:latin typeface="Meiryo" pitchFamily="34" charset="0"/>
                <a:ea typeface="Meiryo" pitchFamily="34" charset="-122"/>
                <a:cs typeface="Meiryo" pitchFamily="34" charset="-120"/>
              </a:rPr>
              <a:t>mask</a:t>
            </a:r>
            <a:endParaRPr lang="en-US" sz="1200" dirty="0"/>
          </a:p>
        </p:txBody>
      </p:sp>
      <p:sp>
        <p:nvSpPr>
          <p:cNvPr id="13" name="Shape 10"/>
          <p:cNvSpPr/>
          <p:nvPr/>
        </p:nvSpPr>
        <p:spPr>
          <a:xfrm>
            <a:off x="7909560" y="4709160"/>
            <a:ext cx="914400" cy="777240"/>
          </a:xfrm>
          <a:prstGeom prst="rect">
            <a:avLst/>
          </a:prstGeom>
          <a:solidFill>
            <a:srgbClr val="E5EEF8"/>
          </a:solidFill>
          <a:ln w="12700">
            <a:solidFill>
              <a:srgbClr val="BCD0E5"/>
            </a:solidFill>
            <a:prstDash val="solid"/>
          </a:ln>
        </p:spPr>
      </p:sp>
      <p:sp>
        <p:nvSpPr>
          <p:cNvPr id="14" name="Text 11"/>
          <p:cNvSpPr/>
          <p:nvPr/>
        </p:nvSpPr>
        <p:spPr>
          <a:xfrm>
            <a:off x="7909560" y="5024628"/>
            <a:ext cx="914400" cy="146304"/>
          </a:xfrm>
          <a:prstGeom prst="rect">
            <a:avLst/>
          </a:prstGeom>
          <a:noFill/>
          <a:ln/>
        </p:spPr>
        <p:txBody>
          <a:bodyPr wrap="square" lIns="0" tIns="0" rIns="0" bIns="0" rtlCol="0" anchor="ctr">
            <a:normAutofit/>
          </a:bodyPr>
          <a:lstStyle/>
          <a:p>
            <a:pPr algn="ctr" indent="0" marL="0">
              <a:buNone/>
            </a:pPr>
            <a:r>
              <a:rPr lang="en-US" sz="1200" b="1" dirty="0">
                <a:solidFill>
                  <a:srgbClr val="111111"/>
                </a:solidFill>
                <a:latin typeface="Meiryo" pitchFamily="34" charset="0"/>
                <a:ea typeface="Meiryo" pitchFamily="34" charset="-122"/>
                <a:cs typeface="Meiryo" pitchFamily="34" charset="-120"/>
              </a:rPr>
              <a:t>one-hot</a:t>
            </a:r>
            <a:endParaRPr lang="en-US" sz="1200" dirty="0"/>
          </a:p>
        </p:txBody>
      </p:sp>
      <p:sp>
        <p:nvSpPr>
          <p:cNvPr id="15" name="Shape 12"/>
          <p:cNvSpPr/>
          <p:nvPr/>
        </p:nvSpPr>
        <p:spPr>
          <a:xfrm>
            <a:off x="8915400" y="4114800"/>
            <a:ext cx="914400" cy="1371600"/>
          </a:xfrm>
          <a:prstGeom prst="rect">
            <a:avLst/>
          </a:prstGeom>
          <a:solidFill>
            <a:srgbClr val="E5EEF8"/>
          </a:solidFill>
          <a:ln w="12700">
            <a:solidFill>
              <a:srgbClr val="BCD0E5"/>
            </a:solidFill>
            <a:prstDash val="solid"/>
          </a:ln>
        </p:spPr>
      </p:sp>
      <p:sp>
        <p:nvSpPr>
          <p:cNvPr id="16" name="Text 13"/>
          <p:cNvSpPr/>
          <p:nvPr/>
        </p:nvSpPr>
        <p:spPr>
          <a:xfrm>
            <a:off x="8915400" y="4727448"/>
            <a:ext cx="914400" cy="146304"/>
          </a:xfrm>
          <a:prstGeom prst="rect">
            <a:avLst/>
          </a:prstGeom>
          <a:noFill/>
          <a:ln/>
        </p:spPr>
        <p:txBody>
          <a:bodyPr wrap="square" lIns="0" tIns="0" rIns="0" bIns="0" rtlCol="0" anchor="ctr">
            <a:normAutofit/>
          </a:bodyPr>
          <a:lstStyle/>
          <a:p>
            <a:pPr algn="ctr" indent="0" marL="0">
              <a:buNone/>
            </a:pPr>
            <a:r>
              <a:rPr lang="en-US" sz="1200" b="1" dirty="0">
                <a:solidFill>
                  <a:srgbClr val="111111"/>
                </a:solidFill>
                <a:latin typeface="Meiryo" pitchFamily="34" charset="0"/>
                <a:ea typeface="Meiryo" pitchFamily="34" charset="-122"/>
                <a:cs typeface="Meiryo" pitchFamily="34" charset="-120"/>
              </a:rPr>
              <a:t>loss</a:t>
            </a:r>
            <a:endParaRPr lang="en-US" sz="1200" dirty="0"/>
          </a:p>
        </p:txBody>
      </p:sp>
      <p:sp>
        <p:nvSpPr>
          <p:cNvPr id="17" name="Shape 14"/>
          <p:cNvSpPr/>
          <p:nvPr/>
        </p:nvSpPr>
        <p:spPr>
          <a:xfrm>
            <a:off x="9921240" y="3337560"/>
            <a:ext cx="914400" cy="2148840"/>
          </a:xfrm>
          <a:prstGeom prst="rect">
            <a:avLst/>
          </a:prstGeom>
          <a:solidFill>
            <a:srgbClr val="E5EEF8"/>
          </a:solidFill>
          <a:ln w="12700">
            <a:solidFill>
              <a:srgbClr val="BCD0E5"/>
            </a:solidFill>
            <a:prstDash val="solid"/>
          </a:ln>
        </p:spPr>
      </p:sp>
      <p:sp>
        <p:nvSpPr>
          <p:cNvPr id="18" name="Text 15"/>
          <p:cNvSpPr/>
          <p:nvPr/>
        </p:nvSpPr>
        <p:spPr>
          <a:xfrm>
            <a:off x="9921240" y="4338828"/>
            <a:ext cx="914400" cy="146304"/>
          </a:xfrm>
          <a:prstGeom prst="rect">
            <a:avLst/>
          </a:prstGeom>
          <a:noFill/>
          <a:ln/>
        </p:spPr>
        <p:txBody>
          <a:bodyPr wrap="square" lIns="0" tIns="0" rIns="0" bIns="0" rtlCol="0" anchor="ctr">
            <a:normAutofit/>
          </a:bodyPr>
          <a:lstStyle/>
          <a:p>
            <a:pPr algn="ctr" indent="0" marL="0">
              <a:buNone/>
            </a:pPr>
            <a:r>
              <a:rPr lang="en-US" sz="1200" b="1" dirty="0">
                <a:solidFill>
                  <a:srgbClr val="111111"/>
                </a:solidFill>
                <a:latin typeface="Meiryo" pitchFamily="34" charset="0"/>
                <a:ea typeface="Meiryo" pitchFamily="34" charset="-122"/>
                <a:cs typeface="Meiryo" pitchFamily="34" charset="-120"/>
              </a:rPr>
              <a:t>crop</a:t>
            </a:r>
            <a:endParaRPr lang="en-US" sz="1200" dirty="0"/>
          </a:p>
        </p:txBody>
      </p:sp>
      <p:sp>
        <p:nvSpPr>
          <p:cNvPr id="19" name="Shape 16"/>
          <p:cNvSpPr/>
          <p:nvPr/>
        </p:nvSpPr>
        <p:spPr>
          <a:xfrm>
            <a:off x="10927080" y="2788920"/>
            <a:ext cx="274320" cy="-777240"/>
          </a:xfrm>
          <a:prstGeom prst="line">
            <a:avLst/>
          </a:prstGeom>
          <a:noFill/>
          <a:ln w="25400">
            <a:solidFill>
              <a:srgbClr val="DC2626"/>
            </a:solidFill>
            <a:prstDash val="solid"/>
            <a:tailEnd type="triangle"/>
          </a:ln>
        </p:spPr>
      </p:sp>
      <p:sp>
        <p:nvSpPr>
          <p:cNvPr id="20" name="Shape 17"/>
          <p:cNvSpPr/>
          <p:nvPr/>
        </p:nvSpPr>
        <p:spPr>
          <a:xfrm>
            <a:off x="10287000" y="1463040"/>
            <a:ext cx="914400" cy="640080"/>
          </a:xfrm>
          <a:prstGeom prst="roundRect">
            <a:avLst>
              <a:gd name="adj" fmla="val 8571"/>
            </a:avLst>
          </a:prstGeom>
          <a:solidFill>
            <a:srgbClr val="FFF8EE"/>
          </a:solidFill>
          <a:ln w="12700">
            <a:solidFill>
              <a:srgbClr val="F7D6A1"/>
            </a:solidFill>
            <a:prstDash val="solid"/>
          </a:ln>
        </p:spPr>
      </p:sp>
      <p:sp>
        <p:nvSpPr>
          <p:cNvPr id="21" name="Text 18"/>
          <p:cNvSpPr/>
          <p:nvPr/>
        </p:nvSpPr>
        <p:spPr>
          <a:xfrm>
            <a:off x="10332720" y="1572768"/>
            <a:ext cx="822960" cy="420624"/>
          </a:xfrm>
          <a:prstGeom prst="rect">
            <a:avLst/>
          </a:prstGeom>
          <a:noFill/>
          <a:ln/>
        </p:spPr>
        <p:txBody>
          <a:bodyPr wrap="square" lIns="0" tIns="0" rIns="0" bIns="0" rtlCol="0" anchor="ctr">
            <a:normAutofit/>
          </a:bodyPr>
          <a:lstStyle/>
          <a:p>
            <a:pPr algn="ctr" indent="0" marL="0">
              <a:buNone/>
            </a:pPr>
            <a:r>
              <a:rPr lang="en-US" sz="1200" b="1" dirty="0">
                <a:solidFill>
                  <a:srgbClr val="DC2626"/>
                </a:solidFill>
                <a:latin typeface="Meiryo" pitchFamily="34" charset="0"/>
                <a:ea typeface="Meiryo" pitchFamily="34" charset="-122"/>
                <a:cs typeface="Meiryo" pitchFamily="34" charset="-120"/>
              </a:rPr>
              <a:t>根本課題</a:t>
            </a:r>
            <a:endParaRPr lang="en-US" sz="1200" dirty="0"/>
          </a:p>
          <a:p>
            <a:pPr algn="ctr" indent="0" marL="0">
              <a:buNone/>
            </a:pPr>
            <a:r>
              <a:rPr lang="en-US" sz="1200" b="1" dirty="0">
                <a:solidFill>
                  <a:srgbClr val="DC2626"/>
                </a:solidFill>
                <a:latin typeface="Meiryo" pitchFamily="34" charset="0"/>
                <a:ea typeface="Meiryo" pitchFamily="34" charset="-122"/>
                <a:cs typeface="Meiryo" pitchFamily="34" charset="-120"/>
              </a:rPr>
              <a:t>境界条件の</a:t>
            </a:r>
            <a:endParaRPr lang="en-US" sz="1200" dirty="0"/>
          </a:p>
          <a:p>
            <a:pPr algn="ctr" indent="0" marL="0">
              <a:buNone/>
            </a:pPr>
            <a:r>
              <a:rPr lang="en-US" sz="1200" b="1" dirty="0">
                <a:solidFill>
                  <a:srgbClr val="DC2626"/>
                </a:solidFill>
                <a:latin typeface="Meiryo" pitchFamily="34" charset="0"/>
                <a:ea typeface="Meiryo" pitchFamily="34" charset="-122"/>
                <a:cs typeface="Meiryo" pitchFamily="34" charset="-120"/>
              </a:rPr>
              <a:t>空間化不足</a:t>
            </a:r>
            <a:endParaRPr lang="en-US" sz="1200" dirty="0"/>
          </a:p>
        </p:txBody>
      </p:sp>
      <p:sp>
        <p:nvSpPr>
          <p:cNvPr id="22" name="Text 19"/>
          <p:cNvSpPr/>
          <p:nvPr/>
        </p:nvSpPr>
        <p:spPr>
          <a:xfrm>
            <a:off x="6812280" y="5486400"/>
            <a:ext cx="4297680" cy="41148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特許の芯は「モデルが大きいこと」ではなく、入力データの作り方にある。</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境界の位置と、境界が行う物理作用とを分離して表現する必要がある。</a:t>
            </a:r>
            <a:endParaRPr lang="en-US" sz="1500" dirty="0"/>
          </a:p>
        </p:txBody>
      </p:sp>
      <p:sp>
        <p:nvSpPr>
          <p:cNvPr id="23" name="Text 20"/>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評価指標と設計制約: 何を改善できれば有用と言えるか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課題</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49240"/>
          </a:xfrm>
          <a:prstGeom prst="roundRect">
            <a:avLst>
              <a:gd name="adj" fmla="val 1026"/>
            </a:avLst>
          </a:prstGeom>
          <a:solidFill>
            <a:srgbClr val="FFFFFF"/>
          </a:solidFill>
          <a:ln w="12700">
            <a:solidFill>
              <a:srgbClr val="D7E3ED"/>
            </a:solidFill>
            <a:prstDash val="solid"/>
          </a:ln>
        </p:spPr>
      </p:sp>
      <p:sp>
        <p:nvSpPr>
          <p:cNvPr id="7" name="Shape 5"/>
          <p:cNvSpPr/>
          <p:nvPr/>
        </p:nvSpPr>
        <p:spPr>
          <a:xfrm>
            <a:off x="914400" y="1325880"/>
            <a:ext cx="2011680" cy="1005840"/>
          </a:xfrm>
          <a:prstGeom prst="roundRect">
            <a:avLst>
              <a:gd name="adj" fmla="val 5455"/>
            </a:avLst>
          </a:prstGeom>
          <a:solidFill>
            <a:srgbClr val="FFFFFF"/>
          </a:solidFill>
          <a:ln w="12700">
            <a:solidFill>
              <a:srgbClr val="D7E3ED"/>
            </a:solidFill>
            <a:prstDash val="solid"/>
          </a:ln>
        </p:spPr>
      </p:sp>
      <p:sp>
        <p:nvSpPr>
          <p:cNvPr id="8" name="Text 6"/>
          <p:cNvSpPr/>
          <p:nvPr/>
        </p:nvSpPr>
        <p:spPr>
          <a:xfrm>
            <a:off x="1042416" y="1417320"/>
            <a:ext cx="175564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wall-band RMSE</a:t>
            </a:r>
            <a:endParaRPr lang="en-US" sz="1200" dirty="0"/>
          </a:p>
        </p:txBody>
      </p:sp>
      <p:sp>
        <p:nvSpPr>
          <p:cNvPr id="9" name="Text 7"/>
          <p:cNvSpPr/>
          <p:nvPr/>
        </p:nvSpPr>
        <p:spPr>
          <a:xfrm>
            <a:off x="1042416" y="1581912"/>
            <a:ext cx="1755648" cy="256032"/>
          </a:xfrm>
          <a:prstGeom prst="rect">
            <a:avLst/>
          </a:prstGeom>
          <a:noFill/>
          <a:ln/>
        </p:spPr>
        <p:txBody>
          <a:bodyPr wrap="square" lIns="0" tIns="0" rIns="0" bIns="0" rtlCol="0" anchor="ctr">
            <a:normAutofit/>
          </a:bodyPr>
          <a:lstStyle/>
          <a:p>
            <a:pPr algn="ctr" indent="0" marL="0">
              <a:buNone/>
            </a:pPr>
            <a:r>
              <a:rPr lang="en-US" sz="1800" b="1" dirty="0">
                <a:solidFill>
                  <a:srgbClr val="DC2626"/>
                </a:solidFill>
                <a:latin typeface="Meiryo" pitchFamily="34" charset="0"/>
                <a:ea typeface="Meiryo" pitchFamily="34" charset="-122"/>
                <a:cs typeface="Meiryo" pitchFamily="34" charset="-120"/>
              </a:rPr>
              <a:t>最重要</a:t>
            </a:r>
            <a:endParaRPr lang="en-US" sz="1800" dirty="0"/>
          </a:p>
        </p:txBody>
      </p:sp>
      <p:sp>
        <p:nvSpPr>
          <p:cNvPr id="10" name="Text 8"/>
          <p:cNvSpPr/>
          <p:nvPr/>
        </p:nvSpPr>
        <p:spPr>
          <a:xfrm>
            <a:off x="1042416" y="2112264"/>
            <a:ext cx="175564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sheath 帯域の精度</a:t>
            </a:r>
            <a:endParaRPr lang="en-US" sz="900" dirty="0"/>
          </a:p>
        </p:txBody>
      </p:sp>
      <p:sp>
        <p:nvSpPr>
          <p:cNvPr id="11" name="Shape 9"/>
          <p:cNvSpPr/>
          <p:nvPr/>
        </p:nvSpPr>
        <p:spPr>
          <a:xfrm>
            <a:off x="3154680" y="1325880"/>
            <a:ext cx="2011680" cy="1005840"/>
          </a:xfrm>
          <a:prstGeom prst="roundRect">
            <a:avLst>
              <a:gd name="adj" fmla="val 5455"/>
            </a:avLst>
          </a:prstGeom>
          <a:solidFill>
            <a:srgbClr val="FFFFFF"/>
          </a:solidFill>
          <a:ln w="12700">
            <a:solidFill>
              <a:srgbClr val="D7E3ED"/>
            </a:solidFill>
            <a:prstDash val="solid"/>
          </a:ln>
        </p:spPr>
      </p:sp>
      <p:sp>
        <p:nvSpPr>
          <p:cNvPr id="12" name="Text 10"/>
          <p:cNvSpPr/>
          <p:nvPr/>
        </p:nvSpPr>
        <p:spPr>
          <a:xfrm>
            <a:off x="3282696" y="1417320"/>
            <a:ext cx="175564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E_n 誤差</a:t>
            </a:r>
            <a:endParaRPr lang="en-US" sz="1200" dirty="0"/>
          </a:p>
        </p:txBody>
      </p:sp>
      <p:sp>
        <p:nvSpPr>
          <p:cNvPr id="13" name="Text 11"/>
          <p:cNvSpPr/>
          <p:nvPr/>
        </p:nvSpPr>
        <p:spPr>
          <a:xfrm>
            <a:off x="3282696" y="1581912"/>
            <a:ext cx="1755648" cy="256032"/>
          </a:xfrm>
          <a:prstGeom prst="rect">
            <a:avLst/>
          </a:prstGeom>
          <a:noFill/>
          <a:ln/>
        </p:spPr>
        <p:txBody>
          <a:bodyPr wrap="square" lIns="0" tIns="0" rIns="0" bIns="0" rtlCol="0" anchor="ctr">
            <a:normAutofit/>
          </a:bodyPr>
          <a:lstStyle/>
          <a:p>
            <a:pPr algn="ctr" indent="0" marL="0">
              <a:buNone/>
            </a:pPr>
            <a:r>
              <a:rPr lang="en-US" sz="1800" b="1" dirty="0">
                <a:solidFill>
                  <a:srgbClr val="F59E0B"/>
                </a:solidFill>
                <a:latin typeface="Meiryo" pitchFamily="34" charset="0"/>
                <a:ea typeface="Meiryo" pitchFamily="34" charset="-122"/>
                <a:cs typeface="Meiryo" pitchFamily="34" charset="-120"/>
              </a:rPr>
              <a:t>必須</a:t>
            </a:r>
            <a:endParaRPr lang="en-US" sz="1800" dirty="0"/>
          </a:p>
        </p:txBody>
      </p:sp>
      <p:sp>
        <p:nvSpPr>
          <p:cNvPr id="14" name="Text 12"/>
          <p:cNvSpPr/>
          <p:nvPr/>
        </p:nvSpPr>
        <p:spPr>
          <a:xfrm>
            <a:off x="3282696" y="2112264"/>
            <a:ext cx="175564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法線電場の再現</a:t>
            </a:r>
            <a:endParaRPr lang="en-US" sz="900" dirty="0"/>
          </a:p>
        </p:txBody>
      </p:sp>
      <p:sp>
        <p:nvSpPr>
          <p:cNvPr id="15" name="Shape 13"/>
          <p:cNvSpPr/>
          <p:nvPr/>
        </p:nvSpPr>
        <p:spPr>
          <a:xfrm>
            <a:off x="5394960" y="1325880"/>
            <a:ext cx="2011680" cy="1005840"/>
          </a:xfrm>
          <a:prstGeom prst="roundRect">
            <a:avLst>
              <a:gd name="adj" fmla="val 5455"/>
            </a:avLst>
          </a:prstGeom>
          <a:solidFill>
            <a:srgbClr val="FFFFFF"/>
          </a:solidFill>
          <a:ln w="12700">
            <a:solidFill>
              <a:srgbClr val="D7E3ED"/>
            </a:solidFill>
            <a:prstDash val="solid"/>
          </a:ln>
        </p:spPr>
      </p:sp>
      <p:sp>
        <p:nvSpPr>
          <p:cNvPr id="16" name="Text 14"/>
          <p:cNvSpPr/>
          <p:nvPr/>
        </p:nvSpPr>
        <p:spPr>
          <a:xfrm>
            <a:off x="5522976" y="1417320"/>
            <a:ext cx="175564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interface residual</a:t>
            </a:r>
            <a:endParaRPr lang="en-US" sz="1200" dirty="0"/>
          </a:p>
        </p:txBody>
      </p:sp>
      <p:sp>
        <p:nvSpPr>
          <p:cNvPr id="17" name="Text 15"/>
          <p:cNvSpPr/>
          <p:nvPr/>
        </p:nvSpPr>
        <p:spPr>
          <a:xfrm>
            <a:off x="5522976" y="1581912"/>
            <a:ext cx="1755648" cy="256032"/>
          </a:xfrm>
          <a:prstGeom prst="rect">
            <a:avLst/>
          </a:prstGeom>
          <a:noFill/>
          <a:ln/>
        </p:spPr>
        <p:txBody>
          <a:bodyPr wrap="square" lIns="0" tIns="0" rIns="0" bIns="0" rtlCol="0" anchor="ctr">
            <a:normAutofit/>
          </a:bodyPr>
          <a:lstStyle/>
          <a:p>
            <a:pPr algn="ctr" indent="0" marL="0">
              <a:buNone/>
            </a:pPr>
            <a:r>
              <a:rPr lang="en-US" sz="1800" b="1" dirty="0">
                <a:solidFill>
                  <a:srgbClr val="10B981"/>
                </a:solidFill>
                <a:latin typeface="Meiryo" pitchFamily="34" charset="0"/>
                <a:ea typeface="Meiryo" pitchFamily="34" charset="-122"/>
                <a:cs typeface="Meiryo" pitchFamily="34" charset="-120"/>
              </a:rPr>
              <a:t>必須</a:t>
            </a:r>
            <a:endParaRPr lang="en-US" sz="1800" dirty="0"/>
          </a:p>
        </p:txBody>
      </p:sp>
      <p:sp>
        <p:nvSpPr>
          <p:cNvPr id="18" name="Text 16"/>
          <p:cNvSpPr/>
          <p:nvPr/>
        </p:nvSpPr>
        <p:spPr>
          <a:xfrm>
            <a:off x="5522976" y="2112264"/>
            <a:ext cx="175564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ε∂nφ の整合</a:t>
            </a:r>
            <a:endParaRPr lang="en-US" sz="900" dirty="0"/>
          </a:p>
        </p:txBody>
      </p:sp>
      <p:sp>
        <p:nvSpPr>
          <p:cNvPr id="19" name="Shape 17"/>
          <p:cNvSpPr/>
          <p:nvPr/>
        </p:nvSpPr>
        <p:spPr>
          <a:xfrm>
            <a:off x="7635240" y="1325880"/>
            <a:ext cx="2011680" cy="1005840"/>
          </a:xfrm>
          <a:prstGeom prst="roundRect">
            <a:avLst>
              <a:gd name="adj" fmla="val 5455"/>
            </a:avLst>
          </a:prstGeom>
          <a:solidFill>
            <a:srgbClr val="FFFFFF"/>
          </a:solidFill>
          <a:ln w="12700">
            <a:solidFill>
              <a:srgbClr val="D7E3ED"/>
            </a:solidFill>
            <a:prstDash val="solid"/>
          </a:ln>
        </p:spPr>
      </p:sp>
      <p:sp>
        <p:nvSpPr>
          <p:cNvPr id="20" name="Text 18"/>
          <p:cNvSpPr/>
          <p:nvPr/>
        </p:nvSpPr>
        <p:spPr>
          <a:xfrm>
            <a:off x="7763256" y="1417320"/>
            <a:ext cx="175564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port balance</a:t>
            </a:r>
            <a:endParaRPr lang="en-US" sz="1200" dirty="0"/>
          </a:p>
        </p:txBody>
      </p:sp>
      <p:sp>
        <p:nvSpPr>
          <p:cNvPr id="21" name="Text 19"/>
          <p:cNvSpPr/>
          <p:nvPr/>
        </p:nvSpPr>
        <p:spPr>
          <a:xfrm>
            <a:off x="7763256" y="1581912"/>
            <a:ext cx="1755648" cy="256032"/>
          </a:xfrm>
          <a:prstGeom prst="rect">
            <a:avLst/>
          </a:prstGeom>
          <a:noFill/>
          <a:ln/>
        </p:spPr>
        <p:txBody>
          <a:bodyPr wrap="square" lIns="0" tIns="0" rIns="0" bIns="0" rtlCol="0" anchor="ctr">
            <a:normAutofit/>
          </a:bodyPr>
          <a:lstStyle/>
          <a:p>
            <a:pPr algn="ctr" indent="0" marL="0">
              <a:buNone/>
            </a:pPr>
            <a:r>
              <a:rPr lang="en-US" sz="1800" b="1" dirty="0">
                <a:solidFill>
                  <a:srgbClr val="3B82F6"/>
                </a:solidFill>
                <a:latin typeface="Meiryo" pitchFamily="34" charset="0"/>
                <a:ea typeface="Meiryo" pitchFamily="34" charset="-122"/>
                <a:cs typeface="Meiryo" pitchFamily="34" charset="-120"/>
              </a:rPr>
              <a:t>必須</a:t>
            </a:r>
            <a:endParaRPr lang="en-US" sz="1800" dirty="0"/>
          </a:p>
        </p:txBody>
      </p:sp>
      <p:sp>
        <p:nvSpPr>
          <p:cNvPr id="22" name="Text 20"/>
          <p:cNvSpPr/>
          <p:nvPr/>
        </p:nvSpPr>
        <p:spPr>
          <a:xfrm>
            <a:off x="7763256" y="2112264"/>
            <a:ext cx="175564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flow / exhaust の整合</a:t>
            </a:r>
            <a:endParaRPr lang="en-US" sz="900" dirty="0"/>
          </a:p>
        </p:txBody>
      </p:sp>
      <p:sp>
        <p:nvSpPr>
          <p:cNvPr id="23" name="Shape 21"/>
          <p:cNvSpPr/>
          <p:nvPr/>
        </p:nvSpPr>
        <p:spPr>
          <a:xfrm>
            <a:off x="9875520" y="1325880"/>
            <a:ext cx="1234440" cy="1005840"/>
          </a:xfrm>
          <a:prstGeom prst="roundRect">
            <a:avLst>
              <a:gd name="adj" fmla="val 5455"/>
            </a:avLst>
          </a:prstGeom>
          <a:solidFill>
            <a:srgbClr val="FFFFFF"/>
          </a:solidFill>
          <a:ln w="12700">
            <a:solidFill>
              <a:srgbClr val="D7E3ED"/>
            </a:solidFill>
            <a:prstDash val="solid"/>
          </a:ln>
        </p:spPr>
      </p:sp>
      <p:sp>
        <p:nvSpPr>
          <p:cNvPr id="24" name="Text 22"/>
          <p:cNvSpPr/>
          <p:nvPr/>
        </p:nvSpPr>
        <p:spPr>
          <a:xfrm>
            <a:off x="10003536" y="1417320"/>
            <a:ext cx="978408" cy="146304"/>
          </a:xfrm>
          <a:prstGeom prst="rect">
            <a:avLst/>
          </a:prstGeom>
          <a:noFill/>
          <a:ln/>
        </p:spPr>
        <p:txBody>
          <a:bodyPr wrap="square" lIns="0" tIns="0" rIns="0" bIns="0" rtlCol="0" anchor="ctr">
            <a:normAutofit/>
          </a:bodyPr>
          <a:lstStyle/>
          <a:p>
            <a:pPr algn="l" indent="0" marL="0">
              <a:buNone/>
            </a:pPr>
            <a:r>
              <a:rPr lang="en-US" sz="1200" b="1" dirty="0">
                <a:solidFill>
                  <a:srgbClr val="555555"/>
                </a:solidFill>
                <a:latin typeface="Meiryo" pitchFamily="34" charset="0"/>
                <a:ea typeface="Meiryo" pitchFamily="34" charset="-122"/>
                <a:cs typeface="Meiryo" pitchFamily="34" charset="-120"/>
              </a:rPr>
              <a:t>外挿</a:t>
            </a:r>
            <a:endParaRPr lang="en-US" sz="1200" dirty="0"/>
          </a:p>
        </p:txBody>
      </p:sp>
      <p:sp>
        <p:nvSpPr>
          <p:cNvPr id="25" name="Text 23"/>
          <p:cNvSpPr/>
          <p:nvPr/>
        </p:nvSpPr>
        <p:spPr>
          <a:xfrm>
            <a:off x="10003536" y="1581912"/>
            <a:ext cx="978408" cy="256032"/>
          </a:xfrm>
          <a:prstGeom prst="rect">
            <a:avLst/>
          </a:prstGeom>
          <a:noFill/>
          <a:ln/>
        </p:spPr>
        <p:txBody>
          <a:bodyPr wrap="square" lIns="0" tIns="0" rIns="0" bIns="0" rtlCol="0" anchor="ctr">
            <a:normAutofit/>
          </a:bodyPr>
          <a:lstStyle/>
          <a:p>
            <a:pPr algn="ctr" indent="0" marL="0">
              <a:buNone/>
            </a:pPr>
            <a:r>
              <a:rPr lang="en-US" sz="1800" b="1" dirty="0">
                <a:solidFill>
                  <a:srgbClr val="8B5CF6"/>
                </a:solidFill>
                <a:latin typeface="Meiryo" pitchFamily="34" charset="0"/>
                <a:ea typeface="Meiryo" pitchFamily="34" charset="-122"/>
                <a:cs typeface="Meiryo" pitchFamily="34" charset="-120"/>
              </a:rPr>
              <a:t>重要</a:t>
            </a:r>
            <a:endParaRPr lang="en-US" sz="1800" dirty="0"/>
          </a:p>
        </p:txBody>
      </p:sp>
      <p:sp>
        <p:nvSpPr>
          <p:cNvPr id="26" name="Text 24"/>
          <p:cNvSpPr/>
          <p:nvPr/>
        </p:nvSpPr>
        <p:spPr>
          <a:xfrm>
            <a:off x="10003536" y="2112264"/>
            <a:ext cx="978408" cy="128016"/>
          </a:xfrm>
          <a:prstGeom prst="rect">
            <a:avLst/>
          </a:prstGeom>
          <a:noFill/>
          <a:ln/>
        </p:spPr>
        <p:txBody>
          <a:bodyPr wrap="square" lIns="0" tIns="0" rIns="0" bIns="0" rtlCol="0" anchor="ctr">
            <a:normAutofit/>
          </a:bodyPr>
          <a:lstStyle/>
          <a:p>
            <a:pPr algn="ctr" indent="0" marL="0">
              <a:buNone/>
            </a:pPr>
            <a:r>
              <a:rPr lang="en-US" sz="900" dirty="0">
                <a:solidFill>
                  <a:srgbClr val="555555"/>
                </a:solidFill>
                <a:latin typeface="Meiryo" pitchFamily="34" charset="0"/>
                <a:ea typeface="Meiryo" pitchFamily="34" charset="-122"/>
                <a:cs typeface="Meiryo" pitchFamily="34" charset="-120"/>
              </a:rPr>
              <a:t>未学習条件</a:t>
            </a:r>
            <a:endParaRPr lang="en-US" sz="900" dirty="0"/>
          </a:p>
        </p:txBody>
      </p:sp>
      <p:sp>
        <p:nvSpPr>
          <p:cNvPr id="27" name="Shape 25"/>
          <p:cNvSpPr/>
          <p:nvPr/>
        </p:nvSpPr>
        <p:spPr>
          <a:xfrm>
            <a:off x="914400" y="2743200"/>
            <a:ext cx="4572000" cy="2743200"/>
          </a:xfrm>
          <a:prstGeom prst="roundRect">
            <a:avLst>
              <a:gd name="adj" fmla="val 2000"/>
            </a:avLst>
          </a:prstGeom>
          <a:solidFill>
            <a:srgbClr val="F9FBFD"/>
          </a:solidFill>
          <a:ln w="12700">
            <a:solidFill>
              <a:srgbClr val="D7E3ED"/>
            </a:solidFill>
            <a:prstDash val="solid"/>
          </a:ln>
        </p:spPr>
      </p:sp>
      <p:sp>
        <p:nvSpPr>
          <p:cNvPr id="28" name="Text 26"/>
          <p:cNvSpPr/>
          <p:nvPr/>
        </p:nvSpPr>
        <p:spPr>
          <a:xfrm>
            <a:off x="1097280" y="2907792"/>
            <a:ext cx="16459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製造導入で求められる制約</a:t>
            </a:r>
            <a:endParaRPr lang="en-US" sz="1600" dirty="0"/>
          </a:p>
        </p:txBody>
      </p:sp>
      <p:sp>
        <p:nvSpPr>
          <p:cNvPr id="29" name="Text 27"/>
          <p:cNvSpPr/>
          <p:nvPr/>
        </p:nvSpPr>
        <p:spPr>
          <a:xfrm>
            <a:off x="1115568" y="3218688"/>
            <a:ext cx="4069080" cy="17830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単一 U-Net を維持し、装置ごとの再実装負荷を上げない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説明可能な入力仕様で、発明の芯を請求項に落とし込みやすい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境界条件数が変わっても、入力チャネル仕様を固定しやすい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offline 設計支援から導入できるシンプルさを保つ</a:t>
            </a:r>
            <a:endParaRPr lang="en-US" sz="1600" dirty="0"/>
          </a:p>
        </p:txBody>
      </p:sp>
      <p:sp>
        <p:nvSpPr>
          <p:cNvPr id="30" name="Shape 28"/>
          <p:cNvSpPr/>
          <p:nvPr/>
        </p:nvSpPr>
        <p:spPr>
          <a:xfrm>
            <a:off x="5760720" y="2743200"/>
            <a:ext cx="5577840" cy="2743200"/>
          </a:xfrm>
          <a:prstGeom prst="roundRect">
            <a:avLst>
              <a:gd name="adj" fmla="val 2000"/>
            </a:avLst>
          </a:prstGeom>
          <a:solidFill>
            <a:srgbClr val="FFFFFF"/>
          </a:solidFill>
          <a:ln w="12700">
            <a:solidFill>
              <a:srgbClr val="D7E3ED"/>
            </a:solidFill>
            <a:prstDash val="solid"/>
          </a:ln>
        </p:spPr>
      </p:sp>
      <p:sp>
        <p:nvSpPr>
          <p:cNvPr id="31" name="Text 29"/>
          <p:cNvSpPr/>
          <p:nvPr/>
        </p:nvSpPr>
        <p:spPr>
          <a:xfrm>
            <a:off x="5943600" y="2907792"/>
            <a:ext cx="11887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評価の落とし穴</a:t>
            </a:r>
            <a:endParaRPr lang="en-US" sz="1600" dirty="0"/>
          </a:p>
        </p:txBody>
      </p:sp>
      <p:sp>
        <p:nvSpPr>
          <p:cNvPr id="32" name="Shape 30"/>
          <p:cNvSpPr/>
          <p:nvPr/>
        </p:nvSpPr>
        <p:spPr>
          <a:xfrm>
            <a:off x="5989320" y="3154680"/>
            <a:ext cx="5074920" cy="1783080"/>
          </a:xfrm>
          <a:prstGeom prst="roundRect">
            <a:avLst>
              <a:gd name="adj" fmla="val 3077"/>
            </a:avLst>
          </a:prstGeom>
          <a:solidFill>
            <a:srgbClr val="FFFFFF"/>
          </a:solidFill>
          <a:ln w="12700">
            <a:solidFill>
              <a:srgbClr val="D7E3ED"/>
            </a:solidFill>
            <a:prstDash val="solid"/>
          </a:ln>
        </p:spPr>
      </p:sp>
      <p:sp>
        <p:nvSpPr>
          <p:cNvPr id="33" name="Text 31"/>
          <p:cNvSpPr/>
          <p:nvPr/>
        </p:nvSpPr>
        <p:spPr>
          <a:xfrm>
            <a:off x="6099048" y="3227832"/>
            <a:ext cx="1097280" cy="146304"/>
          </a:xfrm>
          <a:prstGeom prst="rect">
            <a:avLst/>
          </a:prstGeom>
          <a:noFill/>
          <a:ln/>
        </p:spPr>
        <p:txBody>
          <a:bodyPr wrap="square" lIns="0" tIns="0" rIns="0" bIns="0" rtlCol="0" anchor="ctr">
            <a:normAutofit/>
          </a:bodyPr>
          <a:lstStyle/>
          <a:p>
            <a:pPr algn="l" indent="0" marL="0">
              <a:buNone/>
            </a:pPr>
            <a:r>
              <a:rPr lang="en-US" sz="1200" b="1" dirty="0">
                <a:solidFill>
                  <a:srgbClr val="D97706"/>
                </a:solidFill>
                <a:latin typeface="Meiryo" pitchFamily="34" charset="0"/>
                <a:ea typeface="Meiryo" pitchFamily="34" charset="-122"/>
                <a:cs typeface="Meiryo" pitchFamily="34" charset="-120"/>
              </a:rPr>
              <a:t>概念比較（想定）</a:t>
            </a:r>
            <a:endParaRPr lang="en-US" sz="1200" dirty="0"/>
          </a:p>
        </p:txBody>
      </p:sp>
      <p:sp>
        <p:nvSpPr>
          <p:cNvPr id="34" name="Shape 32"/>
          <p:cNvSpPr/>
          <p:nvPr/>
        </p:nvSpPr>
        <p:spPr>
          <a:xfrm>
            <a:off x="6492240" y="3474720"/>
            <a:ext cx="0" cy="1143000"/>
          </a:xfrm>
          <a:prstGeom prst="line">
            <a:avLst/>
          </a:prstGeom>
          <a:noFill/>
          <a:ln w="12700">
            <a:solidFill>
              <a:srgbClr val="AAB7C4"/>
            </a:solidFill>
            <a:prstDash val="solid"/>
          </a:ln>
        </p:spPr>
      </p:sp>
      <p:sp>
        <p:nvSpPr>
          <p:cNvPr id="35" name="Shape 33"/>
          <p:cNvSpPr/>
          <p:nvPr/>
        </p:nvSpPr>
        <p:spPr>
          <a:xfrm>
            <a:off x="6492240" y="4617720"/>
            <a:ext cx="4389120" cy="0"/>
          </a:xfrm>
          <a:prstGeom prst="line">
            <a:avLst/>
          </a:prstGeom>
          <a:noFill/>
          <a:ln w="12700">
            <a:solidFill>
              <a:srgbClr val="AAB7C4"/>
            </a:solidFill>
            <a:prstDash val="solid"/>
          </a:ln>
        </p:spPr>
      </p:sp>
      <p:sp>
        <p:nvSpPr>
          <p:cNvPr id="36" name="Shape 34"/>
          <p:cNvSpPr/>
          <p:nvPr/>
        </p:nvSpPr>
        <p:spPr>
          <a:xfrm>
            <a:off x="6720840" y="4089654"/>
            <a:ext cx="201168" cy="528066"/>
          </a:xfrm>
          <a:prstGeom prst="rect">
            <a:avLst/>
          </a:prstGeom>
          <a:solidFill>
            <a:srgbClr val="BFC9D6"/>
          </a:solidFill>
          <a:ln w="12700">
            <a:solidFill>
              <a:srgbClr val="BFC9D6"/>
            </a:solidFill>
            <a:prstDash val="solid"/>
          </a:ln>
        </p:spPr>
      </p:sp>
      <p:sp>
        <p:nvSpPr>
          <p:cNvPr id="37" name="Shape 35"/>
          <p:cNvSpPr/>
          <p:nvPr/>
        </p:nvSpPr>
        <p:spPr>
          <a:xfrm>
            <a:off x="6976872" y="4156862"/>
            <a:ext cx="201168" cy="460858"/>
          </a:xfrm>
          <a:prstGeom prst="rect">
            <a:avLst/>
          </a:prstGeom>
          <a:solidFill>
            <a:srgbClr val="39A8FF"/>
          </a:solidFill>
          <a:ln w="12700">
            <a:solidFill>
              <a:srgbClr val="39A8FF"/>
            </a:solidFill>
            <a:prstDash val="solid"/>
          </a:ln>
        </p:spPr>
      </p:sp>
      <p:sp>
        <p:nvSpPr>
          <p:cNvPr id="38" name="Text 36"/>
          <p:cNvSpPr/>
          <p:nvPr/>
        </p:nvSpPr>
        <p:spPr>
          <a:xfrm>
            <a:off x="6629400" y="466344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全域</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RMSE</a:t>
            </a:r>
            <a:endParaRPr lang="en-US" sz="1000" dirty="0"/>
          </a:p>
        </p:txBody>
      </p:sp>
      <p:sp>
        <p:nvSpPr>
          <p:cNvPr id="39" name="Shape 37"/>
          <p:cNvSpPr/>
          <p:nvPr/>
        </p:nvSpPr>
        <p:spPr>
          <a:xfrm>
            <a:off x="7715250" y="3753612"/>
            <a:ext cx="201168" cy="864108"/>
          </a:xfrm>
          <a:prstGeom prst="rect">
            <a:avLst/>
          </a:prstGeom>
          <a:solidFill>
            <a:srgbClr val="BFC9D6"/>
          </a:solidFill>
          <a:ln w="12700">
            <a:solidFill>
              <a:srgbClr val="BFC9D6"/>
            </a:solidFill>
            <a:prstDash val="solid"/>
          </a:ln>
        </p:spPr>
      </p:sp>
      <p:sp>
        <p:nvSpPr>
          <p:cNvPr id="40" name="Shape 38"/>
          <p:cNvSpPr/>
          <p:nvPr/>
        </p:nvSpPr>
        <p:spPr>
          <a:xfrm>
            <a:off x="7971282" y="4137660"/>
            <a:ext cx="201168" cy="480060"/>
          </a:xfrm>
          <a:prstGeom prst="rect">
            <a:avLst/>
          </a:prstGeom>
          <a:solidFill>
            <a:srgbClr val="39A8FF"/>
          </a:solidFill>
          <a:ln w="12700">
            <a:solidFill>
              <a:srgbClr val="39A8FF"/>
            </a:solidFill>
            <a:prstDash val="solid"/>
          </a:ln>
        </p:spPr>
      </p:sp>
      <p:sp>
        <p:nvSpPr>
          <p:cNvPr id="41" name="Text 39"/>
          <p:cNvSpPr/>
          <p:nvPr/>
        </p:nvSpPr>
        <p:spPr>
          <a:xfrm>
            <a:off x="7623810" y="466344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wall</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band</a:t>
            </a:r>
            <a:endParaRPr lang="en-US" sz="1000" dirty="0"/>
          </a:p>
        </p:txBody>
      </p:sp>
      <p:sp>
        <p:nvSpPr>
          <p:cNvPr id="42" name="Shape 40"/>
          <p:cNvSpPr/>
          <p:nvPr/>
        </p:nvSpPr>
        <p:spPr>
          <a:xfrm>
            <a:off x="8709660" y="3830422"/>
            <a:ext cx="201168" cy="787298"/>
          </a:xfrm>
          <a:prstGeom prst="rect">
            <a:avLst/>
          </a:prstGeom>
          <a:solidFill>
            <a:srgbClr val="BFC9D6"/>
          </a:solidFill>
          <a:ln w="12700">
            <a:solidFill>
              <a:srgbClr val="BFC9D6"/>
            </a:solidFill>
            <a:prstDash val="solid"/>
          </a:ln>
        </p:spPr>
      </p:sp>
      <p:sp>
        <p:nvSpPr>
          <p:cNvPr id="43" name="Shape 41"/>
          <p:cNvSpPr/>
          <p:nvPr/>
        </p:nvSpPr>
        <p:spPr>
          <a:xfrm>
            <a:off x="8965692" y="4185666"/>
            <a:ext cx="201168" cy="432054"/>
          </a:xfrm>
          <a:prstGeom prst="rect">
            <a:avLst/>
          </a:prstGeom>
          <a:solidFill>
            <a:srgbClr val="39A8FF"/>
          </a:solidFill>
          <a:ln w="12700">
            <a:solidFill>
              <a:srgbClr val="39A8FF"/>
            </a:solidFill>
            <a:prstDash val="solid"/>
          </a:ln>
        </p:spPr>
      </p:sp>
      <p:sp>
        <p:nvSpPr>
          <p:cNvPr id="44" name="Text 42"/>
          <p:cNvSpPr/>
          <p:nvPr/>
        </p:nvSpPr>
        <p:spPr>
          <a:xfrm>
            <a:off x="8618220" y="466344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界面</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残差</a:t>
            </a:r>
            <a:endParaRPr lang="en-US" sz="1000" dirty="0"/>
          </a:p>
        </p:txBody>
      </p:sp>
      <p:sp>
        <p:nvSpPr>
          <p:cNvPr id="45" name="Shape 43"/>
          <p:cNvSpPr/>
          <p:nvPr/>
        </p:nvSpPr>
        <p:spPr>
          <a:xfrm>
            <a:off x="9704070" y="3868826"/>
            <a:ext cx="201168" cy="748894"/>
          </a:xfrm>
          <a:prstGeom prst="rect">
            <a:avLst/>
          </a:prstGeom>
          <a:solidFill>
            <a:srgbClr val="BFC9D6"/>
          </a:solidFill>
          <a:ln w="12700">
            <a:solidFill>
              <a:srgbClr val="BFC9D6"/>
            </a:solidFill>
            <a:prstDash val="solid"/>
          </a:ln>
        </p:spPr>
      </p:sp>
      <p:sp>
        <p:nvSpPr>
          <p:cNvPr id="46" name="Shape 44"/>
          <p:cNvSpPr/>
          <p:nvPr/>
        </p:nvSpPr>
        <p:spPr>
          <a:xfrm>
            <a:off x="9960102" y="4214470"/>
            <a:ext cx="201168" cy="403250"/>
          </a:xfrm>
          <a:prstGeom prst="rect">
            <a:avLst/>
          </a:prstGeom>
          <a:solidFill>
            <a:srgbClr val="39A8FF"/>
          </a:solidFill>
          <a:ln w="12700">
            <a:solidFill>
              <a:srgbClr val="39A8FF"/>
            </a:solidFill>
            <a:prstDash val="solid"/>
          </a:ln>
        </p:spPr>
      </p:sp>
      <p:sp>
        <p:nvSpPr>
          <p:cNvPr id="47" name="Text 45"/>
          <p:cNvSpPr/>
          <p:nvPr/>
        </p:nvSpPr>
        <p:spPr>
          <a:xfrm>
            <a:off x="9612630" y="466344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port</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整合</a:t>
            </a:r>
            <a:endParaRPr lang="en-US" sz="1000" dirty="0"/>
          </a:p>
        </p:txBody>
      </p:sp>
      <p:sp>
        <p:nvSpPr>
          <p:cNvPr id="48" name="Text 46"/>
          <p:cNvSpPr/>
          <p:nvPr/>
        </p:nvSpPr>
        <p:spPr>
          <a:xfrm>
            <a:off x="10149840" y="3246120"/>
            <a:ext cx="320040" cy="109728"/>
          </a:xfrm>
          <a:prstGeom prst="rect">
            <a:avLst/>
          </a:prstGeom>
          <a:noFill/>
          <a:ln/>
        </p:spPr>
        <p:txBody>
          <a:bodyPr wrap="square" lIns="0" tIns="0" rIns="0" bIns="0" rtlCol="0" anchor="ctr">
            <a:normAutofit/>
          </a:bodyPr>
          <a:lstStyle/>
          <a:p>
            <a:pPr algn="l" indent="0" marL="0">
              <a:buNone/>
            </a:pPr>
            <a:r>
              <a:rPr lang="en-US" sz="900" dirty="0">
                <a:solidFill>
                  <a:srgbClr val="667085"/>
                </a:solidFill>
                <a:latin typeface="Meiryo" pitchFamily="34" charset="0"/>
                <a:ea typeface="Meiryo" pitchFamily="34" charset="-122"/>
                <a:cs typeface="Meiryo" pitchFamily="34" charset="-120"/>
              </a:rPr>
              <a:t>従来</a:t>
            </a:r>
            <a:endParaRPr lang="en-US" sz="900" dirty="0"/>
          </a:p>
        </p:txBody>
      </p:sp>
      <p:sp>
        <p:nvSpPr>
          <p:cNvPr id="49" name="Shape 47"/>
          <p:cNvSpPr/>
          <p:nvPr/>
        </p:nvSpPr>
        <p:spPr>
          <a:xfrm>
            <a:off x="10040112" y="3241548"/>
            <a:ext cx="73152" cy="73152"/>
          </a:xfrm>
          <a:prstGeom prst="rect">
            <a:avLst/>
          </a:prstGeom>
          <a:solidFill>
            <a:srgbClr val="BFC9D6"/>
          </a:solidFill>
          <a:ln w="12700">
            <a:solidFill>
              <a:srgbClr val="BFC9D6"/>
            </a:solidFill>
            <a:prstDash val="solid"/>
          </a:ln>
        </p:spPr>
      </p:sp>
      <p:sp>
        <p:nvSpPr>
          <p:cNvPr id="50" name="Text 48"/>
          <p:cNvSpPr/>
          <p:nvPr/>
        </p:nvSpPr>
        <p:spPr>
          <a:xfrm>
            <a:off x="10497312" y="3246120"/>
            <a:ext cx="320040" cy="109728"/>
          </a:xfrm>
          <a:prstGeom prst="rect">
            <a:avLst/>
          </a:prstGeom>
          <a:noFill/>
          <a:ln/>
        </p:spPr>
        <p:txBody>
          <a:bodyPr wrap="square" lIns="0" tIns="0" rIns="0" bIns="0" rtlCol="0" anchor="ctr">
            <a:normAutofit/>
          </a:bodyPr>
          <a:lstStyle/>
          <a:p>
            <a:pPr algn="l" indent="0" marL="0">
              <a:buNone/>
            </a:pPr>
            <a:r>
              <a:rPr lang="en-US" sz="900" dirty="0">
                <a:solidFill>
                  <a:srgbClr val="0D4D7E"/>
                </a:solidFill>
                <a:latin typeface="Meiryo" pitchFamily="34" charset="0"/>
                <a:ea typeface="Meiryo" pitchFamily="34" charset="-122"/>
                <a:cs typeface="Meiryo" pitchFamily="34" charset="-120"/>
              </a:rPr>
              <a:t>提案</a:t>
            </a:r>
            <a:endParaRPr lang="en-US" sz="900" dirty="0"/>
          </a:p>
        </p:txBody>
      </p:sp>
      <p:sp>
        <p:nvSpPr>
          <p:cNvPr id="51" name="Shape 49"/>
          <p:cNvSpPr/>
          <p:nvPr/>
        </p:nvSpPr>
        <p:spPr>
          <a:xfrm>
            <a:off x="10387584" y="3241548"/>
            <a:ext cx="73152" cy="73152"/>
          </a:xfrm>
          <a:prstGeom prst="rect">
            <a:avLst/>
          </a:prstGeom>
          <a:solidFill>
            <a:srgbClr val="39A8FF"/>
          </a:solidFill>
          <a:ln w="12700">
            <a:solidFill>
              <a:srgbClr val="39A8FF"/>
            </a:solidFill>
            <a:prstDash val="solid"/>
          </a:ln>
        </p:spPr>
      </p:sp>
      <p:sp>
        <p:nvSpPr>
          <p:cNvPr id="52" name="Text 50"/>
          <p:cNvSpPr/>
          <p:nvPr/>
        </p:nvSpPr>
        <p:spPr>
          <a:xfrm>
            <a:off x="5989320" y="5074920"/>
            <a:ext cx="4983480" cy="38404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全域 RMSE だけで合否判定すると、境界失敗を見落としやすい。</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特許上は、どの指標を改善対象にしたかを明確化すると有用性を説明しやすい。</a:t>
            </a:r>
            <a:endParaRPr lang="en-US" sz="1500" dirty="0"/>
          </a:p>
        </p:txBody>
      </p:sp>
      <p:sp>
        <p:nvSpPr>
          <p:cNvPr id="53" name="Text 51"/>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提案手法の要旨: SDF と境界物理マップを単一 U-Net に統合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提案</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49240"/>
          </a:xfrm>
          <a:prstGeom prst="roundRect">
            <a:avLst>
              <a:gd name="adj" fmla="val 1026"/>
            </a:avLst>
          </a:prstGeom>
          <a:solidFill>
            <a:srgbClr val="FFFFFF"/>
          </a:solidFill>
          <a:ln w="12700">
            <a:solidFill>
              <a:srgbClr val="D7E3ED"/>
            </a:solidFill>
            <a:prstDash val="solid"/>
          </a:ln>
        </p:spPr>
      </p:sp>
      <p:sp>
        <p:nvSpPr>
          <p:cNvPr id="7" name="Shape 5"/>
          <p:cNvSpPr/>
          <p:nvPr/>
        </p:nvSpPr>
        <p:spPr>
          <a:xfrm>
            <a:off x="868680" y="1325880"/>
            <a:ext cx="3246120" cy="4114800"/>
          </a:xfrm>
          <a:prstGeom prst="roundRect">
            <a:avLst>
              <a:gd name="adj" fmla="val 1690"/>
            </a:avLst>
          </a:prstGeom>
          <a:solidFill>
            <a:srgbClr val="F9FBFD"/>
          </a:solidFill>
          <a:ln w="12700">
            <a:solidFill>
              <a:srgbClr val="D7E3ED"/>
            </a:solidFill>
            <a:prstDash val="solid"/>
          </a:ln>
        </p:spPr>
      </p:sp>
      <p:sp>
        <p:nvSpPr>
          <p:cNvPr id="8" name="Shape 6"/>
          <p:cNvSpPr/>
          <p:nvPr/>
        </p:nvSpPr>
        <p:spPr>
          <a:xfrm>
            <a:off x="1024128" y="1463040"/>
            <a:ext cx="749808" cy="201168"/>
          </a:xfrm>
          <a:prstGeom prst="roundRect">
            <a:avLst>
              <a:gd name="adj" fmla="val 22727"/>
            </a:avLst>
          </a:prstGeom>
          <a:solidFill>
            <a:srgbClr val="DC2626"/>
          </a:solidFill>
          <a:ln w="12700">
            <a:solidFill>
              <a:srgbClr val="DC2626"/>
            </a:solidFill>
            <a:prstDash val="solid"/>
          </a:ln>
        </p:spPr>
      </p:sp>
      <p:sp>
        <p:nvSpPr>
          <p:cNvPr id="9" name="Text 7"/>
          <p:cNvSpPr/>
          <p:nvPr/>
        </p:nvSpPr>
        <p:spPr>
          <a:xfrm>
            <a:off x="1024128" y="147218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従来</a:t>
            </a:r>
            <a:endParaRPr lang="en-US" sz="1100" dirty="0"/>
          </a:p>
        </p:txBody>
      </p:sp>
      <p:sp>
        <p:nvSpPr>
          <p:cNvPr id="10" name="Shape 8"/>
          <p:cNvSpPr/>
          <p:nvPr/>
        </p:nvSpPr>
        <p:spPr>
          <a:xfrm>
            <a:off x="1051560" y="2313432"/>
            <a:ext cx="365760" cy="0"/>
          </a:xfrm>
          <a:prstGeom prst="line">
            <a:avLst/>
          </a:prstGeom>
          <a:noFill/>
          <a:ln w="38100">
            <a:solidFill>
              <a:srgbClr val="3B82F6"/>
            </a:solidFill>
            <a:prstDash val="solid"/>
            <a:tailEnd type="triangle"/>
          </a:ln>
        </p:spPr>
      </p:sp>
      <p:sp>
        <p:nvSpPr>
          <p:cNvPr id="11" name="Shape 9"/>
          <p:cNvSpPr/>
          <p:nvPr/>
        </p:nvSpPr>
        <p:spPr>
          <a:xfrm>
            <a:off x="2468880" y="2999232"/>
            <a:ext cx="365760" cy="0"/>
          </a:xfrm>
          <a:prstGeom prst="line">
            <a:avLst/>
          </a:prstGeom>
          <a:noFill/>
          <a:ln w="38100">
            <a:solidFill>
              <a:srgbClr val="EF4444"/>
            </a:solidFill>
            <a:prstDash val="solid"/>
            <a:tailEnd type="triangle"/>
          </a:ln>
        </p:spPr>
      </p:sp>
      <p:sp>
        <p:nvSpPr>
          <p:cNvPr id="12" name="Shape 10"/>
          <p:cNvSpPr/>
          <p:nvPr/>
        </p:nvSpPr>
        <p:spPr>
          <a:xfrm>
            <a:off x="1280160" y="1993392"/>
            <a:ext cx="1325880" cy="1325880"/>
          </a:xfrm>
          <a:prstGeom prst="roundRect">
            <a:avLst>
              <a:gd name="adj" fmla="val 3448"/>
            </a:avLst>
          </a:prstGeom>
          <a:solidFill>
            <a:srgbClr val="FFFFFF"/>
          </a:solidFill>
          <a:ln w="25400">
            <a:solidFill>
              <a:srgbClr val="6B7280"/>
            </a:solidFill>
            <a:prstDash val="solid"/>
          </a:ln>
        </p:spPr>
      </p:sp>
      <p:sp>
        <p:nvSpPr>
          <p:cNvPr id="13" name="Shape 11"/>
          <p:cNvSpPr/>
          <p:nvPr/>
        </p:nvSpPr>
        <p:spPr>
          <a:xfrm>
            <a:off x="1298448" y="3209544"/>
            <a:ext cx="1289304" cy="91440"/>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1298448" y="2011680"/>
            <a:ext cx="109728" cy="128930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2478024" y="2011680"/>
            <a:ext cx="109728" cy="1289304"/>
          </a:xfrm>
          <a:prstGeom prst="rect">
            <a:avLst/>
          </a:prstGeom>
          <a:solidFill>
            <a:srgbClr val="6B7280">
              <a:alpha val="75000"/>
            </a:srgbClr>
          </a:solidFill>
          <a:ln w="12700">
            <a:solidFill>
              <a:srgbClr val="6B7280">
                <a:alpha val="0"/>
              </a:srgbClr>
            </a:solidFill>
            <a:prstDash val="solid"/>
          </a:ln>
        </p:spPr>
      </p:sp>
      <p:sp>
        <p:nvSpPr>
          <p:cNvPr id="16" name="Shape 14"/>
          <p:cNvSpPr/>
          <p:nvPr/>
        </p:nvSpPr>
        <p:spPr>
          <a:xfrm>
            <a:off x="1508760" y="1920240"/>
            <a:ext cx="868680" cy="109728"/>
          </a:xfrm>
          <a:prstGeom prst="rect">
            <a:avLst/>
          </a:prstGeom>
          <a:solidFill>
            <a:srgbClr val="10B981"/>
          </a:solidFill>
          <a:ln w="12700">
            <a:solidFill>
              <a:srgbClr val="10B981"/>
            </a:solidFill>
            <a:prstDash val="solid"/>
          </a:ln>
        </p:spPr>
      </p:sp>
      <p:sp>
        <p:nvSpPr>
          <p:cNvPr id="17" name="Text 15"/>
          <p:cNvSpPr/>
          <p:nvPr/>
        </p:nvSpPr>
        <p:spPr>
          <a:xfrm>
            <a:off x="1714500" y="178308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8" name="Shape 16"/>
          <p:cNvSpPr/>
          <p:nvPr/>
        </p:nvSpPr>
        <p:spPr>
          <a:xfrm>
            <a:off x="1691640" y="2157984"/>
            <a:ext cx="502920" cy="91440"/>
          </a:xfrm>
          <a:prstGeom prst="rect">
            <a:avLst/>
          </a:prstGeom>
          <a:solidFill>
            <a:srgbClr val="F59E0B"/>
          </a:solidFill>
          <a:ln w="12700">
            <a:solidFill>
              <a:srgbClr val="F59E0B"/>
            </a:solidFill>
            <a:prstDash val="solid"/>
          </a:ln>
        </p:spPr>
      </p:sp>
      <p:sp>
        <p:nvSpPr>
          <p:cNvPr id="19" name="Text 17"/>
          <p:cNvSpPr/>
          <p:nvPr/>
        </p:nvSpPr>
        <p:spPr>
          <a:xfrm>
            <a:off x="1623060" y="202082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0" name="Shape 18"/>
          <p:cNvSpPr/>
          <p:nvPr/>
        </p:nvSpPr>
        <p:spPr>
          <a:xfrm>
            <a:off x="1783080" y="2907792"/>
            <a:ext cx="320040" cy="100584"/>
          </a:xfrm>
          <a:prstGeom prst="rect">
            <a:avLst/>
          </a:prstGeom>
          <a:solidFill>
            <a:srgbClr val="B0B8C0"/>
          </a:solidFill>
          <a:ln w="12700">
            <a:solidFill>
              <a:srgbClr val="B0B8C0"/>
            </a:solidFill>
            <a:prstDash val="solid"/>
          </a:ln>
        </p:spPr>
      </p:sp>
      <p:sp>
        <p:nvSpPr>
          <p:cNvPr id="21" name="Text 19"/>
          <p:cNvSpPr/>
          <p:nvPr/>
        </p:nvSpPr>
        <p:spPr>
          <a:xfrm>
            <a:off x="1778508" y="3063240"/>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2" name="Text 20"/>
          <p:cNvSpPr/>
          <p:nvPr/>
        </p:nvSpPr>
        <p:spPr>
          <a:xfrm>
            <a:off x="2852928" y="1965960"/>
            <a:ext cx="1005840" cy="86868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mask</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材料 one-hot</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V, p, flow の scalar</a:t>
            </a:r>
            <a:endParaRPr lang="en-US" sz="1400" dirty="0"/>
          </a:p>
        </p:txBody>
      </p:sp>
      <p:sp>
        <p:nvSpPr>
          <p:cNvPr id="23" name="Shape 21"/>
          <p:cNvSpPr/>
          <p:nvPr/>
        </p:nvSpPr>
        <p:spPr>
          <a:xfrm>
            <a:off x="1828800" y="3611880"/>
            <a:ext cx="0" cy="365760"/>
          </a:xfrm>
          <a:prstGeom prst="line">
            <a:avLst/>
          </a:prstGeom>
          <a:noFill/>
          <a:ln w="22860">
            <a:solidFill>
              <a:srgbClr val="DC2626"/>
            </a:solidFill>
            <a:prstDash val="solid"/>
            <a:tailEnd type="triangle"/>
          </a:ln>
        </p:spPr>
      </p:sp>
      <p:sp>
        <p:nvSpPr>
          <p:cNvPr id="24" name="Shape 22"/>
          <p:cNvSpPr/>
          <p:nvPr/>
        </p:nvSpPr>
        <p:spPr>
          <a:xfrm>
            <a:off x="1207008" y="3977640"/>
            <a:ext cx="2514600" cy="731520"/>
          </a:xfrm>
          <a:prstGeom prst="roundRect">
            <a:avLst>
              <a:gd name="adj" fmla="val 7500"/>
            </a:avLst>
          </a:prstGeom>
          <a:solidFill>
            <a:srgbClr val="FFF8EE"/>
          </a:solidFill>
          <a:ln w="12700">
            <a:solidFill>
              <a:srgbClr val="F7D6A1"/>
            </a:solidFill>
            <a:prstDash val="solid"/>
          </a:ln>
        </p:spPr>
      </p:sp>
      <p:sp>
        <p:nvSpPr>
          <p:cNvPr id="25" name="Text 23"/>
          <p:cNvSpPr/>
          <p:nvPr/>
        </p:nvSpPr>
        <p:spPr>
          <a:xfrm>
            <a:off x="1325880" y="4096512"/>
            <a:ext cx="2286000" cy="411480"/>
          </a:xfrm>
          <a:prstGeom prst="rect">
            <a:avLst/>
          </a:prstGeom>
          <a:noFill/>
          <a:ln/>
        </p:spPr>
        <p:txBody>
          <a:bodyPr wrap="square" lIns="0" tIns="0" rIns="0" bIns="0" rtlCol="0" anchor="ctr">
            <a:normAutofit/>
          </a:bodyPr>
          <a:lstStyle/>
          <a:p>
            <a:pPr algn="ctr" indent="0" marL="0">
              <a:buNone/>
            </a:pPr>
            <a:r>
              <a:rPr lang="en-US" sz="1500" b="1" dirty="0">
                <a:solidFill>
                  <a:srgbClr val="111111"/>
                </a:solidFill>
                <a:latin typeface="Meiryo" pitchFamily="34" charset="0"/>
                <a:ea typeface="Meiryo" pitchFamily="34" charset="-122"/>
                <a:cs typeface="Meiryo" pitchFamily="34" charset="-120"/>
              </a:rPr>
              <a:t>U-Net が</a:t>
            </a:r>
            <a:endParaRPr lang="en-US" sz="1500" dirty="0"/>
          </a:p>
          <a:p>
            <a:pPr algn="ctr" indent="0" marL="0">
              <a:buNone/>
            </a:pPr>
            <a:r>
              <a:rPr lang="en-US" sz="1500" b="1" dirty="0">
                <a:solidFill>
                  <a:srgbClr val="111111"/>
                </a:solidFill>
                <a:latin typeface="Meiryo" pitchFamily="34" charset="0"/>
                <a:ea typeface="Meiryo" pitchFamily="34" charset="-122"/>
                <a:cs typeface="Meiryo" pitchFamily="34" charset="-120"/>
              </a:rPr>
              <a:t>位置と作用を</a:t>
            </a:r>
            <a:endParaRPr lang="en-US" sz="1500" dirty="0"/>
          </a:p>
          <a:p>
            <a:pPr algn="ctr" indent="0" marL="0">
              <a:buNone/>
            </a:pPr>
            <a:r>
              <a:rPr lang="en-US" sz="1500" b="1" dirty="0">
                <a:solidFill>
                  <a:srgbClr val="111111"/>
                </a:solidFill>
                <a:latin typeface="Meiryo" pitchFamily="34" charset="0"/>
                <a:ea typeface="Meiryo" pitchFamily="34" charset="-122"/>
                <a:cs typeface="Meiryo" pitchFamily="34" charset="-120"/>
              </a:rPr>
              <a:t>暗黙学習</a:t>
            </a:r>
            <a:endParaRPr lang="en-US" sz="1500" dirty="0"/>
          </a:p>
        </p:txBody>
      </p:sp>
      <p:sp>
        <p:nvSpPr>
          <p:cNvPr id="26" name="Text 24"/>
          <p:cNvSpPr/>
          <p:nvPr/>
        </p:nvSpPr>
        <p:spPr>
          <a:xfrm>
            <a:off x="1325880" y="4956048"/>
            <a:ext cx="2286000" cy="146304"/>
          </a:xfrm>
          <a:prstGeom prst="rect">
            <a:avLst/>
          </a:prstGeom>
          <a:noFill/>
          <a:ln/>
        </p:spPr>
        <p:txBody>
          <a:bodyPr wrap="square" lIns="0" tIns="0" rIns="0" bIns="0" rtlCol="0" anchor="ctr">
            <a:normAutofit/>
          </a:bodyPr>
          <a:lstStyle/>
          <a:p>
            <a:pPr algn="ctr" indent="0" marL="0">
              <a:buNone/>
            </a:pPr>
            <a:r>
              <a:rPr lang="en-US" sz="1500" b="1" dirty="0">
                <a:solidFill>
                  <a:srgbClr val="DC2626"/>
                </a:solidFill>
                <a:latin typeface="Meiryo" pitchFamily="34" charset="0"/>
                <a:ea typeface="Meiryo" pitchFamily="34" charset="-122"/>
                <a:cs typeface="Meiryo" pitchFamily="34" charset="-120"/>
              </a:rPr>
              <a:t>→ 条件変動に弱い</a:t>
            </a:r>
            <a:endParaRPr lang="en-US" sz="1500" dirty="0"/>
          </a:p>
        </p:txBody>
      </p:sp>
      <p:sp>
        <p:nvSpPr>
          <p:cNvPr id="27" name="Shape 25"/>
          <p:cNvSpPr/>
          <p:nvPr/>
        </p:nvSpPr>
        <p:spPr>
          <a:xfrm>
            <a:off x="4370832" y="1325880"/>
            <a:ext cx="6995160" cy="4114800"/>
          </a:xfrm>
          <a:prstGeom prst="roundRect">
            <a:avLst>
              <a:gd name="adj" fmla="val 1333"/>
            </a:avLst>
          </a:prstGeom>
          <a:solidFill>
            <a:srgbClr val="F8FBFE"/>
          </a:solidFill>
          <a:ln w="12700">
            <a:solidFill>
              <a:srgbClr val="C7E7FF"/>
            </a:solidFill>
            <a:prstDash val="solid"/>
          </a:ln>
        </p:spPr>
      </p:sp>
      <p:sp>
        <p:nvSpPr>
          <p:cNvPr id="28" name="Shape 26"/>
          <p:cNvSpPr/>
          <p:nvPr/>
        </p:nvSpPr>
        <p:spPr>
          <a:xfrm>
            <a:off x="4535424" y="1463040"/>
            <a:ext cx="749808" cy="201168"/>
          </a:xfrm>
          <a:prstGeom prst="roundRect">
            <a:avLst>
              <a:gd name="adj" fmla="val 22727"/>
            </a:avLst>
          </a:prstGeom>
          <a:solidFill>
            <a:srgbClr val="059669"/>
          </a:solidFill>
          <a:ln w="12700">
            <a:solidFill>
              <a:srgbClr val="059669"/>
            </a:solidFill>
            <a:prstDash val="solid"/>
          </a:ln>
        </p:spPr>
      </p:sp>
      <p:sp>
        <p:nvSpPr>
          <p:cNvPr id="29" name="Text 27"/>
          <p:cNvSpPr/>
          <p:nvPr/>
        </p:nvSpPr>
        <p:spPr>
          <a:xfrm>
            <a:off x="4535424" y="147218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提案</a:t>
            </a:r>
            <a:endParaRPr lang="en-US" sz="1100" dirty="0"/>
          </a:p>
        </p:txBody>
      </p:sp>
      <p:sp>
        <p:nvSpPr>
          <p:cNvPr id="30" name="Shape 28"/>
          <p:cNvSpPr/>
          <p:nvPr/>
        </p:nvSpPr>
        <p:spPr>
          <a:xfrm>
            <a:off x="4617720" y="1828800"/>
            <a:ext cx="1783080" cy="1325880"/>
          </a:xfrm>
          <a:prstGeom prst="roundRect">
            <a:avLst>
              <a:gd name="adj" fmla="val 4138"/>
            </a:avLst>
          </a:prstGeom>
          <a:solidFill>
            <a:srgbClr val="ECFDF5"/>
          </a:solidFill>
          <a:ln w="12700">
            <a:solidFill>
              <a:srgbClr val="CBEFDB"/>
            </a:solidFill>
            <a:prstDash val="solid"/>
          </a:ln>
        </p:spPr>
      </p:sp>
      <p:sp>
        <p:nvSpPr>
          <p:cNvPr id="31" name="Text 29"/>
          <p:cNvSpPr/>
          <p:nvPr/>
        </p:nvSpPr>
        <p:spPr>
          <a:xfrm>
            <a:off x="5230368" y="1956816"/>
            <a:ext cx="457200" cy="128016"/>
          </a:xfrm>
          <a:prstGeom prst="rect">
            <a:avLst/>
          </a:prstGeom>
          <a:noFill/>
          <a:ln/>
        </p:spPr>
        <p:txBody>
          <a:bodyPr wrap="square" lIns="0" tIns="0" rIns="0" bIns="0" rtlCol="0" anchor="ctr">
            <a:normAutofit/>
          </a:bodyPr>
          <a:lstStyle/>
          <a:p>
            <a:pPr algn="ctr" indent="0" marL="0">
              <a:buNone/>
            </a:pPr>
            <a:r>
              <a:rPr lang="en-US" sz="1600" b="1" dirty="0">
                <a:solidFill>
                  <a:srgbClr val="059669"/>
                </a:solidFill>
                <a:latin typeface="Meiryo" pitchFamily="34" charset="0"/>
                <a:ea typeface="Meiryo" pitchFamily="34" charset="-122"/>
                <a:cs typeface="Meiryo" pitchFamily="34" charset="-120"/>
              </a:rPr>
              <a:t>位置</a:t>
            </a:r>
            <a:endParaRPr lang="en-US" sz="1600" dirty="0"/>
          </a:p>
        </p:txBody>
      </p:sp>
      <p:sp>
        <p:nvSpPr>
          <p:cNvPr id="32" name="Text 30"/>
          <p:cNvSpPr/>
          <p:nvPr/>
        </p:nvSpPr>
        <p:spPr>
          <a:xfrm>
            <a:off x="4754880" y="2212848"/>
            <a:ext cx="1371600" cy="65836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役割別 SDF</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法線</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帯域</a:t>
            </a:r>
            <a:endParaRPr lang="en-US" sz="1500" dirty="0"/>
          </a:p>
        </p:txBody>
      </p:sp>
      <p:sp>
        <p:nvSpPr>
          <p:cNvPr id="33" name="Shape 31"/>
          <p:cNvSpPr/>
          <p:nvPr/>
        </p:nvSpPr>
        <p:spPr>
          <a:xfrm>
            <a:off x="6656832" y="1828800"/>
            <a:ext cx="2240280" cy="1325880"/>
          </a:xfrm>
          <a:prstGeom prst="roundRect">
            <a:avLst>
              <a:gd name="adj" fmla="val 4138"/>
            </a:avLst>
          </a:prstGeom>
          <a:solidFill>
            <a:srgbClr val="F4FBFF"/>
          </a:solidFill>
          <a:ln w="12700">
            <a:solidFill>
              <a:srgbClr val="C7E7FF"/>
            </a:solidFill>
            <a:prstDash val="solid"/>
          </a:ln>
        </p:spPr>
      </p:sp>
      <p:sp>
        <p:nvSpPr>
          <p:cNvPr id="34" name="Text 32"/>
          <p:cNvSpPr/>
          <p:nvPr/>
        </p:nvSpPr>
        <p:spPr>
          <a:xfrm>
            <a:off x="7452360" y="1956816"/>
            <a:ext cx="457200" cy="128016"/>
          </a:xfrm>
          <a:prstGeom prst="rect">
            <a:avLst/>
          </a:prstGeom>
          <a:noFill/>
          <a:ln/>
        </p:spPr>
        <p:txBody>
          <a:bodyPr wrap="square" lIns="0" tIns="0" rIns="0" bIns="0" rtlCol="0" anchor="ctr">
            <a:normAutofit/>
          </a:bodyPr>
          <a:lstStyle/>
          <a:p>
            <a:pPr algn="ctr" indent="0" marL="0">
              <a:buNone/>
            </a:pPr>
            <a:r>
              <a:rPr lang="en-US" sz="1600" b="1" dirty="0">
                <a:solidFill>
                  <a:srgbClr val="0D4D7E"/>
                </a:solidFill>
                <a:latin typeface="Meiryo" pitchFamily="34" charset="0"/>
                <a:ea typeface="Meiryo" pitchFamily="34" charset="-122"/>
                <a:cs typeface="Meiryo" pitchFamily="34" charset="-120"/>
              </a:rPr>
              <a:t>作用</a:t>
            </a:r>
            <a:endParaRPr lang="en-US" sz="1600" dirty="0"/>
          </a:p>
        </p:txBody>
      </p:sp>
      <p:sp>
        <p:nvSpPr>
          <p:cNvPr id="35" name="Text 33"/>
          <p:cNvSpPr/>
          <p:nvPr/>
        </p:nvSpPr>
        <p:spPr>
          <a:xfrm>
            <a:off x="6821424" y="2212848"/>
            <a:ext cx="1874520" cy="65836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Φbc / Ebc</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εr map</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inflow / suction map</a:t>
            </a:r>
            <a:endParaRPr lang="en-US" sz="1500" dirty="0"/>
          </a:p>
        </p:txBody>
      </p:sp>
      <p:sp>
        <p:nvSpPr>
          <p:cNvPr id="36" name="Shape 34"/>
          <p:cNvSpPr/>
          <p:nvPr/>
        </p:nvSpPr>
        <p:spPr>
          <a:xfrm>
            <a:off x="9189720" y="1828800"/>
            <a:ext cx="1783080" cy="1325880"/>
          </a:xfrm>
          <a:prstGeom prst="roundRect">
            <a:avLst>
              <a:gd name="adj" fmla="val 4138"/>
            </a:avLst>
          </a:prstGeom>
          <a:solidFill>
            <a:srgbClr val="FFF8EE"/>
          </a:solidFill>
          <a:ln w="12700">
            <a:solidFill>
              <a:srgbClr val="F7D6A1"/>
            </a:solidFill>
            <a:prstDash val="solid"/>
          </a:ln>
        </p:spPr>
      </p:sp>
      <p:sp>
        <p:nvSpPr>
          <p:cNvPr id="37" name="Text 35"/>
          <p:cNvSpPr/>
          <p:nvPr/>
        </p:nvSpPr>
        <p:spPr>
          <a:xfrm>
            <a:off x="9802368" y="1956816"/>
            <a:ext cx="457200" cy="128016"/>
          </a:xfrm>
          <a:prstGeom prst="rect">
            <a:avLst/>
          </a:prstGeom>
          <a:noFill/>
          <a:ln/>
        </p:spPr>
        <p:txBody>
          <a:bodyPr wrap="square" lIns="0" tIns="0" rIns="0" bIns="0" rtlCol="0" anchor="ctr">
            <a:normAutofit/>
          </a:bodyPr>
          <a:lstStyle/>
          <a:p>
            <a:pPr algn="ctr" indent="0" marL="0">
              <a:buNone/>
            </a:pPr>
            <a:r>
              <a:rPr lang="en-US" sz="1600" b="1" dirty="0">
                <a:solidFill>
                  <a:srgbClr val="8A5A0A"/>
                </a:solidFill>
                <a:latin typeface="Meiryo" pitchFamily="34" charset="0"/>
                <a:ea typeface="Meiryo" pitchFamily="34" charset="-122"/>
                <a:cs typeface="Meiryo" pitchFamily="34" charset="-120"/>
              </a:rPr>
              <a:t>推定</a:t>
            </a:r>
            <a:endParaRPr lang="en-US" sz="1600" dirty="0"/>
          </a:p>
        </p:txBody>
      </p:sp>
      <p:sp>
        <p:nvSpPr>
          <p:cNvPr id="38" name="Text 36"/>
          <p:cNvSpPr/>
          <p:nvPr/>
        </p:nvSpPr>
        <p:spPr>
          <a:xfrm>
            <a:off x="9345168" y="2212848"/>
            <a:ext cx="1371600" cy="65836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単一 U-Net</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直接出力</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境界上書き</a:t>
            </a:r>
            <a:endParaRPr lang="en-US" sz="1500" dirty="0"/>
          </a:p>
        </p:txBody>
      </p:sp>
      <p:sp>
        <p:nvSpPr>
          <p:cNvPr id="39" name="Shape 37"/>
          <p:cNvSpPr/>
          <p:nvPr/>
        </p:nvSpPr>
        <p:spPr>
          <a:xfrm>
            <a:off x="6400800" y="2487168"/>
            <a:ext cx="201168" cy="0"/>
          </a:xfrm>
          <a:prstGeom prst="line">
            <a:avLst/>
          </a:prstGeom>
          <a:noFill/>
          <a:ln w="25400">
            <a:solidFill>
              <a:srgbClr val="39A8FF"/>
            </a:solidFill>
            <a:prstDash val="solid"/>
            <a:tailEnd type="triangle"/>
          </a:ln>
        </p:spPr>
      </p:sp>
      <p:sp>
        <p:nvSpPr>
          <p:cNvPr id="40" name="Shape 38"/>
          <p:cNvSpPr/>
          <p:nvPr/>
        </p:nvSpPr>
        <p:spPr>
          <a:xfrm>
            <a:off x="8915400" y="2487168"/>
            <a:ext cx="210312" cy="0"/>
          </a:xfrm>
          <a:prstGeom prst="line">
            <a:avLst/>
          </a:prstGeom>
          <a:noFill/>
          <a:ln w="25400">
            <a:solidFill>
              <a:srgbClr val="39A8FF"/>
            </a:solidFill>
            <a:prstDash val="solid"/>
            <a:tailEnd type="triangle"/>
          </a:ln>
        </p:spPr>
      </p:sp>
      <p:sp>
        <p:nvSpPr>
          <p:cNvPr id="41" name="Shape 39"/>
          <p:cNvSpPr/>
          <p:nvPr/>
        </p:nvSpPr>
        <p:spPr>
          <a:xfrm>
            <a:off x="4617720" y="3611880"/>
            <a:ext cx="6355080" cy="1417320"/>
          </a:xfrm>
          <a:prstGeom prst="roundRect">
            <a:avLst>
              <a:gd name="adj" fmla="val 3871"/>
            </a:avLst>
          </a:prstGeom>
          <a:solidFill>
            <a:srgbClr val="FFFFFF"/>
          </a:solidFill>
          <a:ln w="12700">
            <a:solidFill>
              <a:srgbClr val="D7E3ED"/>
            </a:solidFill>
            <a:prstDash val="solid"/>
          </a:ln>
        </p:spPr>
      </p:sp>
      <p:sp>
        <p:nvSpPr>
          <p:cNvPr id="42" name="Text 40"/>
          <p:cNvSpPr/>
          <p:nvPr/>
        </p:nvSpPr>
        <p:spPr>
          <a:xfrm>
            <a:off x="4791456" y="3840480"/>
            <a:ext cx="5989320" cy="8686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発明の芯は、境界を role-wise SDF で固定仕様化し、条件値を boundary physics map として空間化する点。</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その結果、境界数や条件が変わっても、U-Net 本体を複雑化せずに汎用的に扱いやすくなる。</a:t>
            </a:r>
            <a:endParaRPr lang="en-US" sz="1600" dirty="0"/>
          </a:p>
        </p:txBody>
      </p:sp>
      <p:sp>
        <p:nvSpPr>
          <p:cNvPr id="43" name="Shape 41"/>
          <p:cNvSpPr/>
          <p:nvPr/>
        </p:nvSpPr>
        <p:spPr>
          <a:xfrm>
            <a:off x="9052560" y="4864608"/>
            <a:ext cx="1508760" cy="219456"/>
          </a:xfrm>
          <a:prstGeom prst="roundRect">
            <a:avLst>
              <a:gd name="adj" fmla="val 20833"/>
            </a:avLst>
          </a:prstGeom>
          <a:solidFill>
            <a:srgbClr val="39A8FF"/>
          </a:solidFill>
          <a:ln w="12700">
            <a:solidFill>
              <a:srgbClr val="39A8FF"/>
            </a:solidFill>
            <a:prstDash val="solid"/>
          </a:ln>
        </p:spPr>
      </p:sp>
      <p:sp>
        <p:nvSpPr>
          <p:cNvPr id="44" name="Text 42"/>
          <p:cNvSpPr/>
          <p:nvPr/>
        </p:nvSpPr>
        <p:spPr>
          <a:xfrm>
            <a:off x="9052560" y="4873752"/>
            <a:ext cx="1508760" cy="21031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位置 × 作用 × 単一構造</a:t>
            </a:r>
            <a:endParaRPr lang="en-US" sz="1100" dirty="0"/>
          </a:p>
        </p:txBody>
      </p:sp>
      <p:sp>
        <p:nvSpPr>
          <p:cNvPr id="45" name="Text 43"/>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提案手法の全体システム構成</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提案</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19456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方法クレームの骨格になりやすい処理フロー</a:t>
            </a:r>
            <a:endParaRPr lang="en-US" sz="1600" dirty="0"/>
          </a:p>
        </p:txBody>
      </p:sp>
      <p:sp>
        <p:nvSpPr>
          <p:cNvPr id="8" name="Shape 6"/>
          <p:cNvSpPr/>
          <p:nvPr/>
        </p:nvSpPr>
        <p:spPr>
          <a:xfrm>
            <a:off x="2450592" y="2423160"/>
            <a:ext cx="173736" cy="0"/>
          </a:xfrm>
          <a:prstGeom prst="line">
            <a:avLst/>
          </a:prstGeom>
          <a:noFill/>
          <a:ln w="27940">
            <a:solidFill>
              <a:srgbClr val="39A8FF"/>
            </a:solidFill>
            <a:prstDash val="solid"/>
            <a:tailEnd type="triangle"/>
          </a:ln>
        </p:spPr>
      </p:sp>
      <p:sp>
        <p:nvSpPr>
          <p:cNvPr id="9" name="Shape 7"/>
          <p:cNvSpPr/>
          <p:nvPr/>
        </p:nvSpPr>
        <p:spPr>
          <a:xfrm>
            <a:off x="4187952" y="2423160"/>
            <a:ext cx="173736" cy="0"/>
          </a:xfrm>
          <a:prstGeom prst="line">
            <a:avLst/>
          </a:prstGeom>
          <a:noFill/>
          <a:ln w="27940">
            <a:solidFill>
              <a:srgbClr val="39A8FF"/>
            </a:solidFill>
            <a:prstDash val="solid"/>
            <a:tailEnd type="triangle"/>
          </a:ln>
        </p:spPr>
      </p:sp>
      <p:sp>
        <p:nvSpPr>
          <p:cNvPr id="10" name="Shape 8"/>
          <p:cNvSpPr/>
          <p:nvPr/>
        </p:nvSpPr>
        <p:spPr>
          <a:xfrm>
            <a:off x="6199632" y="2423160"/>
            <a:ext cx="173736" cy="0"/>
          </a:xfrm>
          <a:prstGeom prst="line">
            <a:avLst/>
          </a:prstGeom>
          <a:noFill/>
          <a:ln w="27940">
            <a:solidFill>
              <a:srgbClr val="39A8FF"/>
            </a:solidFill>
            <a:prstDash val="solid"/>
            <a:tailEnd type="triangle"/>
          </a:ln>
        </p:spPr>
      </p:sp>
      <p:sp>
        <p:nvSpPr>
          <p:cNvPr id="11" name="Shape 9"/>
          <p:cNvSpPr/>
          <p:nvPr/>
        </p:nvSpPr>
        <p:spPr>
          <a:xfrm>
            <a:off x="8074152" y="2423160"/>
            <a:ext cx="173736" cy="0"/>
          </a:xfrm>
          <a:prstGeom prst="line">
            <a:avLst/>
          </a:prstGeom>
          <a:noFill/>
          <a:ln w="27940">
            <a:solidFill>
              <a:srgbClr val="39A8FF"/>
            </a:solidFill>
            <a:prstDash val="solid"/>
            <a:tailEnd type="triangle"/>
          </a:ln>
        </p:spPr>
      </p:sp>
      <p:sp>
        <p:nvSpPr>
          <p:cNvPr id="12" name="Shape 10"/>
          <p:cNvSpPr/>
          <p:nvPr/>
        </p:nvSpPr>
        <p:spPr>
          <a:xfrm>
            <a:off x="9948672" y="2423160"/>
            <a:ext cx="173736" cy="0"/>
          </a:xfrm>
          <a:prstGeom prst="line">
            <a:avLst/>
          </a:prstGeom>
          <a:noFill/>
          <a:ln w="27940">
            <a:solidFill>
              <a:srgbClr val="39A8FF"/>
            </a:solidFill>
            <a:prstDash val="solid"/>
            <a:tailEnd type="triangle"/>
          </a:ln>
        </p:spPr>
      </p:sp>
      <p:sp>
        <p:nvSpPr>
          <p:cNvPr id="13" name="Shape 11"/>
          <p:cNvSpPr/>
          <p:nvPr/>
        </p:nvSpPr>
        <p:spPr>
          <a:xfrm>
            <a:off x="914400" y="1828800"/>
            <a:ext cx="1463040" cy="1188720"/>
          </a:xfrm>
          <a:prstGeom prst="roundRect">
            <a:avLst>
              <a:gd name="adj" fmla="val 4615"/>
            </a:avLst>
          </a:prstGeom>
          <a:solidFill>
            <a:srgbClr val="F8FBFE"/>
          </a:solidFill>
          <a:ln w="12700">
            <a:solidFill>
              <a:srgbClr val="C7E7FF"/>
            </a:solidFill>
            <a:prstDash val="solid"/>
          </a:ln>
        </p:spPr>
      </p:sp>
      <p:sp>
        <p:nvSpPr>
          <p:cNvPr id="14" name="Text 12"/>
          <p:cNvSpPr/>
          <p:nvPr/>
        </p:nvSpPr>
        <p:spPr>
          <a:xfrm>
            <a:off x="987552" y="2157984"/>
            <a:ext cx="1316736" cy="38404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幾何</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境界役割</a:t>
            </a:r>
            <a:endParaRPr lang="en-US" sz="1600" dirty="0"/>
          </a:p>
        </p:txBody>
      </p:sp>
      <p:sp>
        <p:nvSpPr>
          <p:cNvPr id="15" name="Shape 13"/>
          <p:cNvSpPr/>
          <p:nvPr/>
        </p:nvSpPr>
        <p:spPr>
          <a:xfrm>
            <a:off x="2697480" y="1828800"/>
            <a:ext cx="1417320" cy="1188720"/>
          </a:xfrm>
          <a:prstGeom prst="roundRect">
            <a:avLst>
              <a:gd name="adj" fmla="val 4615"/>
            </a:avLst>
          </a:prstGeom>
          <a:solidFill>
            <a:srgbClr val="F8FBFE"/>
          </a:solidFill>
          <a:ln w="12700">
            <a:solidFill>
              <a:srgbClr val="C7E7FF"/>
            </a:solidFill>
            <a:prstDash val="solid"/>
          </a:ln>
        </p:spPr>
      </p:sp>
      <p:sp>
        <p:nvSpPr>
          <p:cNvPr id="16" name="Text 14"/>
          <p:cNvSpPr/>
          <p:nvPr/>
        </p:nvSpPr>
        <p:spPr>
          <a:xfrm>
            <a:off x="2770632" y="2157984"/>
            <a:ext cx="1271016" cy="38404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multi-SDF</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生成</a:t>
            </a:r>
            <a:endParaRPr lang="en-US" sz="1600" dirty="0"/>
          </a:p>
        </p:txBody>
      </p:sp>
      <p:sp>
        <p:nvSpPr>
          <p:cNvPr id="17" name="Shape 15"/>
          <p:cNvSpPr/>
          <p:nvPr/>
        </p:nvSpPr>
        <p:spPr>
          <a:xfrm>
            <a:off x="4434840" y="1828800"/>
            <a:ext cx="1691640" cy="1188720"/>
          </a:xfrm>
          <a:prstGeom prst="roundRect">
            <a:avLst>
              <a:gd name="adj" fmla="val 4615"/>
            </a:avLst>
          </a:prstGeom>
          <a:solidFill>
            <a:srgbClr val="F8FBFE"/>
          </a:solidFill>
          <a:ln w="12700">
            <a:solidFill>
              <a:srgbClr val="C7E7FF"/>
            </a:solidFill>
            <a:prstDash val="solid"/>
          </a:ln>
        </p:spPr>
      </p:sp>
      <p:sp>
        <p:nvSpPr>
          <p:cNvPr id="18" name="Text 16"/>
          <p:cNvSpPr/>
          <p:nvPr/>
        </p:nvSpPr>
        <p:spPr>
          <a:xfrm>
            <a:off x="4507992" y="2157984"/>
            <a:ext cx="1545336" cy="38404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境界物理マップ</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生成</a:t>
            </a:r>
            <a:endParaRPr lang="en-US" sz="1600" dirty="0"/>
          </a:p>
        </p:txBody>
      </p:sp>
      <p:sp>
        <p:nvSpPr>
          <p:cNvPr id="19" name="Shape 17"/>
          <p:cNvSpPr/>
          <p:nvPr/>
        </p:nvSpPr>
        <p:spPr>
          <a:xfrm>
            <a:off x="6446520" y="1828800"/>
            <a:ext cx="1554480" cy="1188720"/>
          </a:xfrm>
          <a:prstGeom prst="roundRect">
            <a:avLst>
              <a:gd name="adj" fmla="val 4615"/>
            </a:avLst>
          </a:prstGeom>
          <a:solidFill>
            <a:srgbClr val="F8FBFE"/>
          </a:solidFill>
          <a:ln w="12700">
            <a:solidFill>
              <a:srgbClr val="C7E7FF"/>
            </a:solidFill>
            <a:prstDash val="solid"/>
          </a:ln>
        </p:spPr>
      </p:sp>
      <p:sp>
        <p:nvSpPr>
          <p:cNvPr id="20" name="Text 18"/>
          <p:cNvSpPr/>
          <p:nvPr/>
        </p:nvSpPr>
        <p:spPr>
          <a:xfrm>
            <a:off x="6519672" y="2157984"/>
            <a:ext cx="1408176" cy="38404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特徴テンソル</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統合</a:t>
            </a:r>
            <a:endParaRPr lang="en-US" sz="1600" dirty="0"/>
          </a:p>
        </p:txBody>
      </p:sp>
      <p:sp>
        <p:nvSpPr>
          <p:cNvPr id="21" name="Shape 19"/>
          <p:cNvSpPr/>
          <p:nvPr/>
        </p:nvSpPr>
        <p:spPr>
          <a:xfrm>
            <a:off x="8321040" y="1828800"/>
            <a:ext cx="1554480" cy="1188720"/>
          </a:xfrm>
          <a:prstGeom prst="roundRect">
            <a:avLst>
              <a:gd name="adj" fmla="val 4615"/>
            </a:avLst>
          </a:prstGeom>
          <a:solidFill>
            <a:srgbClr val="F8FBFE"/>
          </a:solidFill>
          <a:ln w="12700">
            <a:solidFill>
              <a:srgbClr val="C7E7FF"/>
            </a:solidFill>
            <a:prstDash val="solid"/>
          </a:ln>
        </p:spPr>
      </p:sp>
      <p:sp>
        <p:nvSpPr>
          <p:cNvPr id="22" name="Text 20"/>
          <p:cNvSpPr/>
          <p:nvPr/>
        </p:nvSpPr>
        <p:spPr>
          <a:xfrm>
            <a:off x="8394192" y="2157984"/>
            <a:ext cx="1408176" cy="38404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SDF条件付き</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U-Net</a:t>
            </a:r>
            <a:endParaRPr lang="en-US" sz="1600" dirty="0"/>
          </a:p>
        </p:txBody>
      </p:sp>
      <p:sp>
        <p:nvSpPr>
          <p:cNvPr id="23" name="Shape 21"/>
          <p:cNvSpPr/>
          <p:nvPr/>
        </p:nvSpPr>
        <p:spPr>
          <a:xfrm>
            <a:off x="10195560" y="1828800"/>
            <a:ext cx="1097280" cy="1188720"/>
          </a:xfrm>
          <a:prstGeom prst="roundRect">
            <a:avLst>
              <a:gd name="adj" fmla="val 5000"/>
            </a:avLst>
          </a:prstGeom>
          <a:solidFill>
            <a:srgbClr val="F8FBFE"/>
          </a:solidFill>
          <a:ln w="12700">
            <a:solidFill>
              <a:srgbClr val="C7E7FF"/>
            </a:solidFill>
            <a:prstDash val="solid"/>
          </a:ln>
        </p:spPr>
      </p:sp>
      <p:sp>
        <p:nvSpPr>
          <p:cNvPr id="24" name="Text 22"/>
          <p:cNvSpPr/>
          <p:nvPr/>
        </p:nvSpPr>
        <p:spPr>
          <a:xfrm>
            <a:off x="10268712" y="2157984"/>
            <a:ext cx="950976" cy="38404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後処理</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活用</a:t>
            </a:r>
            <a:endParaRPr lang="en-US" sz="1600" dirty="0"/>
          </a:p>
        </p:txBody>
      </p:sp>
      <p:sp>
        <p:nvSpPr>
          <p:cNvPr id="25" name="Shape 23"/>
          <p:cNvSpPr/>
          <p:nvPr/>
        </p:nvSpPr>
        <p:spPr>
          <a:xfrm>
            <a:off x="914400" y="3429000"/>
            <a:ext cx="1463040" cy="1554480"/>
          </a:xfrm>
          <a:prstGeom prst="roundRect">
            <a:avLst>
              <a:gd name="adj" fmla="val 3750"/>
            </a:avLst>
          </a:prstGeom>
          <a:solidFill>
            <a:srgbClr val="FFFFFF"/>
          </a:solidFill>
          <a:ln w="12700">
            <a:solidFill>
              <a:srgbClr val="D7E3ED"/>
            </a:solidFill>
            <a:prstDash val="solid"/>
          </a:ln>
        </p:spPr>
      </p:sp>
      <p:sp>
        <p:nvSpPr>
          <p:cNvPr id="26" name="Shape 24"/>
          <p:cNvSpPr/>
          <p:nvPr/>
        </p:nvSpPr>
        <p:spPr>
          <a:xfrm>
            <a:off x="1024128" y="3566160"/>
            <a:ext cx="512064" cy="182880"/>
          </a:xfrm>
          <a:prstGeom prst="roundRect">
            <a:avLst>
              <a:gd name="adj" fmla="val 25000"/>
            </a:avLst>
          </a:prstGeom>
          <a:solidFill>
            <a:srgbClr val="059669"/>
          </a:solidFill>
          <a:ln w="12700">
            <a:solidFill>
              <a:srgbClr val="059669"/>
            </a:solidFill>
            <a:prstDash val="solid"/>
          </a:ln>
        </p:spPr>
      </p:sp>
      <p:sp>
        <p:nvSpPr>
          <p:cNvPr id="27" name="Text 25"/>
          <p:cNvSpPr/>
          <p:nvPr/>
        </p:nvSpPr>
        <p:spPr>
          <a:xfrm>
            <a:off x="1024128" y="3575304"/>
            <a:ext cx="51206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入力</a:t>
            </a:r>
            <a:endParaRPr lang="en-US" sz="1100" dirty="0"/>
          </a:p>
        </p:txBody>
      </p:sp>
      <p:sp>
        <p:nvSpPr>
          <p:cNvPr id="28" name="Text 26"/>
          <p:cNvSpPr/>
          <p:nvPr/>
        </p:nvSpPr>
        <p:spPr>
          <a:xfrm>
            <a:off x="1024128" y="3886200"/>
            <a:ext cx="1280160" cy="82296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接地 / 印加 / 浮遊</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誘電体 / inlet / outlet</a:t>
            </a:r>
            <a:endParaRPr lang="en-US" sz="1400" dirty="0"/>
          </a:p>
        </p:txBody>
      </p:sp>
      <p:sp>
        <p:nvSpPr>
          <p:cNvPr id="29" name="Shape 27"/>
          <p:cNvSpPr/>
          <p:nvPr/>
        </p:nvSpPr>
        <p:spPr>
          <a:xfrm>
            <a:off x="2697480" y="3429000"/>
            <a:ext cx="1417320" cy="1554480"/>
          </a:xfrm>
          <a:prstGeom prst="roundRect">
            <a:avLst>
              <a:gd name="adj" fmla="val 3871"/>
            </a:avLst>
          </a:prstGeom>
          <a:solidFill>
            <a:srgbClr val="FFFFFF"/>
          </a:solidFill>
          <a:ln w="12700">
            <a:solidFill>
              <a:srgbClr val="D7E3ED"/>
            </a:solidFill>
            <a:prstDash val="solid"/>
          </a:ln>
        </p:spPr>
      </p:sp>
      <p:sp>
        <p:nvSpPr>
          <p:cNvPr id="30" name="Shape 28"/>
          <p:cNvSpPr/>
          <p:nvPr/>
        </p:nvSpPr>
        <p:spPr>
          <a:xfrm>
            <a:off x="2807208" y="3566160"/>
            <a:ext cx="512064" cy="182880"/>
          </a:xfrm>
          <a:prstGeom prst="roundRect">
            <a:avLst>
              <a:gd name="adj" fmla="val 25000"/>
            </a:avLst>
          </a:prstGeom>
          <a:solidFill>
            <a:srgbClr val="059669"/>
          </a:solidFill>
          <a:ln w="12700">
            <a:solidFill>
              <a:srgbClr val="059669"/>
            </a:solidFill>
            <a:prstDash val="solid"/>
          </a:ln>
        </p:spPr>
      </p:sp>
      <p:sp>
        <p:nvSpPr>
          <p:cNvPr id="31" name="Text 29"/>
          <p:cNvSpPr/>
          <p:nvPr/>
        </p:nvSpPr>
        <p:spPr>
          <a:xfrm>
            <a:off x="2807208" y="3575304"/>
            <a:ext cx="51206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位置表現</a:t>
            </a:r>
            <a:endParaRPr lang="en-US" sz="1100" dirty="0"/>
          </a:p>
        </p:txBody>
      </p:sp>
      <p:sp>
        <p:nvSpPr>
          <p:cNvPr id="32" name="Text 30"/>
          <p:cNvSpPr/>
          <p:nvPr/>
        </p:nvSpPr>
        <p:spPr>
          <a:xfrm>
            <a:off x="2807208" y="3886200"/>
            <a:ext cx="1234440" cy="82296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d_ground など</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法線・帯域</a:t>
            </a:r>
            <a:endParaRPr lang="en-US" sz="1400" dirty="0"/>
          </a:p>
        </p:txBody>
      </p:sp>
      <p:sp>
        <p:nvSpPr>
          <p:cNvPr id="33" name="Shape 31"/>
          <p:cNvSpPr/>
          <p:nvPr/>
        </p:nvSpPr>
        <p:spPr>
          <a:xfrm>
            <a:off x="4434840" y="3429000"/>
            <a:ext cx="1691640" cy="1554480"/>
          </a:xfrm>
          <a:prstGeom prst="roundRect">
            <a:avLst>
              <a:gd name="adj" fmla="val 3529"/>
            </a:avLst>
          </a:prstGeom>
          <a:solidFill>
            <a:srgbClr val="FFFFFF"/>
          </a:solidFill>
          <a:ln w="12700">
            <a:solidFill>
              <a:srgbClr val="D7E3ED"/>
            </a:solidFill>
            <a:prstDash val="solid"/>
          </a:ln>
        </p:spPr>
      </p:sp>
      <p:sp>
        <p:nvSpPr>
          <p:cNvPr id="34" name="Shape 32"/>
          <p:cNvSpPr/>
          <p:nvPr/>
        </p:nvSpPr>
        <p:spPr>
          <a:xfrm>
            <a:off x="4544568" y="3566160"/>
            <a:ext cx="512064" cy="182880"/>
          </a:xfrm>
          <a:prstGeom prst="roundRect">
            <a:avLst>
              <a:gd name="adj" fmla="val 25000"/>
            </a:avLst>
          </a:prstGeom>
          <a:solidFill>
            <a:srgbClr val="F59E0B"/>
          </a:solidFill>
          <a:ln w="12700">
            <a:solidFill>
              <a:srgbClr val="F59E0B"/>
            </a:solidFill>
            <a:prstDash val="solid"/>
          </a:ln>
        </p:spPr>
      </p:sp>
      <p:sp>
        <p:nvSpPr>
          <p:cNvPr id="35" name="Text 33"/>
          <p:cNvSpPr/>
          <p:nvPr/>
        </p:nvSpPr>
        <p:spPr>
          <a:xfrm>
            <a:off x="4544568" y="3575304"/>
            <a:ext cx="51206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作用表現</a:t>
            </a:r>
            <a:endParaRPr lang="en-US" sz="1100" dirty="0"/>
          </a:p>
        </p:txBody>
      </p:sp>
      <p:sp>
        <p:nvSpPr>
          <p:cNvPr id="36" name="Text 34"/>
          <p:cNvSpPr/>
          <p:nvPr/>
        </p:nvSpPr>
        <p:spPr>
          <a:xfrm>
            <a:off x="4544568" y="3886200"/>
            <a:ext cx="1508760" cy="82296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Φbc, εr</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Qin, Sout</a:t>
            </a:r>
            <a:endParaRPr lang="en-US" sz="1400" dirty="0"/>
          </a:p>
        </p:txBody>
      </p:sp>
      <p:sp>
        <p:nvSpPr>
          <p:cNvPr id="37" name="Shape 35"/>
          <p:cNvSpPr/>
          <p:nvPr/>
        </p:nvSpPr>
        <p:spPr>
          <a:xfrm>
            <a:off x="6446520" y="3429000"/>
            <a:ext cx="1554480" cy="1554480"/>
          </a:xfrm>
          <a:prstGeom prst="roundRect">
            <a:avLst>
              <a:gd name="adj" fmla="val 3529"/>
            </a:avLst>
          </a:prstGeom>
          <a:solidFill>
            <a:srgbClr val="FFFFFF"/>
          </a:solidFill>
          <a:ln w="12700">
            <a:solidFill>
              <a:srgbClr val="D7E3ED"/>
            </a:solidFill>
            <a:prstDash val="solid"/>
          </a:ln>
        </p:spPr>
      </p:sp>
      <p:sp>
        <p:nvSpPr>
          <p:cNvPr id="38" name="Shape 36"/>
          <p:cNvSpPr/>
          <p:nvPr/>
        </p:nvSpPr>
        <p:spPr>
          <a:xfrm>
            <a:off x="6556248" y="3566160"/>
            <a:ext cx="512064" cy="182880"/>
          </a:xfrm>
          <a:prstGeom prst="roundRect">
            <a:avLst>
              <a:gd name="adj" fmla="val 25000"/>
            </a:avLst>
          </a:prstGeom>
          <a:solidFill>
            <a:srgbClr val="39A8FF"/>
          </a:solidFill>
          <a:ln w="12700">
            <a:solidFill>
              <a:srgbClr val="39A8FF"/>
            </a:solidFill>
            <a:prstDash val="solid"/>
          </a:ln>
        </p:spPr>
      </p:sp>
      <p:sp>
        <p:nvSpPr>
          <p:cNvPr id="39" name="Text 37"/>
          <p:cNvSpPr/>
          <p:nvPr/>
        </p:nvSpPr>
        <p:spPr>
          <a:xfrm>
            <a:off x="6556248" y="3575304"/>
            <a:ext cx="51206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固定仕様</a:t>
            </a:r>
            <a:endParaRPr lang="en-US" sz="1100" dirty="0"/>
          </a:p>
        </p:txBody>
      </p:sp>
      <p:sp>
        <p:nvSpPr>
          <p:cNvPr id="40" name="Text 38"/>
          <p:cNvSpPr/>
          <p:nvPr/>
        </p:nvSpPr>
        <p:spPr>
          <a:xfrm>
            <a:off x="6556248" y="3886200"/>
            <a:ext cx="1371600" cy="82296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座標 + SDF + map</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装置差も同じ schema</a:t>
            </a:r>
            <a:endParaRPr lang="en-US" sz="1400" dirty="0"/>
          </a:p>
        </p:txBody>
      </p:sp>
      <p:sp>
        <p:nvSpPr>
          <p:cNvPr id="41" name="Shape 39"/>
          <p:cNvSpPr/>
          <p:nvPr/>
        </p:nvSpPr>
        <p:spPr>
          <a:xfrm>
            <a:off x="8321040" y="3429000"/>
            <a:ext cx="1554480" cy="1554480"/>
          </a:xfrm>
          <a:prstGeom prst="roundRect">
            <a:avLst>
              <a:gd name="adj" fmla="val 3529"/>
            </a:avLst>
          </a:prstGeom>
          <a:solidFill>
            <a:srgbClr val="FFFFFF"/>
          </a:solidFill>
          <a:ln w="12700">
            <a:solidFill>
              <a:srgbClr val="D7E3ED"/>
            </a:solidFill>
            <a:prstDash val="solid"/>
          </a:ln>
        </p:spPr>
      </p:sp>
      <p:sp>
        <p:nvSpPr>
          <p:cNvPr id="42" name="Shape 40"/>
          <p:cNvSpPr/>
          <p:nvPr/>
        </p:nvSpPr>
        <p:spPr>
          <a:xfrm>
            <a:off x="8430768" y="3566160"/>
            <a:ext cx="512064" cy="182880"/>
          </a:xfrm>
          <a:prstGeom prst="roundRect">
            <a:avLst>
              <a:gd name="adj" fmla="val 25000"/>
            </a:avLst>
          </a:prstGeom>
          <a:solidFill>
            <a:srgbClr val="10B981"/>
          </a:solidFill>
          <a:ln w="12700">
            <a:solidFill>
              <a:srgbClr val="10B981"/>
            </a:solidFill>
            <a:prstDash val="solid"/>
          </a:ln>
        </p:spPr>
      </p:sp>
      <p:sp>
        <p:nvSpPr>
          <p:cNvPr id="43" name="Text 41"/>
          <p:cNvSpPr/>
          <p:nvPr/>
        </p:nvSpPr>
        <p:spPr>
          <a:xfrm>
            <a:off x="8430768" y="3575304"/>
            <a:ext cx="51206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推定</a:t>
            </a:r>
            <a:endParaRPr lang="en-US" sz="1100" dirty="0"/>
          </a:p>
        </p:txBody>
      </p:sp>
      <p:sp>
        <p:nvSpPr>
          <p:cNvPr id="44" name="Text 42"/>
          <p:cNvSpPr/>
          <p:nvPr/>
        </p:nvSpPr>
        <p:spPr>
          <a:xfrm>
            <a:off x="8430768" y="3886200"/>
            <a:ext cx="1371600" cy="82296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φ, ne, ni, Te</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単一 U-Net</a:t>
            </a:r>
            <a:endParaRPr lang="en-US" sz="1400" dirty="0"/>
          </a:p>
        </p:txBody>
      </p:sp>
      <p:sp>
        <p:nvSpPr>
          <p:cNvPr id="45" name="Shape 43"/>
          <p:cNvSpPr/>
          <p:nvPr/>
        </p:nvSpPr>
        <p:spPr>
          <a:xfrm>
            <a:off x="10195560" y="3429000"/>
            <a:ext cx="1097280" cy="1554480"/>
          </a:xfrm>
          <a:prstGeom prst="roundRect">
            <a:avLst>
              <a:gd name="adj" fmla="val 5000"/>
            </a:avLst>
          </a:prstGeom>
          <a:solidFill>
            <a:srgbClr val="FFFFFF"/>
          </a:solidFill>
          <a:ln w="12700">
            <a:solidFill>
              <a:srgbClr val="D7E3ED"/>
            </a:solidFill>
            <a:prstDash val="solid"/>
          </a:ln>
        </p:spPr>
      </p:sp>
      <p:sp>
        <p:nvSpPr>
          <p:cNvPr id="46" name="Shape 44"/>
          <p:cNvSpPr/>
          <p:nvPr/>
        </p:nvSpPr>
        <p:spPr>
          <a:xfrm>
            <a:off x="10305288" y="3566160"/>
            <a:ext cx="512064" cy="182880"/>
          </a:xfrm>
          <a:prstGeom prst="roundRect">
            <a:avLst>
              <a:gd name="adj" fmla="val 25000"/>
            </a:avLst>
          </a:prstGeom>
          <a:solidFill>
            <a:srgbClr val="8B5CF6"/>
          </a:solidFill>
          <a:ln w="12700">
            <a:solidFill>
              <a:srgbClr val="8B5CF6"/>
            </a:solidFill>
            <a:prstDash val="solid"/>
          </a:ln>
        </p:spPr>
      </p:sp>
      <p:sp>
        <p:nvSpPr>
          <p:cNvPr id="47" name="Text 45"/>
          <p:cNvSpPr/>
          <p:nvPr/>
        </p:nvSpPr>
        <p:spPr>
          <a:xfrm>
            <a:off x="10305288" y="3575304"/>
            <a:ext cx="51206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出力</a:t>
            </a:r>
            <a:endParaRPr lang="en-US" sz="1100" dirty="0"/>
          </a:p>
        </p:txBody>
      </p:sp>
      <p:sp>
        <p:nvSpPr>
          <p:cNvPr id="48" name="Text 46"/>
          <p:cNvSpPr/>
          <p:nvPr/>
        </p:nvSpPr>
        <p:spPr>
          <a:xfrm>
            <a:off x="10305288" y="3886200"/>
            <a:ext cx="914400" cy="82296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境界上書き</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設計・運転へ利用</a:t>
            </a:r>
            <a:endParaRPr lang="en-US" sz="1400" dirty="0"/>
          </a:p>
        </p:txBody>
      </p:sp>
      <p:sp>
        <p:nvSpPr>
          <p:cNvPr id="49" name="Shape 47"/>
          <p:cNvSpPr/>
          <p:nvPr/>
        </p:nvSpPr>
        <p:spPr>
          <a:xfrm>
            <a:off x="896112" y="5349240"/>
            <a:ext cx="10378440" cy="640080"/>
          </a:xfrm>
          <a:prstGeom prst="roundRect">
            <a:avLst>
              <a:gd name="adj" fmla="val 8571"/>
            </a:avLst>
          </a:prstGeom>
          <a:solidFill>
            <a:srgbClr val="F4FBFF"/>
          </a:solidFill>
          <a:ln w="12700">
            <a:solidFill>
              <a:srgbClr val="C7E7FF"/>
            </a:solidFill>
            <a:prstDash val="solid"/>
          </a:ln>
        </p:spPr>
      </p:sp>
      <p:sp>
        <p:nvSpPr>
          <p:cNvPr id="50" name="Text 48"/>
          <p:cNvSpPr/>
          <p:nvPr/>
        </p:nvSpPr>
        <p:spPr>
          <a:xfrm>
            <a:off x="1051560" y="5513832"/>
            <a:ext cx="10058400" cy="27432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ポイント: U-Net 本体ではなく、前段の「入力データの作り方」に発明の新規性を集中させる。</a:t>
            </a:r>
            <a:endParaRPr lang="en-US" sz="1500" dirty="0"/>
          </a:p>
        </p:txBody>
      </p:sp>
      <p:sp>
        <p:nvSpPr>
          <p:cNvPr id="51" name="Text 49"/>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汎用的な有用機能1: 役割別 multi-SDF による固定チャネル化</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SDF</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1031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SDF は「どこにあるか」を表す共通言語</a:t>
            </a:r>
            <a:endParaRPr lang="en-US" sz="1600" dirty="0"/>
          </a:p>
        </p:txBody>
      </p:sp>
      <p:sp>
        <p:nvSpPr>
          <p:cNvPr id="8" name="Shape 6"/>
          <p:cNvSpPr/>
          <p:nvPr/>
        </p:nvSpPr>
        <p:spPr>
          <a:xfrm>
            <a:off x="822960" y="1920240"/>
            <a:ext cx="365760" cy="0"/>
          </a:xfrm>
          <a:prstGeom prst="line">
            <a:avLst/>
          </a:prstGeom>
          <a:noFill/>
          <a:ln w="38100">
            <a:solidFill>
              <a:srgbClr val="3B82F6"/>
            </a:solidFill>
            <a:prstDash val="solid"/>
            <a:tailEnd type="triangle"/>
          </a:ln>
        </p:spPr>
      </p:sp>
      <p:sp>
        <p:nvSpPr>
          <p:cNvPr id="9" name="Shape 7"/>
          <p:cNvSpPr/>
          <p:nvPr/>
        </p:nvSpPr>
        <p:spPr>
          <a:xfrm>
            <a:off x="4617720" y="5120640"/>
            <a:ext cx="365760" cy="0"/>
          </a:xfrm>
          <a:prstGeom prst="line">
            <a:avLst/>
          </a:prstGeom>
          <a:noFill/>
          <a:ln w="38100">
            <a:solidFill>
              <a:srgbClr val="EF4444"/>
            </a:solidFill>
            <a:prstDash val="solid"/>
            <a:tailEnd type="triangle"/>
          </a:ln>
        </p:spPr>
      </p:sp>
      <p:sp>
        <p:nvSpPr>
          <p:cNvPr id="10" name="Shape 8"/>
          <p:cNvSpPr/>
          <p:nvPr/>
        </p:nvSpPr>
        <p:spPr>
          <a:xfrm>
            <a:off x="1051560" y="1600200"/>
            <a:ext cx="3703320" cy="3840480"/>
          </a:xfrm>
          <a:prstGeom prst="roundRect">
            <a:avLst>
              <a:gd name="adj" fmla="val 1235"/>
            </a:avLst>
          </a:prstGeom>
          <a:solidFill>
            <a:srgbClr val="FFFFFF"/>
          </a:solidFill>
          <a:ln w="25400">
            <a:solidFill>
              <a:srgbClr val="6B7280"/>
            </a:solidFill>
            <a:prstDash val="solid"/>
          </a:ln>
        </p:spPr>
      </p:sp>
      <p:sp>
        <p:nvSpPr>
          <p:cNvPr id="11" name="Shape 9"/>
          <p:cNvSpPr/>
          <p:nvPr/>
        </p:nvSpPr>
        <p:spPr>
          <a:xfrm>
            <a:off x="1069848" y="5330952"/>
            <a:ext cx="3666744" cy="91440"/>
          </a:xfrm>
          <a:prstGeom prst="rect">
            <a:avLst/>
          </a:prstGeom>
          <a:solidFill>
            <a:srgbClr val="6B7280">
              <a:alpha val="75000"/>
            </a:srgbClr>
          </a:solidFill>
          <a:ln w="12700">
            <a:solidFill>
              <a:srgbClr val="6B7280">
                <a:alpha val="0"/>
              </a:srgbClr>
            </a:solidFill>
            <a:prstDash val="solid"/>
          </a:ln>
        </p:spPr>
      </p:sp>
      <p:sp>
        <p:nvSpPr>
          <p:cNvPr id="12" name="Shape 10"/>
          <p:cNvSpPr/>
          <p:nvPr/>
        </p:nvSpPr>
        <p:spPr>
          <a:xfrm>
            <a:off x="1069848" y="1618488"/>
            <a:ext cx="109728" cy="3803904"/>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4626864" y="1618488"/>
            <a:ext cx="109728" cy="380390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1280160" y="1527048"/>
            <a:ext cx="3246120" cy="109728"/>
          </a:xfrm>
          <a:prstGeom prst="rect">
            <a:avLst/>
          </a:prstGeom>
          <a:solidFill>
            <a:srgbClr val="10B981"/>
          </a:solidFill>
          <a:ln w="12700">
            <a:solidFill>
              <a:srgbClr val="10B981"/>
            </a:solidFill>
            <a:prstDash val="solid"/>
          </a:ln>
        </p:spPr>
      </p:sp>
      <p:sp>
        <p:nvSpPr>
          <p:cNvPr id="15" name="Text 13"/>
          <p:cNvSpPr/>
          <p:nvPr/>
        </p:nvSpPr>
        <p:spPr>
          <a:xfrm>
            <a:off x="2674620" y="138988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16" name="Shape 14"/>
          <p:cNvSpPr/>
          <p:nvPr/>
        </p:nvSpPr>
        <p:spPr>
          <a:xfrm>
            <a:off x="1463040" y="1764792"/>
            <a:ext cx="2880360" cy="91440"/>
          </a:xfrm>
          <a:prstGeom prst="rect">
            <a:avLst/>
          </a:prstGeom>
          <a:solidFill>
            <a:srgbClr val="F59E0B"/>
          </a:solidFill>
          <a:ln w="12700">
            <a:solidFill>
              <a:srgbClr val="F59E0B"/>
            </a:solidFill>
            <a:prstDash val="solid"/>
          </a:ln>
        </p:spPr>
      </p:sp>
      <p:sp>
        <p:nvSpPr>
          <p:cNvPr id="17" name="Text 15"/>
          <p:cNvSpPr/>
          <p:nvPr/>
        </p:nvSpPr>
        <p:spPr>
          <a:xfrm>
            <a:off x="2583180" y="16276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8" name="Shape 16"/>
          <p:cNvSpPr/>
          <p:nvPr/>
        </p:nvSpPr>
        <p:spPr>
          <a:xfrm>
            <a:off x="1554480" y="5029200"/>
            <a:ext cx="2697480" cy="100584"/>
          </a:xfrm>
          <a:prstGeom prst="rect">
            <a:avLst/>
          </a:prstGeom>
          <a:solidFill>
            <a:srgbClr val="B0B8C0"/>
          </a:solidFill>
          <a:ln w="12700">
            <a:solidFill>
              <a:srgbClr val="B0B8C0"/>
            </a:solidFill>
            <a:prstDash val="solid"/>
          </a:ln>
        </p:spPr>
      </p:sp>
      <p:sp>
        <p:nvSpPr>
          <p:cNvPr id="19" name="Text 17"/>
          <p:cNvSpPr/>
          <p:nvPr/>
        </p:nvSpPr>
        <p:spPr>
          <a:xfrm>
            <a:off x="2738628" y="518464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0" name="Shape 18"/>
          <p:cNvSpPr/>
          <p:nvPr/>
        </p:nvSpPr>
        <p:spPr>
          <a:xfrm>
            <a:off x="1371600" y="2011680"/>
            <a:ext cx="3063240" cy="3017520"/>
          </a:xfrm>
          <a:prstGeom prst="rect">
            <a:avLst/>
          </a:prstGeom>
          <a:solidFill>
            <a:srgbClr val="FFFFFF">
              <a:alpha val="0"/>
            </a:srgbClr>
          </a:solidFill>
          <a:ln w="17780">
            <a:solidFill>
              <a:srgbClr val="0EA5A4"/>
            </a:solidFill>
            <a:prstDash val="solid"/>
          </a:ln>
        </p:spPr>
      </p:sp>
      <p:sp>
        <p:nvSpPr>
          <p:cNvPr id="21" name="Shape 19"/>
          <p:cNvSpPr/>
          <p:nvPr/>
        </p:nvSpPr>
        <p:spPr>
          <a:xfrm>
            <a:off x="1527048" y="2167128"/>
            <a:ext cx="2752344" cy="2706624"/>
          </a:xfrm>
          <a:prstGeom prst="rect">
            <a:avLst/>
          </a:prstGeom>
          <a:solidFill>
            <a:srgbClr val="FFFFFF">
              <a:alpha val="0"/>
            </a:srgbClr>
          </a:solidFill>
          <a:ln w="17780">
            <a:solidFill>
              <a:srgbClr val="0EA5A4"/>
            </a:solidFill>
            <a:prstDash val="solid"/>
          </a:ln>
        </p:spPr>
      </p:sp>
      <p:sp>
        <p:nvSpPr>
          <p:cNvPr id="22" name="Text 20"/>
          <p:cNvSpPr/>
          <p:nvPr/>
        </p:nvSpPr>
        <p:spPr>
          <a:xfrm>
            <a:off x="1252728" y="2039112"/>
            <a:ext cx="530352" cy="109728"/>
          </a:xfrm>
          <a:prstGeom prst="rect">
            <a:avLst/>
          </a:prstGeom>
          <a:noFill/>
          <a:ln/>
        </p:spPr>
        <p:txBody>
          <a:bodyPr wrap="square" lIns="0" tIns="0" rIns="0" bIns="0" rtlCol="0" anchor="ctr">
            <a:normAutofit/>
          </a:bodyPr>
          <a:lstStyle/>
          <a:p>
            <a:pPr algn="l" indent="0" marL="0">
              <a:buNone/>
            </a:pPr>
            <a:r>
              <a:rPr lang="en-US" sz="900" b="1" dirty="0">
                <a:solidFill>
                  <a:srgbClr val="0EA5A4"/>
                </a:solidFill>
                <a:latin typeface="Meiryo" pitchFamily="34" charset="0"/>
                <a:ea typeface="Meiryo" pitchFamily="34" charset="-122"/>
                <a:cs typeface="Meiryo" pitchFamily="34" charset="-120"/>
              </a:rPr>
              <a:t>SDF等値線</a:t>
            </a:r>
            <a:endParaRPr lang="en-US" sz="900" dirty="0"/>
          </a:p>
        </p:txBody>
      </p:sp>
      <p:sp>
        <p:nvSpPr>
          <p:cNvPr id="23" name="Text 21"/>
          <p:cNvSpPr/>
          <p:nvPr/>
        </p:nvSpPr>
        <p:spPr>
          <a:xfrm>
            <a:off x="850392" y="1856232"/>
            <a:ext cx="182880" cy="109728"/>
          </a:xfrm>
          <a:prstGeom prst="rect">
            <a:avLst/>
          </a:prstGeom>
          <a:noFill/>
          <a:ln/>
        </p:spPr>
        <p:txBody>
          <a:bodyPr wrap="square" lIns="0" tIns="0" rIns="0" bIns="0" rtlCol="0" anchor="ctr">
            <a:normAutofit/>
          </a:bodyPr>
          <a:lstStyle/>
          <a:p>
            <a:pPr algn="r" indent="0" marL="0">
              <a:buNone/>
            </a:pPr>
            <a:r>
              <a:rPr lang="en-US" sz="1000" b="1" dirty="0">
                <a:solidFill>
                  <a:srgbClr val="3B82F6"/>
                </a:solidFill>
                <a:latin typeface="Meiryo" pitchFamily="34" charset="0"/>
                <a:ea typeface="Meiryo" pitchFamily="34" charset="-122"/>
                <a:cs typeface="Meiryo" pitchFamily="34" charset="-120"/>
              </a:rPr>
              <a:t>入口</a:t>
            </a:r>
            <a:endParaRPr lang="en-US" sz="1000" dirty="0"/>
          </a:p>
        </p:txBody>
      </p:sp>
      <p:sp>
        <p:nvSpPr>
          <p:cNvPr id="24" name="Text 22"/>
          <p:cNvSpPr/>
          <p:nvPr/>
        </p:nvSpPr>
        <p:spPr>
          <a:xfrm>
            <a:off x="4773168" y="5056632"/>
            <a:ext cx="201168" cy="109728"/>
          </a:xfrm>
          <a:prstGeom prst="rect">
            <a:avLst/>
          </a:prstGeom>
          <a:noFill/>
          <a:ln/>
        </p:spPr>
        <p:txBody>
          <a:bodyPr wrap="square" lIns="0" tIns="0" rIns="0" bIns="0" rtlCol="0" anchor="ctr">
            <a:normAutofit/>
          </a:bodyPr>
          <a:lstStyle/>
          <a:p>
            <a:pPr algn="l" indent="0" marL="0">
              <a:buNone/>
            </a:pPr>
            <a:r>
              <a:rPr lang="en-US" sz="1000" b="1" dirty="0">
                <a:solidFill>
                  <a:srgbClr val="EF4444"/>
                </a:solidFill>
                <a:latin typeface="Meiryo" pitchFamily="34" charset="0"/>
                <a:ea typeface="Meiryo" pitchFamily="34" charset="-122"/>
                <a:cs typeface="Meiryo" pitchFamily="34" charset="-120"/>
              </a:rPr>
              <a:t>排気</a:t>
            </a:r>
            <a:endParaRPr lang="en-US" sz="1000" dirty="0"/>
          </a:p>
        </p:txBody>
      </p:sp>
      <p:sp>
        <p:nvSpPr>
          <p:cNvPr id="25" name="Text 23"/>
          <p:cNvSpPr/>
          <p:nvPr/>
        </p:nvSpPr>
        <p:spPr>
          <a:xfrm>
            <a:off x="1078992" y="5468112"/>
            <a:ext cx="329184" cy="109728"/>
          </a:xfrm>
          <a:prstGeom prst="rect">
            <a:avLst/>
          </a:prstGeom>
          <a:noFill/>
          <a:ln/>
        </p:spPr>
        <p:txBody>
          <a:bodyPr wrap="square" lIns="0" tIns="0" rIns="0" bIns="0" rtlCol="0" anchor="ctr">
            <a:normAutofit/>
          </a:bodyPr>
          <a:lstStyle/>
          <a:p>
            <a:pPr algn="l" indent="0" marL="0">
              <a:buNone/>
            </a:pPr>
            <a:r>
              <a:rPr lang="en-US" sz="1000" b="1" dirty="0">
                <a:solidFill>
                  <a:srgbClr val="6B7280"/>
                </a:solidFill>
                <a:latin typeface="Meiryo" pitchFamily="34" charset="0"/>
                <a:ea typeface="Meiryo" pitchFamily="34" charset="-122"/>
                <a:cs typeface="Meiryo" pitchFamily="34" charset="-120"/>
              </a:rPr>
              <a:t>接地壁</a:t>
            </a:r>
            <a:endParaRPr lang="en-US" sz="1000" dirty="0"/>
          </a:p>
        </p:txBody>
      </p:sp>
      <p:sp>
        <p:nvSpPr>
          <p:cNvPr id="26" name="Shape 24"/>
          <p:cNvSpPr/>
          <p:nvPr/>
        </p:nvSpPr>
        <p:spPr>
          <a:xfrm>
            <a:off x="5166360" y="1325880"/>
            <a:ext cx="2880360" cy="4297680"/>
          </a:xfrm>
          <a:prstGeom prst="roundRect">
            <a:avLst>
              <a:gd name="adj" fmla="val 1905"/>
            </a:avLst>
          </a:prstGeom>
          <a:solidFill>
            <a:srgbClr val="F9FBFD"/>
          </a:solidFill>
          <a:ln w="12700">
            <a:solidFill>
              <a:srgbClr val="D7E3ED"/>
            </a:solidFill>
            <a:prstDash val="solid"/>
          </a:ln>
        </p:spPr>
      </p:sp>
      <p:sp>
        <p:nvSpPr>
          <p:cNvPr id="27" name="Text 25"/>
          <p:cNvSpPr/>
          <p:nvPr/>
        </p:nvSpPr>
        <p:spPr>
          <a:xfrm>
            <a:off x="5376672" y="1481328"/>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基本チャネル例</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376672" y="1783080"/>
          <a:ext cx="2423160" cy="3246120"/>
        </p:xfrm>
        <a:graphic>
          <a:graphicData uri="http://schemas.openxmlformats.org/drawingml/2006/table">
            <a:tbl>
              <a:tblPr/>
              <a:tblGrid>
                <a:gridCol w="1051560"/>
                <a:gridCol w="1371600"/>
              </a:tblGrid>
              <a:tr h="310896">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入力</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意味</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d_ground</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接地境界までの距離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d_power</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印加電圧境界までの距離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d_float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浮遊境界までの距離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d_dielectric</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誘電体界面までの距離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75488">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d_inlet / d_outlet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port までの距離</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75488">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n = ∇d/|∇d|</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b="1" dirty="0">
                          <a:solidFill>
                            <a:srgbClr val="000000"/>
                          </a:solidFill>
                          <a:latin typeface="Meiryo" pitchFamily="34" charset="0"/>
                          <a:ea typeface="Meiryo" pitchFamily="34" charset="-122"/>
                          <a:cs typeface="Meiryo" pitchFamily="34" charset="-120"/>
                        </a:rPr>
                        <a:t>最近傍境界の法線</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29" name="Shape 26"/>
          <p:cNvSpPr/>
          <p:nvPr/>
        </p:nvSpPr>
        <p:spPr>
          <a:xfrm>
            <a:off x="8229600" y="1325880"/>
            <a:ext cx="3017520" cy="4297680"/>
          </a:xfrm>
          <a:prstGeom prst="roundRect">
            <a:avLst>
              <a:gd name="adj" fmla="val 1818"/>
            </a:avLst>
          </a:prstGeom>
          <a:solidFill>
            <a:srgbClr val="F4FBFF"/>
          </a:solidFill>
          <a:ln w="12700">
            <a:solidFill>
              <a:srgbClr val="C7E7FF"/>
            </a:solidFill>
            <a:prstDash val="solid"/>
          </a:ln>
        </p:spPr>
      </p:sp>
      <p:sp>
        <p:nvSpPr>
          <p:cNvPr id="30" name="Text 27"/>
          <p:cNvSpPr/>
          <p:nvPr/>
        </p:nvSpPr>
        <p:spPr>
          <a:xfrm>
            <a:off x="8412480" y="1481328"/>
            <a:ext cx="548640" cy="146304"/>
          </a:xfrm>
          <a:prstGeom prst="rect">
            <a:avLst/>
          </a:prstGeom>
          <a:noFill/>
          <a:ln/>
        </p:spPr>
        <p:txBody>
          <a:bodyPr wrap="square" lIns="0" tIns="0" rIns="0" bIns="0" rtlCol="0" anchor="ctr">
            <a:normAutofit/>
          </a:bodyPr>
          <a:lstStyle/>
          <a:p>
            <a:pPr algn="l" indent="0" marL="0">
              <a:buNone/>
            </a:pPr>
            <a:r>
              <a:rPr lang="en-US" sz="1600" b="1" dirty="0">
                <a:solidFill>
                  <a:srgbClr val="059669"/>
                </a:solidFill>
                <a:latin typeface="Meiryo" pitchFamily="34" charset="0"/>
                <a:ea typeface="Meiryo" pitchFamily="34" charset="-122"/>
                <a:cs typeface="Meiryo" pitchFamily="34" charset="-120"/>
              </a:rPr>
              <a:t>効果</a:t>
            </a:r>
            <a:endParaRPr lang="en-US" sz="1600" dirty="0"/>
          </a:p>
        </p:txBody>
      </p:sp>
      <p:sp>
        <p:nvSpPr>
          <p:cNvPr id="31" name="Text 28"/>
          <p:cNvSpPr/>
          <p:nvPr/>
        </p:nvSpPr>
        <p:spPr>
          <a:xfrm>
            <a:off x="8412480" y="1783080"/>
            <a:ext cx="2514600" cy="17830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境界数が変わっても、役割が同じなら入力 schema を固定しやすい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mask より豊富な距離情報により、sheath 位置・向きの再現が安定</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特許上は「部材名」でなく「境界役割」で整理でき、汎用請求がしやすい</a:t>
            </a:r>
            <a:endParaRPr lang="en-US" sz="1600" dirty="0"/>
          </a:p>
        </p:txBody>
      </p:sp>
      <p:sp>
        <p:nvSpPr>
          <p:cNvPr id="32" name="Shape 29"/>
          <p:cNvSpPr/>
          <p:nvPr/>
        </p:nvSpPr>
        <p:spPr>
          <a:xfrm>
            <a:off x="8394192" y="4069080"/>
            <a:ext cx="2633472" cy="1143000"/>
          </a:xfrm>
          <a:prstGeom prst="roundRect">
            <a:avLst>
              <a:gd name="adj" fmla="val 4800"/>
            </a:avLst>
          </a:prstGeom>
          <a:solidFill>
            <a:srgbClr val="FFFFFF"/>
          </a:solidFill>
          <a:ln w="12700">
            <a:solidFill>
              <a:srgbClr val="D7E3ED"/>
            </a:solidFill>
            <a:prstDash val="solid"/>
          </a:ln>
        </p:spPr>
      </p:sp>
      <p:sp>
        <p:nvSpPr>
          <p:cNvPr id="33" name="Text 30"/>
          <p:cNvSpPr/>
          <p:nvPr/>
        </p:nvSpPr>
        <p:spPr>
          <a:xfrm>
            <a:off x="8503920" y="4251960"/>
            <a:ext cx="2331720" cy="530352"/>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要点: SDF は物理量そのものではなく、境界条件が効く「位置座標」を与える。</a:t>
            </a:r>
            <a:endParaRPr lang="en-US" sz="1500" dirty="0"/>
          </a:p>
        </p:txBody>
      </p:sp>
      <p:sp>
        <p:nvSpPr>
          <p:cNvPr id="34" name="Text 31"/>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汎用的な有用機能2: 役割は固定、境界数や形状は可変</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SDF</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4688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固定 schema による装置差吸収の考え方</a:t>
            </a:r>
            <a:endParaRPr lang="en-US" sz="1600" dirty="0"/>
          </a:p>
        </p:txBody>
      </p:sp>
      <p:sp>
        <p:nvSpPr>
          <p:cNvPr id="8" name="Shape 6"/>
          <p:cNvSpPr/>
          <p:nvPr/>
        </p:nvSpPr>
        <p:spPr>
          <a:xfrm>
            <a:off x="914400" y="1417320"/>
            <a:ext cx="2697480" cy="2880360"/>
          </a:xfrm>
          <a:prstGeom prst="roundRect">
            <a:avLst>
              <a:gd name="adj" fmla="val 2034"/>
            </a:avLst>
          </a:prstGeom>
          <a:solidFill>
            <a:srgbClr val="F9FBFD"/>
          </a:solidFill>
          <a:ln w="12700">
            <a:solidFill>
              <a:srgbClr val="D7E3ED"/>
            </a:solidFill>
            <a:prstDash val="solid"/>
          </a:ln>
        </p:spPr>
      </p:sp>
      <p:sp>
        <p:nvSpPr>
          <p:cNvPr id="9" name="Text 7"/>
          <p:cNvSpPr/>
          <p:nvPr/>
        </p:nvSpPr>
        <p:spPr>
          <a:xfrm>
            <a:off x="1078992" y="1591056"/>
            <a:ext cx="2011680" cy="32004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Case A</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単一電極</a:t>
            </a:r>
            <a:endParaRPr lang="en-US" sz="1600" dirty="0"/>
          </a:p>
        </p:txBody>
      </p:sp>
      <p:sp>
        <p:nvSpPr>
          <p:cNvPr id="10" name="Shape 8"/>
          <p:cNvSpPr/>
          <p:nvPr/>
        </p:nvSpPr>
        <p:spPr>
          <a:xfrm>
            <a:off x="4069080" y="1417320"/>
            <a:ext cx="2697480" cy="2880360"/>
          </a:xfrm>
          <a:prstGeom prst="roundRect">
            <a:avLst>
              <a:gd name="adj" fmla="val 2034"/>
            </a:avLst>
          </a:prstGeom>
          <a:solidFill>
            <a:srgbClr val="F9FBFD"/>
          </a:solidFill>
          <a:ln w="12700">
            <a:solidFill>
              <a:srgbClr val="D7E3ED"/>
            </a:solidFill>
            <a:prstDash val="solid"/>
          </a:ln>
        </p:spPr>
      </p:sp>
      <p:sp>
        <p:nvSpPr>
          <p:cNvPr id="11" name="Text 9"/>
          <p:cNvSpPr/>
          <p:nvPr/>
        </p:nvSpPr>
        <p:spPr>
          <a:xfrm>
            <a:off x="4233672" y="1591056"/>
            <a:ext cx="2011680" cy="32004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Case B</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複数 port</a:t>
            </a:r>
            <a:endParaRPr lang="en-US" sz="1600" dirty="0"/>
          </a:p>
        </p:txBody>
      </p:sp>
      <p:sp>
        <p:nvSpPr>
          <p:cNvPr id="12" name="Shape 10"/>
          <p:cNvSpPr/>
          <p:nvPr/>
        </p:nvSpPr>
        <p:spPr>
          <a:xfrm>
            <a:off x="7223760" y="1417320"/>
            <a:ext cx="2697480" cy="2880360"/>
          </a:xfrm>
          <a:prstGeom prst="roundRect">
            <a:avLst>
              <a:gd name="adj" fmla="val 2034"/>
            </a:avLst>
          </a:prstGeom>
          <a:solidFill>
            <a:srgbClr val="F9FBFD"/>
          </a:solidFill>
          <a:ln w="12700">
            <a:solidFill>
              <a:srgbClr val="D7E3ED"/>
            </a:solidFill>
            <a:prstDash val="solid"/>
          </a:ln>
        </p:spPr>
      </p:sp>
      <p:sp>
        <p:nvSpPr>
          <p:cNvPr id="13" name="Text 11"/>
          <p:cNvSpPr/>
          <p:nvPr/>
        </p:nvSpPr>
        <p:spPr>
          <a:xfrm>
            <a:off x="7388352" y="1591056"/>
            <a:ext cx="2011680" cy="32004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Case C</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部材追加</a:t>
            </a:r>
            <a:endParaRPr lang="en-US" sz="1600" dirty="0"/>
          </a:p>
        </p:txBody>
      </p:sp>
      <p:sp>
        <p:nvSpPr>
          <p:cNvPr id="14" name="Shape 12"/>
          <p:cNvSpPr/>
          <p:nvPr/>
        </p:nvSpPr>
        <p:spPr>
          <a:xfrm>
            <a:off x="1069848" y="2377440"/>
            <a:ext cx="365760" cy="0"/>
          </a:xfrm>
          <a:prstGeom prst="line">
            <a:avLst/>
          </a:prstGeom>
          <a:noFill/>
          <a:ln w="38100">
            <a:solidFill>
              <a:srgbClr val="3B82F6"/>
            </a:solidFill>
            <a:prstDash val="solid"/>
            <a:tailEnd type="triangle"/>
          </a:ln>
        </p:spPr>
      </p:sp>
      <p:sp>
        <p:nvSpPr>
          <p:cNvPr id="15" name="Shape 13"/>
          <p:cNvSpPr/>
          <p:nvPr/>
        </p:nvSpPr>
        <p:spPr>
          <a:xfrm>
            <a:off x="3081528" y="3474720"/>
            <a:ext cx="365760" cy="0"/>
          </a:xfrm>
          <a:prstGeom prst="line">
            <a:avLst/>
          </a:prstGeom>
          <a:noFill/>
          <a:ln w="38100">
            <a:solidFill>
              <a:srgbClr val="EF4444"/>
            </a:solidFill>
            <a:prstDash val="solid"/>
            <a:tailEnd type="triangle"/>
          </a:ln>
        </p:spPr>
      </p:sp>
      <p:sp>
        <p:nvSpPr>
          <p:cNvPr id="16" name="Shape 14"/>
          <p:cNvSpPr/>
          <p:nvPr/>
        </p:nvSpPr>
        <p:spPr>
          <a:xfrm>
            <a:off x="1298448" y="2057400"/>
            <a:ext cx="1920240" cy="1737360"/>
          </a:xfrm>
          <a:prstGeom prst="roundRect">
            <a:avLst>
              <a:gd name="adj" fmla="val 2632"/>
            </a:avLst>
          </a:prstGeom>
          <a:solidFill>
            <a:srgbClr val="FFFFFF"/>
          </a:solidFill>
          <a:ln w="25400">
            <a:solidFill>
              <a:srgbClr val="6B7280"/>
            </a:solidFill>
            <a:prstDash val="solid"/>
          </a:ln>
        </p:spPr>
      </p:sp>
      <p:sp>
        <p:nvSpPr>
          <p:cNvPr id="17" name="Shape 15"/>
          <p:cNvSpPr/>
          <p:nvPr/>
        </p:nvSpPr>
        <p:spPr>
          <a:xfrm>
            <a:off x="1316736" y="3685032"/>
            <a:ext cx="1883664" cy="91440"/>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1316736" y="2075688"/>
            <a:ext cx="109728" cy="1700784"/>
          </a:xfrm>
          <a:prstGeom prst="rect">
            <a:avLst/>
          </a:prstGeom>
          <a:solidFill>
            <a:srgbClr val="6B7280">
              <a:alpha val="75000"/>
            </a:srgbClr>
          </a:solidFill>
          <a:ln w="12700">
            <a:solidFill>
              <a:srgbClr val="6B7280">
                <a:alpha val="0"/>
              </a:srgbClr>
            </a:solidFill>
            <a:prstDash val="solid"/>
          </a:ln>
        </p:spPr>
      </p:sp>
      <p:sp>
        <p:nvSpPr>
          <p:cNvPr id="19" name="Shape 17"/>
          <p:cNvSpPr/>
          <p:nvPr/>
        </p:nvSpPr>
        <p:spPr>
          <a:xfrm>
            <a:off x="3090672" y="2075688"/>
            <a:ext cx="109728" cy="1700784"/>
          </a:xfrm>
          <a:prstGeom prst="rect">
            <a:avLst/>
          </a:prstGeom>
          <a:solidFill>
            <a:srgbClr val="6B7280">
              <a:alpha val="75000"/>
            </a:srgbClr>
          </a:solidFill>
          <a:ln w="12700">
            <a:solidFill>
              <a:srgbClr val="6B7280">
                <a:alpha val="0"/>
              </a:srgbClr>
            </a:solidFill>
            <a:prstDash val="solid"/>
          </a:ln>
        </p:spPr>
      </p:sp>
      <p:sp>
        <p:nvSpPr>
          <p:cNvPr id="20" name="Shape 18"/>
          <p:cNvSpPr/>
          <p:nvPr/>
        </p:nvSpPr>
        <p:spPr>
          <a:xfrm>
            <a:off x="1527048" y="1984248"/>
            <a:ext cx="1463040" cy="109728"/>
          </a:xfrm>
          <a:prstGeom prst="rect">
            <a:avLst/>
          </a:prstGeom>
          <a:solidFill>
            <a:srgbClr val="10B981"/>
          </a:solidFill>
          <a:ln w="12700">
            <a:solidFill>
              <a:srgbClr val="10B981"/>
            </a:solidFill>
            <a:prstDash val="solid"/>
          </a:ln>
        </p:spPr>
      </p:sp>
      <p:sp>
        <p:nvSpPr>
          <p:cNvPr id="21" name="Text 19"/>
          <p:cNvSpPr/>
          <p:nvPr/>
        </p:nvSpPr>
        <p:spPr>
          <a:xfrm>
            <a:off x="2029968" y="184708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2" name="Shape 20"/>
          <p:cNvSpPr/>
          <p:nvPr/>
        </p:nvSpPr>
        <p:spPr>
          <a:xfrm>
            <a:off x="1709928" y="2221992"/>
            <a:ext cx="1097280" cy="91440"/>
          </a:xfrm>
          <a:prstGeom prst="rect">
            <a:avLst/>
          </a:prstGeom>
          <a:solidFill>
            <a:srgbClr val="F59E0B"/>
          </a:solidFill>
          <a:ln w="12700">
            <a:solidFill>
              <a:srgbClr val="F59E0B"/>
            </a:solidFill>
            <a:prstDash val="solid"/>
          </a:ln>
        </p:spPr>
      </p:sp>
      <p:sp>
        <p:nvSpPr>
          <p:cNvPr id="23" name="Text 21"/>
          <p:cNvSpPr/>
          <p:nvPr/>
        </p:nvSpPr>
        <p:spPr>
          <a:xfrm>
            <a:off x="1938528"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4" name="Shape 22"/>
          <p:cNvSpPr/>
          <p:nvPr/>
        </p:nvSpPr>
        <p:spPr>
          <a:xfrm>
            <a:off x="1801368" y="3383280"/>
            <a:ext cx="914400" cy="100584"/>
          </a:xfrm>
          <a:prstGeom prst="rect">
            <a:avLst/>
          </a:prstGeom>
          <a:solidFill>
            <a:srgbClr val="B0B8C0"/>
          </a:solidFill>
          <a:ln w="12700">
            <a:solidFill>
              <a:srgbClr val="B0B8C0"/>
            </a:solidFill>
            <a:prstDash val="solid"/>
          </a:ln>
        </p:spPr>
      </p:sp>
      <p:sp>
        <p:nvSpPr>
          <p:cNvPr id="25" name="Text 23"/>
          <p:cNvSpPr/>
          <p:nvPr/>
        </p:nvSpPr>
        <p:spPr>
          <a:xfrm>
            <a:off x="2093976" y="353872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6" name="Shape 24"/>
          <p:cNvSpPr/>
          <p:nvPr/>
        </p:nvSpPr>
        <p:spPr>
          <a:xfrm>
            <a:off x="4224528" y="2377440"/>
            <a:ext cx="365760" cy="0"/>
          </a:xfrm>
          <a:prstGeom prst="line">
            <a:avLst/>
          </a:prstGeom>
          <a:noFill/>
          <a:ln w="38100">
            <a:solidFill>
              <a:srgbClr val="3B82F6"/>
            </a:solidFill>
            <a:prstDash val="solid"/>
            <a:tailEnd type="triangle"/>
          </a:ln>
        </p:spPr>
      </p:sp>
      <p:sp>
        <p:nvSpPr>
          <p:cNvPr id="27" name="Shape 25"/>
          <p:cNvSpPr/>
          <p:nvPr/>
        </p:nvSpPr>
        <p:spPr>
          <a:xfrm>
            <a:off x="6236208" y="3474720"/>
            <a:ext cx="365760" cy="0"/>
          </a:xfrm>
          <a:prstGeom prst="line">
            <a:avLst/>
          </a:prstGeom>
          <a:noFill/>
          <a:ln w="38100">
            <a:solidFill>
              <a:srgbClr val="EF4444"/>
            </a:solidFill>
            <a:prstDash val="solid"/>
            <a:tailEnd type="triangle"/>
          </a:ln>
        </p:spPr>
      </p:sp>
      <p:sp>
        <p:nvSpPr>
          <p:cNvPr id="28" name="Shape 26"/>
          <p:cNvSpPr/>
          <p:nvPr/>
        </p:nvSpPr>
        <p:spPr>
          <a:xfrm>
            <a:off x="4453128" y="2057400"/>
            <a:ext cx="1920240" cy="1737360"/>
          </a:xfrm>
          <a:prstGeom prst="roundRect">
            <a:avLst>
              <a:gd name="adj" fmla="val 2632"/>
            </a:avLst>
          </a:prstGeom>
          <a:solidFill>
            <a:srgbClr val="FFFFFF"/>
          </a:solidFill>
          <a:ln w="25400">
            <a:solidFill>
              <a:srgbClr val="6B7280"/>
            </a:solidFill>
            <a:prstDash val="solid"/>
          </a:ln>
        </p:spPr>
      </p:sp>
      <p:sp>
        <p:nvSpPr>
          <p:cNvPr id="29" name="Shape 27"/>
          <p:cNvSpPr/>
          <p:nvPr/>
        </p:nvSpPr>
        <p:spPr>
          <a:xfrm>
            <a:off x="4471416" y="3685032"/>
            <a:ext cx="1883664" cy="91440"/>
          </a:xfrm>
          <a:prstGeom prst="rect">
            <a:avLst/>
          </a:prstGeom>
          <a:solidFill>
            <a:srgbClr val="6B7280">
              <a:alpha val="75000"/>
            </a:srgbClr>
          </a:solidFill>
          <a:ln w="12700">
            <a:solidFill>
              <a:srgbClr val="6B7280">
                <a:alpha val="0"/>
              </a:srgbClr>
            </a:solidFill>
            <a:prstDash val="solid"/>
          </a:ln>
        </p:spPr>
      </p:sp>
      <p:sp>
        <p:nvSpPr>
          <p:cNvPr id="30" name="Shape 28"/>
          <p:cNvSpPr/>
          <p:nvPr/>
        </p:nvSpPr>
        <p:spPr>
          <a:xfrm>
            <a:off x="4471416" y="2075688"/>
            <a:ext cx="109728" cy="1700784"/>
          </a:xfrm>
          <a:prstGeom prst="rect">
            <a:avLst/>
          </a:prstGeom>
          <a:solidFill>
            <a:srgbClr val="6B7280">
              <a:alpha val="75000"/>
            </a:srgbClr>
          </a:solidFill>
          <a:ln w="12700">
            <a:solidFill>
              <a:srgbClr val="6B7280">
                <a:alpha val="0"/>
              </a:srgbClr>
            </a:solidFill>
            <a:prstDash val="solid"/>
          </a:ln>
        </p:spPr>
      </p:sp>
      <p:sp>
        <p:nvSpPr>
          <p:cNvPr id="31" name="Shape 29"/>
          <p:cNvSpPr/>
          <p:nvPr/>
        </p:nvSpPr>
        <p:spPr>
          <a:xfrm>
            <a:off x="6245352" y="2075688"/>
            <a:ext cx="109728" cy="1700784"/>
          </a:xfrm>
          <a:prstGeom prst="rect">
            <a:avLst/>
          </a:prstGeom>
          <a:solidFill>
            <a:srgbClr val="6B7280">
              <a:alpha val="75000"/>
            </a:srgbClr>
          </a:solidFill>
          <a:ln w="12700">
            <a:solidFill>
              <a:srgbClr val="6B7280">
                <a:alpha val="0"/>
              </a:srgbClr>
            </a:solidFill>
            <a:prstDash val="solid"/>
          </a:ln>
        </p:spPr>
      </p:sp>
      <p:sp>
        <p:nvSpPr>
          <p:cNvPr id="32" name="Shape 30"/>
          <p:cNvSpPr/>
          <p:nvPr/>
        </p:nvSpPr>
        <p:spPr>
          <a:xfrm>
            <a:off x="4681728" y="1984248"/>
            <a:ext cx="1463040" cy="109728"/>
          </a:xfrm>
          <a:prstGeom prst="rect">
            <a:avLst/>
          </a:prstGeom>
          <a:solidFill>
            <a:srgbClr val="10B981"/>
          </a:solidFill>
          <a:ln w="12700">
            <a:solidFill>
              <a:srgbClr val="10B981"/>
            </a:solidFill>
            <a:prstDash val="solid"/>
          </a:ln>
        </p:spPr>
      </p:sp>
      <p:sp>
        <p:nvSpPr>
          <p:cNvPr id="33" name="Text 31"/>
          <p:cNvSpPr/>
          <p:nvPr/>
        </p:nvSpPr>
        <p:spPr>
          <a:xfrm>
            <a:off x="5184648" y="184708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34" name="Shape 32"/>
          <p:cNvSpPr/>
          <p:nvPr/>
        </p:nvSpPr>
        <p:spPr>
          <a:xfrm>
            <a:off x="4864608" y="2221992"/>
            <a:ext cx="1097280" cy="91440"/>
          </a:xfrm>
          <a:prstGeom prst="rect">
            <a:avLst/>
          </a:prstGeom>
          <a:solidFill>
            <a:srgbClr val="F59E0B"/>
          </a:solidFill>
          <a:ln w="12700">
            <a:solidFill>
              <a:srgbClr val="F59E0B"/>
            </a:solidFill>
            <a:prstDash val="solid"/>
          </a:ln>
        </p:spPr>
      </p:sp>
      <p:sp>
        <p:nvSpPr>
          <p:cNvPr id="35" name="Text 33"/>
          <p:cNvSpPr/>
          <p:nvPr/>
        </p:nvSpPr>
        <p:spPr>
          <a:xfrm>
            <a:off x="5093208"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36" name="Shape 34"/>
          <p:cNvSpPr/>
          <p:nvPr/>
        </p:nvSpPr>
        <p:spPr>
          <a:xfrm>
            <a:off x="4956048" y="3383280"/>
            <a:ext cx="914400" cy="100584"/>
          </a:xfrm>
          <a:prstGeom prst="rect">
            <a:avLst/>
          </a:prstGeom>
          <a:solidFill>
            <a:srgbClr val="B0B8C0"/>
          </a:solidFill>
          <a:ln w="12700">
            <a:solidFill>
              <a:srgbClr val="B0B8C0"/>
            </a:solidFill>
            <a:prstDash val="solid"/>
          </a:ln>
        </p:spPr>
      </p:sp>
      <p:sp>
        <p:nvSpPr>
          <p:cNvPr id="37" name="Text 35"/>
          <p:cNvSpPr/>
          <p:nvPr/>
        </p:nvSpPr>
        <p:spPr>
          <a:xfrm>
            <a:off x="5248656" y="353872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8" name="Shape 36"/>
          <p:cNvSpPr/>
          <p:nvPr/>
        </p:nvSpPr>
        <p:spPr>
          <a:xfrm>
            <a:off x="4956048" y="2377440"/>
            <a:ext cx="0" cy="914400"/>
          </a:xfrm>
          <a:prstGeom prst="line">
            <a:avLst/>
          </a:prstGeom>
          <a:noFill/>
          <a:ln w="19050">
            <a:solidFill>
              <a:srgbClr val="8A8A8A"/>
            </a:solidFill>
            <a:prstDash val="solid"/>
            <a:tailEnd type="triangle"/>
          </a:ln>
        </p:spPr>
      </p:sp>
      <p:sp>
        <p:nvSpPr>
          <p:cNvPr id="39" name="Shape 37"/>
          <p:cNvSpPr/>
          <p:nvPr/>
        </p:nvSpPr>
        <p:spPr>
          <a:xfrm>
            <a:off x="5230368" y="2377440"/>
            <a:ext cx="0" cy="914400"/>
          </a:xfrm>
          <a:prstGeom prst="line">
            <a:avLst/>
          </a:prstGeom>
          <a:noFill/>
          <a:ln w="19050">
            <a:solidFill>
              <a:srgbClr val="8A8A8A"/>
            </a:solidFill>
            <a:prstDash val="solid"/>
            <a:tailEnd type="triangle"/>
          </a:ln>
        </p:spPr>
      </p:sp>
      <p:sp>
        <p:nvSpPr>
          <p:cNvPr id="40" name="Shape 38"/>
          <p:cNvSpPr/>
          <p:nvPr/>
        </p:nvSpPr>
        <p:spPr>
          <a:xfrm>
            <a:off x="5504688" y="2377440"/>
            <a:ext cx="0" cy="914400"/>
          </a:xfrm>
          <a:prstGeom prst="line">
            <a:avLst/>
          </a:prstGeom>
          <a:noFill/>
          <a:ln w="19050">
            <a:solidFill>
              <a:srgbClr val="8A8A8A"/>
            </a:solidFill>
            <a:prstDash val="solid"/>
            <a:tailEnd type="triangle"/>
          </a:ln>
        </p:spPr>
      </p:sp>
      <p:sp>
        <p:nvSpPr>
          <p:cNvPr id="41" name="Shape 39"/>
          <p:cNvSpPr/>
          <p:nvPr/>
        </p:nvSpPr>
        <p:spPr>
          <a:xfrm>
            <a:off x="5779008" y="2377440"/>
            <a:ext cx="0" cy="914400"/>
          </a:xfrm>
          <a:prstGeom prst="line">
            <a:avLst/>
          </a:prstGeom>
          <a:noFill/>
          <a:ln w="19050">
            <a:solidFill>
              <a:srgbClr val="8A8A8A"/>
            </a:solidFill>
            <a:prstDash val="solid"/>
            <a:tailEnd type="triangle"/>
          </a:ln>
        </p:spPr>
      </p:sp>
      <p:sp>
        <p:nvSpPr>
          <p:cNvPr id="42" name="Shape 40"/>
          <p:cNvSpPr/>
          <p:nvPr/>
        </p:nvSpPr>
        <p:spPr>
          <a:xfrm>
            <a:off x="4343400" y="2514600"/>
            <a:ext cx="274320" cy="0"/>
          </a:xfrm>
          <a:prstGeom prst="line">
            <a:avLst/>
          </a:prstGeom>
          <a:noFill/>
          <a:ln w="25400">
            <a:solidFill>
              <a:srgbClr val="3B82F6"/>
            </a:solidFill>
            <a:prstDash val="solid"/>
            <a:tailEnd type="triangle"/>
          </a:ln>
        </p:spPr>
      </p:sp>
      <p:sp>
        <p:nvSpPr>
          <p:cNvPr id="43" name="Shape 41"/>
          <p:cNvSpPr/>
          <p:nvPr/>
        </p:nvSpPr>
        <p:spPr>
          <a:xfrm>
            <a:off x="6446520" y="3337560"/>
            <a:ext cx="274320" cy="0"/>
          </a:xfrm>
          <a:prstGeom prst="line">
            <a:avLst/>
          </a:prstGeom>
          <a:noFill/>
          <a:ln w="25400">
            <a:solidFill>
              <a:srgbClr val="EF4444"/>
            </a:solidFill>
            <a:prstDash val="solid"/>
            <a:tailEnd type="triangle"/>
          </a:ln>
        </p:spPr>
      </p:sp>
      <p:sp>
        <p:nvSpPr>
          <p:cNvPr id="44" name="Shape 42"/>
          <p:cNvSpPr/>
          <p:nvPr/>
        </p:nvSpPr>
        <p:spPr>
          <a:xfrm>
            <a:off x="7379208" y="2377440"/>
            <a:ext cx="365760" cy="0"/>
          </a:xfrm>
          <a:prstGeom prst="line">
            <a:avLst/>
          </a:prstGeom>
          <a:noFill/>
          <a:ln w="38100">
            <a:solidFill>
              <a:srgbClr val="3B82F6"/>
            </a:solidFill>
            <a:prstDash val="solid"/>
            <a:tailEnd type="triangle"/>
          </a:ln>
        </p:spPr>
      </p:sp>
      <p:sp>
        <p:nvSpPr>
          <p:cNvPr id="45" name="Shape 43"/>
          <p:cNvSpPr/>
          <p:nvPr/>
        </p:nvSpPr>
        <p:spPr>
          <a:xfrm>
            <a:off x="9390888" y="3474720"/>
            <a:ext cx="365760" cy="0"/>
          </a:xfrm>
          <a:prstGeom prst="line">
            <a:avLst/>
          </a:prstGeom>
          <a:noFill/>
          <a:ln w="38100">
            <a:solidFill>
              <a:srgbClr val="EF4444"/>
            </a:solidFill>
            <a:prstDash val="solid"/>
            <a:tailEnd type="triangle"/>
          </a:ln>
        </p:spPr>
      </p:sp>
      <p:sp>
        <p:nvSpPr>
          <p:cNvPr id="46" name="Shape 44"/>
          <p:cNvSpPr/>
          <p:nvPr/>
        </p:nvSpPr>
        <p:spPr>
          <a:xfrm>
            <a:off x="7607808" y="2057400"/>
            <a:ext cx="1920240" cy="1737360"/>
          </a:xfrm>
          <a:prstGeom prst="roundRect">
            <a:avLst>
              <a:gd name="adj" fmla="val 2632"/>
            </a:avLst>
          </a:prstGeom>
          <a:solidFill>
            <a:srgbClr val="FFFFFF"/>
          </a:solidFill>
          <a:ln w="25400">
            <a:solidFill>
              <a:srgbClr val="6B7280"/>
            </a:solidFill>
            <a:prstDash val="solid"/>
          </a:ln>
        </p:spPr>
      </p:sp>
      <p:sp>
        <p:nvSpPr>
          <p:cNvPr id="47" name="Shape 45"/>
          <p:cNvSpPr/>
          <p:nvPr/>
        </p:nvSpPr>
        <p:spPr>
          <a:xfrm>
            <a:off x="7626096" y="3685032"/>
            <a:ext cx="1883664" cy="91440"/>
          </a:xfrm>
          <a:prstGeom prst="rect">
            <a:avLst/>
          </a:prstGeom>
          <a:solidFill>
            <a:srgbClr val="6B7280">
              <a:alpha val="75000"/>
            </a:srgbClr>
          </a:solidFill>
          <a:ln w="12700">
            <a:solidFill>
              <a:srgbClr val="6B7280">
                <a:alpha val="0"/>
              </a:srgbClr>
            </a:solidFill>
            <a:prstDash val="solid"/>
          </a:ln>
        </p:spPr>
      </p:sp>
      <p:sp>
        <p:nvSpPr>
          <p:cNvPr id="48" name="Shape 46"/>
          <p:cNvSpPr/>
          <p:nvPr/>
        </p:nvSpPr>
        <p:spPr>
          <a:xfrm>
            <a:off x="7626096" y="2075688"/>
            <a:ext cx="109728" cy="1700784"/>
          </a:xfrm>
          <a:prstGeom prst="rect">
            <a:avLst/>
          </a:prstGeom>
          <a:solidFill>
            <a:srgbClr val="6B7280">
              <a:alpha val="75000"/>
            </a:srgbClr>
          </a:solidFill>
          <a:ln w="12700">
            <a:solidFill>
              <a:srgbClr val="6B7280">
                <a:alpha val="0"/>
              </a:srgbClr>
            </a:solidFill>
            <a:prstDash val="solid"/>
          </a:ln>
        </p:spPr>
      </p:sp>
      <p:sp>
        <p:nvSpPr>
          <p:cNvPr id="49" name="Shape 47"/>
          <p:cNvSpPr/>
          <p:nvPr/>
        </p:nvSpPr>
        <p:spPr>
          <a:xfrm>
            <a:off x="9400032" y="2075688"/>
            <a:ext cx="109728" cy="1700784"/>
          </a:xfrm>
          <a:prstGeom prst="rect">
            <a:avLst/>
          </a:prstGeom>
          <a:solidFill>
            <a:srgbClr val="6B7280">
              <a:alpha val="75000"/>
            </a:srgbClr>
          </a:solidFill>
          <a:ln w="12700">
            <a:solidFill>
              <a:srgbClr val="6B7280">
                <a:alpha val="0"/>
              </a:srgbClr>
            </a:solidFill>
            <a:prstDash val="solid"/>
          </a:ln>
        </p:spPr>
      </p:sp>
      <p:sp>
        <p:nvSpPr>
          <p:cNvPr id="50" name="Shape 48"/>
          <p:cNvSpPr/>
          <p:nvPr/>
        </p:nvSpPr>
        <p:spPr>
          <a:xfrm>
            <a:off x="7836408" y="1984248"/>
            <a:ext cx="1463040" cy="109728"/>
          </a:xfrm>
          <a:prstGeom prst="rect">
            <a:avLst/>
          </a:prstGeom>
          <a:solidFill>
            <a:srgbClr val="10B981"/>
          </a:solidFill>
          <a:ln w="12700">
            <a:solidFill>
              <a:srgbClr val="10B981"/>
            </a:solidFill>
            <a:prstDash val="solid"/>
          </a:ln>
        </p:spPr>
      </p:sp>
      <p:sp>
        <p:nvSpPr>
          <p:cNvPr id="51" name="Text 49"/>
          <p:cNvSpPr/>
          <p:nvPr/>
        </p:nvSpPr>
        <p:spPr>
          <a:xfrm>
            <a:off x="8339328" y="184708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52" name="Shape 50"/>
          <p:cNvSpPr/>
          <p:nvPr/>
        </p:nvSpPr>
        <p:spPr>
          <a:xfrm>
            <a:off x="8019288" y="2221992"/>
            <a:ext cx="1097280" cy="91440"/>
          </a:xfrm>
          <a:prstGeom prst="rect">
            <a:avLst/>
          </a:prstGeom>
          <a:solidFill>
            <a:srgbClr val="F59E0B"/>
          </a:solidFill>
          <a:ln w="12700">
            <a:solidFill>
              <a:srgbClr val="F59E0B"/>
            </a:solidFill>
            <a:prstDash val="solid"/>
          </a:ln>
        </p:spPr>
      </p:sp>
      <p:sp>
        <p:nvSpPr>
          <p:cNvPr id="53" name="Text 51"/>
          <p:cNvSpPr/>
          <p:nvPr/>
        </p:nvSpPr>
        <p:spPr>
          <a:xfrm>
            <a:off x="8247888" y="208483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54" name="Shape 52"/>
          <p:cNvSpPr/>
          <p:nvPr/>
        </p:nvSpPr>
        <p:spPr>
          <a:xfrm>
            <a:off x="8110728" y="3383280"/>
            <a:ext cx="914400" cy="100584"/>
          </a:xfrm>
          <a:prstGeom prst="rect">
            <a:avLst/>
          </a:prstGeom>
          <a:solidFill>
            <a:srgbClr val="B0B8C0"/>
          </a:solidFill>
          <a:ln w="12700">
            <a:solidFill>
              <a:srgbClr val="B0B8C0"/>
            </a:solidFill>
            <a:prstDash val="solid"/>
          </a:ln>
        </p:spPr>
      </p:sp>
      <p:sp>
        <p:nvSpPr>
          <p:cNvPr id="55" name="Text 53"/>
          <p:cNvSpPr/>
          <p:nvPr/>
        </p:nvSpPr>
        <p:spPr>
          <a:xfrm>
            <a:off x="8403336" y="353872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56" name="Shape 54"/>
          <p:cNvSpPr/>
          <p:nvPr/>
        </p:nvSpPr>
        <p:spPr>
          <a:xfrm>
            <a:off x="7927848" y="2468880"/>
            <a:ext cx="1280160" cy="914400"/>
          </a:xfrm>
          <a:prstGeom prst="rect">
            <a:avLst/>
          </a:prstGeom>
          <a:solidFill>
            <a:srgbClr val="FFFFFF">
              <a:alpha val="0"/>
            </a:srgbClr>
          </a:solidFill>
          <a:ln w="17780">
            <a:solidFill>
              <a:srgbClr val="0EA5A4"/>
            </a:solidFill>
            <a:prstDash val="solid"/>
          </a:ln>
        </p:spPr>
      </p:sp>
      <p:sp>
        <p:nvSpPr>
          <p:cNvPr id="57" name="Shape 55"/>
          <p:cNvSpPr/>
          <p:nvPr/>
        </p:nvSpPr>
        <p:spPr>
          <a:xfrm>
            <a:off x="8083296" y="2624328"/>
            <a:ext cx="969264" cy="603504"/>
          </a:xfrm>
          <a:prstGeom prst="rect">
            <a:avLst/>
          </a:prstGeom>
          <a:solidFill>
            <a:srgbClr val="FFFFFF">
              <a:alpha val="0"/>
            </a:srgbClr>
          </a:solidFill>
          <a:ln w="17780">
            <a:solidFill>
              <a:srgbClr val="0EA5A4"/>
            </a:solidFill>
            <a:prstDash val="solid"/>
          </a:ln>
        </p:spPr>
      </p:sp>
      <p:sp>
        <p:nvSpPr>
          <p:cNvPr id="58" name="Text 56"/>
          <p:cNvSpPr/>
          <p:nvPr/>
        </p:nvSpPr>
        <p:spPr>
          <a:xfrm>
            <a:off x="7808976" y="2496312"/>
            <a:ext cx="530352" cy="109728"/>
          </a:xfrm>
          <a:prstGeom prst="rect">
            <a:avLst/>
          </a:prstGeom>
          <a:noFill/>
          <a:ln/>
        </p:spPr>
        <p:txBody>
          <a:bodyPr wrap="square" lIns="0" tIns="0" rIns="0" bIns="0" rtlCol="0" anchor="ctr">
            <a:normAutofit/>
          </a:bodyPr>
          <a:lstStyle/>
          <a:p>
            <a:pPr algn="l" indent="0" marL="0">
              <a:buNone/>
            </a:pPr>
            <a:r>
              <a:rPr lang="en-US" sz="900" b="1" dirty="0">
                <a:solidFill>
                  <a:srgbClr val="0EA5A4"/>
                </a:solidFill>
                <a:latin typeface="Meiryo" pitchFamily="34" charset="0"/>
                <a:ea typeface="Meiryo" pitchFamily="34" charset="-122"/>
                <a:cs typeface="Meiryo" pitchFamily="34" charset="-120"/>
              </a:rPr>
              <a:t>SDF等値線</a:t>
            </a:r>
            <a:endParaRPr lang="en-US" sz="900" dirty="0"/>
          </a:p>
        </p:txBody>
      </p:sp>
      <p:sp>
        <p:nvSpPr>
          <p:cNvPr id="59" name="Shape 57"/>
          <p:cNvSpPr/>
          <p:nvPr/>
        </p:nvSpPr>
        <p:spPr>
          <a:xfrm>
            <a:off x="9070848" y="1828800"/>
            <a:ext cx="548640" cy="182880"/>
          </a:xfrm>
          <a:prstGeom prst="roundRect">
            <a:avLst>
              <a:gd name="adj" fmla="val 25000"/>
            </a:avLst>
          </a:prstGeom>
          <a:solidFill>
            <a:srgbClr val="8B5CF6"/>
          </a:solidFill>
          <a:ln w="12700">
            <a:solidFill>
              <a:srgbClr val="8B5CF6"/>
            </a:solidFill>
            <a:prstDash val="solid"/>
          </a:ln>
        </p:spPr>
      </p:sp>
      <p:sp>
        <p:nvSpPr>
          <p:cNvPr id="60" name="Text 58"/>
          <p:cNvSpPr/>
          <p:nvPr/>
        </p:nvSpPr>
        <p:spPr>
          <a:xfrm>
            <a:off x="9070848" y="1837944"/>
            <a:ext cx="548640"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追加部材</a:t>
            </a:r>
            <a:endParaRPr lang="en-US" sz="1100" dirty="0"/>
          </a:p>
        </p:txBody>
      </p:sp>
      <p:sp>
        <p:nvSpPr>
          <p:cNvPr id="61" name="Shape 59"/>
          <p:cNvSpPr/>
          <p:nvPr/>
        </p:nvSpPr>
        <p:spPr>
          <a:xfrm>
            <a:off x="8823960" y="2560320"/>
            <a:ext cx="274320" cy="640080"/>
          </a:xfrm>
          <a:prstGeom prst="rect">
            <a:avLst/>
          </a:prstGeom>
          <a:solidFill>
            <a:srgbClr val="8B5CF6"/>
          </a:solidFill>
          <a:ln w="12700">
            <a:solidFill>
              <a:srgbClr val="8B5CF6"/>
            </a:solidFill>
            <a:prstDash val="solid"/>
          </a:ln>
        </p:spPr>
      </p:sp>
      <p:sp>
        <p:nvSpPr>
          <p:cNvPr id="62" name="Shape 60"/>
          <p:cNvSpPr/>
          <p:nvPr/>
        </p:nvSpPr>
        <p:spPr>
          <a:xfrm>
            <a:off x="3611880" y="2834640"/>
            <a:ext cx="274320" cy="0"/>
          </a:xfrm>
          <a:prstGeom prst="line">
            <a:avLst/>
          </a:prstGeom>
          <a:noFill/>
          <a:ln w="25400">
            <a:solidFill>
              <a:srgbClr val="39A8FF"/>
            </a:solidFill>
            <a:prstDash val="solid"/>
            <a:tailEnd type="triangle"/>
          </a:ln>
        </p:spPr>
      </p:sp>
      <p:sp>
        <p:nvSpPr>
          <p:cNvPr id="63" name="Shape 61"/>
          <p:cNvSpPr/>
          <p:nvPr/>
        </p:nvSpPr>
        <p:spPr>
          <a:xfrm>
            <a:off x="6766560" y="2834640"/>
            <a:ext cx="274320" cy="0"/>
          </a:xfrm>
          <a:prstGeom prst="line">
            <a:avLst/>
          </a:prstGeom>
          <a:noFill/>
          <a:ln w="25400">
            <a:solidFill>
              <a:srgbClr val="39A8FF"/>
            </a:solidFill>
            <a:prstDash val="solid"/>
            <a:tailEnd type="triangle"/>
          </a:ln>
        </p:spPr>
      </p:sp>
      <p:sp>
        <p:nvSpPr>
          <p:cNvPr id="64" name="Shape 62"/>
          <p:cNvSpPr/>
          <p:nvPr/>
        </p:nvSpPr>
        <p:spPr>
          <a:xfrm>
            <a:off x="914400" y="4617720"/>
            <a:ext cx="9966960" cy="1097280"/>
          </a:xfrm>
          <a:prstGeom prst="roundRect">
            <a:avLst>
              <a:gd name="adj" fmla="val 5000"/>
            </a:avLst>
          </a:prstGeom>
          <a:solidFill>
            <a:srgbClr val="F4FBFF"/>
          </a:solidFill>
          <a:ln w="12700">
            <a:solidFill>
              <a:srgbClr val="C7E7FF"/>
            </a:solidFill>
            <a:prstDash val="solid"/>
          </a:ln>
        </p:spPr>
      </p:sp>
      <p:sp>
        <p:nvSpPr>
          <p:cNvPr id="65" name="Text 63"/>
          <p:cNvSpPr/>
          <p:nvPr/>
        </p:nvSpPr>
        <p:spPr>
          <a:xfrm>
            <a:off x="1078992" y="4828032"/>
            <a:ext cx="9601200" cy="54864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従来は「境界が何個あるか」に応じて入力設計が増えがちであった。提案技術では「役割」に正規化して固定チャネルへ収める。</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審査上の価値: 装置 A / 装置 B / 部材変更に対しても、発明の本質が同じ入力 schema に整理できる。</a:t>
            </a:r>
            <a:endParaRPr lang="en-US" sz="1500" dirty="0"/>
          </a:p>
        </p:txBody>
      </p:sp>
      <p:sp>
        <p:nvSpPr>
          <p:cNvPr id="66" name="Shape 64"/>
          <p:cNvSpPr/>
          <p:nvPr/>
        </p:nvSpPr>
        <p:spPr>
          <a:xfrm>
            <a:off x="10149840" y="1417320"/>
            <a:ext cx="1280160" cy="2880360"/>
          </a:xfrm>
          <a:prstGeom prst="roundRect">
            <a:avLst>
              <a:gd name="adj" fmla="val 4286"/>
            </a:avLst>
          </a:prstGeom>
          <a:solidFill>
            <a:srgbClr val="FFFFFF"/>
          </a:solidFill>
          <a:ln w="12700">
            <a:solidFill>
              <a:srgbClr val="D7E3ED"/>
            </a:solidFill>
            <a:prstDash val="solid"/>
          </a:ln>
        </p:spPr>
      </p:sp>
      <p:sp>
        <p:nvSpPr>
          <p:cNvPr id="67" name="Text 65"/>
          <p:cNvSpPr/>
          <p:nvPr/>
        </p:nvSpPr>
        <p:spPr>
          <a:xfrm>
            <a:off x="10259568" y="1682496"/>
            <a:ext cx="1005840" cy="292608"/>
          </a:xfrm>
          <a:prstGeom prst="rect">
            <a:avLst/>
          </a:prstGeom>
          <a:noFill/>
          <a:ln/>
        </p:spPr>
        <p:txBody>
          <a:bodyPr wrap="square" lIns="0" tIns="0" rIns="0" bIns="0" rtlCol="0" anchor="ctr">
            <a:normAutofit/>
          </a:bodyPr>
          <a:lstStyle/>
          <a:p>
            <a:pPr algn="ctr" indent="0" marL="0">
              <a:buNone/>
            </a:pPr>
            <a:r>
              <a:rPr lang="en-US" sz="1800" b="1" dirty="0">
                <a:solidFill>
                  <a:srgbClr val="39A8FF"/>
                </a:solidFill>
                <a:latin typeface="Meiryo" pitchFamily="34" charset="0"/>
                <a:ea typeface="Meiryo" pitchFamily="34" charset="-122"/>
                <a:cs typeface="Meiryo" pitchFamily="34" charset="-120"/>
              </a:rPr>
              <a:t>固定</a:t>
            </a:r>
            <a:endParaRPr lang="en-US" sz="1800" dirty="0"/>
          </a:p>
          <a:p>
            <a:pPr algn="ctr" indent="0" marL="0">
              <a:buNone/>
            </a:pPr>
            <a:r>
              <a:rPr lang="en-US" sz="1800" b="1" dirty="0">
                <a:solidFill>
                  <a:srgbClr val="39A8FF"/>
                </a:solidFill>
                <a:latin typeface="Meiryo" pitchFamily="34" charset="0"/>
                <a:ea typeface="Meiryo" pitchFamily="34" charset="-122"/>
                <a:cs typeface="Meiryo" pitchFamily="34" charset="-120"/>
              </a:rPr>
              <a:t>schema</a:t>
            </a:r>
            <a:endParaRPr lang="en-US" sz="1800" dirty="0"/>
          </a:p>
        </p:txBody>
      </p:sp>
      <p:sp>
        <p:nvSpPr>
          <p:cNvPr id="68" name="Text 66"/>
          <p:cNvSpPr/>
          <p:nvPr/>
        </p:nvSpPr>
        <p:spPr>
          <a:xfrm>
            <a:off x="10259568" y="2331720"/>
            <a:ext cx="932688" cy="64008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6種 SDF</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法線</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座標</a:t>
            </a:r>
            <a:endParaRPr lang="en-US" sz="1400" dirty="0"/>
          </a:p>
        </p:txBody>
      </p:sp>
      <p:sp>
        <p:nvSpPr>
          <p:cNvPr id="69" name="Text 67"/>
          <p:cNvSpPr/>
          <p:nvPr/>
        </p:nvSpPr>
        <p:spPr>
          <a:xfrm>
            <a:off x="10241280" y="3291840"/>
            <a:ext cx="969264" cy="658368"/>
          </a:xfrm>
          <a:prstGeom prst="rect">
            <a:avLst/>
          </a:prstGeom>
          <a:noFill/>
          <a:ln/>
        </p:spPr>
        <p:txBody>
          <a:bodyPr wrap="square" lIns="635" tIns="635" rIns="635" bIns="635" rtlCol="0" anchor="t">
            <a:normAutofit/>
          </a:bodyPr>
          <a:lstStyle/>
          <a:p>
            <a:pPr indent="0" marL="0">
              <a:buNone/>
            </a:pPr>
            <a:r>
              <a:rPr lang="en-US" sz="1200" dirty="0">
                <a:solidFill>
                  <a:srgbClr val="111111"/>
                </a:solidFill>
                <a:latin typeface="Meiryo" pitchFamily="34" charset="0"/>
                <a:ea typeface="Meiryo" pitchFamily="34" charset="-122"/>
                <a:cs typeface="Meiryo" pitchFamily="34" charset="-120"/>
              </a:rPr>
              <a:t>• 境界数が変わっても U-Net 側はそのまま</a:t>
            </a:r>
            <a:endParaRPr lang="en-US" sz="1200" dirty="0"/>
          </a:p>
        </p:txBody>
      </p:sp>
      <p:sp>
        <p:nvSpPr>
          <p:cNvPr id="70" name="Text 6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境界物理の拡張1: 入力電圧を電圧影響場 Φbc として空間化</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電圧</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75488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25603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scalar V ではなく「内部への届き方」を map にする</a:t>
            </a:r>
            <a:endParaRPr lang="en-US" sz="1600" dirty="0"/>
          </a:p>
        </p:txBody>
      </p:sp>
      <p:sp>
        <p:nvSpPr>
          <p:cNvPr id="9" name="Shape 7"/>
          <p:cNvSpPr/>
          <p:nvPr/>
        </p:nvSpPr>
        <p:spPr>
          <a:xfrm>
            <a:off x="1005840" y="1847088"/>
            <a:ext cx="1188720" cy="841248"/>
          </a:xfrm>
          <a:prstGeom prst="roundRect">
            <a:avLst>
              <a:gd name="adj" fmla="val 6522"/>
            </a:avLst>
          </a:prstGeom>
          <a:solidFill>
            <a:srgbClr val="FFF8EE"/>
          </a:solidFill>
          <a:ln w="12700">
            <a:solidFill>
              <a:srgbClr val="F7D6A1"/>
            </a:solidFill>
            <a:prstDash val="solid"/>
          </a:ln>
        </p:spPr>
      </p:sp>
      <p:sp>
        <p:nvSpPr>
          <p:cNvPr id="10" name="Text 8"/>
          <p:cNvSpPr/>
          <p:nvPr/>
        </p:nvSpPr>
        <p:spPr>
          <a:xfrm>
            <a:off x="1078992" y="2084832"/>
            <a:ext cx="1042416" cy="292608"/>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境界電圧</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V, 位相</a:t>
            </a:r>
            <a:endParaRPr lang="en-US" sz="1600" dirty="0"/>
          </a:p>
        </p:txBody>
      </p:sp>
      <p:sp>
        <p:nvSpPr>
          <p:cNvPr id="11" name="Shape 9"/>
          <p:cNvSpPr/>
          <p:nvPr/>
        </p:nvSpPr>
        <p:spPr>
          <a:xfrm>
            <a:off x="2240280" y="2267712"/>
            <a:ext cx="548640" cy="0"/>
          </a:xfrm>
          <a:prstGeom prst="line">
            <a:avLst/>
          </a:prstGeom>
          <a:noFill/>
          <a:ln w="25400">
            <a:solidFill>
              <a:srgbClr val="39A8FF"/>
            </a:solidFill>
            <a:prstDash val="solid"/>
            <a:tailEnd type="triangle"/>
          </a:ln>
        </p:spPr>
      </p:sp>
      <p:sp>
        <p:nvSpPr>
          <p:cNvPr id="12" name="Shape 10"/>
          <p:cNvSpPr/>
          <p:nvPr/>
        </p:nvSpPr>
        <p:spPr>
          <a:xfrm>
            <a:off x="2788920" y="1783080"/>
            <a:ext cx="1783080" cy="1005840"/>
          </a:xfrm>
          <a:prstGeom prst="roundRect">
            <a:avLst>
              <a:gd name="adj" fmla="val 5455"/>
            </a:avLst>
          </a:prstGeom>
          <a:solidFill>
            <a:srgbClr val="F4FBFF"/>
          </a:solidFill>
          <a:ln w="12700">
            <a:solidFill>
              <a:srgbClr val="C7E7FF"/>
            </a:solidFill>
            <a:prstDash val="solid"/>
          </a:ln>
        </p:spPr>
      </p:sp>
      <p:sp>
        <p:nvSpPr>
          <p:cNvPr id="13" name="Text 11"/>
          <p:cNvSpPr/>
          <p:nvPr/>
        </p:nvSpPr>
        <p:spPr>
          <a:xfrm>
            <a:off x="2852928" y="2048256"/>
            <a:ext cx="1645920" cy="384048"/>
          </a:xfrm>
          <a:prstGeom prst="rect">
            <a:avLst/>
          </a:prstGeom>
          <a:noFill/>
          <a:ln/>
        </p:spPr>
        <p:txBody>
          <a:bodyPr wrap="square" lIns="0" tIns="0" rIns="0" bIns="0" rtlCol="0" anchor="ctr">
            <a:normAutofit/>
          </a:bodyPr>
          <a:lstStyle/>
          <a:p>
            <a:pPr algn="ctr" indent="0" marL="0">
              <a:buNone/>
            </a:pPr>
            <a:r>
              <a:rPr lang="en-US" sz="1500" b="1" dirty="0">
                <a:solidFill>
                  <a:srgbClr val="0D4D7E"/>
                </a:solidFill>
                <a:latin typeface="Meiryo" pitchFamily="34" charset="0"/>
                <a:ea typeface="Meiryo" pitchFamily="34" charset="-122"/>
                <a:cs typeface="Meiryo" pitchFamily="34" charset="-120"/>
              </a:rPr>
              <a:t>補助場生成</a:t>
            </a:r>
            <a:endParaRPr lang="en-US" sz="1500" dirty="0"/>
          </a:p>
          <a:p>
            <a:pPr algn="ctr" indent="0" marL="0">
              <a:buNone/>
            </a:pPr>
            <a:r>
              <a:rPr lang="en-US" sz="1500" b="1" dirty="0">
                <a:solidFill>
                  <a:srgbClr val="0D4D7E"/>
                </a:solidFill>
                <a:latin typeface="Meiryo" pitchFamily="34" charset="0"/>
                <a:ea typeface="Meiryo" pitchFamily="34" charset="-122"/>
                <a:cs typeface="Meiryo" pitchFamily="34" charset="-120"/>
              </a:rPr>
              <a:t>∇·(εr∇Φbc)=0</a:t>
            </a:r>
            <a:endParaRPr lang="en-US" sz="1500" dirty="0"/>
          </a:p>
        </p:txBody>
      </p:sp>
      <p:sp>
        <p:nvSpPr>
          <p:cNvPr id="14" name="Shape 12"/>
          <p:cNvSpPr/>
          <p:nvPr/>
        </p:nvSpPr>
        <p:spPr>
          <a:xfrm>
            <a:off x="4617720" y="2267712"/>
            <a:ext cx="640080" cy="0"/>
          </a:xfrm>
          <a:prstGeom prst="line">
            <a:avLst/>
          </a:prstGeom>
          <a:noFill/>
          <a:ln w="25400">
            <a:solidFill>
              <a:srgbClr val="39A8FF"/>
            </a:solidFill>
            <a:prstDash val="solid"/>
            <a:tailEnd type="triangle"/>
          </a:ln>
        </p:spPr>
      </p:sp>
      <p:sp>
        <p:nvSpPr>
          <p:cNvPr id="15" name="Shape 13"/>
          <p:cNvSpPr/>
          <p:nvPr/>
        </p:nvSpPr>
        <p:spPr>
          <a:xfrm>
            <a:off x="1234440" y="3200400"/>
            <a:ext cx="3154680" cy="2011680"/>
          </a:xfrm>
          <a:prstGeom prst="roundRect">
            <a:avLst>
              <a:gd name="adj" fmla="val 2727"/>
            </a:avLst>
          </a:prstGeom>
          <a:solidFill>
            <a:srgbClr val="FFFFFF"/>
          </a:solidFill>
          <a:ln w="12700">
            <a:solidFill>
              <a:srgbClr val="D7E3ED"/>
            </a:solidFill>
            <a:prstDash val="solid"/>
          </a:ln>
        </p:spPr>
      </p:sp>
      <p:sp>
        <p:nvSpPr>
          <p:cNvPr id="16" name="Shape 14"/>
          <p:cNvSpPr/>
          <p:nvPr/>
        </p:nvSpPr>
        <p:spPr>
          <a:xfrm>
            <a:off x="1627632" y="3566160"/>
            <a:ext cx="2377440" cy="1234440"/>
          </a:xfrm>
          <a:prstGeom prst="roundRect">
            <a:avLst>
              <a:gd name="adj" fmla="val 3704"/>
            </a:avLst>
          </a:prstGeom>
          <a:solidFill>
            <a:srgbClr val="FFFFFF"/>
          </a:solidFill>
          <a:ln w="25400">
            <a:solidFill>
              <a:srgbClr val="6B7280"/>
            </a:solidFill>
            <a:prstDash val="solid"/>
          </a:ln>
        </p:spPr>
      </p:sp>
      <p:sp>
        <p:nvSpPr>
          <p:cNvPr id="17" name="Shape 15"/>
          <p:cNvSpPr/>
          <p:nvPr/>
        </p:nvSpPr>
        <p:spPr>
          <a:xfrm>
            <a:off x="1645920" y="4690872"/>
            <a:ext cx="2340864" cy="91440"/>
          </a:xfrm>
          <a:prstGeom prst="rect">
            <a:avLst/>
          </a:prstGeom>
          <a:solidFill>
            <a:srgbClr val="6B7280">
              <a:alpha val="75000"/>
            </a:srgbClr>
          </a:solidFill>
          <a:ln w="12700">
            <a:solidFill>
              <a:srgbClr val="6B7280">
                <a:alpha val="0"/>
              </a:srgbClr>
            </a:solidFill>
            <a:prstDash val="solid"/>
          </a:ln>
        </p:spPr>
      </p:sp>
      <p:sp>
        <p:nvSpPr>
          <p:cNvPr id="18" name="Shape 16"/>
          <p:cNvSpPr/>
          <p:nvPr/>
        </p:nvSpPr>
        <p:spPr>
          <a:xfrm>
            <a:off x="1645920" y="3584448"/>
            <a:ext cx="109728" cy="1197864"/>
          </a:xfrm>
          <a:prstGeom prst="rect">
            <a:avLst/>
          </a:prstGeom>
          <a:solidFill>
            <a:srgbClr val="6B7280">
              <a:alpha val="75000"/>
            </a:srgbClr>
          </a:solidFill>
          <a:ln w="12700">
            <a:solidFill>
              <a:srgbClr val="6B7280">
                <a:alpha val="0"/>
              </a:srgbClr>
            </a:solidFill>
            <a:prstDash val="solid"/>
          </a:ln>
        </p:spPr>
      </p:sp>
      <p:sp>
        <p:nvSpPr>
          <p:cNvPr id="19" name="Shape 17"/>
          <p:cNvSpPr/>
          <p:nvPr/>
        </p:nvSpPr>
        <p:spPr>
          <a:xfrm>
            <a:off x="3877056" y="3584448"/>
            <a:ext cx="109728" cy="1197864"/>
          </a:xfrm>
          <a:prstGeom prst="rect">
            <a:avLst/>
          </a:prstGeom>
          <a:solidFill>
            <a:srgbClr val="6B7280">
              <a:alpha val="75000"/>
            </a:srgbClr>
          </a:solidFill>
          <a:ln w="12700">
            <a:solidFill>
              <a:srgbClr val="6B7280">
                <a:alpha val="0"/>
              </a:srgbClr>
            </a:solidFill>
            <a:prstDash val="solid"/>
          </a:ln>
        </p:spPr>
      </p:sp>
      <p:sp>
        <p:nvSpPr>
          <p:cNvPr id="20" name="Shape 18"/>
          <p:cNvSpPr/>
          <p:nvPr/>
        </p:nvSpPr>
        <p:spPr>
          <a:xfrm>
            <a:off x="1856232" y="3493008"/>
            <a:ext cx="1920240" cy="109728"/>
          </a:xfrm>
          <a:prstGeom prst="rect">
            <a:avLst/>
          </a:prstGeom>
          <a:solidFill>
            <a:srgbClr val="10B981"/>
          </a:solidFill>
          <a:ln w="12700">
            <a:solidFill>
              <a:srgbClr val="10B981"/>
            </a:solidFill>
            <a:prstDash val="solid"/>
          </a:ln>
        </p:spPr>
      </p:sp>
      <p:sp>
        <p:nvSpPr>
          <p:cNvPr id="21" name="Text 19"/>
          <p:cNvSpPr/>
          <p:nvPr/>
        </p:nvSpPr>
        <p:spPr>
          <a:xfrm>
            <a:off x="2587752" y="3355848"/>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2" name="Shape 20"/>
          <p:cNvSpPr/>
          <p:nvPr/>
        </p:nvSpPr>
        <p:spPr>
          <a:xfrm>
            <a:off x="2039112" y="3730752"/>
            <a:ext cx="1554480" cy="91440"/>
          </a:xfrm>
          <a:prstGeom prst="rect">
            <a:avLst/>
          </a:prstGeom>
          <a:solidFill>
            <a:srgbClr val="F59E0B"/>
          </a:solidFill>
          <a:ln w="12700">
            <a:solidFill>
              <a:srgbClr val="F59E0B"/>
            </a:solidFill>
            <a:prstDash val="solid"/>
          </a:ln>
        </p:spPr>
      </p:sp>
      <p:sp>
        <p:nvSpPr>
          <p:cNvPr id="23" name="Text 21"/>
          <p:cNvSpPr/>
          <p:nvPr/>
        </p:nvSpPr>
        <p:spPr>
          <a:xfrm>
            <a:off x="2496312" y="359359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4" name="Shape 22"/>
          <p:cNvSpPr/>
          <p:nvPr/>
        </p:nvSpPr>
        <p:spPr>
          <a:xfrm>
            <a:off x="2130552" y="4389120"/>
            <a:ext cx="1371600" cy="100584"/>
          </a:xfrm>
          <a:prstGeom prst="rect">
            <a:avLst/>
          </a:prstGeom>
          <a:solidFill>
            <a:srgbClr val="B0B8C0"/>
          </a:solidFill>
          <a:ln w="12700">
            <a:solidFill>
              <a:srgbClr val="B0B8C0"/>
            </a:solidFill>
            <a:prstDash val="solid"/>
          </a:ln>
        </p:spPr>
      </p:sp>
      <p:sp>
        <p:nvSpPr>
          <p:cNvPr id="25" name="Text 23"/>
          <p:cNvSpPr/>
          <p:nvPr/>
        </p:nvSpPr>
        <p:spPr>
          <a:xfrm>
            <a:off x="2651760" y="454456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6" name="Shape 24"/>
          <p:cNvSpPr/>
          <p:nvPr/>
        </p:nvSpPr>
        <p:spPr>
          <a:xfrm>
            <a:off x="2130552" y="3886200"/>
            <a:ext cx="0" cy="411480"/>
          </a:xfrm>
          <a:prstGeom prst="line">
            <a:avLst/>
          </a:prstGeom>
          <a:noFill/>
          <a:ln w="19050">
            <a:solidFill>
              <a:srgbClr val="8A8A8A"/>
            </a:solidFill>
            <a:prstDash val="solid"/>
            <a:tailEnd type="triangle"/>
          </a:ln>
        </p:spPr>
      </p:sp>
      <p:sp>
        <p:nvSpPr>
          <p:cNvPr id="27" name="Shape 25"/>
          <p:cNvSpPr/>
          <p:nvPr/>
        </p:nvSpPr>
        <p:spPr>
          <a:xfrm>
            <a:off x="2557272" y="3886200"/>
            <a:ext cx="0" cy="411480"/>
          </a:xfrm>
          <a:prstGeom prst="line">
            <a:avLst/>
          </a:prstGeom>
          <a:noFill/>
          <a:ln w="19050">
            <a:solidFill>
              <a:srgbClr val="8A8A8A"/>
            </a:solidFill>
            <a:prstDash val="solid"/>
            <a:tailEnd type="triangle"/>
          </a:ln>
        </p:spPr>
      </p:sp>
      <p:sp>
        <p:nvSpPr>
          <p:cNvPr id="28" name="Shape 26"/>
          <p:cNvSpPr/>
          <p:nvPr/>
        </p:nvSpPr>
        <p:spPr>
          <a:xfrm>
            <a:off x="2983992" y="3886200"/>
            <a:ext cx="0" cy="411480"/>
          </a:xfrm>
          <a:prstGeom prst="line">
            <a:avLst/>
          </a:prstGeom>
          <a:noFill/>
          <a:ln w="19050">
            <a:solidFill>
              <a:srgbClr val="8A8A8A"/>
            </a:solidFill>
            <a:prstDash val="solid"/>
            <a:tailEnd type="triangle"/>
          </a:ln>
        </p:spPr>
      </p:sp>
      <p:sp>
        <p:nvSpPr>
          <p:cNvPr id="29" name="Shape 27"/>
          <p:cNvSpPr/>
          <p:nvPr/>
        </p:nvSpPr>
        <p:spPr>
          <a:xfrm>
            <a:off x="3410712" y="3886200"/>
            <a:ext cx="0" cy="411480"/>
          </a:xfrm>
          <a:prstGeom prst="line">
            <a:avLst/>
          </a:prstGeom>
          <a:noFill/>
          <a:ln w="19050">
            <a:solidFill>
              <a:srgbClr val="8A8A8A"/>
            </a:solidFill>
            <a:prstDash val="solid"/>
            <a:tailEnd type="triangle"/>
          </a:ln>
        </p:spPr>
      </p:sp>
      <p:sp>
        <p:nvSpPr>
          <p:cNvPr id="30" name="Shape 28"/>
          <p:cNvSpPr/>
          <p:nvPr/>
        </p:nvSpPr>
        <p:spPr>
          <a:xfrm>
            <a:off x="1600200" y="3310128"/>
            <a:ext cx="786384" cy="182880"/>
          </a:xfrm>
          <a:prstGeom prst="roundRect">
            <a:avLst>
              <a:gd name="adj" fmla="val 25000"/>
            </a:avLst>
          </a:prstGeom>
          <a:solidFill>
            <a:srgbClr val="F59E0B"/>
          </a:solidFill>
          <a:ln w="12700">
            <a:solidFill>
              <a:srgbClr val="F59E0B"/>
            </a:solidFill>
            <a:prstDash val="solid"/>
          </a:ln>
        </p:spPr>
      </p:sp>
      <p:sp>
        <p:nvSpPr>
          <p:cNvPr id="31" name="Text 29"/>
          <p:cNvSpPr/>
          <p:nvPr/>
        </p:nvSpPr>
        <p:spPr>
          <a:xfrm>
            <a:off x="1600200" y="3319272"/>
            <a:ext cx="786384"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Φbc / Ebc</a:t>
            </a:r>
            <a:endParaRPr lang="en-US" sz="1100" dirty="0"/>
          </a:p>
        </p:txBody>
      </p:sp>
      <p:sp>
        <p:nvSpPr>
          <p:cNvPr id="32" name="Text 30"/>
          <p:cNvSpPr/>
          <p:nvPr/>
        </p:nvSpPr>
        <p:spPr>
          <a:xfrm>
            <a:off x="1353312" y="4956048"/>
            <a:ext cx="2880360" cy="182880"/>
          </a:xfrm>
          <a:prstGeom prst="rect">
            <a:avLst/>
          </a:prstGeom>
          <a:noFill/>
          <a:ln/>
        </p:spPr>
        <p:txBody>
          <a:bodyPr wrap="square" lIns="0" tIns="0" rIns="0" bIns="0" rtlCol="0" anchor="ctr">
            <a:normAutofit/>
          </a:bodyPr>
          <a:lstStyle/>
          <a:p>
            <a:pPr algn="ctr" indent="0" marL="0">
              <a:buNone/>
            </a:pPr>
            <a:r>
              <a:rPr lang="en-US" sz="1400" dirty="0">
                <a:solidFill>
                  <a:srgbClr val="111111"/>
                </a:solidFill>
                <a:latin typeface="Meiryo" pitchFamily="34" charset="0"/>
                <a:ea typeface="Meiryo" pitchFamily="34" charset="-122"/>
                <a:cs typeface="Meiryo" pitchFamily="34" charset="-120"/>
              </a:rPr>
              <a:t>電極数や配置が違っても、入力チャネル数は増やさない</a:t>
            </a:r>
            <a:endParaRPr lang="en-US" sz="1400" dirty="0"/>
          </a:p>
        </p:txBody>
      </p:sp>
      <p:sp>
        <p:nvSpPr>
          <p:cNvPr id="33" name="Shape 31"/>
          <p:cNvSpPr/>
          <p:nvPr/>
        </p:nvSpPr>
        <p:spPr>
          <a:xfrm>
            <a:off x="5897880" y="1325880"/>
            <a:ext cx="5486400" cy="4480560"/>
          </a:xfrm>
          <a:prstGeom prst="roundRect">
            <a:avLst>
              <a:gd name="adj" fmla="val 1224"/>
            </a:avLst>
          </a:prstGeom>
          <a:solidFill>
            <a:srgbClr val="FFFFFF"/>
          </a:solidFill>
          <a:ln w="12700">
            <a:solidFill>
              <a:srgbClr val="D7E3ED"/>
            </a:solidFill>
            <a:prstDash val="solid"/>
          </a:ln>
        </p:spPr>
      </p:sp>
      <p:sp>
        <p:nvSpPr>
          <p:cNvPr id="34" name="Text 32"/>
          <p:cNvSpPr/>
          <p:nvPr/>
        </p:nvSpPr>
        <p:spPr>
          <a:xfrm>
            <a:off x="6080760" y="1490472"/>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従来との対比</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080760" y="1783080"/>
          <a:ext cx="4983480" cy="2468880"/>
        </p:xfrm>
        <a:graphic>
          <a:graphicData uri="http://schemas.openxmlformats.org/drawingml/2006/table">
            <a:tbl>
              <a:tblPr/>
              <a:tblGrid>
                <a:gridCol w="1096366"/>
                <a:gridCol w="1794053"/>
                <a:gridCol w="2093062"/>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入力形式</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V, RF phase を scalar で追加</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Φbc と Ebc を空間 map 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電極数変化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入力設計が変わりやすい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map へ集約しやすい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電極端部</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暗黙学習に依存</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局所強電界を map 側で表現</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請求項化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AI 一般論になりやすい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前処理の構成として記載しやすい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36" name="Shape 33"/>
          <p:cNvSpPr/>
          <p:nvPr/>
        </p:nvSpPr>
        <p:spPr>
          <a:xfrm>
            <a:off x="6108192" y="4526280"/>
            <a:ext cx="4956048" cy="868680"/>
          </a:xfrm>
          <a:prstGeom prst="roundRect">
            <a:avLst>
              <a:gd name="adj" fmla="val 6316"/>
            </a:avLst>
          </a:prstGeom>
          <a:solidFill>
            <a:srgbClr val="F4FBFF"/>
          </a:solidFill>
          <a:ln w="12700">
            <a:solidFill>
              <a:srgbClr val="C7E7FF"/>
            </a:solidFill>
            <a:prstDash val="solid"/>
          </a:ln>
        </p:spPr>
      </p:sp>
      <p:sp>
        <p:nvSpPr>
          <p:cNvPr id="37" name="Text 34"/>
          <p:cNvSpPr/>
          <p:nvPr/>
        </p:nvSpPr>
        <p:spPr>
          <a:xfrm>
            <a:off x="6263640" y="4718304"/>
            <a:ext cx="4572000" cy="36576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効果: 電圧値だけでなく、どの境界からどこへ効くかを U-Net が直接読める。</a:t>
            </a:r>
            <a:endParaRPr lang="en-US" sz="1500" dirty="0"/>
          </a:p>
        </p:txBody>
      </p:sp>
      <p:sp>
        <p:nvSpPr>
          <p:cNvPr id="38" name="Text 35"/>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境界物理の拡張2: 誘電率 εr と界面条件を明示</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誘電体</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48056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25603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誘電体は単なる部材 ID ではなく界面問題</a:t>
            </a:r>
            <a:endParaRPr lang="en-US" sz="1600" dirty="0"/>
          </a:p>
        </p:txBody>
      </p:sp>
      <p:sp>
        <p:nvSpPr>
          <p:cNvPr id="9" name="Shape 7"/>
          <p:cNvSpPr/>
          <p:nvPr/>
        </p:nvSpPr>
        <p:spPr>
          <a:xfrm>
            <a:off x="1234440" y="1920240"/>
            <a:ext cx="1463040" cy="2560320"/>
          </a:xfrm>
          <a:prstGeom prst="rect">
            <a:avLst/>
          </a:prstGeom>
          <a:solidFill>
            <a:srgbClr val="FFFFFF"/>
          </a:solidFill>
          <a:ln w="19050">
            <a:solidFill>
              <a:srgbClr val="6B7280"/>
            </a:solidFill>
            <a:prstDash val="solid"/>
          </a:ln>
        </p:spPr>
      </p:sp>
      <p:sp>
        <p:nvSpPr>
          <p:cNvPr id="10" name="Shape 8"/>
          <p:cNvSpPr/>
          <p:nvPr/>
        </p:nvSpPr>
        <p:spPr>
          <a:xfrm>
            <a:off x="2697480" y="1920240"/>
            <a:ext cx="1600200" cy="2560320"/>
          </a:xfrm>
          <a:prstGeom prst="rect">
            <a:avLst/>
          </a:prstGeom>
          <a:solidFill>
            <a:srgbClr val="E8FFF7"/>
          </a:solidFill>
          <a:ln w="19050">
            <a:solidFill>
              <a:srgbClr val="10B981"/>
            </a:solidFill>
            <a:prstDash val="solid"/>
          </a:ln>
        </p:spPr>
      </p:sp>
      <p:sp>
        <p:nvSpPr>
          <p:cNvPr id="11" name="Text 9"/>
          <p:cNvSpPr/>
          <p:nvPr/>
        </p:nvSpPr>
        <p:spPr>
          <a:xfrm>
            <a:off x="1627632" y="2011680"/>
            <a:ext cx="640080" cy="128016"/>
          </a:xfrm>
          <a:prstGeom prst="rect">
            <a:avLst/>
          </a:prstGeom>
          <a:noFill/>
          <a:ln/>
        </p:spPr>
        <p:txBody>
          <a:bodyPr wrap="square" lIns="0" tIns="0" rIns="0" bIns="0" rtlCol="0" anchor="ctr">
            <a:normAutofit/>
          </a:bodyPr>
          <a:lstStyle/>
          <a:p>
            <a:pPr algn="ctr" indent="0" marL="0">
              <a:buNone/>
            </a:pPr>
            <a:r>
              <a:rPr lang="en-US" sz="1600" b="1" dirty="0">
                <a:solidFill>
                  <a:srgbClr val="0D4D7E"/>
                </a:solidFill>
                <a:latin typeface="Meiryo" pitchFamily="34" charset="0"/>
                <a:ea typeface="Meiryo" pitchFamily="34" charset="-122"/>
                <a:cs typeface="Meiryo" pitchFamily="34" charset="-120"/>
              </a:rPr>
              <a:t>プラズマ</a:t>
            </a:r>
            <a:endParaRPr lang="en-US" sz="1600" dirty="0"/>
          </a:p>
        </p:txBody>
      </p:sp>
      <p:sp>
        <p:nvSpPr>
          <p:cNvPr id="12" name="Text 10"/>
          <p:cNvSpPr/>
          <p:nvPr/>
        </p:nvSpPr>
        <p:spPr>
          <a:xfrm>
            <a:off x="3182112" y="2011680"/>
            <a:ext cx="640080" cy="128016"/>
          </a:xfrm>
          <a:prstGeom prst="rect">
            <a:avLst/>
          </a:prstGeom>
          <a:noFill/>
          <a:ln/>
        </p:spPr>
        <p:txBody>
          <a:bodyPr wrap="square" lIns="0" tIns="0" rIns="0" bIns="0" rtlCol="0" anchor="ctr">
            <a:normAutofit/>
          </a:bodyPr>
          <a:lstStyle/>
          <a:p>
            <a:pPr algn="ctr" indent="0" marL="0">
              <a:buNone/>
            </a:pPr>
            <a:r>
              <a:rPr lang="en-US" sz="1600" b="1" dirty="0">
                <a:solidFill>
                  <a:srgbClr val="10B981"/>
                </a:solidFill>
                <a:latin typeface="Meiryo" pitchFamily="34" charset="0"/>
                <a:ea typeface="Meiryo" pitchFamily="34" charset="-122"/>
                <a:cs typeface="Meiryo" pitchFamily="34" charset="-120"/>
              </a:rPr>
              <a:t>誘電体</a:t>
            </a:r>
            <a:endParaRPr lang="en-US" sz="1600" dirty="0"/>
          </a:p>
        </p:txBody>
      </p:sp>
      <p:sp>
        <p:nvSpPr>
          <p:cNvPr id="13" name="Shape 11"/>
          <p:cNvSpPr/>
          <p:nvPr/>
        </p:nvSpPr>
        <p:spPr>
          <a:xfrm>
            <a:off x="1554480" y="2377440"/>
            <a:ext cx="2057400" cy="0"/>
          </a:xfrm>
          <a:prstGeom prst="line">
            <a:avLst/>
          </a:prstGeom>
          <a:noFill/>
          <a:ln w="16510">
            <a:solidFill>
              <a:srgbClr val="8A8A8A"/>
            </a:solidFill>
            <a:prstDash val="solid"/>
            <a:tailEnd type="triangle"/>
          </a:ln>
        </p:spPr>
      </p:sp>
      <p:sp>
        <p:nvSpPr>
          <p:cNvPr id="14" name="Shape 12"/>
          <p:cNvSpPr/>
          <p:nvPr/>
        </p:nvSpPr>
        <p:spPr>
          <a:xfrm>
            <a:off x="1554480" y="2788920"/>
            <a:ext cx="2057400" cy="0"/>
          </a:xfrm>
          <a:prstGeom prst="line">
            <a:avLst/>
          </a:prstGeom>
          <a:noFill/>
          <a:ln w="16510">
            <a:solidFill>
              <a:srgbClr val="8A8A8A"/>
            </a:solidFill>
            <a:prstDash val="solid"/>
            <a:tailEnd type="triangle"/>
          </a:ln>
        </p:spPr>
      </p:sp>
      <p:sp>
        <p:nvSpPr>
          <p:cNvPr id="15" name="Shape 13"/>
          <p:cNvSpPr/>
          <p:nvPr/>
        </p:nvSpPr>
        <p:spPr>
          <a:xfrm>
            <a:off x="1554480" y="3200400"/>
            <a:ext cx="2057400" cy="0"/>
          </a:xfrm>
          <a:prstGeom prst="line">
            <a:avLst/>
          </a:prstGeom>
          <a:noFill/>
          <a:ln w="16510">
            <a:solidFill>
              <a:srgbClr val="8A8A8A"/>
            </a:solidFill>
            <a:prstDash val="solid"/>
            <a:tailEnd type="triangle"/>
          </a:ln>
        </p:spPr>
      </p:sp>
      <p:sp>
        <p:nvSpPr>
          <p:cNvPr id="16" name="Shape 14"/>
          <p:cNvSpPr/>
          <p:nvPr/>
        </p:nvSpPr>
        <p:spPr>
          <a:xfrm>
            <a:off x="1554480" y="3611880"/>
            <a:ext cx="2057400" cy="0"/>
          </a:xfrm>
          <a:prstGeom prst="line">
            <a:avLst/>
          </a:prstGeom>
          <a:noFill/>
          <a:ln w="16510">
            <a:solidFill>
              <a:srgbClr val="8A8A8A"/>
            </a:solidFill>
            <a:prstDash val="solid"/>
            <a:tailEnd type="triangle"/>
          </a:ln>
        </p:spPr>
      </p:sp>
      <p:sp>
        <p:nvSpPr>
          <p:cNvPr id="17" name="Shape 15"/>
          <p:cNvSpPr/>
          <p:nvPr/>
        </p:nvSpPr>
        <p:spPr>
          <a:xfrm>
            <a:off x="1554480" y="4023360"/>
            <a:ext cx="2057400" cy="0"/>
          </a:xfrm>
          <a:prstGeom prst="line">
            <a:avLst/>
          </a:prstGeom>
          <a:noFill/>
          <a:ln w="16510">
            <a:solidFill>
              <a:srgbClr val="8A8A8A"/>
            </a:solidFill>
            <a:prstDash val="solid"/>
            <a:tailEnd type="triangle"/>
          </a:ln>
        </p:spPr>
      </p:sp>
      <p:sp>
        <p:nvSpPr>
          <p:cNvPr id="18" name="Shape 16"/>
          <p:cNvSpPr/>
          <p:nvPr/>
        </p:nvSpPr>
        <p:spPr>
          <a:xfrm>
            <a:off x="1261872" y="4617720"/>
            <a:ext cx="749808" cy="201168"/>
          </a:xfrm>
          <a:prstGeom prst="roundRect">
            <a:avLst>
              <a:gd name="adj" fmla="val 22727"/>
            </a:avLst>
          </a:prstGeom>
          <a:solidFill>
            <a:srgbClr val="10B981"/>
          </a:solidFill>
          <a:ln w="12700">
            <a:solidFill>
              <a:srgbClr val="10B981"/>
            </a:solidFill>
            <a:prstDash val="solid"/>
          </a:ln>
        </p:spPr>
      </p:sp>
      <p:sp>
        <p:nvSpPr>
          <p:cNvPr id="19" name="Text 17"/>
          <p:cNvSpPr/>
          <p:nvPr/>
        </p:nvSpPr>
        <p:spPr>
          <a:xfrm>
            <a:off x="1261872" y="462686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εr map</a:t>
            </a:r>
            <a:endParaRPr lang="en-US" sz="1100" dirty="0"/>
          </a:p>
        </p:txBody>
      </p:sp>
      <p:sp>
        <p:nvSpPr>
          <p:cNvPr id="20" name="Shape 18"/>
          <p:cNvSpPr/>
          <p:nvPr/>
        </p:nvSpPr>
        <p:spPr>
          <a:xfrm>
            <a:off x="2084832" y="4617720"/>
            <a:ext cx="749808" cy="201168"/>
          </a:xfrm>
          <a:prstGeom prst="roundRect">
            <a:avLst>
              <a:gd name="adj" fmla="val 22727"/>
            </a:avLst>
          </a:prstGeom>
          <a:solidFill>
            <a:srgbClr val="39A8FF"/>
          </a:solidFill>
          <a:ln w="12700">
            <a:solidFill>
              <a:srgbClr val="39A8FF"/>
            </a:solidFill>
            <a:prstDash val="solid"/>
          </a:ln>
        </p:spPr>
      </p:sp>
      <p:sp>
        <p:nvSpPr>
          <p:cNvPr id="21" name="Text 19"/>
          <p:cNvSpPr/>
          <p:nvPr/>
        </p:nvSpPr>
        <p:spPr>
          <a:xfrm>
            <a:off x="2084832" y="462686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d_dielectric</a:t>
            </a:r>
            <a:endParaRPr lang="en-US" sz="1100" dirty="0"/>
          </a:p>
        </p:txBody>
      </p:sp>
      <p:sp>
        <p:nvSpPr>
          <p:cNvPr id="22" name="Shape 20"/>
          <p:cNvSpPr/>
          <p:nvPr/>
        </p:nvSpPr>
        <p:spPr>
          <a:xfrm>
            <a:off x="2907792" y="4617720"/>
            <a:ext cx="621792" cy="201168"/>
          </a:xfrm>
          <a:prstGeom prst="roundRect">
            <a:avLst>
              <a:gd name="adj" fmla="val 22727"/>
            </a:avLst>
          </a:prstGeom>
          <a:solidFill>
            <a:srgbClr val="0EA5A4"/>
          </a:solidFill>
          <a:ln w="12700">
            <a:solidFill>
              <a:srgbClr val="0EA5A4"/>
            </a:solidFill>
            <a:prstDash val="solid"/>
          </a:ln>
        </p:spPr>
      </p:sp>
      <p:sp>
        <p:nvSpPr>
          <p:cNvPr id="23" name="Text 21"/>
          <p:cNvSpPr/>
          <p:nvPr/>
        </p:nvSpPr>
        <p:spPr>
          <a:xfrm>
            <a:off x="2907792" y="4626864"/>
            <a:ext cx="621792"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法線</a:t>
            </a:r>
            <a:endParaRPr lang="en-US" sz="1100" dirty="0"/>
          </a:p>
        </p:txBody>
      </p:sp>
      <p:sp>
        <p:nvSpPr>
          <p:cNvPr id="24" name="Shape 22"/>
          <p:cNvSpPr/>
          <p:nvPr/>
        </p:nvSpPr>
        <p:spPr>
          <a:xfrm>
            <a:off x="1170432" y="4983480"/>
            <a:ext cx="3566160" cy="475488"/>
          </a:xfrm>
          <a:prstGeom prst="roundRect">
            <a:avLst>
              <a:gd name="adj" fmla="val 11538"/>
            </a:avLst>
          </a:prstGeom>
          <a:solidFill>
            <a:srgbClr val="FFFFFF"/>
          </a:solidFill>
          <a:ln w="12700">
            <a:solidFill>
              <a:srgbClr val="D7E3ED"/>
            </a:solidFill>
            <a:prstDash val="solid"/>
          </a:ln>
        </p:spPr>
      </p:sp>
      <p:sp>
        <p:nvSpPr>
          <p:cNvPr id="25" name="Text 23"/>
          <p:cNvSpPr/>
          <p:nvPr/>
        </p:nvSpPr>
        <p:spPr>
          <a:xfrm>
            <a:off x="1353312" y="5093208"/>
            <a:ext cx="3200400" cy="164592"/>
          </a:xfrm>
          <a:prstGeom prst="rect">
            <a:avLst/>
          </a:prstGeom>
          <a:noFill/>
          <a:ln/>
        </p:spPr>
        <p:txBody>
          <a:bodyPr wrap="square" lIns="0" tIns="0" rIns="0" bIns="0" rtlCol="0" anchor="ctr">
            <a:normAutofit/>
          </a:bodyPr>
          <a:lstStyle/>
          <a:p>
            <a:pPr algn="ctr" indent="0" marL="0">
              <a:buNone/>
            </a:pPr>
            <a:r>
              <a:rPr lang="en-US" sz="1300" b="1" dirty="0">
                <a:solidFill>
                  <a:srgbClr val="111111"/>
                </a:solidFill>
                <a:latin typeface="Meiryo" pitchFamily="34" charset="0"/>
                <a:ea typeface="Meiryo" pitchFamily="34" charset="-122"/>
                <a:cs typeface="Meiryo" pitchFamily="34" charset="-120"/>
              </a:rPr>
              <a:t>[φ]=0,   [ε ∂n φ]=0  または  σs</a:t>
            </a:r>
            <a:endParaRPr lang="en-US" sz="1300" dirty="0"/>
          </a:p>
        </p:txBody>
      </p:sp>
      <p:sp>
        <p:nvSpPr>
          <p:cNvPr id="26" name="Shape 24"/>
          <p:cNvSpPr/>
          <p:nvPr/>
        </p:nvSpPr>
        <p:spPr>
          <a:xfrm>
            <a:off x="5532120" y="1325880"/>
            <a:ext cx="5852160" cy="4480560"/>
          </a:xfrm>
          <a:prstGeom prst="roundRect">
            <a:avLst>
              <a:gd name="adj" fmla="val 1224"/>
            </a:avLst>
          </a:prstGeom>
          <a:solidFill>
            <a:srgbClr val="FFFFFF"/>
          </a:solidFill>
          <a:ln w="12700">
            <a:solidFill>
              <a:srgbClr val="D7E3ED"/>
            </a:solidFill>
            <a:prstDash val="solid"/>
          </a:ln>
        </p:spPr>
      </p:sp>
      <p:sp>
        <p:nvSpPr>
          <p:cNvPr id="27" name="Text 25"/>
          <p:cNvSpPr/>
          <p:nvPr/>
        </p:nvSpPr>
        <p:spPr>
          <a:xfrm>
            <a:off x="5715000" y="1490472"/>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従来との対比</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83080"/>
          <a:ext cx="5349240" cy="2560320"/>
        </p:xfrm>
        <a:graphic>
          <a:graphicData uri="http://schemas.openxmlformats.org/drawingml/2006/table">
            <a:tbl>
              <a:tblPr/>
              <a:tblGrid>
                <a:gridCol w="1176833"/>
                <a:gridCol w="1925726"/>
                <a:gridCol w="2246681"/>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従来入力</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材料 one-hot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εr map + d_dielectric + 法線</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界面の扱い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平滑回帰</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jump 条件を補助損失化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履歴依存</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考慮しにくい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任意で σs を state map 化</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効果</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界面近傍でにじみ</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電束変化と E-field を保持</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29" name="Shape 26"/>
          <p:cNvSpPr/>
          <p:nvPr/>
        </p:nvSpPr>
        <p:spPr>
          <a:xfrm>
            <a:off x="5760720" y="4572000"/>
            <a:ext cx="5257800" cy="914400"/>
          </a:xfrm>
          <a:prstGeom prst="roundRect">
            <a:avLst>
              <a:gd name="adj" fmla="val 6000"/>
            </a:avLst>
          </a:prstGeom>
          <a:solidFill>
            <a:srgbClr val="ECFDF5"/>
          </a:solidFill>
          <a:ln w="12700">
            <a:solidFill>
              <a:srgbClr val="CBEFDB"/>
            </a:solidFill>
            <a:prstDash val="solid"/>
          </a:ln>
        </p:spPr>
      </p:sp>
      <p:sp>
        <p:nvSpPr>
          <p:cNvPr id="30" name="Text 27"/>
          <p:cNvSpPr/>
          <p:nvPr/>
        </p:nvSpPr>
        <p:spPr>
          <a:xfrm>
            <a:off x="5925312" y="4773168"/>
            <a:ext cx="4846320" cy="438912"/>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発明上の意味: 「誘電体がある」だけでなく、「どの εr がどこにあり、界面条件をどう使うか」を入力仕様として定義する。</a:t>
            </a:r>
            <a:endParaRPr lang="en-US" sz="1500" dirty="0"/>
          </a:p>
        </p:txBody>
      </p:sp>
      <p:sp>
        <p:nvSpPr>
          <p:cNvPr id="31" name="Text 2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境界物理の拡張3: ガス入力を inflow map として空間化</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ガス入力</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61772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27432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flow / composition / temperature を port に結び付ける</a:t>
            </a:r>
            <a:endParaRPr lang="en-US" sz="1600" dirty="0"/>
          </a:p>
        </p:txBody>
      </p:sp>
      <p:sp>
        <p:nvSpPr>
          <p:cNvPr id="9" name="Shape 7"/>
          <p:cNvSpPr/>
          <p:nvPr/>
        </p:nvSpPr>
        <p:spPr>
          <a:xfrm>
            <a:off x="1033272" y="2350008"/>
            <a:ext cx="365760" cy="0"/>
          </a:xfrm>
          <a:prstGeom prst="line">
            <a:avLst/>
          </a:prstGeom>
          <a:noFill/>
          <a:ln w="38100">
            <a:solidFill>
              <a:srgbClr val="3B82F6"/>
            </a:solidFill>
            <a:prstDash val="solid"/>
            <a:tailEnd type="triangle"/>
          </a:ln>
        </p:spPr>
      </p:sp>
      <p:sp>
        <p:nvSpPr>
          <p:cNvPr id="10" name="Shape 8"/>
          <p:cNvSpPr/>
          <p:nvPr/>
        </p:nvSpPr>
        <p:spPr>
          <a:xfrm>
            <a:off x="3593592" y="3767328"/>
            <a:ext cx="365760" cy="0"/>
          </a:xfrm>
          <a:prstGeom prst="line">
            <a:avLst/>
          </a:prstGeom>
          <a:noFill/>
          <a:ln w="38100">
            <a:solidFill>
              <a:srgbClr val="EF4444"/>
            </a:solidFill>
            <a:prstDash val="solid"/>
            <a:tailEnd type="triangle"/>
          </a:ln>
        </p:spPr>
      </p:sp>
      <p:sp>
        <p:nvSpPr>
          <p:cNvPr id="11" name="Shape 9"/>
          <p:cNvSpPr/>
          <p:nvPr/>
        </p:nvSpPr>
        <p:spPr>
          <a:xfrm>
            <a:off x="1261872" y="2029968"/>
            <a:ext cx="2468880" cy="2057400"/>
          </a:xfrm>
          <a:prstGeom prst="roundRect">
            <a:avLst>
              <a:gd name="adj" fmla="val 2222"/>
            </a:avLst>
          </a:prstGeom>
          <a:solidFill>
            <a:srgbClr val="FFFFFF"/>
          </a:solidFill>
          <a:ln w="25400">
            <a:solidFill>
              <a:srgbClr val="6B7280"/>
            </a:solidFill>
            <a:prstDash val="solid"/>
          </a:ln>
        </p:spPr>
      </p:sp>
      <p:sp>
        <p:nvSpPr>
          <p:cNvPr id="12" name="Shape 10"/>
          <p:cNvSpPr/>
          <p:nvPr/>
        </p:nvSpPr>
        <p:spPr>
          <a:xfrm>
            <a:off x="1280160" y="3977640"/>
            <a:ext cx="243230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80160" y="2048256"/>
            <a:ext cx="109728" cy="202082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3602736" y="2048256"/>
            <a:ext cx="109728" cy="202082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673352" y="2194560"/>
            <a:ext cx="1645920" cy="91440"/>
          </a:xfrm>
          <a:prstGeom prst="rect">
            <a:avLst/>
          </a:prstGeom>
          <a:solidFill>
            <a:srgbClr val="F59E0B"/>
          </a:solidFill>
          <a:ln w="12700">
            <a:solidFill>
              <a:srgbClr val="F59E0B"/>
            </a:solidFill>
            <a:prstDash val="solid"/>
          </a:ln>
        </p:spPr>
      </p:sp>
      <p:sp>
        <p:nvSpPr>
          <p:cNvPr id="16" name="Text 14"/>
          <p:cNvSpPr/>
          <p:nvPr/>
        </p:nvSpPr>
        <p:spPr>
          <a:xfrm>
            <a:off x="2176272" y="2057400"/>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764792" y="3675888"/>
            <a:ext cx="1463040" cy="100584"/>
          </a:xfrm>
          <a:prstGeom prst="rect">
            <a:avLst/>
          </a:prstGeom>
          <a:solidFill>
            <a:srgbClr val="B0B8C0"/>
          </a:solidFill>
          <a:ln w="12700">
            <a:solidFill>
              <a:srgbClr val="B0B8C0"/>
            </a:solidFill>
            <a:prstDash val="solid"/>
          </a:ln>
        </p:spPr>
      </p:sp>
      <p:sp>
        <p:nvSpPr>
          <p:cNvPr id="18" name="Text 16"/>
          <p:cNvSpPr/>
          <p:nvPr/>
        </p:nvSpPr>
        <p:spPr>
          <a:xfrm>
            <a:off x="2331720" y="3831336"/>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1764792" y="2350008"/>
            <a:ext cx="0" cy="1234440"/>
          </a:xfrm>
          <a:prstGeom prst="line">
            <a:avLst/>
          </a:prstGeom>
          <a:noFill/>
          <a:ln w="19050">
            <a:solidFill>
              <a:srgbClr val="8A8A8A"/>
            </a:solidFill>
            <a:prstDash val="solid"/>
            <a:tailEnd type="triangle"/>
          </a:ln>
        </p:spPr>
      </p:sp>
      <p:sp>
        <p:nvSpPr>
          <p:cNvPr id="20" name="Shape 18"/>
          <p:cNvSpPr/>
          <p:nvPr/>
        </p:nvSpPr>
        <p:spPr>
          <a:xfrm>
            <a:off x="2221992" y="2350008"/>
            <a:ext cx="0" cy="1234440"/>
          </a:xfrm>
          <a:prstGeom prst="line">
            <a:avLst/>
          </a:prstGeom>
          <a:noFill/>
          <a:ln w="19050">
            <a:solidFill>
              <a:srgbClr val="8A8A8A"/>
            </a:solidFill>
            <a:prstDash val="solid"/>
            <a:tailEnd type="triangle"/>
          </a:ln>
        </p:spPr>
      </p:sp>
      <p:sp>
        <p:nvSpPr>
          <p:cNvPr id="21" name="Shape 19"/>
          <p:cNvSpPr/>
          <p:nvPr/>
        </p:nvSpPr>
        <p:spPr>
          <a:xfrm>
            <a:off x="2679192" y="2350008"/>
            <a:ext cx="0" cy="1234440"/>
          </a:xfrm>
          <a:prstGeom prst="line">
            <a:avLst/>
          </a:prstGeom>
          <a:noFill/>
          <a:ln w="19050">
            <a:solidFill>
              <a:srgbClr val="8A8A8A"/>
            </a:solidFill>
            <a:prstDash val="solid"/>
            <a:tailEnd type="triangle"/>
          </a:ln>
        </p:spPr>
      </p:sp>
      <p:sp>
        <p:nvSpPr>
          <p:cNvPr id="22" name="Shape 20"/>
          <p:cNvSpPr/>
          <p:nvPr/>
        </p:nvSpPr>
        <p:spPr>
          <a:xfrm>
            <a:off x="3136392" y="2350008"/>
            <a:ext cx="0" cy="1234440"/>
          </a:xfrm>
          <a:prstGeom prst="line">
            <a:avLst/>
          </a:prstGeom>
          <a:noFill/>
          <a:ln w="19050">
            <a:solidFill>
              <a:srgbClr val="8A8A8A"/>
            </a:solidFill>
            <a:prstDash val="solid"/>
            <a:tailEnd type="triangle"/>
          </a:ln>
        </p:spPr>
      </p:sp>
      <p:sp>
        <p:nvSpPr>
          <p:cNvPr id="23" name="Shape 21"/>
          <p:cNvSpPr/>
          <p:nvPr/>
        </p:nvSpPr>
        <p:spPr>
          <a:xfrm>
            <a:off x="1234440" y="2331720"/>
            <a:ext cx="502920" cy="228600"/>
          </a:xfrm>
          <a:prstGeom prst="chevron">
            <a:avLst/>
          </a:prstGeom>
          <a:solidFill>
            <a:srgbClr val="3B82F6"/>
          </a:solidFill>
          <a:ln w="12700">
            <a:solidFill>
              <a:srgbClr val="3B82F6"/>
            </a:solidFill>
            <a:prstDash val="solid"/>
          </a:ln>
        </p:spPr>
      </p:sp>
      <p:sp>
        <p:nvSpPr>
          <p:cNvPr id="24" name="Shape 22"/>
          <p:cNvSpPr/>
          <p:nvPr/>
        </p:nvSpPr>
        <p:spPr>
          <a:xfrm>
            <a:off x="1600200" y="2395728"/>
            <a:ext cx="594360" cy="256032"/>
          </a:xfrm>
          <a:prstGeom prst="chevron">
            <a:avLst/>
          </a:prstGeom>
          <a:solidFill>
            <a:srgbClr val="A7D8FF"/>
          </a:solidFill>
          <a:ln w="12700">
            <a:solidFill>
              <a:srgbClr val="A7D8FF"/>
            </a:solidFill>
            <a:prstDash val="solid"/>
          </a:ln>
        </p:spPr>
      </p:sp>
      <p:sp>
        <p:nvSpPr>
          <p:cNvPr id="25" name="Shape 23"/>
          <p:cNvSpPr/>
          <p:nvPr/>
        </p:nvSpPr>
        <p:spPr>
          <a:xfrm>
            <a:off x="2057400" y="2468880"/>
            <a:ext cx="640080" cy="292608"/>
          </a:xfrm>
          <a:prstGeom prst="chevron">
            <a:avLst/>
          </a:prstGeom>
          <a:solidFill>
            <a:srgbClr val="D7EEFF"/>
          </a:solidFill>
          <a:ln w="12700">
            <a:solidFill>
              <a:srgbClr val="D7EEFF"/>
            </a:solidFill>
            <a:prstDash val="solid"/>
          </a:ln>
        </p:spPr>
      </p:sp>
      <p:sp>
        <p:nvSpPr>
          <p:cNvPr id="26" name="Shape 24"/>
          <p:cNvSpPr/>
          <p:nvPr/>
        </p:nvSpPr>
        <p:spPr>
          <a:xfrm>
            <a:off x="1115568" y="4526280"/>
            <a:ext cx="749808" cy="201168"/>
          </a:xfrm>
          <a:prstGeom prst="roundRect">
            <a:avLst>
              <a:gd name="adj" fmla="val 22727"/>
            </a:avLst>
          </a:prstGeom>
          <a:solidFill>
            <a:srgbClr val="3B82F6"/>
          </a:solidFill>
          <a:ln w="12700">
            <a:solidFill>
              <a:srgbClr val="3B82F6"/>
            </a:solidFill>
            <a:prstDash val="solid"/>
          </a:ln>
        </p:spPr>
      </p:sp>
      <p:sp>
        <p:nvSpPr>
          <p:cNvPr id="27" name="Text 25"/>
          <p:cNvSpPr/>
          <p:nvPr/>
        </p:nvSpPr>
        <p:spPr>
          <a:xfrm>
            <a:off x="1115568" y="453542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Qin</a:t>
            </a:r>
            <a:endParaRPr lang="en-US" sz="1100" dirty="0"/>
          </a:p>
        </p:txBody>
      </p:sp>
      <p:sp>
        <p:nvSpPr>
          <p:cNvPr id="28" name="Shape 26"/>
          <p:cNvSpPr/>
          <p:nvPr/>
        </p:nvSpPr>
        <p:spPr>
          <a:xfrm>
            <a:off x="1938528" y="4526280"/>
            <a:ext cx="749808" cy="201168"/>
          </a:xfrm>
          <a:prstGeom prst="roundRect">
            <a:avLst>
              <a:gd name="adj" fmla="val 22727"/>
            </a:avLst>
          </a:prstGeom>
          <a:solidFill>
            <a:srgbClr val="3B82F6"/>
          </a:solidFill>
          <a:ln w="12700">
            <a:solidFill>
              <a:srgbClr val="3B82F6"/>
            </a:solidFill>
            <a:prstDash val="solid"/>
          </a:ln>
        </p:spPr>
      </p:sp>
      <p:sp>
        <p:nvSpPr>
          <p:cNvPr id="29" name="Text 27"/>
          <p:cNvSpPr/>
          <p:nvPr/>
        </p:nvSpPr>
        <p:spPr>
          <a:xfrm>
            <a:off x="1938528" y="453542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Yin,s</a:t>
            </a:r>
            <a:endParaRPr lang="en-US" sz="1100" dirty="0"/>
          </a:p>
        </p:txBody>
      </p:sp>
      <p:sp>
        <p:nvSpPr>
          <p:cNvPr id="30" name="Shape 28"/>
          <p:cNvSpPr/>
          <p:nvPr/>
        </p:nvSpPr>
        <p:spPr>
          <a:xfrm>
            <a:off x="2761488" y="4526280"/>
            <a:ext cx="749808" cy="201168"/>
          </a:xfrm>
          <a:prstGeom prst="roundRect">
            <a:avLst>
              <a:gd name="adj" fmla="val 22727"/>
            </a:avLst>
          </a:prstGeom>
          <a:solidFill>
            <a:srgbClr val="3B82F6"/>
          </a:solidFill>
          <a:ln w="12700">
            <a:solidFill>
              <a:srgbClr val="3B82F6"/>
            </a:solidFill>
            <a:prstDash val="solid"/>
          </a:ln>
        </p:spPr>
      </p:sp>
      <p:sp>
        <p:nvSpPr>
          <p:cNvPr id="31" name="Text 29"/>
          <p:cNvSpPr/>
          <p:nvPr/>
        </p:nvSpPr>
        <p:spPr>
          <a:xfrm>
            <a:off x="2761488" y="4535424"/>
            <a:ext cx="74980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Tin</a:t>
            </a:r>
            <a:endParaRPr lang="en-US" sz="1100" dirty="0"/>
          </a:p>
        </p:txBody>
      </p:sp>
      <p:sp>
        <p:nvSpPr>
          <p:cNvPr id="32" name="Text 30"/>
          <p:cNvSpPr/>
          <p:nvPr/>
        </p:nvSpPr>
        <p:spPr>
          <a:xfrm>
            <a:off x="1115568" y="4892040"/>
            <a:ext cx="3383280" cy="219456"/>
          </a:xfrm>
          <a:prstGeom prst="rect">
            <a:avLst/>
          </a:prstGeom>
          <a:noFill/>
          <a:ln/>
        </p:spPr>
        <p:txBody>
          <a:bodyPr wrap="square" lIns="0" tIns="0" rIns="0" bIns="0" rtlCol="0" anchor="ctr">
            <a:normAutofit/>
          </a:bodyPr>
          <a:lstStyle/>
          <a:p>
            <a:pPr algn="ctr" indent="0" marL="0">
              <a:buNone/>
            </a:pPr>
            <a:r>
              <a:rPr lang="en-US" sz="1400" dirty="0">
                <a:solidFill>
                  <a:srgbClr val="111111"/>
                </a:solidFill>
                <a:latin typeface="Meiryo" pitchFamily="34" charset="0"/>
                <a:ea typeface="Meiryo" pitchFamily="34" charset="-122"/>
                <a:cs typeface="Meiryo" pitchFamily="34" charset="-120"/>
              </a:rPr>
              <a:t>mass-flow inlet / pressure inlet の型も条件として区別可能</a:t>
            </a:r>
            <a:endParaRPr lang="en-US" sz="1400" dirty="0"/>
          </a:p>
        </p:txBody>
      </p:sp>
      <p:sp>
        <p:nvSpPr>
          <p:cNvPr id="33" name="Shape 31"/>
          <p:cNvSpPr/>
          <p:nvPr/>
        </p:nvSpPr>
        <p:spPr>
          <a:xfrm>
            <a:off x="5669280" y="1325880"/>
            <a:ext cx="5715000" cy="4480560"/>
          </a:xfrm>
          <a:prstGeom prst="roundRect">
            <a:avLst>
              <a:gd name="adj" fmla="val 1224"/>
            </a:avLst>
          </a:prstGeom>
          <a:solidFill>
            <a:srgbClr val="FFFFFF"/>
          </a:solidFill>
          <a:ln w="12700">
            <a:solidFill>
              <a:srgbClr val="D7E3ED"/>
            </a:solidFill>
            <a:prstDash val="solid"/>
          </a:ln>
        </p:spPr>
      </p:sp>
      <p:sp>
        <p:nvSpPr>
          <p:cNvPr id="34" name="Text 32"/>
          <p:cNvSpPr/>
          <p:nvPr/>
        </p:nvSpPr>
        <p:spPr>
          <a:xfrm>
            <a:off x="5852160" y="1490472"/>
            <a:ext cx="82296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なぜ有効か</a:t>
            </a:r>
            <a:endParaRPr lang="en-US" sz="1600" dirty="0"/>
          </a:p>
        </p:txBody>
      </p:sp>
      <p:sp>
        <p:nvSpPr>
          <p:cNvPr id="35" name="Text 33"/>
          <p:cNvSpPr/>
          <p:nvPr/>
        </p:nvSpPr>
        <p:spPr>
          <a:xfrm>
            <a:off x="5852160" y="1783080"/>
            <a:ext cx="5120640" cy="15544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圧力 1 個では、流量・組成・入口位置の違いが潰れやすい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inflow map にすると、どの port から何が入るかを空間的に区別できる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低圧では gas flow が electron density / temperature にも影響し得るため、surrogate 入力として有効</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852160" y="3611880"/>
          <a:ext cx="5120640" cy="1600200"/>
        </p:xfrm>
        <a:graphic>
          <a:graphicData uri="http://schemas.openxmlformats.org/drawingml/2006/table">
            <a:tbl>
              <a:tblPr/>
              <a:tblGrid>
                <a:gridCol w="1126541"/>
                <a:gridCol w="1843430"/>
                <a:gridCol w="2150669"/>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従来</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総流量 / 圧力 scalar</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port 位置との結び付きが弱い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Qin, Yin, Tin map</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空間非対称性を保持</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37" name="Shape 34"/>
          <p:cNvSpPr/>
          <p:nvPr/>
        </p:nvSpPr>
        <p:spPr>
          <a:xfrm>
            <a:off x="5852160" y="5394960"/>
            <a:ext cx="5120640" cy="310896"/>
          </a:xfrm>
          <a:prstGeom prst="roundRect">
            <a:avLst>
              <a:gd name="adj" fmla="val 17647"/>
            </a:avLst>
          </a:prstGeom>
          <a:solidFill>
            <a:srgbClr val="F4FBFF"/>
          </a:solidFill>
          <a:ln w="12700">
            <a:solidFill>
              <a:srgbClr val="C7E7FF"/>
            </a:solidFill>
            <a:prstDash val="solid"/>
          </a:ln>
        </p:spPr>
      </p:sp>
      <p:sp>
        <p:nvSpPr>
          <p:cNvPr id="38" name="Text 35"/>
          <p:cNvSpPr/>
          <p:nvPr/>
        </p:nvSpPr>
        <p:spPr>
          <a:xfrm>
            <a:off x="6016752" y="5468112"/>
            <a:ext cx="4754880" cy="128016"/>
          </a:xfrm>
          <a:prstGeom prst="rect">
            <a:avLst/>
          </a:prstGeom>
          <a:noFill/>
          <a:ln/>
        </p:spPr>
        <p:txBody>
          <a:bodyPr wrap="square" lIns="0" tIns="0" rIns="0" bIns="0" rtlCol="0" anchor="ctr">
            <a:normAutofit/>
          </a:bodyPr>
          <a:lstStyle/>
          <a:p>
            <a:pPr algn="l" indent="0" marL="0">
              <a:buNone/>
            </a:pPr>
            <a:r>
              <a:rPr lang="en-US" sz="1200" dirty="0">
                <a:solidFill>
                  <a:srgbClr val="555555"/>
                </a:solidFill>
                <a:latin typeface="Meiryo" pitchFamily="34" charset="0"/>
                <a:ea typeface="Meiryo" pitchFamily="34" charset="-122"/>
                <a:cs typeface="Meiryo" pitchFamily="34" charset="-120"/>
              </a:rPr>
              <a:t>※ gas chemistry の詳細ラベルは任意拡張。初版は主要種の map で十分。</a:t>
            </a:r>
            <a:endParaRPr lang="en-US" sz="1200" dirty="0"/>
          </a:p>
        </p:txBody>
      </p:sp>
      <p:sp>
        <p:nvSpPr>
          <p:cNvPr id="39" name="Text 36"/>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境界物理の拡張4: 排気を suction map と有効排気能力で表現</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排気</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66344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301752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公称 pump speed ではなく、port から見た吸い出し能力を使う</a:t>
            </a:r>
            <a:endParaRPr lang="en-US" sz="1600" dirty="0"/>
          </a:p>
        </p:txBody>
      </p:sp>
      <p:sp>
        <p:nvSpPr>
          <p:cNvPr id="9" name="Shape 7"/>
          <p:cNvSpPr/>
          <p:nvPr/>
        </p:nvSpPr>
        <p:spPr>
          <a:xfrm>
            <a:off x="1005840" y="2468880"/>
            <a:ext cx="365760" cy="0"/>
          </a:xfrm>
          <a:prstGeom prst="line">
            <a:avLst/>
          </a:prstGeom>
          <a:noFill/>
          <a:ln w="38100">
            <a:solidFill>
              <a:srgbClr val="3B82F6"/>
            </a:solidFill>
            <a:prstDash val="solid"/>
            <a:tailEnd type="triangle"/>
          </a:ln>
        </p:spPr>
      </p:sp>
      <p:sp>
        <p:nvSpPr>
          <p:cNvPr id="10" name="Shape 8"/>
          <p:cNvSpPr/>
          <p:nvPr/>
        </p:nvSpPr>
        <p:spPr>
          <a:xfrm>
            <a:off x="3108960" y="3840480"/>
            <a:ext cx="365760" cy="0"/>
          </a:xfrm>
          <a:prstGeom prst="line">
            <a:avLst/>
          </a:prstGeom>
          <a:noFill/>
          <a:ln w="38100">
            <a:solidFill>
              <a:srgbClr val="EF4444"/>
            </a:solidFill>
            <a:prstDash val="solid"/>
            <a:tailEnd type="triangle"/>
          </a:ln>
        </p:spPr>
      </p:sp>
      <p:sp>
        <p:nvSpPr>
          <p:cNvPr id="11" name="Shape 9"/>
          <p:cNvSpPr/>
          <p:nvPr/>
        </p:nvSpPr>
        <p:spPr>
          <a:xfrm>
            <a:off x="1234440" y="2148840"/>
            <a:ext cx="2011680" cy="2011680"/>
          </a:xfrm>
          <a:prstGeom prst="roundRect">
            <a:avLst>
              <a:gd name="adj" fmla="val 2273"/>
            </a:avLst>
          </a:prstGeom>
          <a:solidFill>
            <a:srgbClr val="FFFFFF"/>
          </a:solidFill>
          <a:ln w="25400">
            <a:solidFill>
              <a:srgbClr val="6B7280"/>
            </a:solidFill>
            <a:prstDash val="solid"/>
          </a:ln>
        </p:spPr>
      </p:sp>
      <p:sp>
        <p:nvSpPr>
          <p:cNvPr id="12" name="Shape 10"/>
          <p:cNvSpPr/>
          <p:nvPr/>
        </p:nvSpPr>
        <p:spPr>
          <a:xfrm>
            <a:off x="1252728" y="4050792"/>
            <a:ext cx="1975104" cy="91440"/>
          </a:xfrm>
          <a:prstGeom prst="rect">
            <a:avLst/>
          </a:prstGeom>
          <a:solidFill>
            <a:srgbClr val="6B7280">
              <a:alpha val="75000"/>
            </a:srgbClr>
          </a:solidFill>
          <a:ln w="12700">
            <a:solidFill>
              <a:srgbClr val="6B7280">
                <a:alpha val="0"/>
              </a:srgbClr>
            </a:solidFill>
            <a:prstDash val="solid"/>
          </a:ln>
        </p:spPr>
      </p:sp>
      <p:sp>
        <p:nvSpPr>
          <p:cNvPr id="13" name="Shape 11"/>
          <p:cNvSpPr/>
          <p:nvPr/>
        </p:nvSpPr>
        <p:spPr>
          <a:xfrm>
            <a:off x="1252728" y="2167128"/>
            <a:ext cx="109728" cy="1975104"/>
          </a:xfrm>
          <a:prstGeom prst="rect">
            <a:avLst/>
          </a:prstGeom>
          <a:solidFill>
            <a:srgbClr val="6B7280">
              <a:alpha val="75000"/>
            </a:srgbClr>
          </a:solidFill>
          <a:ln w="12700">
            <a:solidFill>
              <a:srgbClr val="6B7280">
                <a:alpha val="0"/>
              </a:srgbClr>
            </a:solidFill>
            <a:prstDash val="solid"/>
          </a:ln>
        </p:spPr>
      </p:sp>
      <p:sp>
        <p:nvSpPr>
          <p:cNvPr id="14" name="Shape 12"/>
          <p:cNvSpPr/>
          <p:nvPr/>
        </p:nvSpPr>
        <p:spPr>
          <a:xfrm>
            <a:off x="3118104" y="2167128"/>
            <a:ext cx="109728" cy="1975104"/>
          </a:xfrm>
          <a:prstGeom prst="rect">
            <a:avLst/>
          </a:prstGeom>
          <a:solidFill>
            <a:srgbClr val="6B7280">
              <a:alpha val="75000"/>
            </a:srgbClr>
          </a:solidFill>
          <a:ln w="12700">
            <a:solidFill>
              <a:srgbClr val="6B7280">
                <a:alpha val="0"/>
              </a:srgbClr>
            </a:solidFill>
            <a:prstDash val="solid"/>
          </a:ln>
        </p:spPr>
      </p:sp>
      <p:sp>
        <p:nvSpPr>
          <p:cNvPr id="15" name="Shape 13"/>
          <p:cNvSpPr/>
          <p:nvPr/>
        </p:nvSpPr>
        <p:spPr>
          <a:xfrm>
            <a:off x="1645920" y="2313432"/>
            <a:ext cx="1188720" cy="91440"/>
          </a:xfrm>
          <a:prstGeom prst="rect">
            <a:avLst/>
          </a:prstGeom>
          <a:solidFill>
            <a:srgbClr val="F59E0B"/>
          </a:solidFill>
          <a:ln w="12700">
            <a:solidFill>
              <a:srgbClr val="F59E0B"/>
            </a:solidFill>
            <a:prstDash val="solid"/>
          </a:ln>
        </p:spPr>
      </p:sp>
      <p:sp>
        <p:nvSpPr>
          <p:cNvPr id="16" name="Text 14"/>
          <p:cNvSpPr/>
          <p:nvPr/>
        </p:nvSpPr>
        <p:spPr>
          <a:xfrm>
            <a:off x="1920240" y="2176272"/>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17" name="Shape 15"/>
          <p:cNvSpPr/>
          <p:nvPr/>
        </p:nvSpPr>
        <p:spPr>
          <a:xfrm>
            <a:off x="1737360" y="3749040"/>
            <a:ext cx="1005840" cy="100584"/>
          </a:xfrm>
          <a:prstGeom prst="rect">
            <a:avLst/>
          </a:prstGeom>
          <a:solidFill>
            <a:srgbClr val="B0B8C0"/>
          </a:solidFill>
          <a:ln w="12700">
            <a:solidFill>
              <a:srgbClr val="B0B8C0"/>
            </a:solidFill>
            <a:prstDash val="solid"/>
          </a:ln>
        </p:spPr>
      </p:sp>
      <p:sp>
        <p:nvSpPr>
          <p:cNvPr id="18" name="Text 16"/>
          <p:cNvSpPr/>
          <p:nvPr/>
        </p:nvSpPr>
        <p:spPr>
          <a:xfrm>
            <a:off x="2075688" y="3904488"/>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19" name="Shape 17"/>
          <p:cNvSpPr/>
          <p:nvPr/>
        </p:nvSpPr>
        <p:spPr>
          <a:xfrm>
            <a:off x="3456432" y="3474720"/>
            <a:ext cx="612648" cy="0"/>
          </a:xfrm>
          <a:prstGeom prst="line">
            <a:avLst/>
          </a:prstGeom>
          <a:noFill/>
          <a:ln w="29210">
            <a:solidFill>
              <a:srgbClr val="EF4444"/>
            </a:solidFill>
            <a:prstDash val="solid"/>
            <a:tailEnd type="triangle"/>
          </a:ln>
        </p:spPr>
      </p:sp>
      <p:sp>
        <p:nvSpPr>
          <p:cNvPr id="20" name="Shape 18"/>
          <p:cNvSpPr/>
          <p:nvPr/>
        </p:nvSpPr>
        <p:spPr>
          <a:xfrm>
            <a:off x="4069080" y="3063240"/>
            <a:ext cx="1097280" cy="822960"/>
          </a:xfrm>
          <a:prstGeom prst="roundRect">
            <a:avLst>
              <a:gd name="adj" fmla="val 6667"/>
            </a:avLst>
          </a:prstGeom>
          <a:solidFill>
            <a:srgbClr val="FFF5F5"/>
          </a:solidFill>
          <a:ln w="12700">
            <a:solidFill>
              <a:srgbClr val="FAD0D0"/>
            </a:solidFill>
            <a:prstDash val="solid"/>
          </a:ln>
        </p:spPr>
      </p:sp>
      <p:sp>
        <p:nvSpPr>
          <p:cNvPr id="21" name="Text 19"/>
          <p:cNvSpPr/>
          <p:nvPr/>
        </p:nvSpPr>
        <p:spPr>
          <a:xfrm>
            <a:off x="4133088" y="3273552"/>
            <a:ext cx="960120" cy="292608"/>
          </a:xfrm>
          <a:prstGeom prst="rect">
            <a:avLst/>
          </a:prstGeom>
          <a:noFill/>
          <a:ln/>
        </p:spPr>
        <p:txBody>
          <a:bodyPr wrap="square" lIns="0" tIns="0" rIns="0" bIns="0" rtlCol="0" anchor="ctr">
            <a:normAutofit/>
          </a:bodyPr>
          <a:lstStyle/>
          <a:p>
            <a:pPr algn="ctr" indent="0" marL="0">
              <a:buNone/>
            </a:pPr>
            <a:r>
              <a:rPr lang="en-US" sz="1600" b="1" dirty="0">
                <a:solidFill>
                  <a:srgbClr val="DC2626"/>
                </a:solidFill>
                <a:latin typeface="Meiryo" pitchFamily="34" charset="0"/>
                <a:ea typeface="Meiryo" pitchFamily="34" charset="-122"/>
                <a:cs typeface="Meiryo" pitchFamily="34" charset="-120"/>
              </a:rPr>
              <a:t>pump</a:t>
            </a:r>
            <a:endParaRPr lang="en-US" sz="1600" dirty="0"/>
          </a:p>
          <a:p>
            <a:pPr algn="ctr" indent="0" marL="0">
              <a:buNone/>
            </a:pPr>
            <a:r>
              <a:rPr lang="en-US" sz="1600" b="1" dirty="0">
                <a:solidFill>
                  <a:srgbClr val="DC2626"/>
                </a:solidFill>
                <a:latin typeface="Meiryo" pitchFamily="34" charset="0"/>
                <a:ea typeface="Meiryo" pitchFamily="34" charset="-122"/>
                <a:cs typeface="Meiryo" pitchFamily="34" charset="-120"/>
              </a:rPr>
              <a:t>+ duct</a:t>
            </a:r>
            <a:endParaRPr lang="en-US" sz="1600" dirty="0"/>
          </a:p>
        </p:txBody>
      </p:sp>
      <p:sp>
        <p:nvSpPr>
          <p:cNvPr id="22" name="Shape 20"/>
          <p:cNvSpPr/>
          <p:nvPr/>
        </p:nvSpPr>
        <p:spPr>
          <a:xfrm>
            <a:off x="1097280" y="4617720"/>
            <a:ext cx="914400" cy="201168"/>
          </a:xfrm>
          <a:prstGeom prst="roundRect">
            <a:avLst>
              <a:gd name="adj" fmla="val 22727"/>
            </a:avLst>
          </a:prstGeom>
          <a:solidFill>
            <a:srgbClr val="EF4444"/>
          </a:solidFill>
          <a:ln w="12700">
            <a:solidFill>
              <a:srgbClr val="EF4444"/>
            </a:solidFill>
            <a:prstDash val="solid"/>
          </a:ln>
        </p:spPr>
      </p:sp>
      <p:sp>
        <p:nvSpPr>
          <p:cNvPr id="23" name="Text 21"/>
          <p:cNvSpPr/>
          <p:nvPr/>
        </p:nvSpPr>
        <p:spPr>
          <a:xfrm>
            <a:off x="1097280" y="4626864"/>
            <a:ext cx="91440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Sout map</a:t>
            </a:r>
            <a:endParaRPr lang="en-US" sz="1100" dirty="0"/>
          </a:p>
        </p:txBody>
      </p:sp>
      <p:sp>
        <p:nvSpPr>
          <p:cNvPr id="24" name="Shape 22"/>
          <p:cNvSpPr/>
          <p:nvPr/>
        </p:nvSpPr>
        <p:spPr>
          <a:xfrm>
            <a:off x="2103120" y="4617720"/>
            <a:ext cx="822960" cy="201168"/>
          </a:xfrm>
          <a:prstGeom prst="roundRect">
            <a:avLst>
              <a:gd name="adj" fmla="val 22727"/>
            </a:avLst>
          </a:prstGeom>
          <a:solidFill>
            <a:srgbClr val="EF4444"/>
          </a:solidFill>
          <a:ln w="12700">
            <a:solidFill>
              <a:srgbClr val="EF4444"/>
            </a:solidFill>
            <a:prstDash val="solid"/>
          </a:ln>
        </p:spPr>
      </p:sp>
      <p:sp>
        <p:nvSpPr>
          <p:cNvPr id="25" name="Text 23"/>
          <p:cNvSpPr/>
          <p:nvPr/>
        </p:nvSpPr>
        <p:spPr>
          <a:xfrm>
            <a:off x="2103120" y="4626864"/>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Seff</a:t>
            </a:r>
            <a:endParaRPr lang="en-US" sz="1100" dirty="0"/>
          </a:p>
        </p:txBody>
      </p:sp>
      <p:sp>
        <p:nvSpPr>
          <p:cNvPr id="26" name="Shape 24"/>
          <p:cNvSpPr/>
          <p:nvPr/>
        </p:nvSpPr>
        <p:spPr>
          <a:xfrm>
            <a:off x="1078992" y="4983480"/>
            <a:ext cx="3474720" cy="475488"/>
          </a:xfrm>
          <a:prstGeom prst="roundRect">
            <a:avLst>
              <a:gd name="adj" fmla="val 11538"/>
            </a:avLst>
          </a:prstGeom>
          <a:solidFill>
            <a:srgbClr val="FFFFFF"/>
          </a:solidFill>
          <a:ln w="12700">
            <a:solidFill>
              <a:srgbClr val="D7E3ED"/>
            </a:solidFill>
            <a:prstDash val="solid"/>
          </a:ln>
        </p:spPr>
      </p:sp>
      <p:sp>
        <p:nvSpPr>
          <p:cNvPr id="27" name="Text 25"/>
          <p:cNvSpPr/>
          <p:nvPr/>
        </p:nvSpPr>
        <p:spPr>
          <a:xfrm>
            <a:off x="1298448" y="5093208"/>
            <a:ext cx="1874520" cy="164592"/>
          </a:xfrm>
          <a:prstGeom prst="rect">
            <a:avLst/>
          </a:prstGeom>
          <a:noFill/>
          <a:ln/>
        </p:spPr>
        <p:txBody>
          <a:bodyPr wrap="square" lIns="0" tIns="0" rIns="0" bIns="0" rtlCol="0" anchor="ctr">
            <a:normAutofit/>
          </a:bodyPr>
          <a:lstStyle/>
          <a:p>
            <a:pPr algn="l" indent="0" marL="0">
              <a:buNone/>
            </a:pPr>
            <a:r>
              <a:rPr lang="en-US" sz="1300" b="1" dirty="0">
                <a:solidFill>
                  <a:srgbClr val="111111"/>
                </a:solidFill>
                <a:latin typeface="Meiryo" pitchFamily="34" charset="0"/>
                <a:ea typeface="Meiryo" pitchFamily="34" charset="-122"/>
                <a:cs typeface="Meiryo" pitchFamily="34" charset="-120"/>
              </a:rPr>
              <a:t>Seff = S·C / (S + C)</a:t>
            </a:r>
            <a:endParaRPr lang="en-US" sz="1300" dirty="0"/>
          </a:p>
        </p:txBody>
      </p:sp>
      <p:sp>
        <p:nvSpPr>
          <p:cNvPr id="28" name="Text 26"/>
          <p:cNvSpPr/>
          <p:nvPr/>
        </p:nvSpPr>
        <p:spPr>
          <a:xfrm>
            <a:off x="2670048" y="5120640"/>
            <a:ext cx="1600200" cy="109728"/>
          </a:xfrm>
          <a:prstGeom prst="rect">
            <a:avLst/>
          </a:prstGeom>
          <a:noFill/>
          <a:ln/>
        </p:spPr>
        <p:txBody>
          <a:bodyPr wrap="square" lIns="0" tIns="0" rIns="0" bIns="0" rtlCol="0" anchor="ctr">
            <a:normAutofit/>
          </a:bodyPr>
          <a:lstStyle/>
          <a:p>
            <a:pPr algn="l" indent="0" marL="0">
              <a:buNone/>
            </a:pPr>
            <a:r>
              <a:rPr lang="en-US" sz="1100" dirty="0">
                <a:solidFill>
                  <a:srgbClr val="555555"/>
                </a:solidFill>
                <a:latin typeface="Meiryo" pitchFamily="34" charset="0"/>
                <a:ea typeface="Meiryo" pitchFamily="34" charset="-122"/>
                <a:cs typeface="Meiryo" pitchFamily="34" charset="-120"/>
              </a:rPr>
              <a:t>C: conductance / S: pump speed</a:t>
            </a:r>
            <a:endParaRPr lang="en-US" sz="1100" dirty="0"/>
          </a:p>
        </p:txBody>
      </p:sp>
      <p:sp>
        <p:nvSpPr>
          <p:cNvPr id="29" name="Shape 27"/>
          <p:cNvSpPr/>
          <p:nvPr/>
        </p:nvSpPr>
        <p:spPr>
          <a:xfrm>
            <a:off x="5715000" y="1325880"/>
            <a:ext cx="5669280" cy="4480560"/>
          </a:xfrm>
          <a:prstGeom prst="roundRect">
            <a:avLst>
              <a:gd name="adj" fmla="val 1224"/>
            </a:avLst>
          </a:prstGeom>
          <a:solidFill>
            <a:srgbClr val="FFFFFF"/>
          </a:solidFill>
          <a:ln w="12700">
            <a:solidFill>
              <a:srgbClr val="D7E3ED"/>
            </a:solidFill>
            <a:prstDash val="solid"/>
          </a:ln>
        </p:spPr>
      </p:sp>
      <p:sp>
        <p:nvSpPr>
          <p:cNvPr id="30" name="Text 28"/>
          <p:cNvSpPr/>
          <p:nvPr/>
        </p:nvSpPr>
        <p:spPr>
          <a:xfrm>
            <a:off x="5897880" y="1490472"/>
            <a:ext cx="128016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効果と拡張余地</a:t>
            </a:r>
            <a:endParaRPr lang="en-US" sz="1600" dirty="0"/>
          </a:p>
        </p:txBody>
      </p:sp>
      <p:sp>
        <p:nvSpPr>
          <p:cNvPr id="31" name="Text 29"/>
          <p:cNvSpPr/>
          <p:nvPr/>
        </p:nvSpPr>
        <p:spPr>
          <a:xfrm>
            <a:off x="5897880" y="1783080"/>
            <a:ext cx="5029200" cy="160020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同じ pressure setpoint でも、duct・throttle・pump 構成の違いを入力へ反映できる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outlet 近傍の gauge 値と bulk 状態のずれに対して、より物理整合的な入力になる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任意拡張として plasma plugging などの port 近傍補正 head を追加し得る</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897880" y="3657600"/>
          <a:ext cx="4983480" cy="1508760"/>
        </p:xfrm>
        <a:graphic>
          <a:graphicData uri="http://schemas.openxmlformats.org/drawingml/2006/table">
            <a:tbl>
              <a:tblPr/>
              <a:tblGrid>
                <a:gridCol w="1096366"/>
                <a:gridCol w="1794053"/>
                <a:gridCol w="2093062"/>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従来</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outlet pressure</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排気系の構成差が薄い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Sout map + Seff</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吸い出し位置と能力差を表せる</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33" name="Text 30"/>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AIモデル仕様: シンプルだが強い SDF 条件付き residual U-Net</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モデル</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1691640" y="1847088"/>
            <a:ext cx="2880360" cy="3566160"/>
          </a:xfrm>
          <a:prstGeom prst="line">
            <a:avLst/>
          </a:prstGeom>
          <a:noFill/>
          <a:ln w="13970">
            <a:solidFill>
              <a:srgbClr val="D4EEFF"/>
            </a:solidFill>
            <a:prstDash val="solid"/>
          </a:ln>
        </p:spPr>
      </p:sp>
      <p:sp>
        <p:nvSpPr>
          <p:cNvPr id="8" name="Shape 6"/>
          <p:cNvSpPr/>
          <p:nvPr/>
        </p:nvSpPr>
        <p:spPr>
          <a:xfrm>
            <a:off x="1691640" y="2304288"/>
            <a:ext cx="2880360" cy="2651760"/>
          </a:xfrm>
          <a:prstGeom prst="line">
            <a:avLst/>
          </a:prstGeom>
          <a:noFill/>
          <a:ln w="13970">
            <a:solidFill>
              <a:srgbClr val="D4EEFF"/>
            </a:solidFill>
            <a:prstDash val="solid"/>
          </a:ln>
        </p:spPr>
      </p:sp>
      <p:sp>
        <p:nvSpPr>
          <p:cNvPr id="9" name="Shape 7"/>
          <p:cNvSpPr/>
          <p:nvPr/>
        </p:nvSpPr>
        <p:spPr>
          <a:xfrm>
            <a:off x="1691640" y="2761488"/>
            <a:ext cx="2880360" cy="1737360"/>
          </a:xfrm>
          <a:prstGeom prst="line">
            <a:avLst/>
          </a:prstGeom>
          <a:noFill/>
          <a:ln w="13970">
            <a:solidFill>
              <a:srgbClr val="D4EEFF"/>
            </a:solidFill>
            <a:prstDash val="solid"/>
          </a:ln>
        </p:spPr>
      </p:sp>
      <p:sp>
        <p:nvSpPr>
          <p:cNvPr id="10" name="Shape 8"/>
          <p:cNvSpPr/>
          <p:nvPr/>
        </p:nvSpPr>
        <p:spPr>
          <a:xfrm>
            <a:off x="1691640" y="3218688"/>
            <a:ext cx="2880360" cy="822960"/>
          </a:xfrm>
          <a:prstGeom prst="line">
            <a:avLst/>
          </a:prstGeom>
          <a:noFill/>
          <a:ln w="13970">
            <a:solidFill>
              <a:srgbClr val="D4EEFF"/>
            </a:solidFill>
            <a:prstDash val="solid"/>
          </a:ln>
        </p:spPr>
      </p:sp>
      <p:sp>
        <p:nvSpPr>
          <p:cNvPr id="11" name="Shape 9"/>
          <p:cNvSpPr/>
          <p:nvPr/>
        </p:nvSpPr>
        <p:spPr>
          <a:xfrm>
            <a:off x="1188720" y="1828800"/>
            <a:ext cx="502920" cy="502920"/>
          </a:xfrm>
          <a:prstGeom prst="roundRect">
            <a:avLst>
              <a:gd name="adj" fmla="val 10909"/>
            </a:avLst>
          </a:prstGeom>
          <a:solidFill>
            <a:srgbClr val="EAF4FF"/>
          </a:solidFill>
          <a:ln w="12700">
            <a:solidFill>
              <a:srgbClr val="C7E7FF"/>
            </a:solidFill>
            <a:prstDash val="solid"/>
          </a:ln>
        </p:spPr>
      </p:sp>
      <p:sp>
        <p:nvSpPr>
          <p:cNvPr id="12" name="Text 10"/>
          <p:cNvSpPr/>
          <p:nvPr/>
        </p:nvSpPr>
        <p:spPr>
          <a:xfrm>
            <a:off x="1188720" y="1755648"/>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Enc1</a:t>
            </a:r>
            <a:endParaRPr lang="en-US" sz="1000" dirty="0"/>
          </a:p>
        </p:txBody>
      </p:sp>
      <p:sp>
        <p:nvSpPr>
          <p:cNvPr id="13" name="Shape 11"/>
          <p:cNvSpPr/>
          <p:nvPr/>
        </p:nvSpPr>
        <p:spPr>
          <a:xfrm>
            <a:off x="1892808" y="2157984"/>
            <a:ext cx="502920" cy="685800"/>
          </a:xfrm>
          <a:prstGeom prst="roundRect">
            <a:avLst>
              <a:gd name="adj" fmla="val 10909"/>
            </a:avLst>
          </a:prstGeom>
          <a:solidFill>
            <a:srgbClr val="EAF4FF"/>
          </a:solidFill>
          <a:ln w="12700">
            <a:solidFill>
              <a:srgbClr val="C7E7FF"/>
            </a:solidFill>
            <a:prstDash val="solid"/>
          </a:ln>
        </p:spPr>
      </p:sp>
      <p:sp>
        <p:nvSpPr>
          <p:cNvPr id="14" name="Text 12"/>
          <p:cNvSpPr/>
          <p:nvPr/>
        </p:nvSpPr>
        <p:spPr>
          <a:xfrm>
            <a:off x="1892808" y="2084832"/>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Enc2</a:t>
            </a:r>
            <a:endParaRPr lang="en-US" sz="1000" dirty="0"/>
          </a:p>
        </p:txBody>
      </p:sp>
      <p:sp>
        <p:nvSpPr>
          <p:cNvPr id="15" name="Shape 13"/>
          <p:cNvSpPr/>
          <p:nvPr/>
        </p:nvSpPr>
        <p:spPr>
          <a:xfrm>
            <a:off x="2596896" y="2487168"/>
            <a:ext cx="502920" cy="868680"/>
          </a:xfrm>
          <a:prstGeom prst="roundRect">
            <a:avLst>
              <a:gd name="adj" fmla="val 10909"/>
            </a:avLst>
          </a:prstGeom>
          <a:solidFill>
            <a:srgbClr val="EAF4FF"/>
          </a:solidFill>
          <a:ln w="12700">
            <a:solidFill>
              <a:srgbClr val="C7E7FF"/>
            </a:solidFill>
            <a:prstDash val="solid"/>
          </a:ln>
        </p:spPr>
      </p:sp>
      <p:sp>
        <p:nvSpPr>
          <p:cNvPr id="16" name="Text 14"/>
          <p:cNvSpPr/>
          <p:nvPr/>
        </p:nvSpPr>
        <p:spPr>
          <a:xfrm>
            <a:off x="2596896" y="2414016"/>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Enc3</a:t>
            </a:r>
            <a:endParaRPr lang="en-US" sz="1000" dirty="0"/>
          </a:p>
        </p:txBody>
      </p:sp>
      <p:sp>
        <p:nvSpPr>
          <p:cNvPr id="17" name="Shape 15"/>
          <p:cNvSpPr/>
          <p:nvPr/>
        </p:nvSpPr>
        <p:spPr>
          <a:xfrm>
            <a:off x="3300984" y="2816352"/>
            <a:ext cx="502920" cy="1051560"/>
          </a:xfrm>
          <a:prstGeom prst="roundRect">
            <a:avLst>
              <a:gd name="adj" fmla="val 10909"/>
            </a:avLst>
          </a:prstGeom>
          <a:solidFill>
            <a:srgbClr val="EAF4FF"/>
          </a:solidFill>
          <a:ln w="12700">
            <a:solidFill>
              <a:srgbClr val="C7E7FF"/>
            </a:solidFill>
            <a:prstDash val="solid"/>
          </a:ln>
        </p:spPr>
      </p:sp>
      <p:sp>
        <p:nvSpPr>
          <p:cNvPr id="18" name="Text 16"/>
          <p:cNvSpPr/>
          <p:nvPr/>
        </p:nvSpPr>
        <p:spPr>
          <a:xfrm>
            <a:off x="3300984" y="2743200"/>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Enc4</a:t>
            </a:r>
            <a:endParaRPr lang="en-US" sz="1000" dirty="0"/>
          </a:p>
        </p:txBody>
      </p:sp>
      <p:sp>
        <p:nvSpPr>
          <p:cNvPr id="19" name="Shape 17"/>
          <p:cNvSpPr/>
          <p:nvPr/>
        </p:nvSpPr>
        <p:spPr>
          <a:xfrm>
            <a:off x="3360420" y="3017520"/>
            <a:ext cx="822960" cy="1005840"/>
          </a:xfrm>
          <a:prstGeom prst="roundRect">
            <a:avLst>
              <a:gd name="adj" fmla="val 6667"/>
            </a:avLst>
          </a:prstGeom>
          <a:solidFill>
            <a:srgbClr val="DDF1FF"/>
          </a:solidFill>
          <a:ln w="12700">
            <a:solidFill>
              <a:srgbClr val="A6D7FF"/>
            </a:solidFill>
            <a:prstDash val="solid"/>
          </a:ln>
        </p:spPr>
      </p:sp>
      <p:sp>
        <p:nvSpPr>
          <p:cNvPr id="20" name="Text 18"/>
          <p:cNvSpPr/>
          <p:nvPr/>
        </p:nvSpPr>
        <p:spPr>
          <a:xfrm>
            <a:off x="3360420" y="3447288"/>
            <a:ext cx="822960" cy="182880"/>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Bottleneck</a:t>
            </a:r>
            <a:endParaRPr lang="en-US" sz="1000" dirty="0"/>
          </a:p>
        </p:txBody>
      </p:sp>
      <p:sp>
        <p:nvSpPr>
          <p:cNvPr id="21" name="Shape 19"/>
          <p:cNvSpPr/>
          <p:nvPr/>
        </p:nvSpPr>
        <p:spPr>
          <a:xfrm>
            <a:off x="5852160" y="2816352"/>
            <a:ext cx="502920" cy="1051560"/>
          </a:xfrm>
          <a:prstGeom prst="roundRect">
            <a:avLst>
              <a:gd name="adj" fmla="val 10909"/>
            </a:avLst>
          </a:prstGeom>
          <a:solidFill>
            <a:srgbClr val="FFF5E8"/>
          </a:solidFill>
          <a:ln w="12700">
            <a:solidFill>
              <a:srgbClr val="FDD9A6"/>
            </a:solidFill>
            <a:prstDash val="solid"/>
          </a:ln>
        </p:spPr>
      </p:sp>
      <p:sp>
        <p:nvSpPr>
          <p:cNvPr id="22" name="Text 20"/>
          <p:cNvSpPr/>
          <p:nvPr/>
        </p:nvSpPr>
        <p:spPr>
          <a:xfrm>
            <a:off x="5852160" y="2743200"/>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Dec1</a:t>
            </a:r>
            <a:endParaRPr lang="en-US" sz="1000" dirty="0"/>
          </a:p>
        </p:txBody>
      </p:sp>
      <p:sp>
        <p:nvSpPr>
          <p:cNvPr id="23" name="Shape 21"/>
          <p:cNvSpPr/>
          <p:nvPr/>
        </p:nvSpPr>
        <p:spPr>
          <a:xfrm>
            <a:off x="5148072" y="2487168"/>
            <a:ext cx="502920" cy="868680"/>
          </a:xfrm>
          <a:prstGeom prst="roundRect">
            <a:avLst>
              <a:gd name="adj" fmla="val 10909"/>
            </a:avLst>
          </a:prstGeom>
          <a:solidFill>
            <a:srgbClr val="FFF5E8"/>
          </a:solidFill>
          <a:ln w="12700">
            <a:solidFill>
              <a:srgbClr val="FDD9A6"/>
            </a:solidFill>
            <a:prstDash val="solid"/>
          </a:ln>
        </p:spPr>
      </p:sp>
      <p:sp>
        <p:nvSpPr>
          <p:cNvPr id="24" name="Text 22"/>
          <p:cNvSpPr/>
          <p:nvPr/>
        </p:nvSpPr>
        <p:spPr>
          <a:xfrm>
            <a:off x="5148072" y="2414016"/>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Dec2</a:t>
            </a:r>
            <a:endParaRPr lang="en-US" sz="1000" dirty="0"/>
          </a:p>
        </p:txBody>
      </p:sp>
      <p:sp>
        <p:nvSpPr>
          <p:cNvPr id="25" name="Shape 23"/>
          <p:cNvSpPr/>
          <p:nvPr/>
        </p:nvSpPr>
        <p:spPr>
          <a:xfrm>
            <a:off x="4443984" y="2157984"/>
            <a:ext cx="502920" cy="685800"/>
          </a:xfrm>
          <a:prstGeom prst="roundRect">
            <a:avLst>
              <a:gd name="adj" fmla="val 10909"/>
            </a:avLst>
          </a:prstGeom>
          <a:solidFill>
            <a:srgbClr val="FFF5E8"/>
          </a:solidFill>
          <a:ln w="12700">
            <a:solidFill>
              <a:srgbClr val="FDD9A6"/>
            </a:solidFill>
            <a:prstDash val="solid"/>
          </a:ln>
        </p:spPr>
      </p:sp>
      <p:sp>
        <p:nvSpPr>
          <p:cNvPr id="26" name="Text 24"/>
          <p:cNvSpPr/>
          <p:nvPr/>
        </p:nvSpPr>
        <p:spPr>
          <a:xfrm>
            <a:off x="4443984" y="2084832"/>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Dec3</a:t>
            </a:r>
            <a:endParaRPr lang="en-US" sz="1000" dirty="0"/>
          </a:p>
        </p:txBody>
      </p:sp>
      <p:sp>
        <p:nvSpPr>
          <p:cNvPr id="27" name="Shape 25"/>
          <p:cNvSpPr/>
          <p:nvPr/>
        </p:nvSpPr>
        <p:spPr>
          <a:xfrm>
            <a:off x="3739896" y="1828800"/>
            <a:ext cx="502920" cy="502920"/>
          </a:xfrm>
          <a:prstGeom prst="roundRect">
            <a:avLst>
              <a:gd name="adj" fmla="val 10909"/>
            </a:avLst>
          </a:prstGeom>
          <a:solidFill>
            <a:srgbClr val="FFF5E8"/>
          </a:solidFill>
          <a:ln w="12700">
            <a:solidFill>
              <a:srgbClr val="FDD9A6"/>
            </a:solidFill>
            <a:prstDash val="solid"/>
          </a:ln>
        </p:spPr>
      </p:sp>
      <p:sp>
        <p:nvSpPr>
          <p:cNvPr id="28" name="Text 26"/>
          <p:cNvSpPr/>
          <p:nvPr/>
        </p:nvSpPr>
        <p:spPr>
          <a:xfrm>
            <a:off x="3739896" y="1755648"/>
            <a:ext cx="502920" cy="109728"/>
          </a:xfrm>
          <a:prstGeom prst="rect">
            <a:avLst/>
          </a:prstGeom>
          <a:noFill/>
          <a:ln/>
        </p:spPr>
        <p:txBody>
          <a:bodyPr wrap="square" lIns="0" tIns="0" rIns="0" bIns="0" rtlCol="0" anchor="ctr">
            <a:normAutofit/>
          </a:bodyPr>
          <a:lstStyle/>
          <a:p>
            <a:pPr algn="ctr" indent="0" marL="0">
              <a:buNone/>
            </a:pPr>
            <a:r>
              <a:rPr lang="en-US" sz="1000" b="1" dirty="0">
                <a:solidFill>
                  <a:srgbClr val="7C4A03"/>
                </a:solidFill>
                <a:latin typeface="Meiryo" pitchFamily="34" charset="0"/>
                <a:ea typeface="Meiryo" pitchFamily="34" charset="-122"/>
                <a:cs typeface="Meiryo" pitchFamily="34" charset="-120"/>
              </a:rPr>
              <a:t>Dec4</a:t>
            </a:r>
            <a:endParaRPr lang="en-US" sz="1000" dirty="0"/>
          </a:p>
        </p:txBody>
      </p:sp>
      <p:sp>
        <p:nvSpPr>
          <p:cNvPr id="29" name="Shape 27"/>
          <p:cNvSpPr/>
          <p:nvPr/>
        </p:nvSpPr>
        <p:spPr>
          <a:xfrm>
            <a:off x="1691640" y="2075688"/>
            <a:ext cx="201168" cy="329184"/>
          </a:xfrm>
          <a:prstGeom prst="line">
            <a:avLst/>
          </a:prstGeom>
          <a:noFill/>
          <a:ln w="22860">
            <a:solidFill>
              <a:srgbClr val="39A8FF"/>
            </a:solidFill>
            <a:prstDash val="solid"/>
            <a:tailEnd type="triangle"/>
          </a:ln>
        </p:spPr>
      </p:sp>
      <p:sp>
        <p:nvSpPr>
          <p:cNvPr id="30" name="Shape 28"/>
          <p:cNvSpPr/>
          <p:nvPr/>
        </p:nvSpPr>
        <p:spPr>
          <a:xfrm>
            <a:off x="2395728" y="2404872"/>
            <a:ext cx="201168" cy="329184"/>
          </a:xfrm>
          <a:prstGeom prst="line">
            <a:avLst/>
          </a:prstGeom>
          <a:noFill/>
          <a:ln w="22860">
            <a:solidFill>
              <a:srgbClr val="39A8FF"/>
            </a:solidFill>
            <a:prstDash val="solid"/>
            <a:tailEnd type="triangle"/>
          </a:ln>
        </p:spPr>
      </p:sp>
      <p:sp>
        <p:nvSpPr>
          <p:cNvPr id="31" name="Shape 29"/>
          <p:cNvSpPr/>
          <p:nvPr/>
        </p:nvSpPr>
        <p:spPr>
          <a:xfrm>
            <a:off x="3099816" y="2734056"/>
            <a:ext cx="201168" cy="329184"/>
          </a:xfrm>
          <a:prstGeom prst="line">
            <a:avLst/>
          </a:prstGeom>
          <a:noFill/>
          <a:ln w="22860">
            <a:solidFill>
              <a:srgbClr val="39A8FF"/>
            </a:solidFill>
            <a:prstDash val="solid"/>
            <a:tailEnd type="triangle"/>
          </a:ln>
        </p:spPr>
      </p:sp>
      <p:sp>
        <p:nvSpPr>
          <p:cNvPr id="32" name="Shape 30"/>
          <p:cNvSpPr/>
          <p:nvPr/>
        </p:nvSpPr>
        <p:spPr>
          <a:xfrm>
            <a:off x="3803904" y="3063240"/>
            <a:ext cx="-443484" cy="457200"/>
          </a:xfrm>
          <a:prstGeom prst="line">
            <a:avLst/>
          </a:prstGeom>
          <a:noFill/>
          <a:ln w="22860">
            <a:solidFill>
              <a:srgbClr val="39A8FF"/>
            </a:solidFill>
            <a:prstDash val="solid"/>
            <a:tailEnd type="triangle"/>
          </a:ln>
        </p:spPr>
      </p:sp>
      <p:sp>
        <p:nvSpPr>
          <p:cNvPr id="33" name="Shape 31"/>
          <p:cNvSpPr/>
          <p:nvPr/>
        </p:nvSpPr>
        <p:spPr>
          <a:xfrm>
            <a:off x="4183380" y="3520440"/>
            <a:ext cx="-443484" cy="-457200"/>
          </a:xfrm>
          <a:prstGeom prst="line">
            <a:avLst/>
          </a:prstGeom>
          <a:noFill/>
          <a:ln w="22860">
            <a:solidFill>
              <a:srgbClr val="F59E0B"/>
            </a:solidFill>
            <a:prstDash val="solid"/>
            <a:tailEnd type="triangle"/>
          </a:ln>
        </p:spPr>
      </p:sp>
      <p:sp>
        <p:nvSpPr>
          <p:cNvPr id="34" name="Shape 32"/>
          <p:cNvSpPr/>
          <p:nvPr/>
        </p:nvSpPr>
        <p:spPr>
          <a:xfrm>
            <a:off x="5852160" y="2075688"/>
            <a:ext cx="-201168" cy="329184"/>
          </a:xfrm>
          <a:prstGeom prst="line">
            <a:avLst/>
          </a:prstGeom>
          <a:noFill/>
          <a:ln w="22860">
            <a:solidFill>
              <a:srgbClr val="F59E0B"/>
            </a:solidFill>
            <a:prstDash val="solid"/>
            <a:tailEnd type="triangle"/>
          </a:ln>
        </p:spPr>
      </p:sp>
      <p:sp>
        <p:nvSpPr>
          <p:cNvPr id="35" name="Shape 33"/>
          <p:cNvSpPr/>
          <p:nvPr/>
        </p:nvSpPr>
        <p:spPr>
          <a:xfrm>
            <a:off x="5148072" y="2404872"/>
            <a:ext cx="-201168" cy="329184"/>
          </a:xfrm>
          <a:prstGeom prst="line">
            <a:avLst/>
          </a:prstGeom>
          <a:noFill/>
          <a:ln w="22860">
            <a:solidFill>
              <a:srgbClr val="F59E0B"/>
            </a:solidFill>
            <a:prstDash val="solid"/>
            <a:tailEnd type="triangle"/>
          </a:ln>
        </p:spPr>
      </p:sp>
      <p:sp>
        <p:nvSpPr>
          <p:cNvPr id="36" name="Shape 34"/>
          <p:cNvSpPr/>
          <p:nvPr/>
        </p:nvSpPr>
        <p:spPr>
          <a:xfrm>
            <a:off x="4443984" y="2734056"/>
            <a:ext cx="-201168" cy="329184"/>
          </a:xfrm>
          <a:prstGeom prst="line">
            <a:avLst/>
          </a:prstGeom>
          <a:noFill/>
          <a:ln w="22860">
            <a:solidFill>
              <a:srgbClr val="F59E0B"/>
            </a:solidFill>
            <a:prstDash val="solid"/>
            <a:tailEnd type="triangle"/>
          </a:ln>
        </p:spPr>
      </p:sp>
      <p:sp>
        <p:nvSpPr>
          <p:cNvPr id="37" name="Shape 35"/>
          <p:cNvSpPr/>
          <p:nvPr/>
        </p:nvSpPr>
        <p:spPr>
          <a:xfrm>
            <a:off x="914400" y="5212080"/>
            <a:ext cx="1234440" cy="384048"/>
          </a:xfrm>
          <a:prstGeom prst="roundRect">
            <a:avLst>
              <a:gd name="adj" fmla="val 14286"/>
            </a:avLst>
          </a:prstGeom>
          <a:solidFill>
            <a:srgbClr val="F4FBFF"/>
          </a:solidFill>
          <a:ln w="12700">
            <a:solidFill>
              <a:srgbClr val="C7E7FF"/>
            </a:solidFill>
            <a:prstDash val="solid"/>
          </a:ln>
        </p:spPr>
      </p:sp>
      <p:sp>
        <p:nvSpPr>
          <p:cNvPr id="38" name="Text 36"/>
          <p:cNvSpPr/>
          <p:nvPr/>
        </p:nvSpPr>
        <p:spPr>
          <a:xfrm>
            <a:off x="914400" y="5248656"/>
            <a:ext cx="1234440" cy="329184"/>
          </a:xfrm>
          <a:prstGeom prst="rect">
            <a:avLst/>
          </a:prstGeom>
          <a:noFill/>
          <a:ln/>
        </p:spPr>
        <p:txBody>
          <a:bodyPr wrap="square" lIns="0" tIns="0" rIns="0" bIns="0" rtlCol="0" anchor="ctr">
            <a:normAutofit/>
          </a:bodyPr>
          <a:lstStyle/>
          <a:p>
            <a:pPr algn="ctr" indent="0" marL="0">
              <a:buNone/>
            </a:pPr>
            <a:r>
              <a:rPr lang="en-US" sz="1000" b="1" dirty="0">
                <a:solidFill>
                  <a:srgbClr val="0D4D7E"/>
                </a:solidFill>
                <a:latin typeface="Meiryo" pitchFamily="34" charset="0"/>
                <a:ea typeface="Meiryo" pitchFamily="34" charset="-122"/>
                <a:cs typeface="Meiryo" pitchFamily="34" charset="-120"/>
              </a:rPr>
              <a:t>条件埋め込み</a:t>
            </a:r>
            <a:endParaRPr lang="en-US" sz="1000" dirty="0"/>
          </a:p>
          <a:p>
            <a:pPr algn="ctr" indent="0" marL="0">
              <a:buNone/>
            </a:pPr>
            <a:r>
              <a:rPr lang="en-US" sz="1000" b="1" dirty="0">
                <a:solidFill>
                  <a:srgbClr val="0D4D7E"/>
                </a:solidFill>
                <a:latin typeface="Meiryo" pitchFamily="34" charset="0"/>
                <a:ea typeface="Meiryo" pitchFamily="34" charset="-122"/>
                <a:cs typeface="Meiryo" pitchFamily="34" charset="-120"/>
              </a:rPr>
              <a:t>scale / shift</a:t>
            </a:r>
            <a:endParaRPr lang="en-US" sz="1000" dirty="0"/>
          </a:p>
        </p:txBody>
      </p:sp>
      <p:sp>
        <p:nvSpPr>
          <p:cNvPr id="39" name="Shape 37"/>
          <p:cNvSpPr/>
          <p:nvPr/>
        </p:nvSpPr>
        <p:spPr>
          <a:xfrm>
            <a:off x="2148840" y="5404104"/>
            <a:ext cx="-868680" cy="-3328416"/>
          </a:xfrm>
          <a:prstGeom prst="line">
            <a:avLst/>
          </a:prstGeom>
          <a:noFill/>
          <a:ln w="19050">
            <a:solidFill>
              <a:srgbClr val="0EA5A4"/>
            </a:solidFill>
            <a:prstDash val="solid"/>
            <a:tailEnd type="triangle"/>
          </a:ln>
        </p:spPr>
      </p:sp>
      <p:sp>
        <p:nvSpPr>
          <p:cNvPr id="40" name="Shape 38"/>
          <p:cNvSpPr/>
          <p:nvPr/>
        </p:nvSpPr>
        <p:spPr>
          <a:xfrm>
            <a:off x="2148840" y="5404104"/>
            <a:ext cx="-137160" cy="-2999232"/>
          </a:xfrm>
          <a:prstGeom prst="line">
            <a:avLst/>
          </a:prstGeom>
          <a:noFill/>
          <a:ln w="19050">
            <a:solidFill>
              <a:srgbClr val="0EA5A4"/>
            </a:solidFill>
            <a:prstDash val="solid"/>
            <a:tailEnd type="triangle"/>
          </a:ln>
        </p:spPr>
      </p:sp>
      <p:sp>
        <p:nvSpPr>
          <p:cNvPr id="41" name="Shape 39"/>
          <p:cNvSpPr/>
          <p:nvPr/>
        </p:nvSpPr>
        <p:spPr>
          <a:xfrm>
            <a:off x="2148840" y="5404104"/>
            <a:ext cx="1485900" cy="-1883664"/>
          </a:xfrm>
          <a:prstGeom prst="line">
            <a:avLst/>
          </a:prstGeom>
          <a:noFill/>
          <a:ln w="19050">
            <a:solidFill>
              <a:srgbClr val="0EA5A4"/>
            </a:solidFill>
            <a:prstDash val="solid"/>
            <a:tailEnd type="triangle"/>
          </a:ln>
        </p:spPr>
      </p:sp>
      <p:sp>
        <p:nvSpPr>
          <p:cNvPr id="42" name="Shape 40"/>
          <p:cNvSpPr/>
          <p:nvPr/>
        </p:nvSpPr>
        <p:spPr>
          <a:xfrm>
            <a:off x="5669280" y="5148072"/>
            <a:ext cx="777240" cy="438912"/>
          </a:xfrm>
          <a:prstGeom prst="roundRect">
            <a:avLst>
              <a:gd name="adj" fmla="val 12500"/>
            </a:avLst>
          </a:prstGeom>
          <a:solidFill>
            <a:srgbClr val="F8FAFC"/>
          </a:solidFill>
          <a:ln w="12700">
            <a:solidFill>
              <a:srgbClr val="DCE3EA"/>
            </a:solidFill>
            <a:prstDash val="solid"/>
          </a:ln>
        </p:spPr>
      </p:sp>
      <p:sp>
        <p:nvSpPr>
          <p:cNvPr id="43" name="Text 41"/>
          <p:cNvSpPr/>
          <p:nvPr/>
        </p:nvSpPr>
        <p:spPr>
          <a:xfrm>
            <a:off x="5687568" y="5184648"/>
            <a:ext cx="740664" cy="365760"/>
          </a:xfrm>
          <a:prstGeom prst="rect">
            <a:avLst/>
          </a:prstGeom>
          <a:noFill/>
          <a:ln/>
        </p:spPr>
        <p:txBody>
          <a:bodyPr wrap="square" lIns="0" tIns="0" rIns="0" bIns="0" rtlCol="0" anchor="ctr">
            <a:normAutofit/>
          </a:bodyPr>
          <a:lstStyle/>
          <a:p>
            <a:pPr algn="ctr" indent="0" marL="0">
              <a:buNone/>
            </a:pPr>
            <a:r>
              <a:rPr lang="en-US" sz="1000" b="1" dirty="0">
                <a:solidFill>
                  <a:srgbClr val="111111"/>
                </a:solidFill>
                <a:latin typeface="Meiryo" pitchFamily="34" charset="0"/>
                <a:ea typeface="Meiryo" pitchFamily="34" charset="-122"/>
                <a:cs typeface="Meiryo" pitchFamily="34" charset="-120"/>
              </a:rPr>
              <a:t>出力</a:t>
            </a:r>
            <a:endParaRPr lang="en-US" sz="1000" dirty="0"/>
          </a:p>
          <a:p>
            <a:pPr algn="ctr" indent="0" marL="0">
              <a:buNone/>
            </a:pPr>
            <a:r>
              <a:rPr lang="en-US" sz="1000" b="1" dirty="0">
                <a:solidFill>
                  <a:srgbClr val="111111"/>
                </a:solidFill>
                <a:latin typeface="Meiryo" pitchFamily="34" charset="0"/>
                <a:ea typeface="Meiryo" pitchFamily="34" charset="-122"/>
                <a:cs typeface="Meiryo" pitchFamily="34" charset="-120"/>
              </a:rPr>
              <a:t>φ, ne, ni, Te</a:t>
            </a:r>
            <a:endParaRPr lang="en-US" sz="1000" dirty="0"/>
          </a:p>
        </p:txBody>
      </p:sp>
      <p:sp>
        <p:nvSpPr>
          <p:cNvPr id="44" name="Shape 42"/>
          <p:cNvSpPr/>
          <p:nvPr/>
        </p:nvSpPr>
        <p:spPr>
          <a:xfrm>
            <a:off x="6949440" y="1325880"/>
            <a:ext cx="4297680" cy="4389120"/>
          </a:xfrm>
          <a:prstGeom prst="roundRect">
            <a:avLst>
              <a:gd name="adj" fmla="val 1277"/>
            </a:avLst>
          </a:prstGeom>
          <a:solidFill>
            <a:srgbClr val="FFFFFF"/>
          </a:solidFill>
          <a:ln w="12700">
            <a:solidFill>
              <a:srgbClr val="D7E3ED"/>
            </a:solidFill>
            <a:prstDash val="solid"/>
          </a:ln>
        </p:spPr>
      </p:sp>
      <p:sp>
        <p:nvSpPr>
          <p:cNvPr id="45" name="Text 43"/>
          <p:cNvSpPr/>
          <p:nvPr/>
        </p:nvSpPr>
        <p:spPr>
          <a:xfrm>
            <a:off x="7132320" y="1490472"/>
            <a:ext cx="9144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構造の要点</a:t>
            </a:r>
            <a:endParaRPr lang="en-US" sz="1600" dirty="0"/>
          </a:p>
        </p:txBody>
      </p:sp>
      <p:sp>
        <p:nvSpPr>
          <p:cNvPr id="46" name="Text 44"/>
          <p:cNvSpPr/>
          <p:nvPr/>
        </p:nvSpPr>
        <p:spPr>
          <a:xfrm>
            <a:off x="7150608" y="1810512"/>
            <a:ext cx="3703320" cy="20116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4段程度の encoder-decoder + skip connection + residual block</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座標チャネルで位置情報を補い、SDF 群と物理 map を直接入力</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条件スカラーは任意で embedding し、各 block に scale / shift 注入</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出力は差分でなく直接物理量: φ, ne, ni, Te</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既知の電位境界だけは推論後に overwrite して誤差を除去</a:t>
            </a:r>
            <a:endParaRPr lang="en-US" sz="1600" dirty="0"/>
          </a:p>
        </p:txBody>
      </p:sp>
      <p:sp>
        <p:nvSpPr>
          <p:cNvPr id="47" name="Shape 45"/>
          <p:cNvSpPr/>
          <p:nvPr/>
        </p:nvSpPr>
        <p:spPr>
          <a:xfrm>
            <a:off x="7150608" y="4160520"/>
            <a:ext cx="3703320" cy="1143000"/>
          </a:xfrm>
          <a:prstGeom prst="roundRect">
            <a:avLst>
              <a:gd name="adj" fmla="val 4800"/>
            </a:avLst>
          </a:prstGeom>
          <a:solidFill>
            <a:srgbClr val="F4FBFF"/>
          </a:solidFill>
          <a:ln w="12700">
            <a:solidFill>
              <a:srgbClr val="C7E7FF"/>
            </a:solidFill>
            <a:prstDash val="solid"/>
          </a:ln>
        </p:spPr>
      </p:sp>
      <p:sp>
        <p:nvSpPr>
          <p:cNvPr id="48" name="Text 46"/>
          <p:cNvSpPr/>
          <p:nvPr/>
        </p:nvSpPr>
        <p:spPr>
          <a:xfrm>
            <a:off x="7315200" y="4315968"/>
            <a:ext cx="1645920" cy="146304"/>
          </a:xfrm>
          <a:prstGeom prst="rect">
            <a:avLst/>
          </a:prstGeom>
          <a:noFill/>
          <a:ln/>
        </p:spPr>
        <p:txBody>
          <a:bodyPr wrap="square" lIns="0" tIns="0" rIns="0" bIns="0" rtlCol="0" anchor="ctr">
            <a:normAutofit/>
          </a:bodyPr>
          <a:lstStyle/>
          <a:p>
            <a:pPr algn="l" indent="0" marL="0">
              <a:buNone/>
            </a:pPr>
            <a:r>
              <a:rPr lang="en-US" sz="1400" b="1" dirty="0">
                <a:solidFill>
                  <a:srgbClr val="0D4D7E"/>
                </a:solidFill>
                <a:latin typeface="Meiryo" pitchFamily="34" charset="0"/>
                <a:ea typeface="Meiryo" pitchFamily="34" charset="-122"/>
                <a:cs typeface="Meiryo" pitchFamily="34" charset="-120"/>
              </a:rPr>
              <a:t>なぜ単一 U-Net を維持するか</a:t>
            </a:r>
            <a:endParaRPr lang="en-US" sz="1400" dirty="0"/>
          </a:p>
        </p:txBody>
      </p:sp>
      <p:sp>
        <p:nvSpPr>
          <p:cNvPr id="49" name="Text 47"/>
          <p:cNvSpPr/>
          <p:nvPr/>
        </p:nvSpPr>
        <p:spPr>
          <a:xfrm>
            <a:off x="7333488" y="4553712"/>
            <a:ext cx="3200400" cy="50292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実装・保守が容易</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装置差比較に向く</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請求項が複雑化しにくい</a:t>
            </a:r>
            <a:endParaRPr lang="en-US" sz="1500" dirty="0"/>
          </a:p>
        </p:txBody>
      </p:sp>
      <p:sp>
        <p:nvSpPr>
          <p:cNvPr id="50" name="Text 4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教師データ・学習設計: 境界帯域を主役にする</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学習</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4709160" cy="4480560"/>
          </a:xfrm>
          <a:prstGeom prst="roundRect">
            <a:avLst>
              <a:gd name="adj" fmla="val 1224"/>
            </a:avLst>
          </a:prstGeom>
          <a:solidFill>
            <a:srgbClr val="F9FBFD"/>
          </a:solidFill>
          <a:ln w="12700">
            <a:solidFill>
              <a:srgbClr val="D7E3ED"/>
            </a:solidFill>
            <a:prstDash val="solid"/>
          </a:ln>
        </p:spPr>
      </p:sp>
      <p:sp>
        <p:nvSpPr>
          <p:cNvPr id="8" name="Text 6"/>
          <p:cNvSpPr/>
          <p:nvPr/>
        </p:nvSpPr>
        <p:spPr>
          <a:xfrm>
            <a:off x="1051560" y="1490472"/>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教師データ定義</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051560" y="1783080"/>
          <a:ext cx="4251960" cy="2606040"/>
        </p:xfrm>
        <a:graphic>
          <a:graphicData uri="http://schemas.openxmlformats.org/drawingml/2006/table">
            <a:tbl>
              <a:tblPr/>
              <a:tblGrid>
                <a:gridCol w="914400"/>
                <a:gridCol w="3154680"/>
              </a:tblGrid>
              <a:tr h="310896">
                <a:tc>
                  <a:txBody>
                    <a:bodyPr/>
                    <a:lstStyle/>
                    <a:p>
                      <a:pPr indent="0" marL="0">
                        <a:buNone/>
                      </a:pPr>
                      <a:r>
                        <a:rPr lang="en-US" sz="1320" dirty="0">
                          <a:solidFill>
                            <a:srgbClr val="000000"/>
                          </a:solidFill>
                          <a:latin typeface="Meiryo" pitchFamily="34" charset="0"/>
                          <a:ea typeface="Meiryo" pitchFamily="34" charset="-122"/>
                          <a:cs typeface="Meiryo" pitchFamily="34" charset="-120"/>
                        </a:rPr>
                        <a:t>項目</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dirty="0">
                          <a:solidFill>
                            <a:srgbClr val="000000"/>
                          </a:solidFill>
                          <a:latin typeface="Meiryo" pitchFamily="34" charset="0"/>
                          <a:ea typeface="Meiryo" pitchFamily="34" charset="-122"/>
                          <a:cs typeface="Meiryo" pitchFamily="34" charset="-120"/>
                        </a:rPr>
                        <a:t>内容</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dirty="0">
                          <a:solidFill>
                            <a:srgbClr val="000000"/>
                          </a:solidFill>
                          <a:latin typeface="Meiryo" pitchFamily="34" charset="0"/>
                          <a:ea typeface="Meiryo" pitchFamily="34" charset="-122"/>
                          <a:cs typeface="Meiryo" pitchFamily="34" charset="-120"/>
                        </a:rPr>
                        <a:t>入力</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dirty="0">
                          <a:solidFill>
                            <a:srgbClr val="000000"/>
                          </a:solidFill>
                          <a:latin typeface="Meiryo" pitchFamily="34" charset="0"/>
                          <a:ea typeface="Meiryo" pitchFamily="34" charset="-122"/>
                          <a:cs typeface="Meiryo" pitchFamily="34" charset="-120"/>
                        </a:rPr>
                        <a:t>幾何, 境界役割, 電圧, εr, flow, exhaust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dirty="0">
                          <a:solidFill>
                            <a:srgbClr val="000000"/>
                          </a:solidFill>
                          <a:latin typeface="Meiryo" pitchFamily="34" charset="0"/>
                          <a:ea typeface="Meiryo" pitchFamily="34" charset="-122"/>
                          <a:cs typeface="Meiryo" pitchFamily="34" charset="-120"/>
                        </a:rPr>
                        <a:t>特徴</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dirty="0">
                          <a:solidFill>
                            <a:srgbClr val="000000"/>
                          </a:solidFill>
                          <a:latin typeface="Meiryo" pitchFamily="34" charset="0"/>
                          <a:ea typeface="Meiryo" pitchFamily="34" charset="-122"/>
                          <a:cs typeface="Meiryo" pitchFamily="34" charset="-120"/>
                        </a:rPr>
                        <a:t>SDF 群, 法線, Φbc, εr, Qin, Sout</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20" dirty="0">
                          <a:solidFill>
                            <a:srgbClr val="000000"/>
                          </a:solidFill>
                          <a:latin typeface="Meiryo" pitchFamily="34" charset="0"/>
                          <a:ea typeface="Meiryo" pitchFamily="34" charset="-122"/>
                          <a:cs typeface="Meiryo" pitchFamily="34" charset="-120"/>
                        </a:rPr>
                        <a:t>主ラベル</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dirty="0">
                          <a:solidFill>
                            <a:srgbClr val="000000"/>
                          </a:solidFill>
                          <a:latin typeface="Meiryo" pitchFamily="34" charset="0"/>
                          <a:ea typeface="Meiryo" pitchFamily="34" charset="-122"/>
                          <a:cs typeface="Meiryo" pitchFamily="34" charset="-120"/>
                        </a:rPr>
                        <a:t>φ, ne, ni, Te</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75488">
                <a:tc>
                  <a:txBody>
                    <a:bodyPr/>
                    <a:lstStyle/>
                    <a:p>
                      <a:pPr indent="0" marL="0">
                        <a:buNone/>
                      </a:pPr>
                      <a:r>
                        <a:rPr lang="en-US" sz="1320" dirty="0">
                          <a:solidFill>
                            <a:srgbClr val="000000"/>
                          </a:solidFill>
                          <a:latin typeface="Meiryo" pitchFamily="34" charset="0"/>
                          <a:ea typeface="Meiryo" pitchFamily="34" charset="-122"/>
                          <a:cs typeface="Meiryo" pitchFamily="34" charset="-120"/>
                        </a:rPr>
                        <a:t>補助ラベル</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dirty="0">
                          <a:solidFill>
                            <a:srgbClr val="000000"/>
                          </a:solidFill>
                          <a:latin typeface="Meiryo" pitchFamily="34" charset="0"/>
                          <a:ea typeface="Meiryo" pitchFamily="34" charset="-122"/>
                          <a:cs typeface="Meiryo" pitchFamily="34" charset="-120"/>
                        </a:rPr>
                        <a:t>En, 界面残差, port balance</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75488">
                <a:tc>
                  <a:txBody>
                    <a:bodyPr/>
                    <a:lstStyle/>
                    <a:p>
                      <a:pPr indent="0" marL="0">
                        <a:buNone/>
                      </a:pPr>
                      <a:r>
                        <a:rPr lang="en-US" sz="1320" dirty="0">
                          <a:solidFill>
                            <a:srgbClr val="000000"/>
                          </a:solidFill>
                          <a:latin typeface="Meiryo" pitchFamily="34" charset="0"/>
                          <a:ea typeface="Meiryo" pitchFamily="34" charset="-122"/>
                          <a:cs typeface="Meiryo" pitchFamily="34" charset="-120"/>
                        </a:rPr>
                        <a:t>分割単位</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20" dirty="0">
                          <a:solidFill>
                            <a:srgbClr val="000000"/>
                          </a:solidFill>
                          <a:latin typeface="Meiryo" pitchFamily="34" charset="0"/>
                          <a:ea typeface="Meiryo" pitchFamily="34" charset="-122"/>
                          <a:cs typeface="Meiryo" pitchFamily="34" charset="-120"/>
                        </a:rPr>
                        <a:t>snapshot ではなく条件組合せ単位</a:t>
                      </a:r>
                      <a:endParaRPr lang="en-US" sz="1320" dirty="0">
                        <a:latin typeface="Meiryo" charset="0"/>
                        <a:ea typeface="Meiryo" charset="0"/>
                        <a:cs typeface="Meiryo" charset="0"/>
                      </a:endParaRPr>
                    </a:p>
                  </a:txBody>
                  <a:tcPr marL="36576" marR="36576" marT="36576" marB="36576">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10" name="Shape 7"/>
          <p:cNvSpPr/>
          <p:nvPr/>
        </p:nvSpPr>
        <p:spPr>
          <a:xfrm>
            <a:off x="1051560" y="4572000"/>
            <a:ext cx="4251960" cy="822960"/>
          </a:xfrm>
          <a:prstGeom prst="roundRect">
            <a:avLst>
              <a:gd name="adj" fmla="val 6667"/>
            </a:avLst>
          </a:prstGeom>
          <a:solidFill>
            <a:srgbClr val="F4FBFF"/>
          </a:solidFill>
          <a:ln w="12700">
            <a:solidFill>
              <a:srgbClr val="C7E7FF"/>
            </a:solidFill>
            <a:prstDash val="solid"/>
          </a:ln>
        </p:spPr>
      </p:sp>
      <p:sp>
        <p:nvSpPr>
          <p:cNvPr id="11" name="Text 8"/>
          <p:cNvSpPr/>
          <p:nvPr/>
        </p:nvSpPr>
        <p:spPr>
          <a:xfrm>
            <a:off x="1188720" y="4754880"/>
            <a:ext cx="3931920" cy="310896"/>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仮定: 教師は fluid / PIC / hybrid のいずれでもよい。発明の芯は前処理側にある。</a:t>
            </a:r>
            <a:endParaRPr lang="en-US" sz="1400" dirty="0"/>
          </a:p>
        </p:txBody>
      </p:sp>
      <p:sp>
        <p:nvSpPr>
          <p:cNvPr id="12" name="Shape 9"/>
          <p:cNvSpPr/>
          <p:nvPr/>
        </p:nvSpPr>
        <p:spPr>
          <a:xfrm>
            <a:off x="5806440" y="1325880"/>
            <a:ext cx="5577840" cy="4480560"/>
          </a:xfrm>
          <a:prstGeom prst="roundRect">
            <a:avLst>
              <a:gd name="adj" fmla="val 1224"/>
            </a:avLst>
          </a:prstGeom>
          <a:solidFill>
            <a:srgbClr val="FFFFFF"/>
          </a:solidFill>
          <a:ln w="12700">
            <a:solidFill>
              <a:srgbClr val="D7E3ED"/>
            </a:solidFill>
            <a:prstDash val="solid"/>
          </a:ln>
        </p:spPr>
      </p:sp>
      <p:sp>
        <p:nvSpPr>
          <p:cNvPr id="13" name="Text 10"/>
          <p:cNvSpPr/>
          <p:nvPr/>
        </p:nvSpPr>
        <p:spPr>
          <a:xfrm>
            <a:off x="5989320" y="1490472"/>
            <a:ext cx="9144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学習の要点</a:t>
            </a:r>
            <a:endParaRPr lang="en-US" sz="1600" dirty="0"/>
          </a:p>
        </p:txBody>
      </p:sp>
      <p:sp>
        <p:nvSpPr>
          <p:cNvPr id="14" name="Shape 11"/>
          <p:cNvSpPr/>
          <p:nvPr/>
        </p:nvSpPr>
        <p:spPr>
          <a:xfrm>
            <a:off x="6053328" y="1828800"/>
            <a:ext cx="2148840" cy="1828800"/>
          </a:xfrm>
          <a:prstGeom prst="roundRect">
            <a:avLst>
              <a:gd name="adj" fmla="val 3000"/>
            </a:avLst>
          </a:prstGeom>
          <a:solidFill>
            <a:srgbClr val="FFFFFF"/>
          </a:solidFill>
          <a:ln w="12700">
            <a:solidFill>
              <a:srgbClr val="D7E3ED"/>
            </a:solidFill>
            <a:prstDash val="solid"/>
          </a:ln>
        </p:spPr>
      </p:sp>
      <p:sp>
        <p:nvSpPr>
          <p:cNvPr id="15" name="Shape 12"/>
          <p:cNvSpPr/>
          <p:nvPr/>
        </p:nvSpPr>
        <p:spPr>
          <a:xfrm>
            <a:off x="6190488" y="2496312"/>
            <a:ext cx="365760" cy="0"/>
          </a:xfrm>
          <a:prstGeom prst="line">
            <a:avLst/>
          </a:prstGeom>
          <a:noFill/>
          <a:ln w="38100">
            <a:solidFill>
              <a:srgbClr val="3B82F6"/>
            </a:solidFill>
            <a:prstDash val="solid"/>
            <a:tailEnd type="triangle"/>
          </a:ln>
        </p:spPr>
      </p:sp>
      <p:sp>
        <p:nvSpPr>
          <p:cNvPr id="16" name="Shape 13"/>
          <p:cNvSpPr/>
          <p:nvPr/>
        </p:nvSpPr>
        <p:spPr>
          <a:xfrm>
            <a:off x="7699248" y="2907792"/>
            <a:ext cx="365760" cy="0"/>
          </a:xfrm>
          <a:prstGeom prst="line">
            <a:avLst/>
          </a:prstGeom>
          <a:noFill/>
          <a:ln w="38100">
            <a:solidFill>
              <a:srgbClr val="EF4444"/>
            </a:solidFill>
            <a:prstDash val="solid"/>
            <a:tailEnd type="triangle"/>
          </a:ln>
        </p:spPr>
      </p:sp>
      <p:sp>
        <p:nvSpPr>
          <p:cNvPr id="17" name="Shape 14"/>
          <p:cNvSpPr/>
          <p:nvPr/>
        </p:nvSpPr>
        <p:spPr>
          <a:xfrm>
            <a:off x="6419088" y="2176272"/>
            <a:ext cx="1417320" cy="1051560"/>
          </a:xfrm>
          <a:prstGeom prst="roundRect">
            <a:avLst>
              <a:gd name="adj" fmla="val 4348"/>
            </a:avLst>
          </a:prstGeom>
          <a:solidFill>
            <a:srgbClr val="FFFFFF"/>
          </a:solidFill>
          <a:ln w="25400">
            <a:solidFill>
              <a:srgbClr val="6B7280"/>
            </a:solidFill>
            <a:prstDash val="solid"/>
          </a:ln>
        </p:spPr>
      </p:sp>
      <p:sp>
        <p:nvSpPr>
          <p:cNvPr id="18" name="Shape 15"/>
          <p:cNvSpPr/>
          <p:nvPr/>
        </p:nvSpPr>
        <p:spPr>
          <a:xfrm>
            <a:off x="6437376" y="3118104"/>
            <a:ext cx="1380744" cy="91440"/>
          </a:xfrm>
          <a:prstGeom prst="rect">
            <a:avLst/>
          </a:prstGeom>
          <a:solidFill>
            <a:srgbClr val="6B7280">
              <a:alpha val="75000"/>
            </a:srgbClr>
          </a:solidFill>
          <a:ln w="12700">
            <a:solidFill>
              <a:srgbClr val="6B7280">
                <a:alpha val="0"/>
              </a:srgbClr>
            </a:solidFill>
            <a:prstDash val="solid"/>
          </a:ln>
        </p:spPr>
      </p:sp>
      <p:sp>
        <p:nvSpPr>
          <p:cNvPr id="19" name="Shape 16"/>
          <p:cNvSpPr/>
          <p:nvPr/>
        </p:nvSpPr>
        <p:spPr>
          <a:xfrm>
            <a:off x="6437376" y="2194560"/>
            <a:ext cx="109728" cy="1014984"/>
          </a:xfrm>
          <a:prstGeom prst="rect">
            <a:avLst/>
          </a:prstGeom>
          <a:solidFill>
            <a:srgbClr val="6B7280">
              <a:alpha val="75000"/>
            </a:srgbClr>
          </a:solidFill>
          <a:ln w="12700">
            <a:solidFill>
              <a:srgbClr val="6B7280">
                <a:alpha val="0"/>
              </a:srgbClr>
            </a:solidFill>
            <a:prstDash val="solid"/>
          </a:ln>
        </p:spPr>
      </p:sp>
      <p:sp>
        <p:nvSpPr>
          <p:cNvPr id="20" name="Shape 17"/>
          <p:cNvSpPr/>
          <p:nvPr/>
        </p:nvSpPr>
        <p:spPr>
          <a:xfrm>
            <a:off x="7708392" y="2194560"/>
            <a:ext cx="109728" cy="1014984"/>
          </a:xfrm>
          <a:prstGeom prst="rect">
            <a:avLst/>
          </a:prstGeom>
          <a:solidFill>
            <a:srgbClr val="6B7280">
              <a:alpha val="75000"/>
            </a:srgbClr>
          </a:solidFill>
          <a:ln w="12700">
            <a:solidFill>
              <a:srgbClr val="6B7280">
                <a:alpha val="0"/>
              </a:srgbClr>
            </a:solidFill>
            <a:prstDash val="solid"/>
          </a:ln>
        </p:spPr>
      </p:sp>
      <p:sp>
        <p:nvSpPr>
          <p:cNvPr id="21" name="Shape 18"/>
          <p:cNvSpPr/>
          <p:nvPr/>
        </p:nvSpPr>
        <p:spPr>
          <a:xfrm>
            <a:off x="6647688" y="2103120"/>
            <a:ext cx="960120" cy="109728"/>
          </a:xfrm>
          <a:prstGeom prst="rect">
            <a:avLst/>
          </a:prstGeom>
          <a:solidFill>
            <a:srgbClr val="10B981"/>
          </a:solidFill>
          <a:ln w="12700">
            <a:solidFill>
              <a:srgbClr val="10B981"/>
            </a:solidFill>
            <a:prstDash val="solid"/>
          </a:ln>
        </p:spPr>
      </p:sp>
      <p:sp>
        <p:nvSpPr>
          <p:cNvPr id="22" name="Text 19"/>
          <p:cNvSpPr/>
          <p:nvPr/>
        </p:nvSpPr>
        <p:spPr>
          <a:xfrm>
            <a:off x="6899148" y="196596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3" name="Shape 20"/>
          <p:cNvSpPr/>
          <p:nvPr/>
        </p:nvSpPr>
        <p:spPr>
          <a:xfrm>
            <a:off x="6830568" y="2340864"/>
            <a:ext cx="594360" cy="91440"/>
          </a:xfrm>
          <a:prstGeom prst="rect">
            <a:avLst/>
          </a:prstGeom>
          <a:solidFill>
            <a:srgbClr val="F59E0B"/>
          </a:solidFill>
          <a:ln w="12700">
            <a:solidFill>
              <a:srgbClr val="F59E0B"/>
            </a:solidFill>
            <a:prstDash val="solid"/>
          </a:ln>
        </p:spPr>
      </p:sp>
      <p:sp>
        <p:nvSpPr>
          <p:cNvPr id="24" name="Text 21"/>
          <p:cNvSpPr/>
          <p:nvPr/>
        </p:nvSpPr>
        <p:spPr>
          <a:xfrm>
            <a:off x="6807708" y="220370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5" name="Shape 22"/>
          <p:cNvSpPr/>
          <p:nvPr/>
        </p:nvSpPr>
        <p:spPr>
          <a:xfrm>
            <a:off x="6922008" y="2816352"/>
            <a:ext cx="411480" cy="100584"/>
          </a:xfrm>
          <a:prstGeom prst="rect">
            <a:avLst/>
          </a:prstGeom>
          <a:solidFill>
            <a:srgbClr val="B0B8C0"/>
          </a:solidFill>
          <a:ln w="12700">
            <a:solidFill>
              <a:srgbClr val="B0B8C0"/>
            </a:solidFill>
            <a:prstDash val="solid"/>
          </a:ln>
        </p:spPr>
      </p:sp>
      <p:sp>
        <p:nvSpPr>
          <p:cNvPr id="26" name="Text 23"/>
          <p:cNvSpPr/>
          <p:nvPr/>
        </p:nvSpPr>
        <p:spPr>
          <a:xfrm>
            <a:off x="6963156" y="2971800"/>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27" name="Shape 24"/>
          <p:cNvSpPr/>
          <p:nvPr/>
        </p:nvSpPr>
        <p:spPr>
          <a:xfrm>
            <a:off x="6547104" y="2432304"/>
            <a:ext cx="1161288" cy="146304"/>
          </a:xfrm>
          <a:prstGeom prst="rect">
            <a:avLst/>
          </a:prstGeom>
          <a:solidFill>
            <a:srgbClr val="39A8FF">
              <a:alpha val="30000"/>
            </a:srgbClr>
          </a:solidFill>
          <a:ln w="12700">
            <a:solidFill>
              <a:srgbClr val="39A8FF">
                <a:alpha val="0"/>
              </a:srgbClr>
            </a:solidFill>
            <a:prstDash val="solid"/>
          </a:ln>
        </p:spPr>
      </p:sp>
      <p:sp>
        <p:nvSpPr>
          <p:cNvPr id="28" name="Shape 25"/>
          <p:cNvSpPr/>
          <p:nvPr/>
        </p:nvSpPr>
        <p:spPr>
          <a:xfrm>
            <a:off x="6547104" y="2825496"/>
            <a:ext cx="1161288" cy="146304"/>
          </a:xfrm>
          <a:prstGeom prst="rect">
            <a:avLst/>
          </a:prstGeom>
          <a:solidFill>
            <a:srgbClr val="39A8FF">
              <a:alpha val="20000"/>
            </a:srgbClr>
          </a:solidFill>
          <a:ln w="12700">
            <a:solidFill>
              <a:srgbClr val="39A8FF">
                <a:alpha val="0"/>
              </a:srgbClr>
            </a:solidFill>
            <a:prstDash val="solid"/>
          </a:ln>
        </p:spPr>
      </p:sp>
      <p:sp>
        <p:nvSpPr>
          <p:cNvPr id="29" name="Shape 26"/>
          <p:cNvSpPr/>
          <p:nvPr/>
        </p:nvSpPr>
        <p:spPr>
          <a:xfrm>
            <a:off x="6547104" y="2578608"/>
            <a:ext cx="146304" cy="246888"/>
          </a:xfrm>
          <a:prstGeom prst="rect">
            <a:avLst/>
          </a:prstGeom>
          <a:solidFill>
            <a:srgbClr val="39A8FF">
              <a:alpha val="20000"/>
            </a:srgbClr>
          </a:solidFill>
          <a:ln w="12700">
            <a:solidFill>
              <a:srgbClr val="39A8FF">
                <a:alpha val="0"/>
              </a:srgbClr>
            </a:solidFill>
            <a:prstDash val="solid"/>
          </a:ln>
        </p:spPr>
      </p:sp>
      <p:sp>
        <p:nvSpPr>
          <p:cNvPr id="30" name="Shape 27"/>
          <p:cNvSpPr/>
          <p:nvPr/>
        </p:nvSpPr>
        <p:spPr>
          <a:xfrm>
            <a:off x="7562088" y="2578608"/>
            <a:ext cx="146304" cy="246888"/>
          </a:xfrm>
          <a:prstGeom prst="rect">
            <a:avLst/>
          </a:prstGeom>
          <a:solidFill>
            <a:srgbClr val="39A8FF">
              <a:alpha val="20000"/>
            </a:srgbClr>
          </a:solidFill>
          <a:ln w="12700">
            <a:solidFill>
              <a:srgbClr val="39A8FF">
                <a:alpha val="0"/>
              </a:srgbClr>
            </a:solidFill>
            <a:prstDash val="solid"/>
          </a:ln>
        </p:spPr>
      </p:sp>
      <p:sp>
        <p:nvSpPr>
          <p:cNvPr id="31" name="Shape 28"/>
          <p:cNvSpPr/>
          <p:nvPr/>
        </p:nvSpPr>
        <p:spPr>
          <a:xfrm>
            <a:off x="6172200" y="3767328"/>
            <a:ext cx="658368" cy="182880"/>
          </a:xfrm>
          <a:prstGeom prst="roundRect">
            <a:avLst>
              <a:gd name="adj" fmla="val 25000"/>
            </a:avLst>
          </a:prstGeom>
          <a:solidFill>
            <a:srgbClr val="DC2626"/>
          </a:solidFill>
          <a:ln w="12700">
            <a:solidFill>
              <a:srgbClr val="DC2626"/>
            </a:solidFill>
            <a:prstDash val="solid"/>
          </a:ln>
        </p:spPr>
      </p:sp>
      <p:sp>
        <p:nvSpPr>
          <p:cNvPr id="32" name="Text 29"/>
          <p:cNvSpPr/>
          <p:nvPr/>
        </p:nvSpPr>
        <p:spPr>
          <a:xfrm>
            <a:off x="6172200" y="3776472"/>
            <a:ext cx="658368"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wall</a:t>
            </a:r>
            <a:endParaRPr lang="en-US" sz="1100" dirty="0"/>
          </a:p>
        </p:txBody>
      </p:sp>
      <p:sp>
        <p:nvSpPr>
          <p:cNvPr id="33" name="Shape 30"/>
          <p:cNvSpPr/>
          <p:nvPr/>
        </p:nvSpPr>
        <p:spPr>
          <a:xfrm>
            <a:off x="6858000" y="3767328"/>
            <a:ext cx="658368" cy="182880"/>
          </a:xfrm>
          <a:prstGeom prst="roundRect">
            <a:avLst>
              <a:gd name="adj" fmla="val 25000"/>
            </a:avLst>
          </a:prstGeom>
          <a:solidFill>
            <a:srgbClr val="10B981"/>
          </a:solidFill>
          <a:ln w="12700">
            <a:solidFill>
              <a:srgbClr val="10B981"/>
            </a:solidFill>
            <a:prstDash val="solid"/>
          </a:ln>
        </p:spPr>
      </p:sp>
      <p:sp>
        <p:nvSpPr>
          <p:cNvPr id="34" name="Text 31"/>
          <p:cNvSpPr/>
          <p:nvPr/>
        </p:nvSpPr>
        <p:spPr>
          <a:xfrm>
            <a:off x="6858000" y="3776472"/>
            <a:ext cx="658368"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diel</a:t>
            </a:r>
            <a:endParaRPr lang="en-US" sz="1100" dirty="0"/>
          </a:p>
        </p:txBody>
      </p:sp>
      <p:sp>
        <p:nvSpPr>
          <p:cNvPr id="35" name="Shape 32"/>
          <p:cNvSpPr/>
          <p:nvPr/>
        </p:nvSpPr>
        <p:spPr>
          <a:xfrm>
            <a:off x="7543800" y="3767328"/>
            <a:ext cx="658368" cy="182880"/>
          </a:xfrm>
          <a:prstGeom prst="roundRect">
            <a:avLst>
              <a:gd name="adj" fmla="val 25000"/>
            </a:avLst>
          </a:prstGeom>
          <a:solidFill>
            <a:srgbClr val="3B82F6"/>
          </a:solidFill>
          <a:ln w="12700">
            <a:solidFill>
              <a:srgbClr val="3B82F6"/>
            </a:solidFill>
            <a:prstDash val="solid"/>
          </a:ln>
        </p:spPr>
      </p:sp>
      <p:sp>
        <p:nvSpPr>
          <p:cNvPr id="36" name="Text 33"/>
          <p:cNvSpPr/>
          <p:nvPr/>
        </p:nvSpPr>
        <p:spPr>
          <a:xfrm>
            <a:off x="7543800" y="3776472"/>
            <a:ext cx="658368"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in/out</a:t>
            </a:r>
            <a:endParaRPr lang="en-US" sz="1100" dirty="0"/>
          </a:p>
        </p:txBody>
      </p:sp>
      <p:sp>
        <p:nvSpPr>
          <p:cNvPr id="37" name="Shape 34"/>
          <p:cNvSpPr/>
          <p:nvPr/>
        </p:nvSpPr>
        <p:spPr>
          <a:xfrm>
            <a:off x="6858000" y="4023360"/>
            <a:ext cx="658368" cy="182880"/>
          </a:xfrm>
          <a:prstGeom prst="roundRect">
            <a:avLst>
              <a:gd name="adj" fmla="val 25000"/>
            </a:avLst>
          </a:prstGeom>
          <a:solidFill>
            <a:srgbClr val="6B7280"/>
          </a:solidFill>
          <a:ln w="12700">
            <a:solidFill>
              <a:srgbClr val="6B7280"/>
            </a:solidFill>
            <a:prstDash val="solid"/>
          </a:ln>
        </p:spPr>
      </p:sp>
      <p:sp>
        <p:nvSpPr>
          <p:cNvPr id="38" name="Text 35"/>
          <p:cNvSpPr/>
          <p:nvPr/>
        </p:nvSpPr>
        <p:spPr>
          <a:xfrm>
            <a:off x="6858000" y="4032504"/>
            <a:ext cx="658368" cy="17373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bulk</a:t>
            </a:r>
            <a:endParaRPr lang="en-US" sz="1100" dirty="0"/>
          </a:p>
        </p:txBody>
      </p:sp>
      <p:sp>
        <p:nvSpPr>
          <p:cNvPr id="39" name="Text 36"/>
          <p:cNvSpPr/>
          <p:nvPr/>
        </p:nvSpPr>
        <p:spPr>
          <a:xfrm>
            <a:off x="8321040" y="1965960"/>
            <a:ext cx="2743200" cy="86868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SDF 帯域で層別サンプリング</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wall / dielectric / inlet / outlet / bulk を毎バッチに含める</a:t>
            </a:r>
            <a:endParaRPr lang="en-US" sz="1500" dirty="0"/>
          </a:p>
        </p:txBody>
      </p:sp>
      <p:sp>
        <p:nvSpPr>
          <p:cNvPr id="40" name="Text 37"/>
          <p:cNvSpPr/>
          <p:nvPr/>
        </p:nvSpPr>
        <p:spPr>
          <a:xfrm>
            <a:off x="8321040" y="2926080"/>
            <a:ext cx="2743200" cy="114300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損失: 全域場 + wall En + interface jump + port balance</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推論後: 既知 Dirichlet 境界を overwrite</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任意: 低信頼サンプルの再学習分岐</a:t>
            </a:r>
            <a:endParaRPr lang="en-US" sz="1500" dirty="0"/>
          </a:p>
        </p:txBody>
      </p:sp>
      <p:sp>
        <p:nvSpPr>
          <p:cNvPr id="41" name="Text 3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処理フロー: 推論、信頼度判定、再学習までを一続きで設計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フロー</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4688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方法請求項と運用フローの両方に対応する概念図</a:t>
            </a:r>
            <a:endParaRPr lang="en-US" sz="1600" dirty="0"/>
          </a:p>
        </p:txBody>
      </p:sp>
      <p:sp>
        <p:nvSpPr>
          <p:cNvPr id="8" name="Shape 6"/>
          <p:cNvSpPr/>
          <p:nvPr/>
        </p:nvSpPr>
        <p:spPr>
          <a:xfrm>
            <a:off x="2148840" y="2743200"/>
            <a:ext cx="292608" cy="0"/>
          </a:xfrm>
          <a:prstGeom prst="line">
            <a:avLst/>
          </a:prstGeom>
          <a:noFill/>
          <a:ln w="27940">
            <a:solidFill>
              <a:srgbClr val="39A8FF"/>
            </a:solidFill>
            <a:prstDash val="solid"/>
            <a:tailEnd type="triangle"/>
          </a:ln>
        </p:spPr>
      </p:sp>
      <p:sp>
        <p:nvSpPr>
          <p:cNvPr id="9" name="Shape 7"/>
          <p:cNvSpPr/>
          <p:nvPr/>
        </p:nvSpPr>
        <p:spPr>
          <a:xfrm>
            <a:off x="3749040" y="2743200"/>
            <a:ext cx="566928" cy="0"/>
          </a:xfrm>
          <a:prstGeom prst="line">
            <a:avLst/>
          </a:prstGeom>
          <a:noFill/>
          <a:ln w="27940">
            <a:solidFill>
              <a:srgbClr val="39A8FF"/>
            </a:solidFill>
            <a:prstDash val="solid"/>
            <a:tailEnd type="triangle"/>
          </a:ln>
        </p:spPr>
      </p:sp>
      <p:sp>
        <p:nvSpPr>
          <p:cNvPr id="10" name="Shape 8"/>
          <p:cNvSpPr/>
          <p:nvPr/>
        </p:nvSpPr>
        <p:spPr>
          <a:xfrm>
            <a:off x="5623560" y="2743200"/>
            <a:ext cx="612648" cy="0"/>
          </a:xfrm>
          <a:prstGeom prst="line">
            <a:avLst/>
          </a:prstGeom>
          <a:noFill/>
          <a:ln w="27940">
            <a:solidFill>
              <a:srgbClr val="39A8FF"/>
            </a:solidFill>
            <a:prstDash val="solid"/>
            <a:tailEnd type="triangle"/>
          </a:ln>
        </p:spPr>
      </p:sp>
      <p:sp>
        <p:nvSpPr>
          <p:cNvPr id="11" name="Shape 9"/>
          <p:cNvSpPr/>
          <p:nvPr/>
        </p:nvSpPr>
        <p:spPr>
          <a:xfrm>
            <a:off x="7543800" y="2743200"/>
            <a:ext cx="338328" cy="0"/>
          </a:xfrm>
          <a:prstGeom prst="line">
            <a:avLst/>
          </a:prstGeom>
          <a:noFill/>
          <a:ln w="27940">
            <a:solidFill>
              <a:srgbClr val="39A8FF"/>
            </a:solidFill>
            <a:prstDash val="solid"/>
            <a:tailEnd type="triangle"/>
          </a:ln>
        </p:spPr>
      </p:sp>
      <p:sp>
        <p:nvSpPr>
          <p:cNvPr id="12" name="Shape 10"/>
          <p:cNvSpPr/>
          <p:nvPr/>
        </p:nvSpPr>
        <p:spPr>
          <a:xfrm>
            <a:off x="9189720" y="2743200"/>
            <a:ext cx="201168" cy="0"/>
          </a:xfrm>
          <a:prstGeom prst="line">
            <a:avLst/>
          </a:prstGeom>
          <a:noFill/>
          <a:ln w="27940">
            <a:solidFill>
              <a:srgbClr val="39A8FF"/>
            </a:solidFill>
            <a:prstDash val="solid"/>
            <a:tailEnd type="triangle"/>
          </a:ln>
        </p:spPr>
      </p:sp>
      <p:sp>
        <p:nvSpPr>
          <p:cNvPr id="13" name="Shape 11"/>
          <p:cNvSpPr/>
          <p:nvPr/>
        </p:nvSpPr>
        <p:spPr>
          <a:xfrm>
            <a:off x="914400" y="2240280"/>
            <a:ext cx="1234440" cy="1005840"/>
          </a:xfrm>
          <a:prstGeom prst="roundRect">
            <a:avLst>
              <a:gd name="adj" fmla="val 5455"/>
            </a:avLst>
          </a:prstGeom>
          <a:solidFill>
            <a:srgbClr val="F8FBFE"/>
          </a:solidFill>
          <a:ln w="12700">
            <a:solidFill>
              <a:srgbClr val="C7E7FF"/>
            </a:solidFill>
            <a:prstDash val="solid"/>
          </a:ln>
        </p:spPr>
      </p:sp>
      <p:sp>
        <p:nvSpPr>
          <p:cNvPr id="14" name="Text 12"/>
          <p:cNvSpPr/>
          <p:nvPr/>
        </p:nvSpPr>
        <p:spPr>
          <a:xfrm>
            <a:off x="969264" y="2487168"/>
            <a:ext cx="1124712" cy="41148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S1</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幾何/条件取得</a:t>
            </a:r>
            <a:endParaRPr lang="en-US" sz="1600" dirty="0"/>
          </a:p>
        </p:txBody>
      </p:sp>
      <p:sp>
        <p:nvSpPr>
          <p:cNvPr id="15" name="Shape 13"/>
          <p:cNvSpPr/>
          <p:nvPr/>
        </p:nvSpPr>
        <p:spPr>
          <a:xfrm>
            <a:off x="2514600" y="2240280"/>
            <a:ext cx="1234440" cy="1005840"/>
          </a:xfrm>
          <a:prstGeom prst="roundRect">
            <a:avLst>
              <a:gd name="adj" fmla="val 5455"/>
            </a:avLst>
          </a:prstGeom>
          <a:solidFill>
            <a:srgbClr val="F8FBFE"/>
          </a:solidFill>
          <a:ln w="12700">
            <a:solidFill>
              <a:srgbClr val="C7E7FF"/>
            </a:solidFill>
            <a:prstDash val="solid"/>
          </a:ln>
        </p:spPr>
      </p:sp>
      <p:sp>
        <p:nvSpPr>
          <p:cNvPr id="16" name="Text 14"/>
          <p:cNvSpPr/>
          <p:nvPr/>
        </p:nvSpPr>
        <p:spPr>
          <a:xfrm>
            <a:off x="2569464" y="2487168"/>
            <a:ext cx="1124712" cy="41148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S2</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SDF/物理map生成</a:t>
            </a:r>
            <a:endParaRPr lang="en-US" sz="1600" dirty="0"/>
          </a:p>
        </p:txBody>
      </p:sp>
      <p:sp>
        <p:nvSpPr>
          <p:cNvPr id="17" name="Shape 15"/>
          <p:cNvSpPr/>
          <p:nvPr/>
        </p:nvSpPr>
        <p:spPr>
          <a:xfrm>
            <a:off x="4389120" y="2240280"/>
            <a:ext cx="1234440" cy="1005840"/>
          </a:xfrm>
          <a:prstGeom prst="roundRect">
            <a:avLst>
              <a:gd name="adj" fmla="val 5455"/>
            </a:avLst>
          </a:prstGeom>
          <a:solidFill>
            <a:srgbClr val="F8FBFE"/>
          </a:solidFill>
          <a:ln w="12700">
            <a:solidFill>
              <a:srgbClr val="C7E7FF"/>
            </a:solidFill>
            <a:prstDash val="solid"/>
          </a:ln>
        </p:spPr>
      </p:sp>
      <p:sp>
        <p:nvSpPr>
          <p:cNvPr id="18" name="Text 16"/>
          <p:cNvSpPr/>
          <p:nvPr/>
        </p:nvSpPr>
        <p:spPr>
          <a:xfrm>
            <a:off x="4443984" y="2487168"/>
            <a:ext cx="1124712" cy="41148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S3</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特徴テンソル作成</a:t>
            </a:r>
            <a:endParaRPr lang="en-US" sz="1600" dirty="0"/>
          </a:p>
        </p:txBody>
      </p:sp>
      <p:sp>
        <p:nvSpPr>
          <p:cNvPr id="19" name="Shape 17"/>
          <p:cNvSpPr/>
          <p:nvPr/>
        </p:nvSpPr>
        <p:spPr>
          <a:xfrm>
            <a:off x="6309360" y="2240280"/>
            <a:ext cx="1234440" cy="1005840"/>
          </a:xfrm>
          <a:prstGeom prst="roundRect">
            <a:avLst>
              <a:gd name="adj" fmla="val 5455"/>
            </a:avLst>
          </a:prstGeom>
          <a:solidFill>
            <a:srgbClr val="F8FBFE"/>
          </a:solidFill>
          <a:ln w="12700">
            <a:solidFill>
              <a:srgbClr val="C7E7FF"/>
            </a:solidFill>
            <a:prstDash val="solid"/>
          </a:ln>
        </p:spPr>
      </p:sp>
      <p:sp>
        <p:nvSpPr>
          <p:cNvPr id="20" name="Text 18"/>
          <p:cNvSpPr/>
          <p:nvPr/>
        </p:nvSpPr>
        <p:spPr>
          <a:xfrm>
            <a:off x="6364224" y="2487168"/>
            <a:ext cx="1124712" cy="41148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S4</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U-Net推論</a:t>
            </a:r>
            <a:endParaRPr lang="en-US" sz="1600" dirty="0"/>
          </a:p>
        </p:txBody>
      </p:sp>
      <p:sp>
        <p:nvSpPr>
          <p:cNvPr id="21" name="Shape 19"/>
          <p:cNvSpPr/>
          <p:nvPr/>
        </p:nvSpPr>
        <p:spPr>
          <a:xfrm>
            <a:off x="7955280" y="2240280"/>
            <a:ext cx="1234440" cy="1005840"/>
          </a:xfrm>
          <a:prstGeom prst="roundRect">
            <a:avLst>
              <a:gd name="adj" fmla="val 5455"/>
            </a:avLst>
          </a:prstGeom>
          <a:solidFill>
            <a:srgbClr val="F8FBFE"/>
          </a:solidFill>
          <a:ln w="12700">
            <a:solidFill>
              <a:srgbClr val="C7E7FF"/>
            </a:solidFill>
            <a:prstDash val="solid"/>
          </a:ln>
        </p:spPr>
      </p:sp>
      <p:sp>
        <p:nvSpPr>
          <p:cNvPr id="22" name="Text 20"/>
          <p:cNvSpPr/>
          <p:nvPr/>
        </p:nvSpPr>
        <p:spPr>
          <a:xfrm>
            <a:off x="8010144" y="2487168"/>
            <a:ext cx="1124712" cy="41148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S5</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境界上書き</a:t>
            </a:r>
            <a:endParaRPr lang="en-US" sz="1600" dirty="0"/>
          </a:p>
        </p:txBody>
      </p:sp>
      <p:sp>
        <p:nvSpPr>
          <p:cNvPr id="23" name="Shape 21"/>
          <p:cNvSpPr/>
          <p:nvPr/>
        </p:nvSpPr>
        <p:spPr>
          <a:xfrm>
            <a:off x="9464040" y="2240280"/>
            <a:ext cx="1234440" cy="1005840"/>
          </a:xfrm>
          <a:prstGeom prst="roundRect">
            <a:avLst>
              <a:gd name="adj" fmla="val 5455"/>
            </a:avLst>
          </a:prstGeom>
          <a:solidFill>
            <a:srgbClr val="F8FBFE"/>
          </a:solidFill>
          <a:ln w="12700">
            <a:solidFill>
              <a:srgbClr val="C7E7FF"/>
            </a:solidFill>
            <a:prstDash val="solid"/>
          </a:ln>
        </p:spPr>
      </p:sp>
      <p:sp>
        <p:nvSpPr>
          <p:cNvPr id="24" name="Text 22"/>
          <p:cNvSpPr/>
          <p:nvPr/>
        </p:nvSpPr>
        <p:spPr>
          <a:xfrm>
            <a:off x="9518904" y="2487168"/>
            <a:ext cx="1124712" cy="411480"/>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S6</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活用出力</a:t>
            </a:r>
            <a:endParaRPr lang="en-US" sz="1600" dirty="0"/>
          </a:p>
        </p:txBody>
      </p:sp>
      <p:sp>
        <p:nvSpPr>
          <p:cNvPr id="25" name="Shape 23"/>
          <p:cNvSpPr/>
          <p:nvPr/>
        </p:nvSpPr>
        <p:spPr>
          <a:xfrm>
            <a:off x="6263640" y="3840480"/>
            <a:ext cx="1463040" cy="713232"/>
          </a:xfrm>
          <a:prstGeom prst="roundRect">
            <a:avLst>
              <a:gd name="adj" fmla="val 7692"/>
            </a:avLst>
          </a:prstGeom>
          <a:solidFill>
            <a:srgbClr val="FFF8EE"/>
          </a:solidFill>
          <a:ln w="12700">
            <a:solidFill>
              <a:srgbClr val="F7D6A1"/>
            </a:solidFill>
            <a:prstDash val="solid"/>
          </a:ln>
        </p:spPr>
      </p:sp>
      <p:sp>
        <p:nvSpPr>
          <p:cNvPr id="26" name="Text 24"/>
          <p:cNvSpPr/>
          <p:nvPr/>
        </p:nvSpPr>
        <p:spPr>
          <a:xfrm>
            <a:off x="6355080" y="4041648"/>
            <a:ext cx="1280160" cy="256032"/>
          </a:xfrm>
          <a:prstGeom prst="rect">
            <a:avLst/>
          </a:prstGeom>
          <a:noFill/>
          <a:ln/>
        </p:spPr>
        <p:txBody>
          <a:bodyPr wrap="square" lIns="0" tIns="0" rIns="0" bIns="0" rtlCol="0" anchor="ctr">
            <a:normAutofit/>
          </a:bodyPr>
          <a:lstStyle/>
          <a:p>
            <a:pPr algn="ctr" indent="0" marL="0">
              <a:buNone/>
            </a:pPr>
            <a:r>
              <a:rPr lang="en-US" sz="1500" b="1" dirty="0">
                <a:solidFill>
                  <a:srgbClr val="8A5A0A"/>
                </a:solidFill>
                <a:latin typeface="Meiryo" pitchFamily="34" charset="0"/>
                <a:ea typeface="Meiryo" pitchFamily="34" charset="-122"/>
                <a:cs typeface="Meiryo" pitchFamily="34" charset="-120"/>
              </a:rPr>
              <a:t>任意</a:t>
            </a:r>
            <a:endParaRPr lang="en-US" sz="1500" dirty="0"/>
          </a:p>
          <a:p>
            <a:pPr algn="ctr" indent="0" marL="0">
              <a:buNone/>
            </a:pPr>
            <a:r>
              <a:rPr lang="en-US" sz="1500" b="1" dirty="0">
                <a:solidFill>
                  <a:srgbClr val="8A5A0A"/>
                </a:solidFill>
                <a:latin typeface="Meiryo" pitchFamily="34" charset="0"/>
                <a:ea typeface="Meiryo" pitchFamily="34" charset="-122"/>
                <a:cs typeface="Meiryo" pitchFamily="34" charset="-120"/>
              </a:rPr>
              <a:t>信頼度評価</a:t>
            </a:r>
            <a:endParaRPr lang="en-US" sz="1500" dirty="0"/>
          </a:p>
        </p:txBody>
      </p:sp>
      <p:sp>
        <p:nvSpPr>
          <p:cNvPr id="27" name="Shape 25"/>
          <p:cNvSpPr/>
          <p:nvPr/>
        </p:nvSpPr>
        <p:spPr>
          <a:xfrm>
            <a:off x="7040880" y="3310128"/>
            <a:ext cx="0" cy="512064"/>
          </a:xfrm>
          <a:prstGeom prst="line">
            <a:avLst/>
          </a:prstGeom>
          <a:noFill/>
          <a:ln w="25400">
            <a:solidFill>
              <a:srgbClr val="F59E0B"/>
            </a:solidFill>
            <a:prstDash val="solid"/>
            <a:tailEnd type="triangle"/>
          </a:ln>
        </p:spPr>
      </p:sp>
      <p:sp>
        <p:nvSpPr>
          <p:cNvPr id="28" name="Shape 26"/>
          <p:cNvSpPr/>
          <p:nvPr/>
        </p:nvSpPr>
        <p:spPr>
          <a:xfrm>
            <a:off x="8001000" y="3840480"/>
            <a:ext cx="1234440" cy="713232"/>
          </a:xfrm>
          <a:prstGeom prst="roundRect">
            <a:avLst>
              <a:gd name="adj" fmla="val 7692"/>
            </a:avLst>
          </a:prstGeom>
          <a:solidFill>
            <a:srgbClr val="F1FBF7"/>
          </a:solidFill>
          <a:ln w="12700">
            <a:solidFill>
              <a:srgbClr val="CBEFDB"/>
            </a:solidFill>
            <a:prstDash val="solid"/>
          </a:ln>
        </p:spPr>
      </p:sp>
      <p:sp>
        <p:nvSpPr>
          <p:cNvPr id="29" name="Text 27"/>
          <p:cNvSpPr/>
          <p:nvPr/>
        </p:nvSpPr>
        <p:spPr>
          <a:xfrm>
            <a:off x="8074152" y="4041648"/>
            <a:ext cx="1078992" cy="256032"/>
          </a:xfrm>
          <a:prstGeom prst="rect">
            <a:avLst/>
          </a:prstGeom>
          <a:noFill/>
          <a:ln/>
        </p:spPr>
        <p:txBody>
          <a:bodyPr wrap="square" lIns="0" tIns="0" rIns="0" bIns="0" rtlCol="0" anchor="ctr">
            <a:normAutofit/>
          </a:bodyPr>
          <a:lstStyle/>
          <a:p>
            <a:pPr algn="ctr" indent="0" marL="0">
              <a:buNone/>
            </a:pPr>
            <a:r>
              <a:rPr lang="en-US" sz="1500" b="1" dirty="0">
                <a:solidFill>
                  <a:srgbClr val="059669"/>
                </a:solidFill>
                <a:latin typeface="Meiryo" pitchFamily="34" charset="0"/>
                <a:ea typeface="Meiryo" pitchFamily="34" charset="-122"/>
                <a:cs typeface="Meiryo" pitchFamily="34" charset="-120"/>
              </a:rPr>
              <a:t>高信頼</a:t>
            </a:r>
            <a:endParaRPr lang="en-US" sz="1500" dirty="0"/>
          </a:p>
          <a:p>
            <a:pPr algn="ctr" indent="0" marL="0">
              <a:buNone/>
            </a:pPr>
            <a:r>
              <a:rPr lang="en-US" sz="1500" b="1" dirty="0">
                <a:solidFill>
                  <a:srgbClr val="059669"/>
                </a:solidFill>
                <a:latin typeface="Meiryo" pitchFamily="34" charset="0"/>
                <a:ea typeface="Meiryo" pitchFamily="34" charset="-122"/>
                <a:cs typeface="Meiryo" pitchFamily="34" charset="-120"/>
              </a:rPr>
              <a:t>活用</a:t>
            </a:r>
            <a:endParaRPr lang="en-US" sz="1500" dirty="0"/>
          </a:p>
        </p:txBody>
      </p:sp>
      <p:sp>
        <p:nvSpPr>
          <p:cNvPr id="30" name="Shape 28"/>
          <p:cNvSpPr/>
          <p:nvPr/>
        </p:nvSpPr>
        <p:spPr>
          <a:xfrm>
            <a:off x="7754112" y="4187952"/>
            <a:ext cx="219456" cy="0"/>
          </a:xfrm>
          <a:prstGeom prst="line">
            <a:avLst/>
          </a:prstGeom>
          <a:noFill/>
          <a:ln w="25400">
            <a:solidFill>
              <a:srgbClr val="059669"/>
            </a:solidFill>
            <a:prstDash val="solid"/>
            <a:tailEnd type="triangle"/>
          </a:ln>
        </p:spPr>
      </p:sp>
      <p:sp>
        <p:nvSpPr>
          <p:cNvPr id="31" name="Shape 29"/>
          <p:cNvSpPr/>
          <p:nvPr/>
        </p:nvSpPr>
        <p:spPr>
          <a:xfrm>
            <a:off x="9464040" y="3840480"/>
            <a:ext cx="1417320" cy="713232"/>
          </a:xfrm>
          <a:prstGeom prst="roundRect">
            <a:avLst>
              <a:gd name="adj" fmla="val 7692"/>
            </a:avLst>
          </a:prstGeom>
          <a:solidFill>
            <a:srgbClr val="FDECEC"/>
          </a:solidFill>
          <a:ln w="12700">
            <a:solidFill>
              <a:srgbClr val="F5C2C7"/>
            </a:solidFill>
            <a:prstDash val="solid"/>
          </a:ln>
        </p:spPr>
      </p:sp>
      <p:sp>
        <p:nvSpPr>
          <p:cNvPr id="32" name="Text 30"/>
          <p:cNvSpPr/>
          <p:nvPr/>
        </p:nvSpPr>
        <p:spPr>
          <a:xfrm>
            <a:off x="9555480" y="4041648"/>
            <a:ext cx="1234440" cy="256032"/>
          </a:xfrm>
          <a:prstGeom prst="rect">
            <a:avLst/>
          </a:prstGeom>
          <a:noFill/>
          <a:ln/>
        </p:spPr>
        <p:txBody>
          <a:bodyPr wrap="square" lIns="0" tIns="0" rIns="0" bIns="0" rtlCol="0" anchor="ctr">
            <a:normAutofit/>
          </a:bodyPr>
          <a:lstStyle/>
          <a:p>
            <a:pPr algn="ctr" indent="0" marL="0">
              <a:buNone/>
            </a:pPr>
            <a:r>
              <a:rPr lang="en-US" sz="1500" b="1" dirty="0">
                <a:solidFill>
                  <a:srgbClr val="DC2626"/>
                </a:solidFill>
                <a:latin typeface="Meiryo" pitchFamily="34" charset="0"/>
                <a:ea typeface="Meiryo" pitchFamily="34" charset="-122"/>
                <a:cs typeface="Meiryo" pitchFamily="34" charset="-120"/>
              </a:rPr>
              <a:t>低信頼</a:t>
            </a:r>
            <a:endParaRPr lang="en-US" sz="1500" dirty="0"/>
          </a:p>
          <a:p>
            <a:pPr algn="ctr" indent="0" marL="0">
              <a:buNone/>
            </a:pPr>
            <a:r>
              <a:rPr lang="en-US" sz="1500" b="1" dirty="0">
                <a:solidFill>
                  <a:srgbClr val="DC2626"/>
                </a:solidFill>
                <a:latin typeface="Meiryo" pitchFamily="34" charset="0"/>
                <a:ea typeface="Meiryo" pitchFamily="34" charset="-122"/>
                <a:cs typeface="Meiryo" pitchFamily="34" charset="-120"/>
              </a:rPr>
              <a:t>教師追加</a:t>
            </a:r>
            <a:endParaRPr lang="en-US" sz="1500" dirty="0"/>
          </a:p>
        </p:txBody>
      </p:sp>
      <p:sp>
        <p:nvSpPr>
          <p:cNvPr id="33" name="Shape 31"/>
          <p:cNvSpPr/>
          <p:nvPr/>
        </p:nvSpPr>
        <p:spPr>
          <a:xfrm>
            <a:off x="7754112" y="4187952"/>
            <a:ext cx="1682496" cy="0"/>
          </a:xfrm>
          <a:prstGeom prst="line">
            <a:avLst/>
          </a:prstGeom>
          <a:noFill/>
          <a:ln w="25400">
            <a:solidFill>
              <a:srgbClr val="DC2626"/>
            </a:solidFill>
            <a:prstDash val="solid"/>
            <a:tailEnd type="triangle"/>
          </a:ln>
        </p:spPr>
      </p:sp>
      <p:sp>
        <p:nvSpPr>
          <p:cNvPr id="34" name="Shape 32"/>
          <p:cNvSpPr/>
          <p:nvPr/>
        </p:nvSpPr>
        <p:spPr>
          <a:xfrm>
            <a:off x="10149840" y="4553712"/>
            <a:ext cx="0" cy="566928"/>
          </a:xfrm>
          <a:prstGeom prst="line">
            <a:avLst/>
          </a:prstGeom>
          <a:noFill/>
          <a:ln w="25400">
            <a:solidFill>
              <a:srgbClr val="DC2626"/>
            </a:solidFill>
            <a:prstDash val="solid"/>
            <a:tailEnd type="triangle"/>
          </a:ln>
        </p:spPr>
      </p:sp>
      <p:sp>
        <p:nvSpPr>
          <p:cNvPr id="35" name="Shape 33"/>
          <p:cNvSpPr/>
          <p:nvPr/>
        </p:nvSpPr>
        <p:spPr>
          <a:xfrm>
            <a:off x="8915400" y="5138928"/>
            <a:ext cx="2468880" cy="658368"/>
          </a:xfrm>
          <a:prstGeom prst="roundRect">
            <a:avLst>
              <a:gd name="adj" fmla="val 8333"/>
            </a:avLst>
          </a:prstGeom>
          <a:solidFill>
            <a:srgbClr val="FFFFFF"/>
          </a:solidFill>
          <a:ln w="12700">
            <a:solidFill>
              <a:srgbClr val="D7E3ED"/>
            </a:solidFill>
            <a:prstDash val="solid"/>
          </a:ln>
        </p:spPr>
      </p:sp>
      <p:sp>
        <p:nvSpPr>
          <p:cNvPr id="36" name="Text 34"/>
          <p:cNvSpPr/>
          <p:nvPr/>
        </p:nvSpPr>
        <p:spPr>
          <a:xfrm>
            <a:off x="9098280" y="5376672"/>
            <a:ext cx="2057400" cy="146304"/>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S7 追加計算 / 再学習 / モデル更新</a:t>
            </a:r>
            <a:endParaRPr lang="en-US" sz="1400" dirty="0"/>
          </a:p>
        </p:txBody>
      </p:sp>
      <p:sp>
        <p:nvSpPr>
          <p:cNvPr id="37" name="Text 35"/>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従来技術と提案技術の比較マトリクス</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比較</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7432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通常 U-Net を基準にした差分が、発明の説明軸になる</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96112" y="1417320"/>
          <a:ext cx="10287000" cy="4069080"/>
        </p:xfrm>
        <a:graphic>
          <a:graphicData uri="http://schemas.openxmlformats.org/drawingml/2006/table">
            <a:tbl>
              <a:tblPr/>
              <a:tblGrid>
                <a:gridCol w="2263140"/>
                <a:gridCol w="3703320"/>
                <a:gridCol w="4320540"/>
              </a:tblGrid>
              <a:tr h="347472">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観点</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通常U-Net</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提案技術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幾何入力</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mask / 材料 map</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役割別 multi-SDF + 法線</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入力電圧</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V scalar</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Φbc と Ebc の空間 map</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誘電体</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one-hot 程度</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εr map + 界面 loss + 任意でσs</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ガス入力</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総流量 / 圧力 scalar</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Qin, Yin, Tin の inflow map</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排気</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outlet pressure</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Sout map + Seff</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学習単位</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全域平均</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wall / interface / port 帯域学習</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後処理</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なし or weak</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既知電位境界の overwrite</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r h="420624">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適用性</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同一装置・近傍条件に強い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c>
                  <a:txBody>
                    <a:bodyPr/>
                    <a:lstStyle/>
                    <a:p>
                      <a:pPr indent="0" marL="0">
                        <a:buNone/>
                      </a:pPr>
                      <a:r>
                        <a:rPr lang="en-US" sz="1350" b="1" dirty="0">
                          <a:solidFill>
                            <a:srgbClr val="111111"/>
                          </a:solidFill>
                          <a:latin typeface="Meiryo" pitchFamily="34" charset="0"/>
                          <a:ea typeface="Meiryo" pitchFamily="34" charset="-122"/>
                          <a:cs typeface="Meiryo" pitchFamily="34" charset="-120"/>
                        </a:rPr>
                        <a:t>装置差 / 条件差を吸収しやすい</a:t>
                      </a:r>
                      <a:endParaRPr lang="en-US" sz="1350" dirty="0">
                        <a:latin typeface="Meiryo" charset="0"/>
                        <a:ea typeface="Meiryo" charset="0"/>
                        <a:cs typeface="Meiryo" charset="0"/>
                      </a:endParaRPr>
                    </a:p>
                  </a:txBody>
                  <a:tcPr marL="45720" marR="45720" marT="45720" marB="45720" anchor="mid">
                    <a:lnL w="12700" cap="flat" cmpd="sng" algn="ctr">
                      <a:solidFill>
                        <a:srgbClr val="D7E3ED"/>
                      </a:solidFill>
                      <a:prstDash val="solid"/>
                      <a:round/>
                      <a:headEnd type="none" w="med" len="med"/>
                      <a:tailEnd type="none" w="med" len="med"/>
                    </a:lnL>
                    <a:lnR w="12700" cap="flat" cmpd="sng" algn="ctr">
                      <a:solidFill>
                        <a:srgbClr val="D7E3ED"/>
                      </a:solidFill>
                      <a:prstDash val="solid"/>
                      <a:round/>
                      <a:headEnd type="none" w="med" len="med"/>
                      <a:tailEnd type="none" w="med" len="med"/>
                    </a:lnR>
                    <a:lnT w="12700" cap="flat" cmpd="sng" algn="ctr">
                      <a:solidFill>
                        <a:srgbClr val="D7E3ED"/>
                      </a:solidFill>
                      <a:prstDash val="solid"/>
                      <a:round/>
                      <a:headEnd type="none" w="med" len="med"/>
                      <a:tailEnd type="none" w="med" len="med"/>
                    </a:lnT>
                    <a:lnB w="12700" cap="flat" cmpd="sng" algn="ctr">
                      <a:solidFill>
                        <a:srgbClr val="D7E3ED"/>
                      </a:solidFill>
                      <a:prstDash val="solid"/>
                      <a:round/>
                      <a:headEnd type="none" w="med" len="med"/>
                      <a:tailEnd type="none" w="med" len="med"/>
                    </a:lnB>
                    <a:solidFill>
                      <a:srgbClr val="FFFFFF"/>
                    </a:solidFill>
                  </a:tcPr>
                </a:tc>
              </a:tr>
            </a:tbl>
          </a:graphicData>
        </a:graphic>
      </p:graphicFrame>
      <p:sp>
        <p:nvSpPr>
          <p:cNvPr id="9" name="Shape 6"/>
          <p:cNvSpPr/>
          <p:nvPr/>
        </p:nvSpPr>
        <p:spPr>
          <a:xfrm>
            <a:off x="896112" y="5623560"/>
            <a:ext cx="10287000" cy="438912"/>
          </a:xfrm>
          <a:prstGeom prst="roundRect">
            <a:avLst>
              <a:gd name="adj" fmla="val 12500"/>
            </a:avLst>
          </a:prstGeom>
          <a:solidFill>
            <a:srgbClr val="F4FBFF"/>
          </a:solidFill>
          <a:ln w="12700">
            <a:solidFill>
              <a:srgbClr val="C7E7FF"/>
            </a:solidFill>
            <a:prstDash val="solid"/>
          </a:ln>
        </p:spPr>
      </p:sp>
      <p:sp>
        <p:nvSpPr>
          <p:cNvPr id="10" name="Text 7"/>
          <p:cNvSpPr/>
          <p:nvPr/>
        </p:nvSpPr>
        <p:spPr>
          <a:xfrm>
            <a:off x="1097280" y="5751576"/>
            <a:ext cx="9875520" cy="146304"/>
          </a:xfrm>
          <a:prstGeom prst="rect">
            <a:avLst/>
          </a:prstGeom>
          <a:noFill/>
          <a:ln/>
        </p:spPr>
        <p:txBody>
          <a:bodyPr wrap="square" lIns="0" tIns="0" rIns="0" bIns="0" rtlCol="0" anchor="ctr">
            <a:normAutofit/>
          </a:bodyPr>
          <a:lstStyle/>
          <a:p>
            <a:pPr algn="ctr" indent="0" marL="0">
              <a:buNone/>
            </a:pPr>
            <a:r>
              <a:rPr lang="en-US" sz="1400" dirty="0">
                <a:solidFill>
                  <a:srgbClr val="111111"/>
                </a:solidFill>
                <a:latin typeface="Meiryo" pitchFamily="34" charset="0"/>
                <a:ea typeface="Meiryo" pitchFamily="34" charset="-122"/>
                <a:cs typeface="Meiryo" pitchFamily="34" charset="-120"/>
              </a:rPr>
              <a:t>結論: 提案は「別の巨大モデル」ではなく、「境界条件を意味のある入力へ作り替える」構成変更である。</a:t>
            </a:r>
            <a:endParaRPr lang="en-US" sz="1400" dirty="0"/>
          </a:p>
        </p:txBody>
      </p:sp>
      <p:sp>
        <p:nvSpPr>
          <p:cNvPr id="11" name="Text 8"/>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提案技術による効果1: 課題→機能→効果の対応付け</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効果</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420624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どの構成要素がどの課題に効くかを明示すると、有用性と進歩性が説明しやすい</a:t>
            </a:r>
            <a:endParaRPr lang="en-US" sz="1600" dirty="0"/>
          </a:p>
        </p:txBody>
      </p:sp>
      <p:sp>
        <p:nvSpPr>
          <p:cNvPr id="8" name="Shape 6"/>
          <p:cNvSpPr/>
          <p:nvPr/>
        </p:nvSpPr>
        <p:spPr>
          <a:xfrm>
            <a:off x="914400" y="1600200"/>
            <a:ext cx="2697480" cy="4206240"/>
          </a:xfrm>
          <a:prstGeom prst="roundRect">
            <a:avLst>
              <a:gd name="adj" fmla="val 2034"/>
            </a:avLst>
          </a:prstGeom>
          <a:solidFill>
            <a:srgbClr val="FFF8EE"/>
          </a:solidFill>
          <a:ln w="12700">
            <a:solidFill>
              <a:srgbClr val="F7D6A1"/>
            </a:solidFill>
            <a:prstDash val="solid"/>
          </a:ln>
        </p:spPr>
      </p:sp>
      <p:sp>
        <p:nvSpPr>
          <p:cNvPr id="9" name="Text 7"/>
          <p:cNvSpPr/>
          <p:nvPr/>
        </p:nvSpPr>
        <p:spPr>
          <a:xfrm>
            <a:off x="1078992" y="1755648"/>
            <a:ext cx="731520" cy="146304"/>
          </a:xfrm>
          <a:prstGeom prst="rect">
            <a:avLst/>
          </a:prstGeom>
          <a:noFill/>
          <a:ln/>
        </p:spPr>
        <p:txBody>
          <a:bodyPr wrap="square" lIns="0" tIns="0" rIns="0" bIns="0" rtlCol="0" anchor="ctr">
            <a:normAutofit/>
          </a:bodyPr>
          <a:lstStyle/>
          <a:p>
            <a:pPr algn="l" indent="0" marL="0">
              <a:buNone/>
            </a:pPr>
            <a:r>
              <a:rPr lang="en-US" sz="1600" b="1" dirty="0">
                <a:solidFill>
                  <a:srgbClr val="DC2626"/>
                </a:solidFill>
                <a:latin typeface="Meiryo" pitchFamily="34" charset="0"/>
                <a:ea typeface="Meiryo" pitchFamily="34" charset="-122"/>
                <a:cs typeface="Meiryo" pitchFamily="34" charset="-120"/>
              </a:rPr>
              <a:t>従来課題</a:t>
            </a:r>
            <a:endParaRPr lang="en-US" sz="1600" dirty="0"/>
          </a:p>
        </p:txBody>
      </p:sp>
      <p:sp>
        <p:nvSpPr>
          <p:cNvPr id="10" name="Shape 8"/>
          <p:cNvSpPr/>
          <p:nvPr/>
        </p:nvSpPr>
        <p:spPr>
          <a:xfrm>
            <a:off x="4160520" y="1600200"/>
            <a:ext cx="2697480" cy="4206240"/>
          </a:xfrm>
          <a:prstGeom prst="roundRect">
            <a:avLst>
              <a:gd name="adj" fmla="val 2034"/>
            </a:avLst>
          </a:prstGeom>
          <a:solidFill>
            <a:srgbClr val="F4FBFF"/>
          </a:solidFill>
          <a:ln w="12700">
            <a:solidFill>
              <a:srgbClr val="C7E7FF"/>
            </a:solidFill>
            <a:prstDash val="solid"/>
          </a:ln>
        </p:spPr>
      </p:sp>
      <p:sp>
        <p:nvSpPr>
          <p:cNvPr id="11" name="Text 9"/>
          <p:cNvSpPr/>
          <p:nvPr/>
        </p:nvSpPr>
        <p:spPr>
          <a:xfrm>
            <a:off x="4325112" y="1755648"/>
            <a:ext cx="82296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提案機能</a:t>
            </a:r>
            <a:endParaRPr lang="en-US" sz="1600" dirty="0"/>
          </a:p>
        </p:txBody>
      </p:sp>
      <p:sp>
        <p:nvSpPr>
          <p:cNvPr id="12" name="Shape 10"/>
          <p:cNvSpPr/>
          <p:nvPr/>
        </p:nvSpPr>
        <p:spPr>
          <a:xfrm>
            <a:off x="7635240" y="1600200"/>
            <a:ext cx="2743200" cy="4206240"/>
          </a:xfrm>
          <a:prstGeom prst="roundRect">
            <a:avLst>
              <a:gd name="adj" fmla="val 2000"/>
            </a:avLst>
          </a:prstGeom>
          <a:solidFill>
            <a:srgbClr val="ECFDF5"/>
          </a:solidFill>
          <a:ln w="12700">
            <a:solidFill>
              <a:srgbClr val="CBEFDB"/>
            </a:solidFill>
            <a:prstDash val="solid"/>
          </a:ln>
        </p:spPr>
      </p:sp>
      <p:sp>
        <p:nvSpPr>
          <p:cNvPr id="13" name="Text 11"/>
          <p:cNvSpPr/>
          <p:nvPr/>
        </p:nvSpPr>
        <p:spPr>
          <a:xfrm>
            <a:off x="7799832" y="1755648"/>
            <a:ext cx="822960" cy="146304"/>
          </a:xfrm>
          <a:prstGeom prst="rect">
            <a:avLst/>
          </a:prstGeom>
          <a:noFill/>
          <a:ln/>
        </p:spPr>
        <p:txBody>
          <a:bodyPr wrap="square" lIns="0" tIns="0" rIns="0" bIns="0" rtlCol="0" anchor="ctr">
            <a:normAutofit/>
          </a:bodyPr>
          <a:lstStyle/>
          <a:p>
            <a:pPr algn="l" indent="0" marL="0">
              <a:buNone/>
            </a:pPr>
            <a:r>
              <a:rPr lang="en-US" sz="1600" b="1" dirty="0">
                <a:solidFill>
                  <a:srgbClr val="059669"/>
                </a:solidFill>
                <a:latin typeface="Meiryo" pitchFamily="34" charset="0"/>
                <a:ea typeface="Meiryo" pitchFamily="34" charset="-122"/>
                <a:cs typeface="Meiryo" pitchFamily="34" charset="-120"/>
              </a:rPr>
              <a:t>期待効果</a:t>
            </a:r>
            <a:endParaRPr lang="en-US" sz="1600" dirty="0"/>
          </a:p>
        </p:txBody>
      </p:sp>
      <p:sp>
        <p:nvSpPr>
          <p:cNvPr id="14" name="Shape 12"/>
          <p:cNvSpPr/>
          <p:nvPr/>
        </p:nvSpPr>
        <p:spPr>
          <a:xfrm>
            <a:off x="1042416" y="2103120"/>
            <a:ext cx="2395728" cy="566928"/>
          </a:xfrm>
          <a:prstGeom prst="roundRect">
            <a:avLst>
              <a:gd name="adj" fmla="val 9677"/>
            </a:avLst>
          </a:prstGeom>
          <a:solidFill>
            <a:srgbClr val="FFFFFF"/>
          </a:solidFill>
          <a:ln w="12700">
            <a:solidFill>
              <a:srgbClr val="F3D5AF"/>
            </a:solidFill>
            <a:prstDash val="solid"/>
          </a:ln>
        </p:spPr>
      </p:sp>
      <p:sp>
        <p:nvSpPr>
          <p:cNvPr id="15" name="Shape 13"/>
          <p:cNvSpPr/>
          <p:nvPr/>
        </p:nvSpPr>
        <p:spPr>
          <a:xfrm>
            <a:off x="4288536" y="2103120"/>
            <a:ext cx="2395728" cy="566928"/>
          </a:xfrm>
          <a:prstGeom prst="roundRect">
            <a:avLst>
              <a:gd name="adj" fmla="val 9677"/>
            </a:avLst>
          </a:prstGeom>
          <a:solidFill>
            <a:srgbClr val="FFFFFF"/>
          </a:solidFill>
          <a:ln w="12700">
            <a:solidFill>
              <a:srgbClr val="C7E7FF"/>
            </a:solidFill>
            <a:prstDash val="solid"/>
          </a:ln>
        </p:spPr>
      </p:sp>
      <p:sp>
        <p:nvSpPr>
          <p:cNvPr id="16" name="Shape 14"/>
          <p:cNvSpPr/>
          <p:nvPr/>
        </p:nvSpPr>
        <p:spPr>
          <a:xfrm>
            <a:off x="7763256" y="2103120"/>
            <a:ext cx="2468880" cy="566928"/>
          </a:xfrm>
          <a:prstGeom prst="roundRect">
            <a:avLst>
              <a:gd name="adj" fmla="val 9677"/>
            </a:avLst>
          </a:prstGeom>
          <a:solidFill>
            <a:srgbClr val="FFFFFF"/>
          </a:solidFill>
          <a:ln w="12700">
            <a:solidFill>
              <a:srgbClr val="CBEFDB"/>
            </a:solidFill>
            <a:prstDash val="solid"/>
          </a:ln>
        </p:spPr>
      </p:sp>
      <p:sp>
        <p:nvSpPr>
          <p:cNvPr id="17" name="Text 15"/>
          <p:cNvSpPr/>
          <p:nvPr/>
        </p:nvSpPr>
        <p:spPr>
          <a:xfrm>
            <a:off x="1133856" y="2267712"/>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壁近傍で誤差集中</a:t>
            </a:r>
            <a:endParaRPr lang="en-US" sz="1400" dirty="0"/>
          </a:p>
        </p:txBody>
      </p:sp>
      <p:sp>
        <p:nvSpPr>
          <p:cNvPr id="18" name="Text 16"/>
          <p:cNvSpPr/>
          <p:nvPr/>
        </p:nvSpPr>
        <p:spPr>
          <a:xfrm>
            <a:off x="4379976" y="2267712"/>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multi-SDF + 法線</a:t>
            </a:r>
            <a:endParaRPr lang="en-US" sz="1400" dirty="0"/>
          </a:p>
        </p:txBody>
      </p:sp>
      <p:sp>
        <p:nvSpPr>
          <p:cNvPr id="19" name="Text 17"/>
          <p:cNvSpPr/>
          <p:nvPr/>
        </p:nvSpPr>
        <p:spPr>
          <a:xfrm>
            <a:off x="7836408" y="2267712"/>
            <a:ext cx="2212848"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sheath 位置と方向の安定化</a:t>
            </a:r>
            <a:endParaRPr lang="en-US" sz="1400" dirty="0"/>
          </a:p>
        </p:txBody>
      </p:sp>
      <p:sp>
        <p:nvSpPr>
          <p:cNvPr id="20" name="Shape 18"/>
          <p:cNvSpPr/>
          <p:nvPr/>
        </p:nvSpPr>
        <p:spPr>
          <a:xfrm>
            <a:off x="3493008" y="2386584"/>
            <a:ext cx="740664" cy="0"/>
          </a:xfrm>
          <a:prstGeom prst="line">
            <a:avLst/>
          </a:prstGeom>
          <a:noFill/>
          <a:ln w="20320">
            <a:solidFill>
              <a:srgbClr val="F59E0B"/>
            </a:solidFill>
            <a:prstDash val="solid"/>
            <a:tailEnd type="triangle"/>
          </a:ln>
        </p:spPr>
      </p:sp>
      <p:sp>
        <p:nvSpPr>
          <p:cNvPr id="21" name="Shape 19"/>
          <p:cNvSpPr/>
          <p:nvPr/>
        </p:nvSpPr>
        <p:spPr>
          <a:xfrm>
            <a:off x="6739128" y="2386584"/>
            <a:ext cx="969264" cy="0"/>
          </a:xfrm>
          <a:prstGeom prst="line">
            <a:avLst/>
          </a:prstGeom>
          <a:noFill/>
          <a:ln w="20320">
            <a:solidFill>
              <a:srgbClr val="39A8FF"/>
            </a:solidFill>
            <a:prstDash val="solid"/>
            <a:tailEnd type="triangle"/>
          </a:ln>
        </p:spPr>
      </p:sp>
      <p:sp>
        <p:nvSpPr>
          <p:cNvPr id="22" name="Shape 20"/>
          <p:cNvSpPr/>
          <p:nvPr/>
        </p:nvSpPr>
        <p:spPr>
          <a:xfrm>
            <a:off x="1042416" y="2944368"/>
            <a:ext cx="2395728" cy="566928"/>
          </a:xfrm>
          <a:prstGeom prst="roundRect">
            <a:avLst>
              <a:gd name="adj" fmla="val 9677"/>
            </a:avLst>
          </a:prstGeom>
          <a:solidFill>
            <a:srgbClr val="FFFFFF"/>
          </a:solidFill>
          <a:ln w="12700">
            <a:solidFill>
              <a:srgbClr val="F3D5AF"/>
            </a:solidFill>
            <a:prstDash val="solid"/>
          </a:ln>
        </p:spPr>
      </p:sp>
      <p:sp>
        <p:nvSpPr>
          <p:cNvPr id="23" name="Shape 21"/>
          <p:cNvSpPr/>
          <p:nvPr/>
        </p:nvSpPr>
        <p:spPr>
          <a:xfrm>
            <a:off x="4288536" y="2944368"/>
            <a:ext cx="2395728" cy="566928"/>
          </a:xfrm>
          <a:prstGeom prst="roundRect">
            <a:avLst>
              <a:gd name="adj" fmla="val 9677"/>
            </a:avLst>
          </a:prstGeom>
          <a:solidFill>
            <a:srgbClr val="FFFFFF"/>
          </a:solidFill>
          <a:ln w="12700">
            <a:solidFill>
              <a:srgbClr val="C7E7FF"/>
            </a:solidFill>
            <a:prstDash val="solid"/>
          </a:ln>
        </p:spPr>
      </p:sp>
      <p:sp>
        <p:nvSpPr>
          <p:cNvPr id="24" name="Shape 22"/>
          <p:cNvSpPr/>
          <p:nvPr/>
        </p:nvSpPr>
        <p:spPr>
          <a:xfrm>
            <a:off x="7763256" y="2944368"/>
            <a:ext cx="2468880" cy="566928"/>
          </a:xfrm>
          <a:prstGeom prst="roundRect">
            <a:avLst>
              <a:gd name="adj" fmla="val 9677"/>
            </a:avLst>
          </a:prstGeom>
          <a:solidFill>
            <a:srgbClr val="FFFFFF"/>
          </a:solidFill>
          <a:ln w="12700">
            <a:solidFill>
              <a:srgbClr val="CBEFDB"/>
            </a:solidFill>
            <a:prstDash val="solid"/>
          </a:ln>
        </p:spPr>
      </p:sp>
      <p:sp>
        <p:nvSpPr>
          <p:cNvPr id="25" name="Text 23"/>
          <p:cNvSpPr/>
          <p:nvPr/>
        </p:nvSpPr>
        <p:spPr>
          <a:xfrm>
            <a:off x="1133856" y="3108960"/>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電圧変動に弱い</a:t>
            </a:r>
            <a:endParaRPr lang="en-US" sz="1400" dirty="0"/>
          </a:p>
        </p:txBody>
      </p:sp>
      <p:sp>
        <p:nvSpPr>
          <p:cNvPr id="26" name="Text 24"/>
          <p:cNvSpPr/>
          <p:nvPr/>
        </p:nvSpPr>
        <p:spPr>
          <a:xfrm>
            <a:off x="4379976" y="3108960"/>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Φbc / Ebc</a:t>
            </a:r>
            <a:endParaRPr lang="en-US" sz="1400" dirty="0"/>
          </a:p>
        </p:txBody>
      </p:sp>
      <p:sp>
        <p:nvSpPr>
          <p:cNvPr id="27" name="Text 25"/>
          <p:cNvSpPr/>
          <p:nvPr/>
        </p:nvSpPr>
        <p:spPr>
          <a:xfrm>
            <a:off x="7836408" y="3108960"/>
            <a:ext cx="2212848"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電極配置・位相差の外挿性向上</a:t>
            </a:r>
            <a:endParaRPr lang="en-US" sz="1400" dirty="0"/>
          </a:p>
        </p:txBody>
      </p:sp>
      <p:sp>
        <p:nvSpPr>
          <p:cNvPr id="28" name="Shape 26"/>
          <p:cNvSpPr/>
          <p:nvPr/>
        </p:nvSpPr>
        <p:spPr>
          <a:xfrm>
            <a:off x="3493008" y="3227832"/>
            <a:ext cx="740664" cy="0"/>
          </a:xfrm>
          <a:prstGeom prst="line">
            <a:avLst/>
          </a:prstGeom>
          <a:noFill/>
          <a:ln w="20320">
            <a:solidFill>
              <a:srgbClr val="F59E0B"/>
            </a:solidFill>
            <a:prstDash val="solid"/>
            <a:tailEnd type="triangle"/>
          </a:ln>
        </p:spPr>
      </p:sp>
      <p:sp>
        <p:nvSpPr>
          <p:cNvPr id="29" name="Shape 27"/>
          <p:cNvSpPr/>
          <p:nvPr/>
        </p:nvSpPr>
        <p:spPr>
          <a:xfrm>
            <a:off x="6739128" y="3227832"/>
            <a:ext cx="969264" cy="0"/>
          </a:xfrm>
          <a:prstGeom prst="line">
            <a:avLst/>
          </a:prstGeom>
          <a:noFill/>
          <a:ln w="20320">
            <a:solidFill>
              <a:srgbClr val="39A8FF"/>
            </a:solidFill>
            <a:prstDash val="solid"/>
            <a:tailEnd type="triangle"/>
          </a:ln>
        </p:spPr>
      </p:sp>
      <p:sp>
        <p:nvSpPr>
          <p:cNvPr id="30" name="Shape 28"/>
          <p:cNvSpPr/>
          <p:nvPr/>
        </p:nvSpPr>
        <p:spPr>
          <a:xfrm>
            <a:off x="1042416" y="3785616"/>
            <a:ext cx="2395728" cy="566928"/>
          </a:xfrm>
          <a:prstGeom prst="roundRect">
            <a:avLst>
              <a:gd name="adj" fmla="val 9677"/>
            </a:avLst>
          </a:prstGeom>
          <a:solidFill>
            <a:srgbClr val="FFFFFF"/>
          </a:solidFill>
          <a:ln w="12700">
            <a:solidFill>
              <a:srgbClr val="F3D5AF"/>
            </a:solidFill>
            <a:prstDash val="solid"/>
          </a:ln>
        </p:spPr>
      </p:sp>
      <p:sp>
        <p:nvSpPr>
          <p:cNvPr id="31" name="Shape 29"/>
          <p:cNvSpPr/>
          <p:nvPr/>
        </p:nvSpPr>
        <p:spPr>
          <a:xfrm>
            <a:off x="4288536" y="3785616"/>
            <a:ext cx="2395728" cy="566928"/>
          </a:xfrm>
          <a:prstGeom prst="roundRect">
            <a:avLst>
              <a:gd name="adj" fmla="val 9677"/>
            </a:avLst>
          </a:prstGeom>
          <a:solidFill>
            <a:srgbClr val="FFFFFF"/>
          </a:solidFill>
          <a:ln w="12700">
            <a:solidFill>
              <a:srgbClr val="C7E7FF"/>
            </a:solidFill>
            <a:prstDash val="solid"/>
          </a:ln>
        </p:spPr>
      </p:sp>
      <p:sp>
        <p:nvSpPr>
          <p:cNvPr id="32" name="Shape 30"/>
          <p:cNvSpPr/>
          <p:nvPr/>
        </p:nvSpPr>
        <p:spPr>
          <a:xfrm>
            <a:off x="7763256" y="3785616"/>
            <a:ext cx="2468880" cy="566928"/>
          </a:xfrm>
          <a:prstGeom prst="roundRect">
            <a:avLst>
              <a:gd name="adj" fmla="val 9677"/>
            </a:avLst>
          </a:prstGeom>
          <a:solidFill>
            <a:srgbClr val="FFFFFF"/>
          </a:solidFill>
          <a:ln w="12700">
            <a:solidFill>
              <a:srgbClr val="CBEFDB"/>
            </a:solidFill>
            <a:prstDash val="solid"/>
          </a:ln>
        </p:spPr>
      </p:sp>
      <p:sp>
        <p:nvSpPr>
          <p:cNvPr id="33" name="Text 31"/>
          <p:cNvSpPr/>
          <p:nvPr/>
        </p:nvSpPr>
        <p:spPr>
          <a:xfrm>
            <a:off x="1133856" y="3950208"/>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誘電体界面がにじむ</a:t>
            </a:r>
            <a:endParaRPr lang="en-US" sz="1400" dirty="0"/>
          </a:p>
        </p:txBody>
      </p:sp>
      <p:sp>
        <p:nvSpPr>
          <p:cNvPr id="34" name="Text 32"/>
          <p:cNvSpPr/>
          <p:nvPr/>
        </p:nvSpPr>
        <p:spPr>
          <a:xfrm>
            <a:off x="4379976" y="3950208"/>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εr map + jump</a:t>
            </a:r>
            <a:endParaRPr lang="en-US" sz="1400" dirty="0"/>
          </a:p>
        </p:txBody>
      </p:sp>
      <p:sp>
        <p:nvSpPr>
          <p:cNvPr id="35" name="Text 33"/>
          <p:cNvSpPr/>
          <p:nvPr/>
        </p:nvSpPr>
        <p:spPr>
          <a:xfrm>
            <a:off x="7836408" y="3950208"/>
            <a:ext cx="2212848"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界面電束の再現性向上</a:t>
            </a:r>
            <a:endParaRPr lang="en-US" sz="1400" dirty="0"/>
          </a:p>
        </p:txBody>
      </p:sp>
      <p:sp>
        <p:nvSpPr>
          <p:cNvPr id="36" name="Shape 34"/>
          <p:cNvSpPr/>
          <p:nvPr/>
        </p:nvSpPr>
        <p:spPr>
          <a:xfrm>
            <a:off x="3493008" y="4069080"/>
            <a:ext cx="740664" cy="0"/>
          </a:xfrm>
          <a:prstGeom prst="line">
            <a:avLst/>
          </a:prstGeom>
          <a:noFill/>
          <a:ln w="20320">
            <a:solidFill>
              <a:srgbClr val="F59E0B"/>
            </a:solidFill>
            <a:prstDash val="solid"/>
            <a:tailEnd type="triangle"/>
          </a:ln>
        </p:spPr>
      </p:sp>
      <p:sp>
        <p:nvSpPr>
          <p:cNvPr id="37" name="Shape 35"/>
          <p:cNvSpPr/>
          <p:nvPr/>
        </p:nvSpPr>
        <p:spPr>
          <a:xfrm>
            <a:off x="6739128" y="4069080"/>
            <a:ext cx="969264" cy="0"/>
          </a:xfrm>
          <a:prstGeom prst="line">
            <a:avLst/>
          </a:prstGeom>
          <a:noFill/>
          <a:ln w="20320">
            <a:solidFill>
              <a:srgbClr val="39A8FF"/>
            </a:solidFill>
            <a:prstDash val="solid"/>
            <a:tailEnd type="triangle"/>
          </a:ln>
        </p:spPr>
      </p:sp>
      <p:sp>
        <p:nvSpPr>
          <p:cNvPr id="38" name="Shape 36"/>
          <p:cNvSpPr/>
          <p:nvPr/>
        </p:nvSpPr>
        <p:spPr>
          <a:xfrm>
            <a:off x="1042416" y="4626864"/>
            <a:ext cx="2395728" cy="566928"/>
          </a:xfrm>
          <a:prstGeom prst="roundRect">
            <a:avLst>
              <a:gd name="adj" fmla="val 9677"/>
            </a:avLst>
          </a:prstGeom>
          <a:solidFill>
            <a:srgbClr val="FFFFFF"/>
          </a:solidFill>
          <a:ln w="12700">
            <a:solidFill>
              <a:srgbClr val="F3D5AF"/>
            </a:solidFill>
            <a:prstDash val="solid"/>
          </a:ln>
        </p:spPr>
      </p:sp>
      <p:sp>
        <p:nvSpPr>
          <p:cNvPr id="39" name="Shape 37"/>
          <p:cNvSpPr/>
          <p:nvPr/>
        </p:nvSpPr>
        <p:spPr>
          <a:xfrm>
            <a:off x="4288536" y="4626864"/>
            <a:ext cx="2395728" cy="566928"/>
          </a:xfrm>
          <a:prstGeom prst="roundRect">
            <a:avLst>
              <a:gd name="adj" fmla="val 9677"/>
            </a:avLst>
          </a:prstGeom>
          <a:solidFill>
            <a:srgbClr val="FFFFFF"/>
          </a:solidFill>
          <a:ln w="12700">
            <a:solidFill>
              <a:srgbClr val="C7E7FF"/>
            </a:solidFill>
            <a:prstDash val="solid"/>
          </a:ln>
        </p:spPr>
      </p:sp>
      <p:sp>
        <p:nvSpPr>
          <p:cNvPr id="40" name="Shape 38"/>
          <p:cNvSpPr/>
          <p:nvPr/>
        </p:nvSpPr>
        <p:spPr>
          <a:xfrm>
            <a:off x="7763256" y="4626864"/>
            <a:ext cx="2468880" cy="566928"/>
          </a:xfrm>
          <a:prstGeom prst="roundRect">
            <a:avLst>
              <a:gd name="adj" fmla="val 9677"/>
            </a:avLst>
          </a:prstGeom>
          <a:solidFill>
            <a:srgbClr val="FFFFFF"/>
          </a:solidFill>
          <a:ln w="12700">
            <a:solidFill>
              <a:srgbClr val="CBEFDB"/>
            </a:solidFill>
            <a:prstDash val="solid"/>
          </a:ln>
        </p:spPr>
      </p:sp>
      <p:sp>
        <p:nvSpPr>
          <p:cNvPr id="41" name="Text 39"/>
          <p:cNvSpPr/>
          <p:nvPr/>
        </p:nvSpPr>
        <p:spPr>
          <a:xfrm>
            <a:off x="1133856" y="4791456"/>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in/out 条件差を区別しにくい</a:t>
            </a:r>
            <a:endParaRPr lang="en-US" sz="1400" dirty="0"/>
          </a:p>
        </p:txBody>
      </p:sp>
      <p:sp>
        <p:nvSpPr>
          <p:cNvPr id="42" name="Text 40"/>
          <p:cNvSpPr/>
          <p:nvPr/>
        </p:nvSpPr>
        <p:spPr>
          <a:xfrm>
            <a:off x="4379976" y="4791456"/>
            <a:ext cx="2176272"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Qin / Sout map</a:t>
            </a:r>
            <a:endParaRPr lang="en-US" sz="1400" dirty="0"/>
          </a:p>
        </p:txBody>
      </p:sp>
      <p:sp>
        <p:nvSpPr>
          <p:cNvPr id="43" name="Text 41"/>
          <p:cNvSpPr/>
          <p:nvPr/>
        </p:nvSpPr>
        <p:spPr>
          <a:xfrm>
            <a:off x="7836408" y="4791456"/>
            <a:ext cx="2212848" cy="182880"/>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flow / pump 差の反映</a:t>
            </a:r>
            <a:endParaRPr lang="en-US" sz="1400" dirty="0"/>
          </a:p>
        </p:txBody>
      </p:sp>
      <p:sp>
        <p:nvSpPr>
          <p:cNvPr id="44" name="Shape 42"/>
          <p:cNvSpPr/>
          <p:nvPr/>
        </p:nvSpPr>
        <p:spPr>
          <a:xfrm>
            <a:off x="3493008" y="4910328"/>
            <a:ext cx="740664" cy="0"/>
          </a:xfrm>
          <a:prstGeom prst="line">
            <a:avLst/>
          </a:prstGeom>
          <a:noFill/>
          <a:ln w="20320">
            <a:solidFill>
              <a:srgbClr val="F59E0B"/>
            </a:solidFill>
            <a:prstDash val="solid"/>
            <a:tailEnd type="triangle"/>
          </a:ln>
        </p:spPr>
      </p:sp>
      <p:sp>
        <p:nvSpPr>
          <p:cNvPr id="45" name="Shape 43"/>
          <p:cNvSpPr/>
          <p:nvPr/>
        </p:nvSpPr>
        <p:spPr>
          <a:xfrm>
            <a:off x="6739128" y="4910328"/>
            <a:ext cx="969264" cy="0"/>
          </a:xfrm>
          <a:prstGeom prst="line">
            <a:avLst/>
          </a:prstGeom>
          <a:noFill/>
          <a:ln w="20320">
            <a:solidFill>
              <a:srgbClr val="39A8FF"/>
            </a:solidFill>
            <a:prstDash val="solid"/>
            <a:tailEnd type="triangle"/>
          </a:ln>
        </p:spPr>
      </p:sp>
      <p:sp>
        <p:nvSpPr>
          <p:cNvPr id="46" name="Text 44"/>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提案技術による効果2: 想定される改善の見え方</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効果</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Text 5"/>
          <p:cNvSpPr/>
          <p:nvPr/>
        </p:nvSpPr>
        <p:spPr>
          <a:xfrm>
            <a:off x="896112" y="1078992"/>
            <a:ext cx="2468880" cy="146304"/>
          </a:xfrm>
          <a:prstGeom prst="rect">
            <a:avLst/>
          </a:prstGeom>
          <a:noFill/>
          <a:ln/>
        </p:spPr>
        <p:txBody>
          <a:bodyPr wrap="square" lIns="0" tIns="0" rIns="0" bIns="0" rtlCol="0" anchor="ctr">
            <a:normAutofit/>
          </a:bodyPr>
          <a:lstStyle/>
          <a:p>
            <a:pPr algn="l" indent="0" marL="0">
              <a:buNone/>
            </a:pPr>
            <a:r>
              <a:rPr lang="en-US" sz="1400" b="1" dirty="0">
                <a:solidFill>
                  <a:srgbClr val="D97706"/>
                </a:solidFill>
                <a:latin typeface="Meiryo" pitchFamily="34" charset="0"/>
                <a:ea typeface="Meiryo" pitchFamily="34" charset="-122"/>
                <a:cs typeface="Meiryo" pitchFamily="34" charset="-120"/>
              </a:rPr>
              <a:t>数値は目標レンジの概念図であり、要実証</a:t>
            </a:r>
            <a:endParaRPr lang="en-US" sz="1400" dirty="0"/>
          </a:p>
        </p:txBody>
      </p:sp>
      <p:sp>
        <p:nvSpPr>
          <p:cNvPr id="8" name="Shape 6"/>
          <p:cNvSpPr/>
          <p:nvPr/>
        </p:nvSpPr>
        <p:spPr>
          <a:xfrm>
            <a:off x="914400" y="1417320"/>
            <a:ext cx="5486400" cy="4023360"/>
          </a:xfrm>
          <a:prstGeom prst="roundRect">
            <a:avLst>
              <a:gd name="adj" fmla="val 1364"/>
            </a:avLst>
          </a:prstGeom>
          <a:solidFill>
            <a:srgbClr val="FFFFFF"/>
          </a:solidFill>
          <a:ln w="12700">
            <a:solidFill>
              <a:srgbClr val="D7E3ED"/>
            </a:solidFill>
            <a:prstDash val="solid"/>
          </a:ln>
        </p:spPr>
      </p:sp>
      <p:sp>
        <p:nvSpPr>
          <p:cNvPr id="9" name="Text 7"/>
          <p:cNvSpPr/>
          <p:nvPr/>
        </p:nvSpPr>
        <p:spPr>
          <a:xfrm>
            <a:off x="1024128" y="1490472"/>
            <a:ext cx="1097280" cy="146304"/>
          </a:xfrm>
          <a:prstGeom prst="rect">
            <a:avLst/>
          </a:prstGeom>
          <a:noFill/>
          <a:ln/>
        </p:spPr>
        <p:txBody>
          <a:bodyPr wrap="square" lIns="0" tIns="0" rIns="0" bIns="0" rtlCol="0" anchor="ctr">
            <a:normAutofit/>
          </a:bodyPr>
          <a:lstStyle/>
          <a:p>
            <a:pPr algn="l" indent="0" marL="0">
              <a:buNone/>
            </a:pPr>
            <a:r>
              <a:rPr lang="en-US" sz="1200" b="1" dirty="0">
                <a:solidFill>
                  <a:srgbClr val="D97706"/>
                </a:solidFill>
                <a:latin typeface="Meiryo" pitchFamily="34" charset="0"/>
                <a:ea typeface="Meiryo" pitchFamily="34" charset="-122"/>
                <a:cs typeface="Meiryo" pitchFamily="34" charset="-120"/>
              </a:rPr>
              <a:t>概念比較（想定）</a:t>
            </a:r>
            <a:endParaRPr lang="en-US" sz="1200" dirty="0"/>
          </a:p>
        </p:txBody>
      </p:sp>
      <p:sp>
        <p:nvSpPr>
          <p:cNvPr id="10" name="Shape 8"/>
          <p:cNvSpPr/>
          <p:nvPr/>
        </p:nvSpPr>
        <p:spPr>
          <a:xfrm>
            <a:off x="1417320" y="1737360"/>
            <a:ext cx="0" cy="3383280"/>
          </a:xfrm>
          <a:prstGeom prst="line">
            <a:avLst/>
          </a:prstGeom>
          <a:noFill/>
          <a:ln w="12700">
            <a:solidFill>
              <a:srgbClr val="AAB7C4"/>
            </a:solidFill>
            <a:prstDash val="solid"/>
          </a:ln>
        </p:spPr>
      </p:sp>
      <p:sp>
        <p:nvSpPr>
          <p:cNvPr id="11" name="Shape 9"/>
          <p:cNvSpPr/>
          <p:nvPr/>
        </p:nvSpPr>
        <p:spPr>
          <a:xfrm>
            <a:off x="1417320" y="5120640"/>
            <a:ext cx="4800600" cy="0"/>
          </a:xfrm>
          <a:prstGeom prst="line">
            <a:avLst/>
          </a:prstGeom>
          <a:noFill/>
          <a:ln w="12700">
            <a:solidFill>
              <a:srgbClr val="AAB7C4"/>
            </a:solidFill>
            <a:prstDash val="solid"/>
          </a:ln>
        </p:spPr>
      </p:sp>
      <p:sp>
        <p:nvSpPr>
          <p:cNvPr id="12" name="Shape 10"/>
          <p:cNvSpPr/>
          <p:nvPr/>
        </p:nvSpPr>
        <p:spPr>
          <a:xfrm>
            <a:off x="1645920" y="2400300"/>
            <a:ext cx="201168" cy="2720340"/>
          </a:xfrm>
          <a:prstGeom prst="rect">
            <a:avLst/>
          </a:prstGeom>
          <a:solidFill>
            <a:srgbClr val="BFC9D6"/>
          </a:solidFill>
          <a:ln w="12700">
            <a:solidFill>
              <a:srgbClr val="BFC9D6"/>
            </a:solidFill>
            <a:prstDash val="solid"/>
          </a:ln>
        </p:spPr>
      </p:sp>
      <p:sp>
        <p:nvSpPr>
          <p:cNvPr id="13" name="Shape 11"/>
          <p:cNvSpPr/>
          <p:nvPr/>
        </p:nvSpPr>
        <p:spPr>
          <a:xfrm>
            <a:off x="1901952" y="3520440"/>
            <a:ext cx="201168" cy="1600200"/>
          </a:xfrm>
          <a:prstGeom prst="rect">
            <a:avLst/>
          </a:prstGeom>
          <a:solidFill>
            <a:srgbClr val="39A8FF"/>
          </a:solidFill>
          <a:ln w="12700">
            <a:solidFill>
              <a:srgbClr val="39A8FF"/>
            </a:solidFill>
            <a:prstDash val="solid"/>
          </a:ln>
        </p:spPr>
      </p:sp>
      <p:sp>
        <p:nvSpPr>
          <p:cNvPr id="14" name="Text 12"/>
          <p:cNvSpPr/>
          <p:nvPr/>
        </p:nvSpPr>
        <p:spPr>
          <a:xfrm>
            <a:off x="1554480" y="516636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wall</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RMSE</a:t>
            </a:r>
            <a:endParaRPr lang="en-US" sz="1000" dirty="0"/>
          </a:p>
        </p:txBody>
      </p:sp>
      <p:sp>
        <p:nvSpPr>
          <p:cNvPr id="15" name="Shape 13"/>
          <p:cNvSpPr/>
          <p:nvPr/>
        </p:nvSpPr>
        <p:spPr>
          <a:xfrm>
            <a:off x="2743200" y="2560320"/>
            <a:ext cx="201168" cy="2560320"/>
          </a:xfrm>
          <a:prstGeom prst="rect">
            <a:avLst/>
          </a:prstGeom>
          <a:solidFill>
            <a:srgbClr val="BFC9D6"/>
          </a:solidFill>
          <a:ln w="12700">
            <a:solidFill>
              <a:srgbClr val="BFC9D6"/>
            </a:solidFill>
            <a:prstDash val="solid"/>
          </a:ln>
        </p:spPr>
      </p:sp>
      <p:sp>
        <p:nvSpPr>
          <p:cNvPr id="16" name="Shape 14"/>
          <p:cNvSpPr/>
          <p:nvPr/>
        </p:nvSpPr>
        <p:spPr>
          <a:xfrm>
            <a:off x="2999232" y="3680460"/>
            <a:ext cx="201168" cy="1440180"/>
          </a:xfrm>
          <a:prstGeom prst="rect">
            <a:avLst/>
          </a:prstGeom>
          <a:solidFill>
            <a:srgbClr val="39A8FF"/>
          </a:solidFill>
          <a:ln w="12700">
            <a:solidFill>
              <a:srgbClr val="39A8FF"/>
            </a:solidFill>
            <a:prstDash val="solid"/>
          </a:ln>
        </p:spPr>
      </p:sp>
      <p:sp>
        <p:nvSpPr>
          <p:cNvPr id="17" name="Text 15"/>
          <p:cNvSpPr/>
          <p:nvPr/>
        </p:nvSpPr>
        <p:spPr>
          <a:xfrm>
            <a:off x="2651760" y="516636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E_n</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誤差</a:t>
            </a:r>
            <a:endParaRPr lang="en-US" sz="1000" dirty="0"/>
          </a:p>
        </p:txBody>
      </p:sp>
      <p:sp>
        <p:nvSpPr>
          <p:cNvPr id="18" name="Shape 16"/>
          <p:cNvSpPr/>
          <p:nvPr/>
        </p:nvSpPr>
        <p:spPr>
          <a:xfrm>
            <a:off x="3840480" y="2496312"/>
            <a:ext cx="201168" cy="2624328"/>
          </a:xfrm>
          <a:prstGeom prst="rect">
            <a:avLst/>
          </a:prstGeom>
          <a:solidFill>
            <a:srgbClr val="BFC9D6"/>
          </a:solidFill>
          <a:ln w="12700">
            <a:solidFill>
              <a:srgbClr val="BFC9D6"/>
            </a:solidFill>
            <a:prstDash val="solid"/>
          </a:ln>
        </p:spPr>
      </p:sp>
      <p:sp>
        <p:nvSpPr>
          <p:cNvPr id="19" name="Shape 17"/>
          <p:cNvSpPr/>
          <p:nvPr/>
        </p:nvSpPr>
        <p:spPr>
          <a:xfrm>
            <a:off x="4096512" y="3776472"/>
            <a:ext cx="201168" cy="1344168"/>
          </a:xfrm>
          <a:prstGeom prst="rect">
            <a:avLst/>
          </a:prstGeom>
          <a:solidFill>
            <a:srgbClr val="39A8FF"/>
          </a:solidFill>
          <a:ln w="12700">
            <a:solidFill>
              <a:srgbClr val="39A8FF"/>
            </a:solidFill>
            <a:prstDash val="solid"/>
          </a:ln>
        </p:spPr>
      </p:sp>
      <p:sp>
        <p:nvSpPr>
          <p:cNvPr id="20" name="Text 18"/>
          <p:cNvSpPr/>
          <p:nvPr/>
        </p:nvSpPr>
        <p:spPr>
          <a:xfrm>
            <a:off x="3749040" y="516636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界面</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残差</a:t>
            </a:r>
            <a:endParaRPr lang="en-US" sz="1000" dirty="0"/>
          </a:p>
        </p:txBody>
      </p:sp>
      <p:sp>
        <p:nvSpPr>
          <p:cNvPr id="21" name="Shape 19"/>
          <p:cNvSpPr/>
          <p:nvPr/>
        </p:nvSpPr>
        <p:spPr>
          <a:xfrm>
            <a:off x="4937760" y="2624328"/>
            <a:ext cx="201168" cy="2496312"/>
          </a:xfrm>
          <a:prstGeom prst="rect">
            <a:avLst/>
          </a:prstGeom>
          <a:solidFill>
            <a:srgbClr val="BFC9D6"/>
          </a:solidFill>
          <a:ln w="12700">
            <a:solidFill>
              <a:srgbClr val="BFC9D6"/>
            </a:solidFill>
            <a:prstDash val="solid"/>
          </a:ln>
        </p:spPr>
      </p:sp>
      <p:sp>
        <p:nvSpPr>
          <p:cNvPr id="22" name="Shape 20"/>
          <p:cNvSpPr/>
          <p:nvPr/>
        </p:nvSpPr>
        <p:spPr>
          <a:xfrm>
            <a:off x="5193792" y="3840480"/>
            <a:ext cx="201168" cy="1280160"/>
          </a:xfrm>
          <a:prstGeom prst="rect">
            <a:avLst/>
          </a:prstGeom>
          <a:solidFill>
            <a:srgbClr val="39A8FF"/>
          </a:solidFill>
          <a:ln w="12700">
            <a:solidFill>
              <a:srgbClr val="39A8FF"/>
            </a:solidFill>
            <a:prstDash val="solid"/>
          </a:ln>
        </p:spPr>
      </p:sp>
      <p:sp>
        <p:nvSpPr>
          <p:cNvPr id="23" name="Text 21"/>
          <p:cNvSpPr/>
          <p:nvPr/>
        </p:nvSpPr>
        <p:spPr>
          <a:xfrm>
            <a:off x="4846320" y="5166360"/>
            <a:ext cx="777240" cy="274320"/>
          </a:xfrm>
          <a:prstGeom prst="rect">
            <a:avLst/>
          </a:prstGeom>
          <a:noFill/>
          <a:ln/>
        </p:spPr>
        <p:txBody>
          <a:bodyPr wrap="square" lIns="0" tIns="0" rIns="0" bIns="0" rtlCol="0" anchor="ctr">
            <a:normAutofit/>
          </a:bodyPr>
          <a:lstStyle/>
          <a:p>
            <a:pPr algn="ctr" indent="0" marL="0">
              <a:buNone/>
            </a:pPr>
            <a:r>
              <a:rPr lang="en-US" sz="1000" dirty="0">
                <a:solidFill>
                  <a:srgbClr val="555555"/>
                </a:solidFill>
                <a:latin typeface="Meiryo" pitchFamily="34" charset="0"/>
                <a:ea typeface="Meiryo" pitchFamily="34" charset="-122"/>
                <a:cs typeface="Meiryo" pitchFamily="34" charset="-120"/>
              </a:rPr>
              <a:t>port</a:t>
            </a:r>
            <a:endParaRPr lang="en-US" sz="1000" dirty="0"/>
          </a:p>
          <a:p>
            <a:pPr algn="ctr" indent="0" marL="0">
              <a:buNone/>
            </a:pPr>
            <a:r>
              <a:rPr lang="en-US" sz="1000" dirty="0">
                <a:solidFill>
                  <a:srgbClr val="555555"/>
                </a:solidFill>
                <a:latin typeface="Meiryo" pitchFamily="34" charset="0"/>
                <a:ea typeface="Meiryo" pitchFamily="34" charset="-122"/>
                <a:cs typeface="Meiryo" pitchFamily="34" charset="-120"/>
              </a:rPr>
              <a:t>整合</a:t>
            </a:r>
            <a:endParaRPr lang="en-US" sz="1000" dirty="0"/>
          </a:p>
        </p:txBody>
      </p:sp>
      <p:sp>
        <p:nvSpPr>
          <p:cNvPr id="24" name="Text 22"/>
          <p:cNvSpPr/>
          <p:nvPr/>
        </p:nvSpPr>
        <p:spPr>
          <a:xfrm>
            <a:off x="5486400" y="1508760"/>
            <a:ext cx="320040" cy="109728"/>
          </a:xfrm>
          <a:prstGeom prst="rect">
            <a:avLst/>
          </a:prstGeom>
          <a:noFill/>
          <a:ln/>
        </p:spPr>
        <p:txBody>
          <a:bodyPr wrap="square" lIns="0" tIns="0" rIns="0" bIns="0" rtlCol="0" anchor="ctr">
            <a:normAutofit/>
          </a:bodyPr>
          <a:lstStyle/>
          <a:p>
            <a:pPr algn="l" indent="0" marL="0">
              <a:buNone/>
            </a:pPr>
            <a:r>
              <a:rPr lang="en-US" sz="900" dirty="0">
                <a:solidFill>
                  <a:srgbClr val="667085"/>
                </a:solidFill>
                <a:latin typeface="Meiryo" pitchFamily="34" charset="0"/>
                <a:ea typeface="Meiryo" pitchFamily="34" charset="-122"/>
                <a:cs typeface="Meiryo" pitchFamily="34" charset="-120"/>
              </a:rPr>
              <a:t>従来</a:t>
            </a:r>
            <a:endParaRPr lang="en-US" sz="900" dirty="0"/>
          </a:p>
        </p:txBody>
      </p:sp>
      <p:sp>
        <p:nvSpPr>
          <p:cNvPr id="25" name="Shape 23"/>
          <p:cNvSpPr/>
          <p:nvPr/>
        </p:nvSpPr>
        <p:spPr>
          <a:xfrm>
            <a:off x="5376672" y="1504188"/>
            <a:ext cx="73152" cy="73152"/>
          </a:xfrm>
          <a:prstGeom prst="rect">
            <a:avLst/>
          </a:prstGeom>
          <a:solidFill>
            <a:srgbClr val="BFC9D6"/>
          </a:solidFill>
          <a:ln w="12700">
            <a:solidFill>
              <a:srgbClr val="BFC9D6"/>
            </a:solidFill>
            <a:prstDash val="solid"/>
          </a:ln>
        </p:spPr>
      </p:sp>
      <p:sp>
        <p:nvSpPr>
          <p:cNvPr id="26" name="Text 24"/>
          <p:cNvSpPr/>
          <p:nvPr/>
        </p:nvSpPr>
        <p:spPr>
          <a:xfrm>
            <a:off x="5833872" y="1508760"/>
            <a:ext cx="320040" cy="109728"/>
          </a:xfrm>
          <a:prstGeom prst="rect">
            <a:avLst/>
          </a:prstGeom>
          <a:noFill/>
          <a:ln/>
        </p:spPr>
        <p:txBody>
          <a:bodyPr wrap="square" lIns="0" tIns="0" rIns="0" bIns="0" rtlCol="0" anchor="ctr">
            <a:normAutofit/>
          </a:bodyPr>
          <a:lstStyle/>
          <a:p>
            <a:pPr algn="l" indent="0" marL="0">
              <a:buNone/>
            </a:pPr>
            <a:r>
              <a:rPr lang="en-US" sz="900" dirty="0">
                <a:solidFill>
                  <a:srgbClr val="0D4D7E"/>
                </a:solidFill>
                <a:latin typeface="Meiryo" pitchFamily="34" charset="0"/>
                <a:ea typeface="Meiryo" pitchFamily="34" charset="-122"/>
                <a:cs typeface="Meiryo" pitchFamily="34" charset="-120"/>
              </a:rPr>
              <a:t>提案</a:t>
            </a:r>
            <a:endParaRPr lang="en-US" sz="900" dirty="0"/>
          </a:p>
        </p:txBody>
      </p:sp>
      <p:sp>
        <p:nvSpPr>
          <p:cNvPr id="27" name="Shape 25"/>
          <p:cNvSpPr/>
          <p:nvPr/>
        </p:nvSpPr>
        <p:spPr>
          <a:xfrm>
            <a:off x="5724144" y="1504188"/>
            <a:ext cx="73152" cy="73152"/>
          </a:xfrm>
          <a:prstGeom prst="rect">
            <a:avLst/>
          </a:prstGeom>
          <a:solidFill>
            <a:srgbClr val="39A8FF"/>
          </a:solidFill>
          <a:ln w="12700">
            <a:solidFill>
              <a:srgbClr val="39A8FF"/>
            </a:solidFill>
            <a:prstDash val="solid"/>
          </a:ln>
        </p:spPr>
      </p:sp>
      <p:sp>
        <p:nvSpPr>
          <p:cNvPr id="28" name="Shape 26"/>
          <p:cNvSpPr/>
          <p:nvPr/>
        </p:nvSpPr>
        <p:spPr>
          <a:xfrm>
            <a:off x="6720840" y="1417320"/>
            <a:ext cx="4663440" cy="4023360"/>
          </a:xfrm>
          <a:prstGeom prst="roundRect">
            <a:avLst>
              <a:gd name="adj" fmla="val 1364"/>
            </a:avLst>
          </a:prstGeom>
          <a:solidFill>
            <a:srgbClr val="FFFFFF"/>
          </a:solidFill>
          <a:ln w="12700">
            <a:solidFill>
              <a:srgbClr val="D7E3ED"/>
            </a:solidFill>
            <a:prstDash val="solid"/>
          </a:ln>
        </p:spPr>
      </p:sp>
      <p:sp>
        <p:nvSpPr>
          <p:cNvPr id="29" name="Text 27"/>
          <p:cNvSpPr/>
          <p:nvPr/>
        </p:nvSpPr>
        <p:spPr>
          <a:xfrm>
            <a:off x="6931152" y="1591056"/>
            <a:ext cx="82296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改善の質</a:t>
            </a:r>
            <a:endParaRPr lang="en-US" sz="1600" dirty="0"/>
          </a:p>
        </p:txBody>
      </p:sp>
      <p:sp>
        <p:nvSpPr>
          <p:cNvPr id="30" name="Text 28"/>
          <p:cNvSpPr/>
          <p:nvPr/>
        </p:nvSpPr>
        <p:spPr>
          <a:xfrm>
            <a:off x="6949440" y="1828800"/>
            <a:ext cx="4114800" cy="150876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全域 RMSE だけでなく、boundary band の誤差低減が価値の中心になる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未学習条件への追従性は、特に電圧 sweep・部材変更・port 条件変更で効いてくる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設計探索では「完全置換」よりも、候補の高速絞り込みがまず有用である</a:t>
            </a:r>
            <a:endParaRPr lang="en-US" sz="1600" dirty="0"/>
          </a:p>
        </p:txBody>
      </p:sp>
      <p:sp>
        <p:nvSpPr>
          <p:cNvPr id="31" name="Shape 29"/>
          <p:cNvSpPr/>
          <p:nvPr/>
        </p:nvSpPr>
        <p:spPr>
          <a:xfrm>
            <a:off x="6949440" y="3749040"/>
            <a:ext cx="4069080" cy="1371600"/>
          </a:xfrm>
          <a:prstGeom prst="roundRect">
            <a:avLst>
              <a:gd name="adj" fmla="val 4000"/>
            </a:avLst>
          </a:prstGeom>
          <a:solidFill>
            <a:srgbClr val="F4FBFF"/>
          </a:solidFill>
          <a:ln w="12700">
            <a:solidFill>
              <a:srgbClr val="C7E7FF"/>
            </a:solidFill>
            <a:prstDash val="solid"/>
          </a:ln>
        </p:spPr>
      </p:sp>
      <p:sp>
        <p:nvSpPr>
          <p:cNvPr id="32" name="Text 30"/>
          <p:cNvSpPr/>
          <p:nvPr/>
        </p:nvSpPr>
        <p:spPr>
          <a:xfrm>
            <a:off x="7114032" y="3977640"/>
            <a:ext cx="3749040" cy="82296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想定効果: wall-band RMSE 20〜50% 改善、界面/port 指標 15〜60% 改善レンジを目標に設計</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注記: 上記は patent disclosure 用の設計目標であり、装置/教師データ依存で要確認</a:t>
            </a:r>
            <a:endParaRPr lang="en-US" sz="1500" dirty="0"/>
          </a:p>
        </p:txBody>
      </p:sp>
      <p:sp>
        <p:nvSpPr>
          <p:cNvPr id="33" name="Text 31"/>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新規性・進歩性の整理</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特許観点</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914400" y="1417320"/>
            <a:ext cx="2514600" cy="3886200"/>
          </a:xfrm>
          <a:prstGeom prst="roundRect">
            <a:avLst>
              <a:gd name="adj" fmla="val 2182"/>
            </a:avLst>
          </a:prstGeom>
          <a:solidFill>
            <a:srgbClr val="F4FBFF"/>
          </a:solidFill>
          <a:ln w="12700">
            <a:solidFill>
              <a:srgbClr val="C7E7FF"/>
            </a:solidFill>
            <a:prstDash val="solid"/>
          </a:ln>
        </p:spPr>
      </p:sp>
      <p:sp>
        <p:nvSpPr>
          <p:cNvPr id="8" name="Shape 6"/>
          <p:cNvSpPr/>
          <p:nvPr/>
        </p:nvSpPr>
        <p:spPr>
          <a:xfrm>
            <a:off x="1078992" y="1572768"/>
            <a:ext cx="914400" cy="201168"/>
          </a:xfrm>
          <a:prstGeom prst="roundRect">
            <a:avLst>
              <a:gd name="adj" fmla="val 22727"/>
            </a:avLst>
          </a:prstGeom>
          <a:solidFill>
            <a:srgbClr val="39A8FF"/>
          </a:solidFill>
          <a:ln w="12700">
            <a:solidFill>
              <a:srgbClr val="39A8FF"/>
            </a:solidFill>
            <a:prstDash val="solid"/>
          </a:ln>
        </p:spPr>
      </p:sp>
      <p:sp>
        <p:nvSpPr>
          <p:cNvPr id="9" name="Text 7"/>
          <p:cNvSpPr/>
          <p:nvPr/>
        </p:nvSpPr>
        <p:spPr>
          <a:xfrm>
            <a:off x="1078992" y="1581912"/>
            <a:ext cx="91440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新規性の核1</a:t>
            </a:r>
            <a:endParaRPr lang="en-US" sz="1100" dirty="0"/>
          </a:p>
        </p:txBody>
      </p:sp>
      <p:sp>
        <p:nvSpPr>
          <p:cNvPr id="10" name="Text 8"/>
          <p:cNvSpPr/>
          <p:nvPr/>
        </p:nvSpPr>
        <p:spPr>
          <a:xfrm>
            <a:off x="1097280" y="1965960"/>
            <a:ext cx="2103120" cy="13258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境界をパーツ名でなく役割別 multi-SDF として固定 schema 化</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境界数が変わっても入力仕様を維持しやすい</a:t>
            </a:r>
            <a:endParaRPr lang="en-US" sz="1600" dirty="0"/>
          </a:p>
        </p:txBody>
      </p:sp>
      <p:sp>
        <p:nvSpPr>
          <p:cNvPr id="11" name="Shape 9"/>
          <p:cNvSpPr/>
          <p:nvPr/>
        </p:nvSpPr>
        <p:spPr>
          <a:xfrm>
            <a:off x="3977640" y="1417320"/>
            <a:ext cx="2514600" cy="3886200"/>
          </a:xfrm>
          <a:prstGeom prst="roundRect">
            <a:avLst>
              <a:gd name="adj" fmla="val 2182"/>
            </a:avLst>
          </a:prstGeom>
          <a:solidFill>
            <a:srgbClr val="ECFDF5"/>
          </a:solidFill>
          <a:ln w="12700">
            <a:solidFill>
              <a:srgbClr val="CBEFDB"/>
            </a:solidFill>
            <a:prstDash val="solid"/>
          </a:ln>
        </p:spPr>
      </p:sp>
      <p:sp>
        <p:nvSpPr>
          <p:cNvPr id="12" name="Shape 10"/>
          <p:cNvSpPr/>
          <p:nvPr/>
        </p:nvSpPr>
        <p:spPr>
          <a:xfrm>
            <a:off x="4142232" y="1572768"/>
            <a:ext cx="914400" cy="201168"/>
          </a:xfrm>
          <a:prstGeom prst="roundRect">
            <a:avLst>
              <a:gd name="adj" fmla="val 22727"/>
            </a:avLst>
          </a:prstGeom>
          <a:solidFill>
            <a:srgbClr val="10B981"/>
          </a:solidFill>
          <a:ln w="12700">
            <a:solidFill>
              <a:srgbClr val="10B981"/>
            </a:solidFill>
            <a:prstDash val="solid"/>
          </a:ln>
        </p:spPr>
      </p:sp>
      <p:sp>
        <p:nvSpPr>
          <p:cNvPr id="13" name="Text 11"/>
          <p:cNvSpPr/>
          <p:nvPr/>
        </p:nvSpPr>
        <p:spPr>
          <a:xfrm>
            <a:off x="4142232" y="1581912"/>
            <a:ext cx="91440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新規性の核2</a:t>
            </a:r>
            <a:endParaRPr lang="en-US" sz="1100" dirty="0"/>
          </a:p>
        </p:txBody>
      </p:sp>
      <p:sp>
        <p:nvSpPr>
          <p:cNvPr id="14" name="Text 12"/>
          <p:cNvSpPr/>
          <p:nvPr/>
        </p:nvSpPr>
        <p:spPr>
          <a:xfrm>
            <a:off x="4160520" y="1965960"/>
            <a:ext cx="2103120" cy="13258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電圧・εr・gas in・排気を boundary physics map として空間化</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「どこ」と「何をするか」を分離かつ統合</a:t>
            </a:r>
            <a:endParaRPr lang="en-US" sz="1600" dirty="0"/>
          </a:p>
        </p:txBody>
      </p:sp>
      <p:sp>
        <p:nvSpPr>
          <p:cNvPr id="15" name="Shape 13"/>
          <p:cNvSpPr/>
          <p:nvPr/>
        </p:nvSpPr>
        <p:spPr>
          <a:xfrm>
            <a:off x="7040880" y="1417320"/>
            <a:ext cx="2514600" cy="3886200"/>
          </a:xfrm>
          <a:prstGeom prst="roundRect">
            <a:avLst>
              <a:gd name="adj" fmla="val 2182"/>
            </a:avLst>
          </a:prstGeom>
          <a:solidFill>
            <a:srgbClr val="FFF8EE"/>
          </a:solidFill>
          <a:ln w="12700">
            <a:solidFill>
              <a:srgbClr val="F7D6A1"/>
            </a:solidFill>
            <a:prstDash val="solid"/>
          </a:ln>
        </p:spPr>
      </p:sp>
      <p:sp>
        <p:nvSpPr>
          <p:cNvPr id="16" name="Shape 14"/>
          <p:cNvSpPr/>
          <p:nvPr/>
        </p:nvSpPr>
        <p:spPr>
          <a:xfrm>
            <a:off x="7205472" y="1572768"/>
            <a:ext cx="914400" cy="201168"/>
          </a:xfrm>
          <a:prstGeom prst="roundRect">
            <a:avLst>
              <a:gd name="adj" fmla="val 22727"/>
            </a:avLst>
          </a:prstGeom>
          <a:solidFill>
            <a:srgbClr val="F59E0B"/>
          </a:solidFill>
          <a:ln w="12700">
            <a:solidFill>
              <a:srgbClr val="F59E0B"/>
            </a:solidFill>
            <a:prstDash val="solid"/>
          </a:ln>
        </p:spPr>
      </p:sp>
      <p:sp>
        <p:nvSpPr>
          <p:cNvPr id="17" name="Text 15"/>
          <p:cNvSpPr/>
          <p:nvPr/>
        </p:nvSpPr>
        <p:spPr>
          <a:xfrm>
            <a:off x="7205472" y="1581912"/>
            <a:ext cx="91440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新規性の核3</a:t>
            </a:r>
            <a:endParaRPr lang="en-US" sz="1100" dirty="0"/>
          </a:p>
        </p:txBody>
      </p:sp>
      <p:sp>
        <p:nvSpPr>
          <p:cNvPr id="18" name="Text 16"/>
          <p:cNvSpPr/>
          <p:nvPr/>
        </p:nvSpPr>
        <p:spPr>
          <a:xfrm>
            <a:off x="7223760" y="1965960"/>
            <a:ext cx="2103120" cy="13258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wall / interface / port を別帯域として学習し、境界上書きを組み合わせる</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低圧プラズマ向けに有用性を集中</a:t>
            </a:r>
            <a:endParaRPr lang="en-US" sz="1600" dirty="0"/>
          </a:p>
        </p:txBody>
      </p:sp>
      <p:sp>
        <p:nvSpPr>
          <p:cNvPr id="19" name="Shape 17"/>
          <p:cNvSpPr/>
          <p:nvPr/>
        </p:nvSpPr>
        <p:spPr>
          <a:xfrm>
            <a:off x="914400" y="5440680"/>
            <a:ext cx="8641080" cy="548640"/>
          </a:xfrm>
          <a:prstGeom prst="roundRect">
            <a:avLst>
              <a:gd name="adj" fmla="val 10000"/>
            </a:avLst>
          </a:prstGeom>
          <a:solidFill>
            <a:srgbClr val="FFFFFF"/>
          </a:solidFill>
          <a:ln w="12700">
            <a:solidFill>
              <a:srgbClr val="D7E3ED"/>
            </a:solidFill>
            <a:prstDash val="solid"/>
          </a:ln>
        </p:spPr>
      </p:sp>
      <p:sp>
        <p:nvSpPr>
          <p:cNvPr id="20" name="Text 18"/>
          <p:cNvSpPr/>
          <p:nvPr/>
        </p:nvSpPr>
        <p:spPr>
          <a:xfrm>
            <a:off x="1078992" y="5586984"/>
            <a:ext cx="8229600" cy="25603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個別要素自体は既知カテゴリに属し得るが、低圧プラズマの可変境界条件に対して、単一 U-Net へこの形で統合する点が進歩性の主張候補になる。</a:t>
            </a:r>
            <a:endParaRPr lang="en-US" sz="1400" dirty="0"/>
          </a:p>
        </p:txBody>
      </p:sp>
      <p:sp>
        <p:nvSpPr>
          <p:cNvPr id="21" name="Shape 19"/>
          <p:cNvSpPr/>
          <p:nvPr/>
        </p:nvSpPr>
        <p:spPr>
          <a:xfrm>
            <a:off x="9738360" y="1417320"/>
            <a:ext cx="1463040" cy="3886200"/>
          </a:xfrm>
          <a:prstGeom prst="roundRect">
            <a:avLst>
              <a:gd name="adj" fmla="val 3750"/>
            </a:avLst>
          </a:prstGeom>
          <a:solidFill>
            <a:srgbClr val="F9FBFD"/>
          </a:solidFill>
          <a:ln w="12700">
            <a:solidFill>
              <a:srgbClr val="D7E3ED"/>
            </a:solidFill>
            <a:prstDash val="solid"/>
          </a:ln>
        </p:spPr>
      </p:sp>
      <p:sp>
        <p:nvSpPr>
          <p:cNvPr id="22" name="Text 20"/>
          <p:cNvSpPr/>
          <p:nvPr/>
        </p:nvSpPr>
        <p:spPr>
          <a:xfrm>
            <a:off x="9893808" y="1627632"/>
            <a:ext cx="1143000" cy="292608"/>
          </a:xfrm>
          <a:prstGeom prst="rect">
            <a:avLst/>
          </a:prstGeom>
          <a:noFill/>
          <a:ln/>
        </p:spPr>
        <p:txBody>
          <a:bodyPr wrap="square" lIns="0" tIns="0" rIns="0" bIns="0" rtlCol="0" anchor="ctr">
            <a:normAutofit/>
          </a:bodyPr>
          <a:lstStyle/>
          <a:p>
            <a:pPr algn="ctr" indent="0" marL="0">
              <a:buNone/>
            </a:pPr>
            <a:r>
              <a:rPr lang="en-US" sz="1600" b="1" dirty="0">
                <a:solidFill>
                  <a:srgbClr val="0D4D7E"/>
                </a:solidFill>
                <a:latin typeface="Meiryo" pitchFamily="34" charset="0"/>
                <a:ea typeface="Meiryo" pitchFamily="34" charset="-122"/>
                <a:cs typeface="Meiryo" pitchFamily="34" charset="-120"/>
              </a:rPr>
              <a:t>出願戦略</a:t>
            </a:r>
            <a:endParaRPr lang="en-US" sz="1600" dirty="0"/>
          </a:p>
          <a:p>
            <a:pPr algn="ctr" indent="0" marL="0">
              <a:buNone/>
            </a:pPr>
            <a:r>
              <a:rPr lang="en-US" sz="1600" b="1" dirty="0">
                <a:solidFill>
                  <a:srgbClr val="0D4D7E"/>
                </a:solidFill>
                <a:latin typeface="Meiryo" pitchFamily="34" charset="0"/>
                <a:ea typeface="Meiryo" pitchFamily="34" charset="-122"/>
                <a:cs typeface="Meiryo" pitchFamily="34" charset="-120"/>
              </a:rPr>
              <a:t>メモ</a:t>
            </a:r>
            <a:endParaRPr lang="en-US" sz="1600" dirty="0"/>
          </a:p>
        </p:txBody>
      </p:sp>
      <p:sp>
        <p:nvSpPr>
          <p:cNvPr id="23" name="Text 21"/>
          <p:cNvSpPr/>
          <p:nvPr/>
        </p:nvSpPr>
        <p:spPr>
          <a:xfrm>
            <a:off x="9912096" y="2331720"/>
            <a:ext cx="1005840" cy="822960"/>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方法</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中心</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装置</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従属</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 システム</a:t>
            </a:r>
            <a:endParaRPr lang="en-US" sz="1500" dirty="0"/>
          </a:p>
          <a:p>
            <a:pPr indent="0" marL="0">
              <a:buNone/>
            </a:pPr>
            <a:r>
              <a:rPr lang="en-US" sz="1500" dirty="0">
                <a:solidFill>
                  <a:srgbClr val="111111"/>
                </a:solidFill>
                <a:latin typeface="Meiryo" pitchFamily="34" charset="0"/>
                <a:ea typeface="Meiryo" pitchFamily="34" charset="-122"/>
                <a:cs typeface="Meiryo" pitchFamily="34" charset="-120"/>
              </a:rPr>
              <a:t>併記</a:t>
            </a:r>
            <a:endParaRPr lang="en-US" sz="1500" dirty="0"/>
          </a:p>
        </p:txBody>
      </p:sp>
      <p:sp>
        <p:nvSpPr>
          <p:cNvPr id="24" name="Text 22"/>
          <p:cNvSpPr/>
          <p:nvPr/>
        </p:nvSpPr>
        <p:spPr>
          <a:xfrm>
            <a:off x="9912096" y="3474720"/>
            <a:ext cx="1005840" cy="114300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広い軸:</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SDF +</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物理 map</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狭い軸:</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Φbc / Seff / jump</a:t>
            </a:r>
            <a:endParaRPr lang="en-US" sz="1400" dirty="0"/>
          </a:p>
        </p:txBody>
      </p:sp>
      <p:sp>
        <p:nvSpPr>
          <p:cNvPr id="25" name="Text 23"/>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活用イメージ1: 電極・recipe 設計 / 誘電体部材設計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活用</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5074920" cy="4480560"/>
          </a:xfrm>
          <a:prstGeom prst="roundRect">
            <a:avLst>
              <a:gd name="adj" fmla="val 1224"/>
            </a:avLst>
          </a:prstGeom>
          <a:solidFill>
            <a:srgbClr val="FFFFFF"/>
          </a:solidFill>
          <a:ln w="12700">
            <a:solidFill>
              <a:srgbClr val="F59E0B"/>
            </a:solidFill>
            <a:prstDash val="solid"/>
          </a:ln>
        </p:spPr>
      </p:sp>
      <p:sp>
        <p:nvSpPr>
          <p:cNvPr id="8" name="Shape 6"/>
          <p:cNvSpPr/>
          <p:nvPr/>
        </p:nvSpPr>
        <p:spPr>
          <a:xfrm>
            <a:off x="978408" y="1417320"/>
            <a:ext cx="731520" cy="219456"/>
          </a:xfrm>
          <a:prstGeom prst="roundRect">
            <a:avLst>
              <a:gd name="adj" fmla="val 20833"/>
            </a:avLst>
          </a:prstGeom>
          <a:solidFill>
            <a:srgbClr val="F59E0B"/>
          </a:solidFill>
          <a:ln w="12700">
            <a:solidFill>
              <a:srgbClr val="F59E0B"/>
            </a:solidFill>
            <a:prstDash val="solid"/>
          </a:ln>
        </p:spPr>
      </p:sp>
      <p:sp>
        <p:nvSpPr>
          <p:cNvPr id="9" name="Text 7"/>
          <p:cNvSpPr/>
          <p:nvPr/>
        </p:nvSpPr>
        <p:spPr>
          <a:xfrm>
            <a:off x="978408" y="1426464"/>
            <a:ext cx="731520" cy="21031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事例A</a:t>
            </a:r>
            <a:endParaRPr lang="en-US" sz="1100" dirty="0"/>
          </a:p>
        </p:txBody>
      </p:sp>
      <p:sp>
        <p:nvSpPr>
          <p:cNvPr id="10" name="Shape 8"/>
          <p:cNvSpPr/>
          <p:nvPr/>
        </p:nvSpPr>
        <p:spPr>
          <a:xfrm>
            <a:off x="978408" y="1728216"/>
            <a:ext cx="1623974" cy="3968496"/>
          </a:xfrm>
          <a:prstGeom prst="roundRect">
            <a:avLst>
              <a:gd name="adj" fmla="val 3378"/>
            </a:avLst>
          </a:prstGeom>
          <a:solidFill>
            <a:srgbClr val="F9FBFD"/>
          </a:solidFill>
          <a:ln w="12700">
            <a:solidFill>
              <a:srgbClr val="D7E3ED"/>
            </a:solidFill>
            <a:prstDash val="solid"/>
          </a:ln>
        </p:spPr>
      </p:sp>
      <p:sp>
        <p:nvSpPr>
          <p:cNvPr id="11" name="Text 9"/>
          <p:cNvSpPr/>
          <p:nvPr/>
        </p:nvSpPr>
        <p:spPr>
          <a:xfrm>
            <a:off x="1088136"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12" name="Text 10"/>
          <p:cNvSpPr/>
          <p:nvPr/>
        </p:nvSpPr>
        <p:spPr>
          <a:xfrm>
            <a:off x="1069848" y="1984248"/>
            <a:ext cx="1441094"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電極電圧や位相差変更のたびに full simulation が重い</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端部・ギャップ近傍の sheath 影響を早く見たい</a:t>
            </a:r>
            <a:endParaRPr lang="en-US" sz="1400" dirty="0"/>
          </a:p>
        </p:txBody>
      </p:sp>
      <p:sp>
        <p:nvSpPr>
          <p:cNvPr id="13" name="Shape 11"/>
          <p:cNvSpPr/>
          <p:nvPr/>
        </p:nvSpPr>
        <p:spPr>
          <a:xfrm>
            <a:off x="2594153" y="1728216"/>
            <a:ext cx="1522476" cy="3968496"/>
          </a:xfrm>
          <a:prstGeom prst="roundRect">
            <a:avLst>
              <a:gd name="adj" fmla="val 3604"/>
            </a:avLst>
          </a:prstGeom>
          <a:solidFill>
            <a:srgbClr val="F4FBFF"/>
          </a:solidFill>
          <a:ln w="12700">
            <a:solidFill>
              <a:srgbClr val="C7E7FF"/>
            </a:solidFill>
            <a:prstDash val="solid"/>
          </a:ln>
        </p:spPr>
      </p:sp>
      <p:sp>
        <p:nvSpPr>
          <p:cNvPr id="14" name="Text 12"/>
          <p:cNvSpPr/>
          <p:nvPr/>
        </p:nvSpPr>
        <p:spPr>
          <a:xfrm>
            <a:off x="2703881"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15" name="Text 13"/>
          <p:cNvSpPr/>
          <p:nvPr/>
        </p:nvSpPr>
        <p:spPr>
          <a:xfrm>
            <a:off x="2685593" y="1984248"/>
            <a:ext cx="1376172"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Φbc / Ebc を更新して surrogate 推論</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wall-band 指標で候補を比較</a:t>
            </a:r>
            <a:endParaRPr lang="en-US" sz="1400" dirty="0"/>
          </a:p>
        </p:txBody>
      </p:sp>
      <p:sp>
        <p:nvSpPr>
          <p:cNvPr id="16" name="Shape 14"/>
          <p:cNvSpPr/>
          <p:nvPr/>
        </p:nvSpPr>
        <p:spPr>
          <a:xfrm>
            <a:off x="4218127" y="1728216"/>
            <a:ext cx="1116482" cy="3968496"/>
          </a:xfrm>
          <a:prstGeom prst="roundRect">
            <a:avLst>
              <a:gd name="adj" fmla="val 4914"/>
            </a:avLst>
          </a:prstGeom>
          <a:solidFill>
            <a:srgbClr val="F1FBF7"/>
          </a:solidFill>
          <a:ln w="12700">
            <a:solidFill>
              <a:srgbClr val="CBEFDB"/>
            </a:solidFill>
            <a:prstDash val="solid"/>
          </a:ln>
        </p:spPr>
      </p:sp>
      <p:sp>
        <p:nvSpPr>
          <p:cNvPr id="17" name="Text 15"/>
          <p:cNvSpPr/>
          <p:nvPr/>
        </p:nvSpPr>
        <p:spPr>
          <a:xfrm>
            <a:off x="4327855" y="1801368"/>
            <a:ext cx="274320" cy="109728"/>
          </a:xfrm>
          <a:prstGeom prst="rect">
            <a:avLst/>
          </a:prstGeom>
          <a:noFill/>
          <a:ln/>
        </p:spPr>
        <p:txBody>
          <a:bodyPr wrap="square" lIns="0" tIns="0" rIns="0" bIns="0" rtlCol="0" anchor="ctr">
            <a:normAutofit/>
          </a:bodyPr>
          <a:lstStyle/>
          <a:p>
            <a:pPr algn="l" indent="0" marL="0">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18" name="Text 16"/>
          <p:cNvSpPr/>
          <p:nvPr/>
        </p:nvSpPr>
        <p:spPr>
          <a:xfrm>
            <a:off x="4291279" y="1984248"/>
            <a:ext cx="988466"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電極条件候補の高速絞り込み</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recipe sweep を設計前段で実施</a:t>
            </a:r>
            <a:endParaRPr lang="en-US" sz="1400" dirty="0"/>
          </a:p>
        </p:txBody>
      </p:sp>
      <p:sp>
        <p:nvSpPr>
          <p:cNvPr id="19" name="Shape 17"/>
          <p:cNvSpPr/>
          <p:nvPr/>
        </p:nvSpPr>
        <p:spPr>
          <a:xfrm>
            <a:off x="5339639" y="2267712"/>
            <a:ext cx="365760" cy="0"/>
          </a:xfrm>
          <a:prstGeom prst="line">
            <a:avLst/>
          </a:prstGeom>
          <a:noFill/>
          <a:ln w="38100">
            <a:solidFill>
              <a:srgbClr val="3B82F6"/>
            </a:solidFill>
            <a:prstDash val="solid"/>
            <a:tailEnd type="triangle"/>
          </a:ln>
        </p:spPr>
      </p:sp>
      <p:sp>
        <p:nvSpPr>
          <p:cNvPr id="20" name="Shape 18"/>
          <p:cNvSpPr/>
          <p:nvPr/>
        </p:nvSpPr>
        <p:spPr>
          <a:xfrm>
            <a:off x="5572811" y="5157216"/>
            <a:ext cx="365760" cy="0"/>
          </a:xfrm>
          <a:prstGeom prst="line">
            <a:avLst/>
          </a:prstGeom>
          <a:noFill/>
          <a:ln w="38100">
            <a:solidFill>
              <a:srgbClr val="EF4444"/>
            </a:solidFill>
            <a:prstDash val="solid"/>
            <a:tailEnd type="triangle"/>
          </a:ln>
        </p:spPr>
      </p:sp>
      <p:sp>
        <p:nvSpPr>
          <p:cNvPr id="21" name="Shape 19"/>
          <p:cNvSpPr/>
          <p:nvPr/>
        </p:nvSpPr>
        <p:spPr>
          <a:xfrm>
            <a:off x="5568239" y="1947672"/>
            <a:ext cx="141732" cy="3529584"/>
          </a:xfrm>
          <a:prstGeom prst="roundRect">
            <a:avLst>
              <a:gd name="adj" fmla="val 32258"/>
            </a:avLst>
          </a:prstGeom>
          <a:solidFill>
            <a:srgbClr val="FFFFFF"/>
          </a:solidFill>
          <a:ln w="25400">
            <a:solidFill>
              <a:srgbClr val="6B7280"/>
            </a:solidFill>
            <a:prstDash val="solid"/>
          </a:ln>
        </p:spPr>
      </p:sp>
      <p:sp>
        <p:nvSpPr>
          <p:cNvPr id="22" name="Shape 20"/>
          <p:cNvSpPr/>
          <p:nvPr/>
        </p:nvSpPr>
        <p:spPr>
          <a:xfrm>
            <a:off x="5586527" y="5367528"/>
            <a:ext cx="105156" cy="91440"/>
          </a:xfrm>
          <a:prstGeom prst="rect">
            <a:avLst/>
          </a:prstGeom>
          <a:solidFill>
            <a:srgbClr val="6B7280">
              <a:alpha val="75000"/>
            </a:srgbClr>
          </a:solidFill>
          <a:ln w="12700">
            <a:solidFill>
              <a:srgbClr val="6B7280">
                <a:alpha val="0"/>
              </a:srgbClr>
            </a:solidFill>
            <a:prstDash val="solid"/>
          </a:ln>
        </p:spPr>
      </p:sp>
      <p:sp>
        <p:nvSpPr>
          <p:cNvPr id="23" name="Shape 21"/>
          <p:cNvSpPr/>
          <p:nvPr/>
        </p:nvSpPr>
        <p:spPr>
          <a:xfrm>
            <a:off x="5586527" y="1965960"/>
            <a:ext cx="109728" cy="3493008"/>
          </a:xfrm>
          <a:prstGeom prst="rect">
            <a:avLst/>
          </a:prstGeom>
          <a:solidFill>
            <a:srgbClr val="6B7280">
              <a:alpha val="75000"/>
            </a:srgbClr>
          </a:solidFill>
          <a:ln w="12700">
            <a:solidFill>
              <a:srgbClr val="6B7280">
                <a:alpha val="0"/>
              </a:srgbClr>
            </a:solidFill>
            <a:prstDash val="solid"/>
          </a:ln>
        </p:spPr>
      </p:sp>
      <p:sp>
        <p:nvSpPr>
          <p:cNvPr id="24" name="Shape 22"/>
          <p:cNvSpPr/>
          <p:nvPr/>
        </p:nvSpPr>
        <p:spPr>
          <a:xfrm>
            <a:off x="5581955" y="1965960"/>
            <a:ext cx="109728" cy="3493008"/>
          </a:xfrm>
          <a:prstGeom prst="rect">
            <a:avLst/>
          </a:prstGeom>
          <a:solidFill>
            <a:srgbClr val="6B7280">
              <a:alpha val="75000"/>
            </a:srgbClr>
          </a:solidFill>
          <a:ln w="12700">
            <a:solidFill>
              <a:srgbClr val="6B7280">
                <a:alpha val="0"/>
              </a:srgbClr>
            </a:solidFill>
            <a:prstDash val="solid"/>
          </a:ln>
        </p:spPr>
      </p:sp>
      <p:sp>
        <p:nvSpPr>
          <p:cNvPr id="25" name="Shape 23"/>
          <p:cNvSpPr/>
          <p:nvPr/>
        </p:nvSpPr>
        <p:spPr>
          <a:xfrm>
            <a:off x="5796839" y="1874520"/>
            <a:ext cx="-315468" cy="109728"/>
          </a:xfrm>
          <a:prstGeom prst="rect">
            <a:avLst/>
          </a:prstGeom>
          <a:solidFill>
            <a:srgbClr val="10B981"/>
          </a:solidFill>
          <a:ln w="12700">
            <a:solidFill>
              <a:srgbClr val="10B981"/>
            </a:solidFill>
            <a:prstDash val="solid"/>
          </a:ln>
        </p:spPr>
      </p:sp>
      <p:sp>
        <p:nvSpPr>
          <p:cNvPr id="26" name="Text 24"/>
          <p:cNvSpPr/>
          <p:nvPr/>
        </p:nvSpPr>
        <p:spPr>
          <a:xfrm>
            <a:off x="5410505" y="173736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7" name="Shape 25"/>
          <p:cNvSpPr/>
          <p:nvPr/>
        </p:nvSpPr>
        <p:spPr>
          <a:xfrm>
            <a:off x="5979719" y="2112264"/>
            <a:ext cx="-681228" cy="91440"/>
          </a:xfrm>
          <a:prstGeom prst="rect">
            <a:avLst/>
          </a:prstGeom>
          <a:solidFill>
            <a:srgbClr val="F59E0B"/>
          </a:solidFill>
          <a:ln w="12700">
            <a:solidFill>
              <a:srgbClr val="F59E0B"/>
            </a:solidFill>
            <a:prstDash val="solid"/>
          </a:ln>
        </p:spPr>
      </p:sp>
      <p:sp>
        <p:nvSpPr>
          <p:cNvPr id="28" name="Text 26"/>
          <p:cNvSpPr/>
          <p:nvPr/>
        </p:nvSpPr>
        <p:spPr>
          <a:xfrm>
            <a:off x="5319065" y="197510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9" name="Shape 27"/>
          <p:cNvSpPr/>
          <p:nvPr/>
        </p:nvSpPr>
        <p:spPr>
          <a:xfrm>
            <a:off x="6071159" y="5065776"/>
            <a:ext cx="-864108" cy="100584"/>
          </a:xfrm>
          <a:prstGeom prst="rect">
            <a:avLst/>
          </a:prstGeom>
          <a:solidFill>
            <a:srgbClr val="B0B8C0"/>
          </a:solidFill>
          <a:ln w="12700">
            <a:solidFill>
              <a:srgbClr val="B0B8C0"/>
            </a:solidFill>
            <a:prstDash val="solid"/>
          </a:ln>
        </p:spPr>
      </p:sp>
      <p:sp>
        <p:nvSpPr>
          <p:cNvPr id="30" name="Text 28"/>
          <p:cNvSpPr/>
          <p:nvPr/>
        </p:nvSpPr>
        <p:spPr>
          <a:xfrm>
            <a:off x="5474513" y="5221224"/>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1" name="Shape 29"/>
          <p:cNvSpPr/>
          <p:nvPr/>
        </p:nvSpPr>
        <p:spPr>
          <a:xfrm>
            <a:off x="5696255" y="2203704"/>
            <a:ext cx="-114300" cy="146304"/>
          </a:xfrm>
          <a:prstGeom prst="rect">
            <a:avLst/>
          </a:prstGeom>
          <a:solidFill>
            <a:srgbClr val="39A8FF">
              <a:alpha val="30000"/>
            </a:srgbClr>
          </a:solidFill>
          <a:ln w="12700">
            <a:solidFill>
              <a:srgbClr val="39A8FF">
                <a:alpha val="0"/>
              </a:srgbClr>
            </a:solidFill>
            <a:prstDash val="solid"/>
          </a:ln>
        </p:spPr>
      </p:sp>
      <p:sp>
        <p:nvSpPr>
          <p:cNvPr id="32" name="Shape 30"/>
          <p:cNvSpPr/>
          <p:nvPr/>
        </p:nvSpPr>
        <p:spPr>
          <a:xfrm>
            <a:off x="5696255" y="5074920"/>
            <a:ext cx="-114300" cy="146304"/>
          </a:xfrm>
          <a:prstGeom prst="rect">
            <a:avLst/>
          </a:prstGeom>
          <a:solidFill>
            <a:srgbClr val="39A8FF">
              <a:alpha val="20000"/>
            </a:srgbClr>
          </a:solidFill>
          <a:ln w="12700">
            <a:solidFill>
              <a:srgbClr val="39A8FF">
                <a:alpha val="0"/>
              </a:srgbClr>
            </a:solidFill>
            <a:prstDash val="solid"/>
          </a:ln>
        </p:spPr>
      </p:sp>
      <p:sp>
        <p:nvSpPr>
          <p:cNvPr id="33" name="Shape 31"/>
          <p:cNvSpPr/>
          <p:nvPr/>
        </p:nvSpPr>
        <p:spPr>
          <a:xfrm>
            <a:off x="5696255" y="2350008"/>
            <a:ext cx="146304" cy="2724912"/>
          </a:xfrm>
          <a:prstGeom prst="rect">
            <a:avLst/>
          </a:prstGeom>
          <a:solidFill>
            <a:srgbClr val="39A8FF">
              <a:alpha val="20000"/>
            </a:srgbClr>
          </a:solidFill>
          <a:ln w="12700">
            <a:solidFill>
              <a:srgbClr val="39A8FF">
                <a:alpha val="0"/>
              </a:srgbClr>
            </a:solidFill>
            <a:prstDash val="solid"/>
          </a:ln>
        </p:spPr>
      </p:sp>
      <p:sp>
        <p:nvSpPr>
          <p:cNvPr id="34" name="Shape 32"/>
          <p:cNvSpPr/>
          <p:nvPr/>
        </p:nvSpPr>
        <p:spPr>
          <a:xfrm>
            <a:off x="5435651" y="2350008"/>
            <a:ext cx="146304" cy="2724912"/>
          </a:xfrm>
          <a:prstGeom prst="rect">
            <a:avLst/>
          </a:prstGeom>
          <a:solidFill>
            <a:srgbClr val="39A8FF">
              <a:alpha val="20000"/>
            </a:srgbClr>
          </a:solidFill>
          <a:ln w="12700">
            <a:solidFill>
              <a:srgbClr val="39A8FF">
                <a:alpha val="0"/>
              </a:srgbClr>
            </a:solidFill>
            <a:prstDash val="solid"/>
          </a:ln>
        </p:spPr>
      </p:sp>
      <p:sp>
        <p:nvSpPr>
          <p:cNvPr id="35" name="Shape 33"/>
          <p:cNvSpPr/>
          <p:nvPr/>
        </p:nvSpPr>
        <p:spPr>
          <a:xfrm>
            <a:off x="6172200" y="1325880"/>
            <a:ext cx="5074920" cy="4480560"/>
          </a:xfrm>
          <a:prstGeom prst="roundRect">
            <a:avLst>
              <a:gd name="adj" fmla="val 1224"/>
            </a:avLst>
          </a:prstGeom>
          <a:solidFill>
            <a:srgbClr val="FFFFFF"/>
          </a:solidFill>
          <a:ln w="12700">
            <a:solidFill>
              <a:srgbClr val="10B981"/>
            </a:solidFill>
            <a:prstDash val="solid"/>
          </a:ln>
        </p:spPr>
      </p:sp>
      <p:sp>
        <p:nvSpPr>
          <p:cNvPr id="36" name="Shape 34"/>
          <p:cNvSpPr/>
          <p:nvPr/>
        </p:nvSpPr>
        <p:spPr>
          <a:xfrm>
            <a:off x="6281928" y="1417320"/>
            <a:ext cx="731520" cy="219456"/>
          </a:xfrm>
          <a:prstGeom prst="roundRect">
            <a:avLst>
              <a:gd name="adj" fmla="val 20833"/>
            </a:avLst>
          </a:prstGeom>
          <a:solidFill>
            <a:srgbClr val="10B981"/>
          </a:solidFill>
          <a:ln w="12700">
            <a:solidFill>
              <a:srgbClr val="10B981"/>
            </a:solidFill>
            <a:prstDash val="solid"/>
          </a:ln>
        </p:spPr>
      </p:sp>
      <p:sp>
        <p:nvSpPr>
          <p:cNvPr id="37" name="Text 35"/>
          <p:cNvSpPr/>
          <p:nvPr/>
        </p:nvSpPr>
        <p:spPr>
          <a:xfrm>
            <a:off x="6281928" y="1426464"/>
            <a:ext cx="731520" cy="21031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事例B</a:t>
            </a:r>
            <a:endParaRPr lang="en-US" sz="1100" dirty="0"/>
          </a:p>
        </p:txBody>
      </p:sp>
      <p:sp>
        <p:nvSpPr>
          <p:cNvPr id="38" name="Shape 36"/>
          <p:cNvSpPr/>
          <p:nvPr/>
        </p:nvSpPr>
        <p:spPr>
          <a:xfrm>
            <a:off x="6281928" y="1728216"/>
            <a:ext cx="1623974" cy="3968496"/>
          </a:xfrm>
          <a:prstGeom prst="roundRect">
            <a:avLst>
              <a:gd name="adj" fmla="val 3378"/>
            </a:avLst>
          </a:prstGeom>
          <a:solidFill>
            <a:srgbClr val="F9FBFD"/>
          </a:solidFill>
          <a:ln w="12700">
            <a:solidFill>
              <a:srgbClr val="D7E3ED"/>
            </a:solidFill>
            <a:prstDash val="solid"/>
          </a:ln>
        </p:spPr>
      </p:sp>
      <p:sp>
        <p:nvSpPr>
          <p:cNvPr id="39" name="Text 37"/>
          <p:cNvSpPr/>
          <p:nvPr/>
        </p:nvSpPr>
        <p:spPr>
          <a:xfrm>
            <a:off x="6391656"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40" name="Text 38"/>
          <p:cNvSpPr/>
          <p:nvPr/>
        </p:nvSpPr>
        <p:spPr>
          <a:xfrm>
            <a:off x="6373368" y="1984248"/>
            <a:ext cx="1441094"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窓材・スペーサ材・被覆変更で界面電場が変わる</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金属壁と同じ扱いでは局所異常を見落とす</a:t>
            </a:r>
            <a:endParaRPr lang="en-US" sz="1400" dirty="0"/>
          </a:p>
        </p:txBody>
      </p:sp>
      <p:sp>
        <p:nvSpPr>
          <p:cNvPr id="41" name="Shape 39"/>
          <p:cNvSpPr/>
          <p:nvPr/>
        </p:nvSpPr>
        <p:spPr>
          <a:xfrm>
            <a:off x="7897673" y="1728216"/>
            <a:ext cx="1522476" cy="3968496"/>
          </a:xfrm>
          <a:prstGeom prst="roundRect">
            <a:avLst>
              <a:gd name="adj" fmla="val 3604"/>
            </a:avLst>
          </a:prstGeom>
          <a:solidFill>
            <a:srgbClr val="F4FBFF"/>
          </a:solidFill>
          <a:ln w="12700">
            <a:solidFill>
              <a:srgbClr val="C7E7FF"/>
            </a:solidFill>
            <a:prstDash val="solid"/>
          </a:ln>
        </p:spPr>
      </p:sp>
      <p:sp>
        <p:nvSpPr>
          <p:cNvPr id="42" name="Text 40"/>
          <p:cNvSpPr/>
          <p:nvPr/>
        </p:nvSpPr>
        <p:spPr>
          <a:xfrm>
            <a:off x="8007401"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43" name="Text 41"/>
          <p:cNvSpPr/>
          <p:nvPr/>
        </p:nvSpPr>
        <p:spPr>
          <a:xfrm>
            <a:off x="7989113" y="1984248"/>
            <a:ext cx="1376172"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εr map と界面 jump を持つ surrogate で比較</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必要に応じ σs 拡張を評価</a:t>
            </a:r>
            <a:endParaRPr lang="en-US" sz="1400" dirty="0"/>
          </a:p>
        </p:txBody>
      </p:sp>
      <p:sp>
        <p:nvSpPr>
          <p:cNvPr id="44" name="Shape 42"/>
          <p:cNvSpPr/>
          <p:nvPr/>
        </p:nvSpPr>
        <p:spPr>
          <a:xfrm>
            <a:off x="9521647" y="1728216"/>
            <a:ext cx="1116482" cy="3968496"/>
          </a:xfrm>
          <a:prstGeom prst="roundRect">
            <a:avLst>
              <a:gd name="adj" fmla="val 4914"/>
            </a:avLst>
          </a:prstGeom>
          <a:solidFill>
            <a:srgbClr val="F1FBF7"/>
          </a:solidFill>
          <a:ln w="12700">
            <a:solidFill>
              <a:srgbClr val="CBEFDB"/>
            </a:solidFill>
            <a:prstDash val="solid"/>
          </a:ln>
        </p:spPr>
      </p:sp>
      <p:sp>
        <p:nvSpPr>
          <p:cNvPr id="45" name="Text 43"/>
          <p:cNvSpPr/>
          <p:nvPr/>
        </p:nvSpPr>
        <p:spPr>
          <a:xfrm>
            <a:off x="9631375" y="1801368"/>
            <a:ext cx="274320" cy="109728"/>
          </a:xfrm>
          <a:prstGeom prst="rect">
            <a:avLst/>
          </a:prstGeom>
          <a:noFill/>
          <a:ln/>
        </p:spPr>
        <p:txBody>
          <a:bodyPr wrap="square" lIns="0" tIns="0" rIns="0" bIns="0" rtlCol="0" anchor="ctr">
            <a:normAutofit/>
          </a:bodyPr>
          <a:lstStyle/>
          <a:p>
            <a:pPr algn="l" indent="0" marL="0">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46" name="Text 44"/>
          <p:cNvSpPr/>
          <p:nvPr/>
        </p:nvSpPr>
        <p:spPr>
          <a:xfrm>
            <a:off x="9594799" y="1984248"/>
            <a:ext cx="988466"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部材比較の初期スクリーニング</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誘電体起因の hotspot を早期把握</a:t>
            </a:r>
            <a:endParaRPr lang="en-US" sz="1400" dirty="0"/>
          </a:p>
        </p:txBody>
      </p:sp>
      <p:sp>
        <p:nvSpPr>
          <p:cNvPr id="47" name="Shape 45"/>
          <p:cNvSpPr/>
          <p:nvPr/>
        </p:nvSpPr>
        <p:spPr>
          <a:xfrm>
            <a:off x="10643159" y="2267712"/>
            <a:ext cx="365760" cy="0"/>
          </a:xfrm>
          <a:prstGeom prst="line">
            <a:avLst/>
          </a:prstGeom>
          <a:noFill/>
          <a:ln w="38100">
            <a:solidFill>
              <a:srgbClr val="3B82F6"/>
            </a:solidFill>
            <a:prstDash val="solid"/>
            <a:tailEnd type="triangle"/>
          </a:ln>
        </p:spPr>
      </p:sp>
      <p:sp>
        <p:nvSpPr>
          <p:cNvPr id="48" name="Shape 46"/>
          <p:cNvSpPr/>
          <p:nvPr/>
        </p:nvSpPr>
        <p:spPr>
          <a:xfrm>
            <a:off x="10876331" y="5157216"/>
            <a:ext cx="365760" cy="0"/>
          </a:xfrm>
          <a:prstGeom prst="line">
            <a:avLst/>
          </a:prstGeom>
          <a:noFill/>
          <a:ln w="38100">
            <a:solidFill>
              <a:srgbClr val="EF4444"/>
            </a:solidFill>
            <a:prstDash val="solid"/>
            <a:tailEnd type="triangle"/>
          </a:ln>
        </p:spPr>
      </p:sp>
      <p:sp>
        <p:nvSpPr>
          <p:cNvPr id="49" name="Shape 47"/>
          <p:cNvSpPr/>
          <p:nvPr/>
        </p:nvSpPr>
        <p:spPr>
          <a:xfrm>
            <a:off x="10871759" y="1947672"/>
            <a:ext cx="141732" cy="3529584"/>
          </a:xfrm>
          <a:prstGeom prst="roundRect">
            <a:avLst>
              <a:gd name="adj" fmla="val 32258"/>
            </a:avLst>
          </a:prstGeom>
          <a:solidFill>
            <a:srgbClr val="FFFFFF"/>
          </a:solidFill>
          <a:ln w="25400">
            <a:solidFill>
              <a:srgbClr val="6B7280"/>
            </a:solidFill>
            <a:prstDash val="solid"/>
          </a:ln>
        </p:spPr>
      </p:sp>
      <p:sp>
        <p:nvSpPr>
          <p:cNvPr id="50" name="Shape 48"/>
          <p:cNvSpPr/>
          <p:nvPr/>
        </p:nvSpPr>
        <p:spPr>
          <a:xfrm>
            <a:off x="10890047" y="5367528"/>
            <a:ext cx="105156" cy="91440"/>
          </a:xfrm>
          <a:prstGeom prst="rect">
            <a:avLst/>
          </a:prstGeom>
          <a:solidFill>
            <a:srgbClr val="6B7280">
              <a:alpha val="75000"/>
            </a:srgbClr>
          </a:solidFill>
          <a:ln w="12700">
            <a:solidFill>
              <a:srgbClr val="6B7280">
                <a:alpha val="0"/>
              </a:srgbClr>
            </a:solidFill>
            <a:prstDash val="solid"/>
          </a:ln>
        </p:spPr>
      </p:sp>
      <p:sp>
        <p:nvSpPr>
          <p:cNvPr id="51" name="Shape 49"/>
          <p:cNvSpPr/>
          <p:nvPr/>
        </p:nvSpPr>
        <p:spPr>
          <a:xfrm>
            <a:off x="10890047" y="1965960"/>
            <a:ext cx="109728" cy="3493008"/>
          </a:xfrm>
          <a:prstGeom prst="rect">
            <a:avLst/>
          </a:prstGeom>
          <a:solidFill>
            <a:srgbClr val="6B7280">
              <a:alpha val="75000"/>
            </a:srgbClr>
          </a:solidFill>
          <a:ln w="12700">
            <a:solidFill>
              <a:srgbClr val="6B7280">
                <a:alpha val="0"/>
              </a:srgbClr>
            </a:solidFill>
            <a:prstDash val="solid"/>
          </a:ln>
        </p:spPr>
      </p:sp>
      <p:sp>
        <p:nvSpPr>
          <p:cNvPr id="52" name="Shape 50"/>
          <p:cNvSpPr/>
          <p:nvPr/>
        </p:nvSpPr>
        <p:spPr>
          <a:xfrm>
            <a:off x="10885475" y="1965960"/>
            <a:ext cx="109728" cy="3493008"/>
          </a:xfrm>
          <a:prstGeom prst="rect">
            <a:avLst/>
          </a:prstGeom>
          <a:solidFill>
            <a:srgbClr val="6B7280">
              <a:alpha val="75000"/>
            </a:srgbClr>
          </a:solidFill>
          <a:ln w="12700">
            <a:solidFill>
              <a:srgbClr val="6B7280">
                <a:alpha val="0"/>
              </a:srgbClr>
            </a:solidFill>
            <a:prstDash val="solid"/>
          </a:ln>
        </p:spPr>
      </p:sp>
      <p:sp>
        <p:nvSpPr>
          <p:cNvPr id="53" name="Shape 51"/>
          <p:cNvSpPr/>
          <p:nvPr/>
        </p:nvSpPr>
        <p:spPr>
          <a:xfrm>
            <a:off x="11100359" y="1874520"/>
            <a:ext cx="-315468" cy="109728"/>
          </a:xfrm>
          <a:prstGeom prst="rect">
            <a:avLst/>
          </a:prstGeom>
          <a:solidFill>
            <a:srgbClr val="10B981"/>
          </a:solidFill>
          <a:ln w="12700">
            <a:solidFill>
              <a:srgbClr val="10B981"/>
            </a:solidFill>
            <a:prstDash val="solid"/>
          </a:ln>
        </p:spPr>
      </p:sp>
      <p:sp>
        <p:nvSpPr>
          <p:cNvPr id="54" name="Text 52"/>
          <p:cNvSpPr/>
          <p:nvPr/>
        </p:nvSpPr>
        <p:spPr>
          <a:xfrm>
            <a:off x="10714025" y="173736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55" name="Shape 53"/>
          <p:cNvSpPr/>
          <p:nvPr/>
        </p:nvSpPr>
        <p:spPr>
          <a:xfrm>
            <a:off x="11283239" y="2112264"/>
            <a:ext cx="-681228" cy="91440"/>
          </a:xfrm>
          <a:prstGeom prst="rect">
            <a:avLst/>
          </a:prstGeom>
          <a:solidFill>
            <a:srgbClr val="F59E0B"/>
          </a:solidFill>
          <a:ln w="12700">
            <a:solidFill>
              <a:srgbClr val="F59E0B"/>
            </a:solidFill>
            <a:prstDash val="solid"/>
          </a:ln>
        </p:spPr>
      </p:sp>
      <p:sp>
        <p:nvSpPr>
          <p:cNvPr id="56" name="Text 54"/>
          <p:cNvSpPr/>
          <p:nvPr/>
        </p:nvSpPr>
        <p:spPr>
          <a:xfrm>
            <a:off x="10622585" y="197510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57" name="Shape 55"/>
          <p:cNvSpPr/>
          <p:nvPr/>
        </p:nvSpPr>
        <p:spPr>
          <a:xfrm>
            <a:off x="11374679" y="5065776"/>
            <a:ext cx="-864108" cy="100584"/>
          </a:xfrm>
          <a:prstGeom prst="rect">
            <a:avLst/>
          </a:prstGeom>
          <a:solidFill>
            <a:srgbClr val="B0B8C0"/>
          </a:solidFill>
          <a:ln w="12700">
            <a:solidFill>
              <a:srgbClr val="B0B8C0"/>
            </a:solidFill>
            <a:prstDash val="solid"/>
          </a:ln>
        </p:spPr>
      </p:sp>
      <p:sp>
        <p:nvSpPr>
          <p:cNvPr id="58" name="Text 56"/>
          <p:cNvSpPr/>
          <p:nvPr/>
        </p:nvSpPr>
        <p:spPr>
          <a:xfrm>
            <a:off x="10778033" y="5221224"/>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59" name="Shape 57"/>
          <p:cNvSpPr/>
          <p:nvPr/>
        </p:nvSpPr>
        <p:spPr>
          <a:xfrm>
            <a:off x="10999775" y="2203704"/>
            <a:ext cx="-114300" cy="146304"/>
          </a:xfrm>
          <a:prstGeom prst="rect">
            <a:avLst/>
          </a:prstGeom>
          <a:solidFill>
            <a:srgbClr val="39A8FF">
              <a:alpha val="30000"/>
            </a:srgbClr>
          </a:solidFill>
          <a:ln w="12700">
            <a:solidFill>
              <a:srgbClr val="39A8FF">
                <a:alpha val="0"/>
              </a:srgbClr>
            </a:solidFill>
            <a:prstDash val="solid"/>
          </a:ln>
        </p:spPr>
      </p:sp>
      <p:sp>
        <p:nvSpPr>
          <p:cNvPr id="60" name="Shape 58"/>
          <p:cNvSpPr/>
          <p:nvPr/>
        </p:nvSpPr>
        <p:spPr>
          <a:xfrm>
            <a:off x="10999775" y="5074920"/>
            <a:ext cx="-114300" cy="146304"/>
          </a:xfrm>
          <a:prstGeom prst="rect">
            <a:avLst/>
          </a:prstGeom>
          <a:solidFill>
            <a:srgbClr val="39A8FF">
              <a:alpha val="20000"/>
            </a:srgbClr>
          </a:solidFill>
          <a:ln w="12700">
            <a:solidFill>
              <a:srgbClr val="39A8FF">
                <a:alpha val="0"/>
              </a:srgbClr>
            </a:solidFill>
            <a:prstDash val="solid"/>
          </a:ln>
        </p:spPr>
      </p:sp>
      <p:sp>
        <p:nvSpPr>
          <p:cNvPr id="61" name="Shape 59"/>
          <p:cNvSpPr/>
          <p:nvPr/>
        </p:nvSpPr>
        <p:spPr>
          <a:xfrm>
            <a:off x="10999775" y="2350008"/>
            <a:ext cx="146304" cy="2724912"/>
          </a:xfrm>
          <a:prstGeom prst="rect">
            <a:avLst/>
          </a:prstGeom>
          <a:solidFill>
            <a:srgbClr val="39A8FF">
              <a:alpha val="20000"/>
            </a:srgbClr>
          </a:solidFill>
          <a:ln w="12700">
            <a:solidFill>
              <a:srgbClr val="39A8FF">
                <a:alpha val="0"/>
              </a:srgbClr>
            </a:solidFill>
            <a:prstDash val="solid"/>
          </a:ln>
        </p:spPr>
      </p:sp>
      <p:sp>
        <p:nvSpPr>
          <p:cNvPr id="62" name="Shape 60"/>
          <p:cNvSpPr/>
          <p:nvPr/>
        </p:nvSpPr>
        <p:spPr>
          <a:xfrm>
            <a:off x="10739171" y="2350008"/>
            <a:ext cx="146304" cy="2724912"/>
          </a:xfrm>
          <a:prstGeom prst="rect">
            <a:avLst/>
          </a:prstGeom>
          <a:solidFill>
            <a:srgbClr val="39A8FF">
              <a:alpha val="20000"/>
            </a:srgbClr>
          </a:solidFill>
          <a:ln w="12700">
            <a:solidFill>
              <a:srgbClr val="39A8FF">
                <a:alpha val="0"/>
              </a:srgbClr>
            </a:solidFill>
            <a:prstDash val="solid"/>
          </a:ln>
        </p:spPr>
      </p:sp>
      <p:sp>
        <p:nvSpPr>
          <p:cNvPr id="63" name="Text 61"/>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活用イメージ2: ガス導入設計 / 排気系設計</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活用</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5074920" cy="4480560"/>
          </a:xfrm>
          <a:prstGeom prst="roundRect">
            <a:avLst>
              <a:gd name="adj" fmla="val 1224"/>
            </a:avLst>
          </a:prstGeom>
          <a:solidFill>
            <a:srgbClr val="FFFFFF"/>
          </a:solidFill>
          <a:ln w="12700">
            <a:solidFill>
              <a:srgbClr val="3B82F6"/>
            </a:solidFill>
            <a:prstDash val="solid"/>
          </a:ln>
        </p:spPr>
      </p:sp>
      <p:sp>
        <p:nvSpPr>
          <p:cNvPr id="8" name="Shape 6"/>
          <p:cNvSpPr/>
          <p:nvPr/>
        </p:nvSpPr>
        <p:spPr>
          <a:xfrm>
            <a:off x="978408" y="1417320"/>
            <a:ext cx="731520" cy="219456"/>
          </a:xfrm>
          <a:prstGeom prst="roundRect">
            <a:avLst>
              <a:gd name="adj" fmla="val 20833"/>
            </a:avLst>
          </a:prstGeom>
          <a:solidFill>
            <a:srgbClr val="3B82F6"/>
          </a:solidFill>
          <a:ln w="12700">
            <a:solidFill>
              <a:srgbClr val="3B82F6"/>
            </a:solidFill>
            <a:prstDash val="solid"/>
          </a:ln>
        </p:spPr>
      </p:sp>
      <p:sp>
        <p:nvSpPr>
          <p:cNvPr id="9" name="Text 7"/>
          <p:cNvSpPr/>
          <p:nvPr/>
        </p:nvSpPr>
        <p:spPr>
          <a:xfrm>
            <a:off x="978408" y="1426464"/>
            <a:ext cx="731520" cy="21031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事例C</a:t>
            </a:r>
            <a:endParaRPr lang="en-US" sz="1100" dirty="0"/>
          </a:p>
        </p:txBody>
      </p:sp>
      <p:sp>
        <p:nvSpPr>
          <p:cNvPr id="10" name="Shape 8"/>
          <p:cNvSpPr/>
          <p:nvPr/>
        </p:nvSpPr>
        <p:spPr>
          <a:xfrm>
            <a:off x="978408" y="1728216"/>
            <a:ext cx="1623974" cy="3968496"/>
          </a:xfrm>
          <a:prstGeom prst="roundRect">
            <a:avLst>
              <a:gd name="adj" fmla="val 3378"/>
            </a:avLst>
          </a:prstGeom>
          <a:solidFill>
            <a:srgbClr val="F9FBFD"/>
          </a:solidFill>
          <a:ln w="12700">
            <a:solidFill>
              <a:srgbClr val="D7E3ED"/>
            </a:solidFill>
            <a:prstDash val="solid"/>
          </a:ln>
        </p:spPr>
      </p:sp>
      <p:sp>
        <p:nvSpPr>
          <p:cNvPr id="11" name="Text 9"/>
          <p:cNvSpPr/>
          <p:nvPr/>
        </p:nvSpPr>
        <p:spPr>
          <a:xfrm>
            <a:off x="1088136"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12" name="Text 10"/>
          <p:cNvSpPr/>
          <p:nvPr/>
        </p:nvSpPr>
        <p:spPr>
          <a:xfrm>
            <a:off x="1069848" y="1984248"/>
            <a:ext cx="1441094"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同じ圧力でも inlet 位置・流量・混合比で分布が変わる</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gas design を plasma state と一緒に見たい</a:t>
            </a:r>
            <a:endParaRPr lang="en-US" sz="1400" dirty="0"/>
          </a:p>
        </p:txBody>
      </p:sp>
      <p:sp>
        <p:nvSpPr>
          <p:cNvPr id="13" name="Shape 11"/>
          <p:cNvSpPr/>
          <p:nvPr/>
        </p:nvSpPr>
        <p:spPr>
          <a:xfrm>
            <a:off x="2594153" y="1728216"/>
            <a:ext cx="1522476" cy="3968496"/>
          </a:xfrm>
          <a:prstGeom prst="roundRect">
            <a:avLst>
              <a:gd name="adj" fmla="val 3604"/>
            </a:avLst>
          </a:prstGeom>
          <a:solidFill>
            <a:srgbClr val="F4FBFF"/>
          </a:solidFill>
          <a:ln w="12700">
            <a:solidFill>
              <a:srgbClr val="C7E7FF"/>
            </a:solidFill>
            <a:prstDash val="solid"/>
          </a:ln>
        </p:spPr>
      </p:sp>
      <p:sp>
        <p:nvSpPr>
          <p:cNvPr id="14" name="Text 12"/>
          <p:cNvSpPr/>
          <p:nvPr/>
        </p:nvSpPr>
        <p:spPr>
          <a:xfrm>
            <a:off x="2703881"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15" name="Text 13"/>
          <p:cNvSpPr/>
          <p:nvPr/>
        </p:nvSpPr>
        <p:spPr>
          <a:xfrm>
            <a:off x="2685593" y="1984248"/>
            <a:ext cx="1376172"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Qin / Yin / Tin map を更新して比較</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inlet band と bulk の両方で評価</a:t>
            </a:r>
            <a:endParaRPr lang="en-US" sz="1400" dirty="0"/>
          </a:p>
        </p:txBody>
      </p:sp>
      <p:sp>
        <p:nvSpPr>
          <p:cNvPr id="16" name="Shape 14"/>
          <p:cNvSpPr/>
          <p:nvPr/>
        </p:nvSpPr>
        <p:spPr>
          <a:xfrm>
            <a:off x="4218127" y="1728216"/>
            <a:ext cx="1116482" cy="3968496"/>
          </a:xfrm>
          <a:prstGeom prst="roundRect">
            <a:avLst>
              <a:gd name="adj" fmla="val 4914"/>
            </a:avLst>
          </a:prstGeom>
          <a:solidFill>
            <a:srgbClr val="F1FBF7"/>
          </a:solidFill>
          <a:ln w="12700">
            <a:solidFill>
              <a:srgbClr val="CBEFDB"/>
            </a:solidFill>
            <a:prstDash val="solid"/>
          </a:ln>
        </p:spPr>
      </p:sp>
      <p:sp>
        <p:nvSpPr>
          <p:cNvPr id="17" name="Text 15"/>
          <p:cNvSpPr/>
          <p:nvPr/>
        </p:nvSpPr>
        <p:spPr>
          <a:xfrm>
            <a:off x="4327855" y="1801368"/>
            <a:ext cx="274320" cy="109728"/>
          </a:xfrm>
          <a:prstGeom prst="rect">
            <a:avLst/>
          </a:prstGeom>
          <a:noFill/>
          <a:ln/>
        </p:spPr>
        <p:txBody>
          <a:bodyPr wrap="square" lIns="0" tIns="0" rIns="0" bIns="0" rtlCol="0" anchor="ctr">
            <a:normAutofit/>
          </a:bodyPr>
          <a:lstStyle/>
          <a:p>
            <a:pPr algn="l" indent="0" marL="0">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18" name="Text 16"/>
          <p:cNvSpPr/>
          <p:nvPr/>
        </p:nvSpPr>
        <p:spPr>
          <a:xfrm>
            <a:off x="4291279" y="1984248"/>
            <a:ext cx="988466"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showerhead や side feed 条件の比較</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組成変更時の候補絞り込み</a:t>
            </a:r>
            <a:endParaRPr lang="en-US" sz="1400" dirty="0"/>
          </a:p>
        </p:txBody>
      </p:sp>
      <p:sp>
        <p:nvSpPr>
          <p:cNvPr id="19" name="Shape 17"/>
          <p:cNvSpPr/>
          <p:nvPr/>
        </p:nvSpPr>
        <p:spPr>
          <a:xfrm>
            <a:off x="5339639" y="2267712"/>
            <a:ext cx="365760" cy="0"/>
          </a:xfrm>
          <a:prstGeom prst="line">
            <a:avLst/>
          </a:prstGeom>
          <a:noFill/>
          <a:ln w="38100">
            <a:solidFill>
              <a:srgbClr val="3B82F6"/>
            </a:solidFill>
            <a:prstDash val="solid"/>
            <a:tailEnd type="triangle"/>
          </a:ln>
        </p:spPr>
      </p:sp>
      <p:sp>
        <p:nvSpPr>
          <p:cNvPr id="20" name="Shape 18"/>
          <p:cNvSpPr/>
          <p:nvPr/>
        </p:nvSpPr>
        <p:spPr>
          <a:xfrm>
            <a:off x="5572811" y="5157216"/>
            <a:ext cx="365760" cy="0"/>
          </a:xfrm>
          <a:prstGeom prst="line">
            <a:avLst/>
          </a:prstGeom>
          <a:noFill/>
          <a:ln w="38100">
            <a:solidFill>
              <a:srgbClr val="EF4444"/>
            </a:solidFill>
            <a:prstDash val="solid"/>
            <a:tailEnd type="triangle"/>
          </a:ln>
        </p:spPr>
      </p:sp>
      <p:sp>
        <p:nvSpPr>
          <p:cNvPr id="21" name="Shape 19"/>
          <p:cNvSpPr/>
          <p:nvPr/>
        </p:nvSpPr>
        <p:spPr>
          <a:xfrm>
            <a:off x="5568239" y="1947672"/>
            <a:ext cx="141732" cy="3529584"/>
          </a:xfrm>
          <a:prstGeom prst="roundRect">
            <a:avLst>
              <a:gd name="adj" fmla="val 32258"/>
            </a:avLst>
          </a:prstGeom>
          <a:solidFill>
            <a:srgbClr val="FFFFFF"/>
          </a:solidFill>
          <a:ln w="25400">
            <a:solidFill>
              <a:srgbClr val="6B7280"/>
            </a:solidFill>
            <a:prstDash val="solid"/>
          </a:ln>
        </p:spPr>
      </p:sp>
      <p:sp>
        <p:nvSpPr>
          <p:cNvPr id="22" name="Shape 20"/>
          <p:cNvSpPr/>
          <p:nvPr/>
        </p:nvSpPr>
        <p:spPr>
          <a:xfrm>
            <a:off x="5586527" y="5367528"/>
            <a:ext cx="105156" cy="91440"/>
          </a:xfrm>
          <a:prstGeom prst="rect">
            <a:avLst/>
          </a:prstGeom>
          <a:solidFill>
            <a:srgbClr val="6B7280">
              <a:alpha val="75000"/>
            </a:srgbClr>
          </a:solidFill>
          <a:ln w="12700">
            <a:solidFill>
              <a:srgbClr val="6B7280">
                <a:alpha val="0"/>
              </a:srgbClr>
            </a:solidFill>
            <a:prstDash val="solid"/>
          </a:ln>
        </p:spPr>
      </p:sp>
      <p:sp>
        <p:nvSpPr>
          <p:cNvPr id="23" name="Shape 21"/>
          <p:cNvSpPr/>
          <p:nvPr/>
        </p:nvSpPr>
        <p:spPr>
          <a:xfrm>
            <a:off x="5586527" y="1965960"/>
            <a:ext cx="109728" cy="3493008"/>
          </a:xfrm>
          <a:prstGeom prst="rect">
            <a:avLst/>
          </a:prstGeom>
          <a:solidFill>
            <a:srgbClr val="6B7280">
              <a:alpha val="75000"/>
            </a:srgbClr>
          </a:solidFill>
          <a:ln w="12700">
            <a:solidFill>
              <a:srgbClr val="6B7280">
                <a:alpha val="0"/>
              </a:srgbClr>
            </a:solidFill>
            <a:prstDash val="solid"/>
          </a:ln>
        </p:spPr>
      </p:sp>
      <p:sp>
        <p:nvSpPr>
          <p:cNvPr id="24" name="Shape 22"/>
          <p:cNvSpPr/>
          <p:nvPr/>
        </p:nvSpPr>
        <p:spPr>
          <a:xfrm>
            <a:off x="5581955" y="1965960"/>
            <a:ext cx="109728" cy="3493008"/>
          </a:xfrm>
          <a:prstGeom prst="rect">
            <a:avLst/>
          </a:prstGeom>
          <a:solidFill>
            <a:srgbClr val="6B7280">
              <a:alpha val="75000"/>
            </a:srgbClr>
          </a:solidFill>
          <a:ln w="12700">
            <a:solidFill>
              <a:srgbClr val="6B7280">
                <a:alpha val="0"/>
              </a:srgbClr>
            </a:solidFill>
            <a:prstDash val="solid"/>
          </a:ln>
        </p:spPr>
      </p:sp>
      <p:sp>
        <p:nvSpPr>
          <p:cNvPr id="25" name="Shape 23"/>
          <p:cNvSpPr/>
          <p:nvPr/>
        </p:nvSpPr>
        <p:spPr>
          <a:xfrm>
            <a:off x="5796839" y="1874520"/>
            <a:ext cx="-315468" cy="109728"/>
          </a:xfrm>
          <a:prstGeom prst="rect">
            <a:avLst/>
          </a:prstGeom>
          <a:solidFill>
            <a:srgbClr val="10B981"/>
          </a:solidFill>
          <a:ln w="12700">
            <a:solidFill>
              <a:srgbClr val="10B981"/>
            </a:solidFill>
            <a:prstDash val="solid"/>
          </a:ln>
        </p:spPr>
      </p:sp>
      <p:sp>
        <p:nvSpPr>
          <p:cNvPr id="26" name="Text 24"/>
          <p:cNvSpPr/>
          <p:nvPr/>
        </p:nvSpPr>
        <p:spPr>
          <a:xfrm>
            <a:off x="5410505" y="173736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27" name="Shape 25"/>
          <p:cNvSpPr/>
          <p:nvPr/>
        </p:nvSpPr>
        <p:spPr>
          <a:xfrm>
            <a:off x="5979719" y="2112264"/>
            <a:ext cx="-681228" cy="91440"/>
          </a:xfrm>
          <a:prstGeom prst="rect">
            <a:avLst/>
          </a:prstGeom>
          <a:solidFill>
            <a:srgbClr val="F59E0B"/>
          </a:solidFill>
          <a:ln w="12700">
            <a:solidFill>
              <a:srgbClr val="F59E0B"/>
            </a:solidFill>
            <a:prstDash val="solid"/>
          </a:ln>
        </p:spPr>
      </p:sp>
      <p:sp>
        <p:nvSpPr>
          <p:cNvPr id="28" name="Text 26"/>
          <p:cNvSpPr/>
          <p:nvPr/>
        </p:nvSpPr>
        <p:spPr>
          <a:xfrm>
            <a:off x="5319065" y="197510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29" name="Shape 27"/>
          <p:cNvSpPr/>
          <p:nvPr/>
        </p:nvSpPr>
        <p:spPr>
          <a:xfrm>
            <a:off x="6071159" y="5065776"/>
            <a:ext cx="-864108" cy="100584"/>
          </a:xfrm>
          <a:prstGeom prst="rect">
            <a:avLst/>
          </a:prstGeom>
          <a:solidFill>
            <a:srgbClr val="B0B8C0"/>
          </a:solidFill>
          <a:ln w="12700">
            <a:solidFill>
              <a:srgbClr val="B0B8C0"/>
            </a:solidFill>
            <a:prstDash val="solid"/>
          </a:ln>
        </p:spPr>
      </p:sp>
      <p:sp>
        <p:nvSpPr>
          <p:cNvPr id="30" name="Text 28"/>
          <p:cNvSpPr/>
          <p:nvPr/>
        </p:nvSpPr>
        <p:spPr>
          <a:xfrm>
            <a:off x="5474513" y="5221224"/>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31" name="Shape 29"/>
          <p:cNvSpPr/>
          <p:nvPr/>
        </p:nvSpPr>
        <p:spPr>
          <a:xfrm>
            <a:off x="5696255" y="2203704"/>
            <a:ext cx="-114300" cy="146304"/>
          </a:xfrm>
          <a:prstGeom prst="rect">
            <a:avLst/>
          </a:prstGeom>
          <a:solidFill>
            <a:srgbClr val="39A8FF">
              <a:alpha val="30000"/>
            </a:srgbClr>
          </a:solidFill>
          <a:ln w="12700">
            <a:solidFill>
              <a:srgbClr val="39A8FF">
                <a:alpha val="0"/>
              </a:srgbClr>
            </a:solidFill>
            <a:prstDash val="solid"/>
          </a:ln>
        </p:spPr>
      </p:sp>
      <p:sp>
        <p:nvSpPr>
          <p:cNvPr id="32" name="Shape 30"/>
          <p:cNvSpPr/>
          <p:nvPr/>
        </p:nvSpPr>
        <p:spPr>
          <a:xfrm>
            <a:off x="5696255" y="5074920"/>
            <a:ext cx="-114300" cy="146304"/>
          </a:xfrm>
          <a:prstGeom prst="rect">
            <a:avLst/>
          </a:prstGeom>
          <a:solidFill>
            <a:srgbClr val="39A8FF">
              <a:alpha val="20000"/>
            </a:srgbClr>
          </a:solidFill>
          <a:ln w="12700">
            <a:solidFill>
              <a:srgbClr val="39A8FF">
                <a:alpha val="0"/>
              </a:srgbClr>
            </a:solidFill>
            <a:prstDash val="solid"/>
          </a:ln>
        </p:spPr>
      </p:sp>
      <p:sp>
        <p:nvSpPr>
          <p:cNvPr id="33" name="Shape 31"/>
          <p:cNvSpPr/>
          <p:nvPr/>
        </p:nvSpPr>
        <p:spPr>
          <a:xfrm>
            <a:off x="5696255" y="2350008"/>
            <a:ext cx="146304" cy="2724912"/>
          </a:xfrm>
          <a:prstGeom prst="rect">
            <a:avLst/>
          </a:prstGeom>
          <a:solidFill>
            <a:srgbClr val="39A8FF">
              <a:alpha val="20000"/>
            </a:srgbClr>
          </a:solidFill>
          <a:ln w="12700">
            <a:solidFill>
              <a:srgbClr val="39A8FF">
                <a:alpha val="0"/>
              </a:srgbClr>
            </a:solidFill>
            <a:prstDash val="solid"/>
          </a:ln>
        </p:spPr>
      </p:sp>
      <p:sp>
        <p:nvSpPr>
          <p:cNvPr id="34" name="Shape 32"/>
          <p:cNvSpPr/>
          <p:nvPr/>
        </p:nvSpPr>
        <p:spPr>
          <a:xfrm>
            <a:off x="5435651" y="2350008"/>
            <a:ext cx="146304" cy="2724912"/>
          </a:xfrm>
          <a:prstGeom prst="rect">
            <a:avLst/>
          </a:prstGeom>
          <a:solidFill>
            <a:srgbClr val="39A8FF">
              <a:alpha val="20000"/>
            </a:srgbClr>
          </a:solidFill>
          <a:ln w="12700">
            <a:solidFill>
              <a:srgbClr val="39A8FF">
                <a:alpha val="0"/>
              </a:srgbClr>
            </a:solidFill>
            <a:prstDash val="solid"/>
          </a:ln>
        </p:spPr>
      </p:sp>
      <p:sp>
        <p:nvSpPr>
          <p:cNvPr id="35" name="Shape 33"/>
          <p:cNvSpPr/>
          <p:nvPr/>
        </p:nvSpPr>
        <p:spPr>
          <a:xfrm>
            <a:off x="6172200" y="1325880"/>
            <a:ext cx="5074920" cy="4480560"/>
          </a:xfrm>
          <a:prstGeom prst="roundRect">
            <a:avLst>
              <a:gd name="adj" fmla="val 1224"/>
            </a:avLst>
          </a:prstGeom>
          <a:solidFill>
            <a:srgbClr val="FFFFFF"/>
          </a:solidFill>
          <a:ln w="12700">
            <a:solidFill>
              <a:srgbClr val="EF4444"/>
            </a:solidFill>
            <a:prstDash val="solid"/>
          </a:ln>
        </p:spPr>
      </p:sp>
      <p:sp>
        <p:nvSpPr>
          <p:cNvPr id="36" name="Shape 34"/>
          <p:cNvSpPr/>
          <p:nvPr/>
        </p:nvSpPr>
        <p:spPr>
          <a:xfrm>
            <a:off x="6281928" y="1417320"/>
            <a:ext cx="731520" cy="219456"/>
          </a:xfrm>
          <a:prstGeom prst="roundRect">
            <a:avLst>
              <a:gd name="adj" fmla="val 20833"/>
            </a:avLst>
          </a:prstGeom>
          <a:solidFill>
            <a:srgbClr val="EF4444"/>
          </a:solidFill>
          <a:ln w="12700">
            <a:solidFill>
              <a:srgbClr val="EF4444"/>
            </a:solidFill>
            <a:prstDash val="solid"/>
          </a:ln>
        </p:spPr>
      </p:sp>
      <p:sp>
        <p:nvSpPr>
          <p:cNvPr id="37" name="Text 35"/>
          <p:cNvSpPr/>
          <p:nvPr/>
        </p:nvSpPr>
        <p:spPr>
          <a:xfrm>
            <a:off x="6281928" y="1426464"/>
            <a:ext cx="731520" cy="21031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事例D</a:t>
            </a:r>
            <a:endParaRPr lang="en-US" sz="1100" dirty="0"/>
          </a:p>
        </p:txBody>
      </p:sp>
      <p:sp>
        <p:nvSpPr>
          <p:cNvPr id="38" name="Shape 36"/>
          <p:cNvSpPr/>
          <p:nvPr/>
        </p:nvSpPr>
        <p:spPr>
          <a:xfrm>
            <a:off x="6281928" y="1728216"/>
            <a:ext cx="1623974" cy="3968496"/>
          </a:xfrm>
          <a:prstGeom prst="roundRect">
            <a:avLst>
              <a:gd name="adj" fmla="val 3378"/>
            </a:avLst>
          </a:prstGeom>
          <a:solidFill>
            <a:srgbClr val="F9FBFD"/>
          </a:solidFill>
          <a:ln w="12700">
            <a:solidFill>
              <a:srgbClr val="D7E3ED"/>
            </a:solidFill>
            <a:prstDash val="solid"/>
          </a:ln>
        </p:spPr>
      </p:sp>
      <p:sp>
        <p:nvSpPr>
          <p:cNvPr id="39" name="Text 37"/>
          <p:cNvSpPr/>
          <p:nvPr/>
        </p:nvSpPr>
        <p:spPr>
          <a:xfrm>
            <a:off x="6391656"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DC2626"/>
                </a:solidFill>
                <a:latin typeface="Meiryo" pitchFamily="34" charset="0"/>
                <a:ea typeface="Meiryo" pitchFamily="34" charset="-122"/>
                <a:cs typeface="Meiryo" pitchFamily="34" charset="-120"/>
              </a:rPr>
              <a:t>課題</a:t>
            </a:r>
            <a:endParaRPr lang="en-US" sz="1200" dirty="0"/>
          </a:p>
        </p:txBody>
      </p:sp>
      <p:sp>
        <p:nvSpPr>
          <p:cNvPr id="40" name="Text 38"/>
          <p:cNvSpPr/>
          <p:nvPr/>
        </p:nvSpPr>
        <p:spPr>
          <a:xfrm>
            <a:off x="6373368" y="1984248"/>
            <a:ext cx="1441094"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pump/duct/throttle の変更影響を早く見たい</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outlet pressure だけでは差が見えにくい</a:t>
            </a:r>
            <a:endParaRPr lang="en-US" sz="1400" dirty="0"/>
          </a:p>
        </p:txBody>
      </p:sp>
      <p:sp>
        <p:nvSpPr>
          <p:cNvPr id="41" name="Shape 39"/>
          <p:cNvSpPr/>
          <p:nvPr/>
        </p:nvSpPr>
        <p:spPr>
          <a:xfrm>
            <a:off x="7897673" y="1728216"/>
            <a:ext cx="1522476" cy="3968496"/>
          </a:xfrm>
          <a:prstGeom prst="roundRect">
            <a:avLst>
              <a:gd name="adj" fmla="val 3604"/>
            </a:avLst>
          </a:prstGeom>
          <a:solidFill>
            <a:srgbClr val="F4FBFF"/>
          </a:solidFill>
          <a:ln w="12700">
            <a:solidFill>
              <a:srgbClr val="C7E7FF"/>
            </a:solidFill>
            <a:prstDash val="solid"/>
          </a:ln>
        </p:spPr>
      </p:sp>
      <p:sp>
        <p:nvSpPr>
          <p:cNvPr id="42" name="Text 40"/>
          <p:cNvSpPr/>
          <p:nvPr/>
        </p:nvSpPr>
        <p:spPr>
          <a:xfrm>
            <a:off x="8007401" y="1801368"/>
            <a:ext cx="365760" cy="109728"/>
          </a:xfrm>
          <a:prstGeom prst="rect">
            <a:avLst/>
          </a:prstGeom>
          <a:noFill/>
          <a:ln/>
        </p:spPr>
        <p:txBody>
          <a:bodyPr wrap="square" lIns="0" tIns="0" rIns="0" bIns="0" rtlCol="0" anchor="ctr">
            <a:normAutofit/>
          </a:bodyPr>
          <a:lstStyle/>
          <a:p>
            <a:pPr algn="l" indent="0" marL="0">
              <a:buNone/>
            </a:pPr>
            <a:r>
              <a:rPr lang="en-US" sz="1200" b="1" dirty="0">
                <a:solidFill>
                  <a:srgbClr val="0D4D7E"/>
                </a:solidFill>
                <a:latin typeface="Meiryo" pitchFamily="34" charset="0"/>
                <a:ea typeface="Meiryo" pitchFamily="34" charset="-122"/>
                <a:cs typeface="Meiryo" pitchFamily="34" charset="-120"/>
              </a:rPr>
              <a:t>使い方</a:t>
            </a:r>
            <a:endParaRPr lang="en-US" sz="1200" dirty="0"/>
          </a:p>
        </p:txBody>
      </p:sp>
      <p:sp>
        <p:nvSpPr>
          <p:cNvPr id="43" name="Text 41"/>
          <p:cNvSpPr/>
          <p:nvPr/>
        </p:nvSpPr>
        <p:spPr>
          <a:xfrm>
            <a:off x="7989113" y="1984248"/>
            <a:ext cx="1376172"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Sout map と Seff を切り替えて比較</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port balance と滞留の傾向を見る</a:t>
            </a:r>
            <a:endParaRPr lang="en-US" sz="1400" dirty="0"/>
          </a:p>
        </p:txBody>
      </p:sp>
      <p:sp>
        <p:nvSpPr>
          <p:cNvPr id="44" name="Shape 42"/>
          <p:cNvSpPr/>
          <p:nvPr/>
        </p:nvSpPr>
        <p:spPr>
          <a:xfrm>
            <a:off x="9521647" y="1728216"/>
            <a:ext cx="1116482" cy="3968496"/>
          </a:xfrm>
          <a:prstGeom prst="roundRect">
            <a:avLst>
              <a:gd name="adj" fmla="val 4914"/>
            </a:avLst>
          </a:prstGeom>
          <a:solidFill>
            <a:srgbClr val="F1FBF7"/>
          </a:solidFill>
          <a:ln w="12700">
            <a:solidFill>
              <a:srgbClr val="CBEFDB"/>
            </a:solidFill>
            <a:prstDash val="solid"/>
          </a:ln>
        </p:spPr>
      </p:sp>
      <p:sp>
        <p:nvSpPr>
          <p:cNvPr id="45" name="Text 43"/>
          <p:cNvSpPr/>
          <p:nvPr/>
        </p:nvSpPr>
        <p:spPr>
          <a:xfrm>
            <a:off x="9631375" y="1801368"/>
            <a:ext cx="274320" cy="109728"/>
          </a:xfrm>
          <a:prstGeom prst="rect">
            <a:avLst/>
          </a:prstGeom>
          <a:noFill/>
          <a:ln/>
        </p:spPr>
        <p:txBody>
          <a:bodyPr wrap="square" lIns="0" tIns="0" rIns="0" bIns="0" rtlCol="0" anchor="ctr">
            <a:normAutofit/>
          </a:bodyPr>
          <a:lstStyle/>
          <a:p>
            <a:pPr algn="l" indent="0" marL="0">
              <a:buNone/>
            </a:pPr>
            <a:r>
              <a:rPr lang="en-US" sz="1200" b="1" dirty="0">
                <a:solidFill>
                  <a:srgbClr val="059669"/>
                </a:solidFill>
                <a:latin typeface="Meiryo" pitchFamily="34" charset="0"/>
                <a:ea typeface="Meiryo" pitchFamily="34" charset="-122"/>
                <a:cs typeface="Meiryo" pitchFamily="34" charset="-120"/>
              </a:rPr>
              <a:t>効果</a:t>
            </a:r>
            <a:endParaRPr lang="en-US" sz="1200" dirty="0"/>
          </a:p>
        </p:txBody>
      </p:sp>
      <p:sp>
        <p:nvSpPr>
          <p:cNvPr id="46" name="Text 44"/>
          <p:cNvSpPr/>
          <p:nvPr/>
        </p:nvSpPr>
        <p:spPr>
          <a:xfrm>
            <a:off x="9594799" y="1984248"/>
            <a:ext cx="988466" cy="3639312"/>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排気構成の事前比較</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装置差補正や retrofit 検討に有効</a:t>
            </a:r>
            <a:endParaRPr lang="en-US" sz="1400" dirty="0"/>
          </a:p>
        </p:txBody>
      </p:sp>
      <p:sp>
        <p:nvSpPr>
          <p:cNvPr id="47" name="Shape 45"/>
          <p:cNvSpPr/>
          <p:nvPr/>
        </p:nvSpPr>
        <p:spPr>
          <a:xfrm>
            <a:off x="10643159" y="2267712"/>
            <a:ext cx="365760" cy="0"/>
          </a:xfrm>
          <a:prstGeom prst="line">
            <a:avLst/>
          </a:prstGeom>
          <a:noFill/>
          <a:ln w="38100">
            <a:solidFill>
              <a:srgbClr val="3B82F6"/>
            </a:solidFill>
            <a:prstDash val="solid"/>
            <a:tailEnd type="triangle"/>
          </a:ln>
        </p:spPr>
      </p:sp>
      <p:sp>
        <p:nvSpPr>
          <p:cNvPr id="48" name="Shape 46"/>
          <p:cNvSpPr/>
          <p:nvPr/>
        </p:nvSpPr>
        <p:spPr>
          <a:xfrm>
            <a:off x="10876331" y="5157216"/>
            <a:ext cx="365760" cy="0"/>
          </a:xfrm>
          <a:prstGeom prst="line">
            <a:avLst/>
          </a:prstGeom>
          <a:noFill/>
          <a:ln w="38100">
            <a:solidFill>
              <a:srgbClr val="EF4444"/>
            </a:solidFill>
            <a:prstDash val="solid"/>
            <a:tailEnd type="triangle"/>
          </a:ln>
        </p:spPr>
      </p:sp>
      <p:sp>
        <p:nvSpPr>
          <p:cNvPr id="49" name="Shape 47"/>
          <p:cNvSpPr/>
          <p:nvPr/>
        </p:nvSpPr>
        <p:spPr>
          <a:xfrm>
            <a:off x="10871759" y="1947672"/>
            <a:ext cx="141732" cy="3529584"/>
          </a:xfrm>
          <a:prstGeom prst="roundRect">
            <a:avLst>
              <a:gd name="adj" fmla="val 32258"/>
            </a:avLst>
          </a:prstGeom>
          <a:solidFill>
            <a:srgbClr val="FFFFFF"/>
          </a:solidFill>
          <a:ln w="25400">
            <a:solidFill>
              <a:srgbClr val="6B7280"/>
            </a:solidFill>
            <a:prstDash val="solid"/>
          </a:ln>
        </p:spPr>
      </p:sp>
      <p:sp>
        <p:nvSpPr>
          <p:cNvPr id="50" name="Shape 48"/>
          <p:cNvSpPr/>
          <p:nvPr/>
        </p:nvSpPr>
        <p:spPr>
          <a:xfrm>
            <a:off x="10890047" y="5367528"/>
            <a:ext cx="105156" cy="91440"/>
          </a:xfrm>
          <a:prstGeom prst="rect">
            <a:avLst/>
          </a:prstGeom>
          <a:solidFill>
            <a:srgbClr val="6B7280">
              <a:alpha val="75000"/>
            </a:srgbClr>
          </a:solidFill>
          <a:ln w="12700">
            <a:solidFill>
              <a:srgbClr val="6B7280">
                <a:alpha val="0"/>
              </a:srgbClr>
            </a:solidFill>
            <a:prstDash val="solid"/>
          </a:ln>
        </p:spPr>
      </p:sp>
      <p:sp>
        <p:nvSpPr>
          <p:cNvPr id="51" name="Shape 49"/>
          <p:cNvSpPr/>
          <p:nvPr/>
        </p:nvSpPr>
        <p:spPr>
          <a:xfrm>
            <a:off x="10890047" y="1965960"/>
            <a:ext cx="109728" cy="3493008"/>
          </a:xfrm>
          <a:prstGeom prst="rect">
            <a:avLst/>
          </a:prstGeom>
          <a:solidFill>
            <a:srgbClr val="6B7280">
              <a:alpha val="75000"/>
            </a:srgbClr>
          </a:solidFill>
          <a:ln w="12700">
            <a:solidFill>
              <a:srgbClr val="6B7280">
                <a:alpha val="0"/>
              </a:srgbClr>
            </a:solidFill>
            <a:prstDash val="solid"/>
          </a:ln>
        </p:spPr>
      </p:sp>
      <p:sp>
        <p:nvSpPr>
          <p:cNvPr id="52" name="Shape 50"/>
          <p:cNvSpPr/>
          <p:nvPr/>
        </p:nvSpPr>
        <p:spPr>
          <a:xfrm>
            <a:off x="10885475" y="1965960"/>
            <a:ext cx="109728" cy="3493008"/>
          </a:xfrm>
          <a:prstGeom prst="rect">
            <a:avLst/>
          </a:prstGeom>
          <a:solidFill>
            <a:srgbClr val="6B7280">
              <a:alpha val="75000"/>
            </a:srgbClr>
          </a:solidFill>
          <a:ln w="12700">
            <a:solidFill>
              <a:srgbClr val="6B7280">
                <a:alpha val="0"/>
              </a:srgbClr>
            </a:solidFill>
            <a:prstDash val="solid"/>
          </a:ln>
        </p:spPr>
      </p:sp>
      <p:sp>
        <p:nvSpPr>
          <p:cNvPr id="53" name="Shape 51"/>
          <p:cNvSpPr/>
          <p:nvPr/>
        </p:nvSpPr>
        <p:spPr>
          <a:xfrm>
            <a:off x="11100359" y="1874520"/>
            <a:ext cx="-315468" cy="109728"/>
          </a:xfrm>
          <a:prstGeom prst="rect">
            <a:avLst/>
          </a:prstGeom>
          <a:solidFill>
            <a:srgbClr val="10B981"/>
          </a:solidFill>
          <a:ln w="12700">
            <a:solidFill>
              <a:srgbClr val="10B981"/>
            </a:solidFill>
            <a:prstDash val="solid"/>
          </a:ln>
        </p:spPr>
      </p:sp>
      <p:sp>
        <p:nvSpPr>
          <p:cNvPr id="54" name="Text 52"/>
          <p:cNvSpPr/>
          <p:nvPr/>
        </p:nvSpPr>
        <p:spPr>
          <a:xfrm>
            <a:off x="10714025" y="1737360"/>
            <a:ext cx="457200" cy="128016"/>
          </a:xfrm>
          <a:prstGeom prst="rect">
            <a:avLst/>
          </a:prstGeom>
          <a:noFill/>
          <a:ln/>
        </p:spPr>
        <p:txBody>
          <a:bodyPr wrap="square" lIns="0" tIns="0" rIns="0" bIns="0" rtlCol="0" anchor="ctr">
            <a:normAutofit/>
          </a:bodyPr>
          <a:lstStyle/>
          <a:p>
            <a:pPr algn="ctr" indent="0" marL="0">
              <a:buNone/>
            </a:pPr>
            <a:r>
              <a:rPr lang="en-US" sz="1000" b="1" dirty="0">
                <a:solidFill>
                  <a:srgbClr val="10B981"/>
                </a:solidFill>
                <a:latin typeface="Meiryo" pitchFamily="34" charset="0"/>
                <a:ea typeface="Meiryo" pitchFamily="34" charset="-122"/>
                <a:cs typeface="Meiryo" pitchFamily="34" charset="-120"/>
              </a:rPr>
              <a:t>誘電体</a:t>
            </a:r>
            <a:endParaRPr lang="en-US" sz="1000" dirty="0"/>
          </a:p>
        </p:txBody>
      </p:sp>
      <p:sp>
        <p:nvSpPr>
          <p:cNvPr id="55" name="Shape 53"/>
          <p:cNvSpPr/>
          <p:nvPr/>
        </p:nvSpPr>
        <p:spPr>
          <a:xfrm>
            <a:off x="11283239" y="2112264"/>
            <a:ext cx="-681228" cy="91440"/>
          </a:xfrm>
          <a:prstGeom prst="rect">
            <a:avLst/>
          </a:prstGeom>
          <a:solidFill>
            <a:srgbClr val="F59E0B"/>
          </a:solidFill>
          <a:ln w="12700">
            <a:solidFill>
              <a:srgbClr val="F59E0B"/>
            </a:solidFill>
            <a:prstDash val="solid"/>
          </a:ln>
        </p:spPr>
      </p:sp>
      <p:sp>
        <p:nvSpPr>
          <p:cNvPr id="56" name="Text 54"/>
          <p:cNvSpPr/>
          <p:nvPr/>
        </p:nvSpPr>
        <p:spPr>
          <a:xfrm>
            <a:off x="10622585" y="1975104"/>
            <a:ext cx="640080" cy="109728"/>
          </a:xfrm>
          <a:prstGeom prst="rect">
            <a:avLst/>
          </a:prstGeom>
          <a:noFill/>
          <a:ln/>
        </p:spPr>
        <p:txBody>
          <a:bodyPr wrap="square" lIns="0" tIns="0" rIns="0" bIns="0" rtlCol="0" anchor="ctr">
            <a:normAutofit/>
          </a:bodyPr>
          <a:lstStyle/>
          <a:p>
            <a:pPr algn="ctr" indent="0" marL="0">
              <a:buNone/>
            </a:pPr>
            <a:r>
              <a:rPr lang="en-US" sz="1000" b="1" dirty="0">
                <a:solidFill>
                  <a:srgbClr val="F59E0B"/>
                </a:solidFill>
                <a:latin typeface="Meiryo" pitchFamily="34" charset="0"/>
                <a:ea typeface="Meiryo" pitchFamily="34" charset="-122"/>
                <a:cs typeface="Meiryo" pitchFamily="34" charset="-120"/>
              </a:rPr>
              <a:t>印加電圧</a:t>
            </a:r>
            <a:endParaRPr lang="en-US" sz="1000" dirty="0"/>
          </a:p>
        </p:txBody>
      </p:sp>
      <p:sp>
        <p:nvSpPr>
          <p:cNvPr id="57" name="Shape 55"/>
          <p:cNvSpPr/>
          <p:nvPr/>
        </p:nvSpPr>
        <p:spPr>
          <a:xfrm>
            <a:off x="11374679" y="5065776"/>
            <a:ext cx="-864108" cy="100584"/>
          </a:xfrm>
          <a:prstGeom prst="rect">
            <a:avLst/>
          </a:prstGeom>
          <a:solidFill>
            <a:srgbClr val="B0B8C0"/>
          </a:solidFill>
          <a:ln w="12700">
            <a:solidFill>
              <a:srgbClr val="B0B8C0"/>
            </a:solidFill>
            <a:prstDash val="solid"/>
          </a:ln>
        </p:spPr>
      </p:sp>
      <p:sp>
        <p:nvSpPr>
          <p:cNvPr id="58" name="Text 56"/>
          <p:cNvSpPr/>
          <p:nvPr/>
        </p:nvSpPr>
        <p:spPr>
          <a:xfrm>
            <a:off x="10778033" y="5221224"/>
            <a:ext cx="329184" cy="109728"/>
          </a:xfrm>
          <a:prstGeom prst="rect">
            <a:avLst/>
          </a:prstGeom>
          <a:noFill/>
          <a:ln/>
        </p:spPr>
        <p:txBody>
          <a:bodyPr wrap="square" lIns="0" tIns="0" rIns="0" bIns="0" rtlCol="0" anchor="ctr">
            <a:normAutofit/>
          </a:bodyPr>
          <a:lstStyle/>
          <a:p>
            <a:pPr algn="ctr" indent="0" marL="0">
              <a:buNone/>
            </a:pPr>
            <a:r>
              <a:rPr lang="en-US" sz="1000" b="1" dirty="0">
                <a:solidFill>
                  <a:srgbClr val="586069"/>
                </a:solidFill>
                <a:latin typeface="Meiryo" pitchFamily="34" charset="0"/>
                <a:ea typeface="Meiryo" pitchFamily="34" charset="-122"/>
                <a:cs typeface="Meiryo" pitchFamily="34" charset="-120"/>
              </a:rPr>
              <a:t>基板</a:t>
            </a:r>
            <a:endParaRPr lang="en-US" sz="1000" dirty="0"/>
          </a:p>
        </p:txBody>
      </p:sp>
      <p:sp>
        <p:nvSpPr>
          <p:cNvPr id="59" name="Shape 57"/>
          <p:cNvSpPr/>
          <p:nvPr/>
        </p:nvSpPr>
        <p:spPr>
          <a:xfrm>
            <a:off x="10999775" y="2203704"/>
            <a:ext cx="-114300" cy="146304"/>
          </a:xfrm>
          <a:prstGeom prst="rect">
            <a:avLst/>
          </a:prstGeom>
          <a:solidFill>
            <a:srgbClr val="39A8FF">
              <a:alpha val="30000"/>
            </a:srgbClr>
          </a:solidFill>
          <a:ln w="12700">
            <a:solidFill>
              <a:srgbClr val="39A8FF">
                <a:alpha val="0"/>
              </a:srgbClr>
            </a:solidFill>
            <a:prstDash val="solid"/>
          </a:ln>
        </p:spPr>
      </p:sp>
      <p:sp>
        <p:nvSpPr>
          <p:cNvPr id="60" name="Shape 58"/>
          <p:cNvSpPr/>
          <p:nvPr/>
        </p:nvSpPr>
        <p:spPr>
          <a:xfrm>
            <a:off x="10999775" y="5074920"/>
            <a:ext cx="-114300" cy="146304"/>
          </a:xfrm>
          <a:prstGeom prst="rect">
            <a:avLst/>
          </a:prstGeom>
          <a:solidFill>
            <a:srgbClr val="39A8FF">
              <a:alpha val="20000"/>
            </a:srgbClr>
          </a:solidFill>
          <a:ln w="12700">
            <a:solidFill>
              <a:srgbClr val="39A8FF">
                <a:alpha val="0"/>
              </a:srgbClr>
            </a:solidFill>
            <a:prstDash val="solid"/>
          </a:ln>
        </p:spPr>
      </p:sp>
      <p:sp>
        <p:nvSpPr>
          <p:cNvPr id="61" name="Shape 59"/>
          <p:cNvSpPr/>
          <p:nvPr/>
        </p:nvSpPr>
        <p:spPr>
          <a:xfrm>
            <a:off x="10999775" y="2350008"/>
            <a:ext cx="146304" cy="2724912"/>
          </a:xfrm>
          <a:prstGeom prst="rect">
            <a:avLst/>
          </a:prstGeom>
          <a:solidFill>
            <a:srgbClr val="39A8FF">
              <a:alpha val="20000"/>
            </a:srgbClr>
          </a:solidFill>
          <a:ln w="12700">
            <a:solidFill>
              <a:srgbClr val="39A8FF">
                <a:alpha val="0"/>
              </a:srgbClr>
            </a:solidFill>
            <a:prstDash val="solid"/>
          </a:ln>
        </p:spPr>
      </p:sp>
      <p:sp>
        <p:nvSpPr>
          <p:cNvPr id="62" name="Shape 60"/>
          <p:cNvSpPr/>
          <p:nvPr/>
        </p:nvSpPr>
        <p:spPr>
          <a:xfrm>
            <a:off x="10739171" y="2350008"/>
            <a:ext cx="146304" cy="2724912"/>
          </a:xfrm>
          <a:prstGeom prst="rect">
            <a:avLst/>
          </a:prstGeom>
          <a:solidFill>
            <a:srgbClr val="39A8FF">
              <a:alpha val="20000"/>
            </a:srgbClr>
          </a:solidFill>
          <a:ln w="12700">
            <a:solidFill>
              <a:srgbClr val="39A8FF">
                <a:alpha val="0"/>
              </a:srgbClr>
            </a:solidFill>
            <a:prstDash val="solid"/>
          </a:ln>
        </p:spPr>
      </p:sp>
      <p:sp>
        <p:nvSpPr>
          <p:cNvPr id="63" name="Text 61"/>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請求項例のたたき台</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請求項</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868680" y="1325880"/>
            <a:ext cx="2743200" cy="4480560"/>
          </a:xfrm>
          <a:prstGeom prst="roundRect">
            <a:avLst>
              <a:gd name="adj" fmla="val 2000"/>
            </a:avLst>
          </a:prstGeom>
          <a:solidFill>
            <a:srgbClr val="F9FBFD"/>
          </a:solidFill>
          <a:ln w="12700">
            <a:solidFill>
              <a:srgbClr val="D7E3ED"/>
            </a:solidFill>
            <a:prstDash val="solid"/>
          </a:ln>
        </p:spPr>
      </p:sp>
      <p:sp>
        <p:nvSpPr>
          <p:cNvPr id="8" name="Text 6"/>
          <p:cNvSpPr/>
          <p:nvPr/>
        </p:nvSpPr>
        <p:spPr>
          <a:xfrm>
            <a:off x="1051560" y="1490472"/>
            <a:ext cx="109728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クレームツリー</a:t>
            </a:r>
            <a:endParaRPr lang="en-US" sz="1600" dirty="0"/>
          </a:p>
        </p:txBody>
      </p:sp>
      <p:sp>
        <p:nvSpPr>
          <p:cNvPr id="9" name="Shape 7"/>
          <p:cNvSpPr/>
          <p:nvPr/>
        </p:nvSpPr>
        <p:spPr>
          <a:xfrm>
            <a:off x="1234440" y="1828800"/>
            <a:ext cx="1645920" cy="566928"/>
          </a:xfrm>
          <a:prstGeom prst="roundRect">
            <a:avLst>
              <a:gd name="adj" fmla="val 9677"/>
            </a:avLst>
          </a:prstGeom>
          <a:solidFill>
            <a:srgbClr val="F4FBFF"/>
          </a:solidFill>
          <a:ln w="12700">
            <a:solidFill>
              <a:srgbClr val="C7E7FF"/>
            </a:solidFill>
            <a:prstDash val="solid"/>
          </a:ln>
        </p:spPr>
      </p:sp>
      <p:sp>
        <p:nvSpPr>
          <p:cNvPr id="10" name="Text 8"/>
          <p:cNvSpPr/>
          <p:nvPr/>
        </p:nvSpPr>
        <p:spPr>
          <a:xfrm>
            <a:off x="1325880" y="1993392"/>
            <a:ext cx="1463040" cy="237744"/>
          </a:xfrm>
          <a:prstGeom prst="rect">
            <a:avLst/>
          </a:prstGeom>
          <a:noFill/>
          <a:ln/>
        </p:spPr>
        <p:txBody>
          <a:bodyPr wrap="square" lIns="0" tIns="0" rIns="0" bIns="0" rtlCol="0" anchor="ctr">
            <a:normAutofit/>
          </a:bodyPr>
          <a:lstStyle/>
          <a:p>
            <a:pPr algn="ctr" indent="0" marL="0">
              <a:buNone/>
            </a:pPr>
            <a:r>
              <a:rPr lang="en-US" sz="1600" b="1" dirty="0">
                <a:solidFill>
                  <a:srgbClr val="111111"/>
                </a:solidFill>
                <a:latin typeface="Meiryo" pitchFamily="34" charset="0"/>
                <a:ea typeface="Meiryo" pitchFamily="34" charset="-122"/>
                <a:cs typeface="Meiryo" pitchFamily="34" charset="-120"/>
              </a:rPr>
              <a:t>独立請求項1</a:t>
            </a:r>
            <a:endParaRPr lang="en-US" sz="1600" dirty="0"/>
          </a:p>
          <a:p>
            <a:pPr algn="ctr" indent="0" marL="0">
              <a:buNone/>
            </a:pPr>
            <a:r>
              <a:rPr lang="en-US" sz="1600" b="1" dirty="0">
                <a:solidFill>
                  <a:srgbClr val="111111"/>
                </a:solidFill>
                <a:latin typeface="Meiryo" pitchFamily="34" charset="0"/>
                <a:ea typeface="Meiryo" pitchFamily="34" charset="-122"/>
                <a:cs typeface="Meiryo" pitchFamily="34" charset="-120"/>
              </a:rPr>
              <a:t>方法</a:t>
            </a:r>
            <a:endParaRPr lang="en-US" sz="1600" dirty="0"/>
          </a:p>
        </p:txBody>
      </p:sp>
      <p:sp>
        <p:nvSpPr>
          <p:cNvPr id="11" name="Shape 9"/>
          <p:cNvSpPr/>
          <p:nvPr/>
        </p:nvSpPr>
        <p:spPr>
          <a:xfrm>
            <a:off x="2057400" y="2414016"/>
            <a:ext cx="0" cy="402336"/>
          </a:xfrm>
          <a:prstGeom prst="line">
            <a:avLst/>
          </a:prstGeom>
          <a:noFill/>
          <a:ln w="22860">
            <a:solidFill>
              <a:srgbClr val="39A8FF"/>
            </a:solidFill>
            <a:prstDash val="solid"/>
            <a:tailEnd type="triangle"/>
          </a:ln>
        </p:spPr>
      </p:sp>
      <p:sp>
        <p:nvSpPr>
          <p:cNvPr id="12" name="Shape 10"/>
          <p:cNvSpPr/>
          <p:nvPr/>
        </p:nvSpPr>
        <p:spPr>
          <a:xfrm>
            <a:off x="960120" y="2834640"/>
            <a:ext cx="868680" cy="512064"/>
          </a:xfrm>
          <a:prstGeom prst="roundRect">
            <a:avLst>
              <a:gd name="adj" fmla="val 10714"/>
            </a:avLst>
          </a:prstGeom>
          <a:solidFill>
            <a:srgbClr val="ECFDF5"/>
          </a:solidFill>
          <a:ln w="12700">
            <a:solidFill>
              <a:srgbClr val="CBEFDB"/>
            </a:solidFill>
            <a:prstDash val="solid"/>
          </a:ln>
        </p:spPr>
      </p:sp>
      <p:sp>
        <p:nvSpPr>
          <p:cNvPr id="13" name="Shape 11"/>
          <p:cNvSpPr/>
          <p:nvPr/>
        </p:nvSpPr>
        <p:spPr>
          <a:xfrm>
            <a:off x="1874520" y="2834640"/>
            <a:ext cx="868680" cy="512064"/>
          </a:xfrm>
          <a:prstGeom prst="roundRect">
            <a:avLst>
              <a:gd name="adj" fmla="val 10714"/>
            </a:avLst>
          </a:prstGeom>
          <a:solidFill>
            <a:srgbClr val="ECFDF5"/>
          </a:solidFill>
          <a:ln w="12700">
            <a:solidFill>
              <a:srgbClr val="CBEFDB"/>
            </a:solidFill>
            <a:prstDash val="solid"/>
          </a:ln>
        </p:spPr>
      </p:sp>
      <p:sp>
        <p:nvSpPr>
          <p:cNvPr id="14" name="Shape 12"/>
          <p:cNvSpPr/>
          <p:nvPr/>
        </p:nvSpPr>
        <p:spPr>
          <a:xfrm>
            <a:off x="2788920" y="2834640"/>
            <a:ext cx="868680" cy="512064"/>
          </a:xfrm>
          <a:prstGeom prst="roundRect">
            <a:avLst>
              <a:gd name="adj" fmla="val 10714"/>
            </a:avLst>
          </a:prstGeom>
          <a:solidFill>
            <a:srgbClr val="ECFDF5"/>
          </a:solidFill>
          <a:ln w="12700">
            <a:solidFill>
              <a:srgbClr val="CBEFDB"/>
            </a:solidFill>
            <a:prstDash val="solid"/>
          </a:ln>
        </p:spPr>
      </p:sp>
      <p:sp>
        <p:nvSpPr>
          <p:cNvPr id="15" name="Text 13"/>
          <p:cNvSpPr/>
          <p:nvPr/>
        </p:nvSpPr>
        <p:spPr>
          <a:xfrm>
            <a:off x="960120" y="2999232"/>
            <a:ext cx="868680" cy="146304"/>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装置</a:t>
            </a:r>
            <a:endParaRPr lang="en-US" sz="1400" dirty="0"/>
          </a:p>
        </p:txBody>
      </p:sp>
      <p:sp>
        <p:nvSpPr>
          <p:cNvPr id="16" name="Text 14"/>
          <p:cNvSpPr/>
          <p:nvPr/>
        </p:nvSpPr>
        <p:spPr>
          <a:xfrm>
            <a:off x="1874520" y="2999232"/>
            <a:ext cx="868680" cy="146304"/>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システム</a:t>
            </a:r>
            <a:endParaRPr lang="en-US" sz="1400" dirty="0"/>
          </a:p>
        </p:txBody>
      </p:sp>
      <p:sp>
        <p:nvSpPr>
          <p:cNvPr id="17" name="Text 15"/>
          <p:cNvSpPr/>
          <p:nvPr/>
        </p:nvSpPr>
        <p:spPr>
          <a:xfrm>
            <a:off x="2788920" y="2999232"/>
            <a:ext cx="868680" cy="146304"/>
          </a:xfrm>
          <a:prstGeom prst="rect">
            <a:avLst/>
          </a:prstGeom>
          <a:noFill/>
          <a:ln/>
        </p:spPr>
        <p:txBody>
          <a:bodyPr wrap="square" lIns="0" tIns="0" rIns="0" bIns="0" rtlCol="0" anchor="ctr">
            <a:normAutofit/>
          </a:bodyPr>
          <a:lstStyle/>
          <a:p>
            <a:pPr algn="ctr" indent="0" marL="0">
              <a:buNone/>
            </a:pPr>
            <a:r>
              <a:rPr lang="en-US" sz="1400" b="1" dirty="0">
                <a:solidFill>
                  <a:srgbClr val="111111"/>
                </a:solidFill>
                <a:latin typeface="Meiryo" pitchFamily="34" charset="0"/>
                <a:ea typeface="Meiryo" pitchFamily="34" charset="-122"/>
                <a:cs typeface="Meiryo" pitchFamily="34" charset="-120"/>
              </a:rPr>
              <a:t>媒体</a:t>
            </a:r>
            <a:endParaRPr lang="en-US" sz="1400" dirty="0"/>
          </a:p>
        </p:txBody>
      </p:sp>
      <p:sp>
        <p:nvSpPr>
          <p:cNvPr id="18" name="Shape 16"/>
          <p:cNvSpPr/>
          <p:nvPr/>
        </p:nvSpPr>
        <p:spPr>
          <a:xfrm>
            <a:off x="2057400" y="3346704"/>
            <a:ext cx="-667512" cy="448056"/>
          </a:xfrm>
          <a:prstGeom prst="line">
            <a:avLst/>
          </a:prstGeom>
          <a:noFill/>
          <a:ln w="19050">
            <a:solidFill>
              <a:srgbClr val="059669"/>
            </a:solidFill>
            <a:prstDash val="solid"/>
            <a:tailEnd type="triangle"/>
          </a:ln>
        </p:spPr>
      </p:sp>
      <p:sp>
        <p:nvSpPr>
          <p:cNvPr id="19" name="Shape 17"/>
          <p:cNvSpPr/>
          <p:nvPr/>
        </p:nvSpPr>
        <p:spPr>
          <a:xfrm>
            <a:off x="2057400" y="3346704"/>
            <a:ext cx="246888" cy="448056"/>
          </a:xfrm>
          <a:prstGeom prst="line">
            <a:avLst/>
          </a:prstGeom>
          <a:noFill/>
          <a:ln w="19050">
            <a:solidFill>
              <a:srgbClr val="059669"/>
            </a:solidFill>
            <a:prstDash val="solid"/>
            <a:tailEnd type="triangle"/>
          </a:ln>
        </p:spPr>
      </p:sp>
      <p:sp>
        <p:nvSpPr>
          <p:cNvPr id="20" name="Shape 18"/>
          <p:cNvSpPr/>
          <p:nvPr/>
        </p:nvSpPr>
        <p:spPr>
          <a:xfrm>
            <a:off x="2057400" y="3346704"/>
            <a:ext cx="1161288" cy="448056"/>
          </a:xfrm>
          <a:prstGeom prst="line">
            <a:avLst/>
          </a:prstGeom>
          <a:noFill/>
          <a:ln w="19050">
            <a:solidFill>
              <a:srgbClr val="059669"/>
            </a:solidFill>
            <a:prstDash val="solid"/>
            <a:tailEnd type="triangle"/>
          </a:ln>
        </p:spPr>
      </p:sp>
      <p:sp>
        <p:nvSpPr>
          <p:cNvPr id="21" name="Shape 19"/>
          <p:cNvSpPr/>
          <p:nvPr/>
        </p:nvSpPr>
        <p:spPr>
          <a:xfrm>
            <a:off x="914400" y="3840480"/>
            <a:ext cx="2651760" cy="1188720"/>
          </a:xfrm>
          <a:prstGeom prst="roundRect">
            <a:avLst>
              <a:gd name="adj" fmla="val 4615"/>
            </a:avLst>
          </a:prstGeom>
          <a:solidFill>
            <a:srgbClr val="FFF8EE"/>
          </a:solidFill>
          <a:ln w="12700">
            <a:solidFill>
              <a:srgbClr val="F7D6A1"/>
            </a:solidFill>
            <a:prstDash val="solid"/>
          </a:ln>
        </p:spPr>
      </p:sp>
      <p:sp>
        <p:nvSpPr>
          <p:cNvPr id="22" name="Text 20"/>
          <p:cNvSpPr/>
          <p:nvPr/>
        </p:nvSpPr>
        <p:spPr>
          <a:xfrm>
            <a:off x="1051560" y="4069080"/>
            <a:ext cx="2331720" cy="658368"/>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従属: Φbc</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従属: εr / jump</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従属: Qin / Sout</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従属: 不確かさ分岐</a:t>
            </a:r>
            <a:endParaRPr lang="en-US" sz="1400" dirty="0"/>
          </a:p>
        </p:txBody>
      </p:sp>
      <p:sp>
        <p:nvSpPr>
          <p:cNvPr id="23" name="Shape 21"/>
          <p:cNvSpPr/>
          <p:nvPr/>
        </p:nvSpPr>
        <p:spPr>
          <a:xfrm>
            <a:off x="3886200" y="1325880"/>
            <a:ext cx="7406640" cy="4480560"/>
          </a:xfrm>
          <a:prstGeom prst="roundRect">
            <a:avLst>
              <a:gd name="adj" fmla="val 1224"/>
            </a:avLst>
          </a:prstGeom>
          <a:solidFill>
            <a:srgbClr val="FFFFFF"/>
          </a:solidFill>
          <a:ln w="12700">
            <a:solidFill>
              <a:srgbClr val="D7E3ED"/>
            </a:solidFill>
            <a:prstDash val="solid"/>
          </a:ln>
        </p:spPr>
      </p:sp>
      <p:sp>
        <p:nvSpPr>
          <p:cNvPr id="24" name="Text 22"/>
          <p:cNvSpPr/>
          <p:nvPr/>
        </p:nvSpPr>
        <p:spPr>
          <a:xfrm>
            <a:off x="4069080" y="1490472"/>
            <a:ext cx="914400" cy="146304"/>
          </a:xfrm>
          <a:prstGeom prst="rect">
            <a:avLst/>
          </a:prstGeom>
          <a:noFill/>
          <a:ln/>
        </p:spPr>
        <p:txBody>
          <a:bodyPr wrap="square" lIns="0" tIns="0" rIns="0" bIns="0" rtlCol="0" anchor="ctr">
            <a:normAutofit/>
          </a:bodyPr>
          <a:lstStyle/>
          <a:p>
            <a:pPr algn="l" indent="0" marL="0">
              <a:buNone/>
            </a:pPr>
            <a:r>
              <a:rPr lang="en-US" sz="1600" b="1" dirty="0">
                <a:solidFill>
                  <a:srgbClr val="0D4D7E"/>
                </a:solidFill>
                <a:latin typeface="Meiryo" pitchFamily="34" charset="0"/>
                <a:ea typeface="Meiryo" pitchFamily="34" charset="-122"/>
                <a:cs typeface="Meiryo" pitchFamily="34" charset="-120"/>
              </a:rPr>
              <a:t>箇条書き例</a:t>
            </a:r>
            <a:endParaRPr lang="en-US" sz="1600" dirty="0"/>
          </a:p>
        </p:txBody>
      </p:sp>
      <p:sp>
        <p:nvSpPr>
          <p:cNvPr id="25" name="Text 23"/>
          <p:cNvSpPr/>
          <p:nvPr/>
        </p:nvSpPr>
        <p:spPr>
          <a:xfrm>
            <a:off x="4069080" y="1783080"/>
            <a:ext cx="6766560" cy="20116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独立請求項（方法）: 役割別 SDF 生成、境界物理マップ生成、SDF 条件付き U-Net によるプラズマ状態推定を含む方法</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従属請求項: 電圧影響場 Φbc の生成、εr map と界面条件、inflow map、suction map、既知電位境界の上書き</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独立請求項（装置）: SDF 生成部、物理マップ生成部、推定部、後処理部を備える装置</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独立請求項（システム）: プラズマ処理装置と計算機が連携して、設計・運転条件を支援するシステム</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独立請求項（媒体）: 前記方法を実行するプログラム / 記録媒体</a:t>
            </a:r>
            <a:endParaRPr lang="en-US" sz="1600" dirty="0"/>
          </a:p>
        </p:txBody>
      </p:sp>
      <p:sp>
        <p:nvSpPr>
          <p:cNvPr id="26" name="Shape 24"/>
          <p:cNvSpPr/>
          <p:nvPr/>
        </p:nvSpPr>
        <p:spPr>
          <a:xfrm>
            <a:off x="4069080" y="4160520"/>
            <a:ext cx="6812280" cy="914400"/>
          </a:xfrm>
          <a:prstGeom prst="roundRect">
            <a:avLst>
              <a:gd name="adj" fmla="val 6000"/>
            </a:avLst>
          </a:prstGeom>
          <a:solidFill>
            <a:srgbClr val="F4FBFF"/>
          </a:solidFill>
          <a:ln w="12700">
            <a:solidFill>
              <a:srgbClr val="C7E7FF"/>
            </a:solidFill>
            <a:prstDash val="solid"/>
          </a:ln>
        </p:spPr>
      </p:sp>
      <p:sp>
        <p:nvSpPr>
          <p:cNvPr id="27" name="Text 25"/>
          <p:cNvSpPr/>
          <p:nvPr/>
        </p:nvSpPr>
        <p:spPr>
          <a:xfrm>
            <a:off x="4251960" y="4389120"/>
            <a:ext cx="6400800" cy="384048"/>
          </a:xfrm>
          <a:prstGeom prst="rect">
            <a:avLst/>
          </a:prstGeom>
          <a:noFill/>
          <a:ln/>
        </p:spPr>
        <p:txBody>
          <a:bodyPr wrap="square" lIns="635" tIns="635" rIns="635" bIns="635" rtlCol="0" anchor="t">
            <a:normAutofit/>
          </a:bodyPr>
          <a:lstStyle/>
          <a:p>
            <a:pPr indent="0" marL="0">
              <a:buNone/>
            </a:pPr>
            <a:r>
              <a:rPr lang="en-US" sz="1500" dirty="0">
                <a:solidFill>
                  <a:srgbClr val="111111"/>
                </a:solidFill>
                <a:latin typeface="Meiryo" pitchFamily="34" charset="0"/>
                <a:ea typeface="Meiryo" pitchFamily="34" charset="-122"/>
                <a:cs typeface="Meiryo" pitchFamily="34" charset="-120"/>
              </a:rPr>
              <a:t>• 広い軸は「役割別 SDF + 境界物理マップ + 単一エンコーダ・デコーダ型 CNN」。狭い軸として Φbc、Seff、jump loss 等を従属で積む。</a:t>
            </a:r>
            <a:endParaRPr lang="en-US" sz="1500" dirty="0"/>
          </a:p>
        </p:txBody>
      </p:sp>
      <p:sp>
        <p:nvSpPr>
          <p:cNvPr id="28" name="Text 26"/>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75488" y="164592"/>
            <a:ext cx="10241280" cy="365760"/>
          </a:xfrm>
          <a:prstGeom prst="rect">
            <a:avLst/>
          </a:prstGeom>
          <a:noFill/>
          <a:ln/>
        </p:spPr>
        <p:txBody>
          <a:bodyPr wrap="square" lIns="0" tIns="0" rIns="0" bIns="0" rtlCol="0" anchor="ctr">
            <a:normAutofit/>
          </a:bodyPr>
          <a:lstStyle/>
          <a:p>
            <a:pPr indent="0" marL="0">
              <a:buNone/>
            </a:pPr>
            <a:r>
              <a:rPr lang="en-US" sz="2800" b="1" dirty="0">
                <a:solidFill>
                  <a:srgbClr val="45B6FE"/>
                </a:solidFill>
                <a:latin typeface="Meiryo" pitchFamily="34" charset="0"/>
                <a:ea typeface="Meiryo" pitchFamily="34" charset="-122"/>
                <a:cs typeface="Meiryo" pitchFamily="34" charset="-120"/>
              </a:rPr>
              <a:t>まとめ: 新規性・進歩性・有用性の着地点</a:t>
            </a:r>
            <a:endParaRPr lang="en-US" sz="2800" dirty="0"/>
          </a:p>
        </p:txBody>
      </p:sp>
      <p:sp>
        <p:nvSpPr>
          <p:cNvPr id="3" name="Shape 1"/>
          <p:cNvSpPr/>
          <p:nvPr/>
        </p:nvSpPr>
        <p:spPr>
          <a:xfrm>
            <a:off x="11384280" y="146304"/>
            <a:ext cx="658368" cy="292608"/>
          </a:xfrm>
          <a:prstGeom prst="roundRect">
            <a:avLst>
              <a:gd name="adj" fmla="val 18750"/>
            </a:avLst>
          </a:prstGeom>
          <a:solidFill>
            <a:srgbClr val="EAF5FE"/>
          </a:solidFill>
          <a:ln w="12700">
            <a:solidFill>
              <a:srgbClr val="D4EEFF"/>
            </a:solidFill>
            <a:prstDash val="solid"/>
          </a:ln>
        </p:spPr>
      </p:sp>
      <p:sp>
        <p:nvSpPr>
          <p:cNvPr id="4" name="Text 2"/>
          <p:cNvSpPr/>
          <p:nvPr/>
        </p:nvSpPr>
        <p:spPr>
          <a:xfrm>
            <a:off x="11384280" y="164592"/>
            <a:ext cx="658368" cy="237744"/>
          </a:xfrm>
          <a:prstGeom prst="rect">
            <a:avLst/>
          </a:prstGeom>
          <a:noFill/>
          <a:ln/>
        </p:spPr>
        <p:txBody>
          <a:bodyPr wrap="square" lIns="0" tIns="0" rIns="0" bIns="0" rtlCol="0" anchor="ctr"/>
          <a:lstStyle/>
          <a:p>
            <a:pPr algn="ctr" indent="0" marL="0">
              <a:buNone/>
            </a:pPr>
            <a:r>
              <a:rPr lang="en-US" sz="1100" b="1" dirty="0">
                <a:solidFill>
                  <a:srgbClr val="0D4D7E"/>
                </a:solidFill>
                <a:latin typeface="Meiryo" pitchFamily="34" charset="0"/>
                <a:ea typeface="Meiryo" pitchFamily="34" charset="-122"/>
                <a:cs typeface="Meiryo" pitchFamily="34" charset="-120"/>
              </a:rPr>
              <a:t>まとめ</a:t>
            </a:r>
            <a:endParaRPr lang="en-US" sz="1100" dirty="0"/>
          </a:p>
        </p:txBody>
      </p:sp>
      <p:sp>
        <p:nvSpPr>
          <p:cNvPr id="5" name="Shape 3"/>
          <p:cNvSpPr/>
          <p:nvPr/>
        </p:nvSpPr>
        <p:spPr>
          <a:xfrm>
            <a:off x="475488" y="640080"/>
            <a:ext cx="11201400" cy="0"/>
          </a:xfrm>
          <a:prstGeom prst="line">
            <a:avLst/>
          </a:prstGeom>
          <a:noFill/>
          <a:ln w="15240">
            <a:solidFill>
              <a:srgbClr val="D7E3ED"/>
            </a:solidFill>
            <a:prstDash val="solid"/>
          </a:ln>
        </p:spPr>
      </p:sp>
      <p:sp>
        <p:nvSpPr>
          <p:cNvPr id="6" name="Shape 4"/>
          <p:cNvSpPr/>
          <p:nvPr/>
        </p:nvSpPr>
        <p:spPr>
          <a:xfrm>
            <a:off x="685800" y="914400"/>
            <a:ext cx="10972800" cy="5394960"/>
          </a:xfrm>
          <a:prstGeom prst="roundRect">
            <a:avLst>
              <a:gd name="adj" fmla="val 1017"/>
            </a:avLst>
          </a:prstGeom>
          <a:solidFill>
            <a:srgbClr val="FFFFFF"/>
          </a:solidFill>
          <a:ln w="12700">
            <a:solidFill>
              <a:srgbClr val="D7E3ED"/>
            </a:solidFill>
            <a:prstDash val="solid"/>
          </a:ln>
        </p:spPr>
      </p:sp>
      <p:sp>
        <p:nvSpPr>
          <p:cNvPr id="7" name="Shape 5"/>
          <p:cNvSpPr/>
          <p:nvPr/>
        </p:nvSpPr>
        <p:spPr>
          <a:xfrm>
            <a:off x="914400" y="1417320"/>
            <a:ext cx="2606040" cy="2926080"/>
          </a:xfrm>
          <a:prstGeom prst="roundRect">
            <a:avLst>
              <a:gd name="adj" fmla="val 2105"/>
            </a:avLst>
          </a:prstGeom>
          <a:solidFill>
            <a:srgbClr val="F9FBFD"/>
          </a:solidFill>
          <a:ln w="12700">
            <a:solidFill>
              <a:srgbClr val="D7E3ED"/>
            </a:solidFill>
            <a:prstDash val="solid"/>
          </a:ln>
        </p:spPr>
      </p:sp>
      <p:sp>
        <p:nvSpPr>
          <p:cNvPr id="8" name="Shape 6"/>
          <p:cNvSpPr/>
          <p:nvPr/>
        </p:nvSpPr>
        <p:spPr>
          <a:xfrm>
            <a:off x="1097280" y="1572768"/>
            <a:ext cx="822960" cy="201168"/>
          </a:xfrm>
          <a:prstGeom prst="roundRect">
            <a:avLst>
              <a:gd name="adj" fmla="val 22727"/>
            </a:avLst>
          </a:prstGeom>
          <a:solidFill>
            <a:srgbClr val="39A8FF"/>
          </a:solidFill>
          <a:ln w="12700">
            <a:solidFill>
              <a:srgbClr val="39A8FF"/>
            </a:solidFill>
            <a:prstDash val="solid"/>
          </a:ln>
        </p:spPr>
      </p:sp>
      <p:sp>
        <p:nvSpPr>
          <p:cNvPr id="9" name="Text 7"/>
          <p:cNvSpPr/>
          <p:nvPr/>
        </p:nvSpPr>
        <p:spPr>
          <a:xfrm>
            <a:off x="1097280" y="1581912"/>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新規性</a:t>
            </a:r>
            <a:endParaRPr lang="en-US" sz="1100" dirty="0"/>
          </a:p>
        </p:txBody>
      </p:sp>
      <p:sp>
        <p:nvSpPr>
          <p:cNvPr id="10" name="Text 8"/>
          <p:cNvSpPr/>
          <p:nvPr/>
        </p:nvSpPr>
        <p:spPr>
          <a:xfrm>
            <a:off x="1115568" y="1965960"/>
            <a:ext cx="2176272" cy="13258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役割別 multi-SDF による固定 schema</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境界物理マップによる条件の空間化</a:t>
            </a:r>
            <a:endParaRPr lang="en-US" sz="1600" dirty="0"/>
          </a:p>
        </p:txBody>
      </p:sp>
      <p:sp>
        <p:nvSpPr>
          <p:cNvPr id="11" name="Shape 9"/>
          <p:cNvSpPr/>
          <p:nvPr/>
        </p:nvSpPr>
        <p:spPr>
          <a:xfrm>
            <a:off x="3931920" y="1417320"/>
            <a:ext cx="2606040" cy="2926080"/>
          </a:xfrm>
          <a:prstGeom prst="roundRect">
            <a:avLst>
              <a:gd name="adj" fmla="val 2105"/>
            </a:avLst>
          </a:prstGeom>
          <a:solidFill>
            <a:srgbClr val="F9FBFD"/>
          </a:solidFill>
          <a:ln w="12700">
            <a:solidFill>
              <a:srgbClr val="D7E3ED"/>
            </a:solidFill>
            <a:prstDash val="solid"/>
          </a:ln>
        </p:spPr>
      </p:sp>
      <p:sp>
        <p:nvSpPr>
          <p:cNvPr id="12" name="Shape 10"/>
          <p:cNvSpPr/>
          <p:nvPr/>
        </p:nvSpPr>
        <p:spPr>
          <a:xfrm>
            <a:off x="4114800" y="1572768"/>
            <a:ext cx="822960" cy="201168"/>
          </a:xfrm>
          <a:prstGeom prst="roundRect">
            <a:avLst>
              <a:gd name="adj" fmla="val 22727"/>
            </a:avLst>
          </a:prstGeom>
          <a:solidFill>
            <a:srgbClr val="F59E0B"/>
          </a:solidFill>
          <a:ln w="12700">
            <a:solidFill>
              <a:srgbClr val="F59E0B"/>
            </a:solidFill>
            <a:prstDash val="solid"/>
          </a:ln>
        </p:spPr>
      </p:sp>
      <p:sp>
        <p:nvSpPr>
          <p:cNvPr id="13" name="Text 11"/>
          <p:cNvSpPr/>
          <p:nvPr/>
        </p:nvSpPr>
        <p:spPr>
          <a:xfrm>
            <a:off x="4114800" y="1581912"/>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進歩性</a:t>
            </a:r>
            <a:endParaRPr lang="en-US" sz="1100" dirty="0"/>
          </a:p>
        </p:txBody>
      </p:sp>
      <p:sp>
        <p:nvSpPr>
          <p:cNvPr id="14" name="Text 12"/>
          <p:cNvSpPr/>
          <p:nvPr/>
        </p:nvSpPr>
        <p:spPr>
          <a:xfrm>
            <a:off x="4133088" y="1965960"/>
            <a:ext cx="2176272" cy="13258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既知カテゴリの有効要素を低圧プラズマ用途へ最小構成で統合</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単一 U-Net を維持しつつ境界精度を狙う</a:t>
            </a:r>
            <a:endParaRPr lang="en-US" sz="1600" dirty="0"/>
          </a:p>
        </p:txBody>
      </p:sp>
      <p:sp>
        <p:nvSpPr>
          <p:cNvPr id="15" name="Shape 13"/>
          <p:cNvSpPr/>
          <p:nvPr/>
        </p:nvSpPr>
        <p:spPr>
          <a:xfrm>
            <a:off x="6949440" y="1417320"/>
            <a:ext cx="2606040" cy="2926080"/>
          </a:xfrm>
          <a:prstGeom prst="roundRect">
            <a:avLst>
              <a:gd name="adj" fmla="val 2105"/>
            </a:avLst>
          </a:prstGeom>
          <a:solidFill>
            <a:srgbClr val="F9FBFD"/>
          </a:solidFill>
          <a:ln w="12700">
            <a:solidFill>
              <a:srgbClr val="D7E3ED"/>
            </a:solidFill>
            <a:prstDash val="solid"/>
          </a:ln>
        </p:spPr>
      </p:sp>
      <p:sp>
        <p:nvSpPr>
          <p:cNvPr id="16" name="Shape 14"/>
          <p:cNvSpPr/>
          <p:nvPr/>
        </p:nvSpPr>
        <p:spPr>
          <a:xfrm>
            <a:off x="7132320" y="1572768"/>
            <a:ext cx="822960" cy="201168"/>
          </a:xfrm>
          <a:prstGeom prst="roundRect">
            <a:avLst>
              <a:gd name="adj" fmla="val 22727"/>
            </a:avLst>
          </a:prstGeom>
          <a:solidFill>
            <a:srgbClr val="10B981"/>
          </a:solidFill>
          <a:ln w="12700">
            <a:solidFill>
              <a:srgbClr val="10B981"/>
            </a:solidFill>
            <a:prstDash val="solid"/>
          </a:ln>
        </p:spPr>
      </p:sp>
      <p:sp>
        <p:nvSpPr>
          <p:cNvPr id="17" name="Text 15"/>
          <p:cNvSpPr/>
          <p:nvPr/>
        </p:nvSpPr>
        <p:spPr>
          <a:xfrm>
            <a:off x="7132320" y="1581912"/>
            <a:ext cx="82296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有用性</a:t>
            </a:r>
            <a:endParaRPr lang="en-US" sz="1100" dirty="0"/>
          </a:p>
        </p:txBody>
      </p:sp>
      <p:sp>
        <p:nvSpPr>
          <p:cNvPr id="18" name="Text 16"/>
          <p:cNvSpPr/>
          <p:nvPr/>
        </p:nvSpPr>
        <p:spPr>
          <a:xfrm>
            <a:off x="7150608" y="1965960"/>
            <a:ext cx="2176272" cy="1325880"/>
          </a:xfrm>
          <a:prstGeom prst="rect">
            <a:avLst/>
          </a:prstGeom>
          <a:noFill/>
          <a:ln/>
        </p:spPr>
        <p:txBody>
          <a:bodyPr wrap="square" lIns="635" tIns="635" rIns="635" bIns="635" rtlCol="0" anchor="t">
            <a:normAutofit/>
          </a:bodyPr>
          <a:lstStyle/>
          <a:p>
            <a:pPr indent="0" marL="0">
              <a:buNone/>
            </a:pPr>
            <a:r>
              <a:rPr lang="en-US" sz="1600" dirty="0">
                <a:solidFill>
                  <a:srgbClr val="111111"/>
                </a:solidFill>
                <a:latin typeface="Meiryo" pitchFamily="34" charset="0"/>
                <a:ea typeface="Meiryo" pitchFamily="34" charset="-122"/>
                <a:cs typeface="Meiryo" pitchFamily="34" charset="-120"/>
              </a:rPr>
              <a:t>• 設計探索、装置差比較、工程窓推定の前段で使いやすい</a:t>
            </a:r>
            <a:endParaRPr lang="en-US" sz="1600" dirty="0"/>
          </a:p>
          <a:p>
            <a:pPr indent="0" marL="0">
              <a:buNone/>
            </a:pPr>
            <a:r>
              <a:rPr lang="en-US" sz="1600" dirty="0">
                <a:solidFill>
                  <a:srgbClr val="111111"/>
                </a:solidFill>
                <a:latin typeface="Meiryo" pitchFamily="34" charset="0"/>
                <a:ea typeface="Meiryo" pitchFamily="34" charset="-122"/>
                <a:cs typeface="Meiryo" pitchFamily="34" charset="-120"/>
              </a:rPr>
              <a:t>• 請求項化しやすい入力・前処理起点の発明</a:t>
            </a:r>
            <a:endParaRPr lang="en-US" sz="1600" dirty="0"/>
          </a:p>
        </p:txBody>
      </p:sp>
      <p:sp>
        <p:nvSpPr>
          <p:cNvPr id="19" name="Shape 17"/>
          <p:cNvSpPr/>
          <p:nvPr/>
        </p:nvSpPr>
        <p:spPr>
          <a:xfrm>
            <a:off x="9646920" y="1417320"/>
            <a:ext cx="1554480" cy="2926080"/>
          </a:xfrm>
          <a:prstGeom prst="roundRect">
            <a:avLst>
              <a:gd name="adj" fmla="val 3529"/>
            </a:avLst>
          </a:prstGeom>
          <a:solidFill>
            <a:srgbClr val="F4FBFF"/>
          </a:solidFill>
          <a:ln w="12700">
            <a:solidFill>
              <a:srgbClr val="C7E7FF"/>
            </a:solidFill>
            <a:prstDash val="solid"/>
          </a:ln>
        </p:spPr>
      </p:sp>
      <p:sp>
        <p:nvSpPr>
          <p:cNvPr id="20" name="Text 18"/>
          <p:cNvSpPr/>
          <p:nvPr/>
        </p:nvSpPr>
        <p:spPr>
          <a:xfrm>
            <a:off x="9784080" y="1627632"/>
            <a:ext cx="1143000" cy="146304"/>
          </a:xfrm>
          <a:prstGeom prst="rect">
            <a:avLst/>
          </a:prstGeom>
          <a:noFill/>
          <a:ln/>
        </p:spPr>
        <p:txBody>
          <a:bodyPr wrap="square" lIns="0" tIns="0" rIns="0" bIns="0" rtlCol="0" anchor="ctr">
            <a:normAutofit/>
          </a:bodyPr>
          <a:lstStyle/>
          <a:p>
            <a:pPr algn="ctr" indent="0" marL="0">
              <a:buNone/>
            </a:pPr>
            <a:r>
              <a:rPr lang="en-US" sz="1600" b="1" dirty="0">
                <a:solidFill>
                  <a:srgbClr val="0D4D7E"/>
                </a:solidFill>
                <a:latin typeface="Meiryo" pitchFamily="34" charset="0"/>
                <a:ea typeface="Meiryo" pitchFamily="34" charset="-122"/>
                <a:cs typeface="Meiryo" pitchFamily="34" charset="-120"/>
              </a:rPr>
              <a:t>次アクション</a:t>
            </a:r>
            <a:endParaRPr lang="en-US" sz="1600" dirty="0"/>
          </a:p>
        </p:txBody>
      </p:sp>
      <p:sp>
        <p:nvSpPr>
          <p:cNvPr id="21" name="Text 19"/>
          <p:cNvSpPr/>
          <p:nvPr/>
        </p:nvSpPr>
        <p:spPr>
          <a:xfrm>
            <a:off x="9811512" y="2011680"/>
            <a:ext cx="1005840" cy="1097280"/>
          </a:xfrm>
          <a:prstGeom prst="rect">
            <a:avLst/>
          </a:prstGeom>
          <a:noFill/>
          <a:ln/>
        </p:spPr>
        <p:txBody>
          <a:bodyPr wrap="square" lIns="635" tIns="635" rIns="635" bIns="635" rtlCol="0" anchor="t">
            <a:normAutofit/>
          </a:bodyPr>
          <a:lstStyle/>
          <a:p>
            <a:pPr indent="0" marL="0">
              <a:buNone/>
            </a:pPr>
            <a:r>
              <a:rPr lang="en-US" sz="1400" dirty="0">
                <a:solidFill>
                  <a:srgbClr val="111111"/>
                </a:solidFill>
                <a:latin typeface="Meiryo" pitchFamily="34" charset="0"/>
                <a:ea typeface="Meiryo" pitchFamily="34" charset="-122"/>
                <a:cs typeface="Meiryo" pitchFamily="34" charset="-120"/>
              </a:rPr>
              <a:t>• 対象出力の確定</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教師データ定義</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比較実験</a:t>
            </a:r>
            <a:endParaRPr lang="en-US" sz="1400" dirty="0"/>
          </a:p>
          <a:p>
            <a:pPr indent="0" marL="0">
              <a:buNone/>
            </a:pPr>
            <a:r>
              <a:rPr lang="en-US" sz="1400" dirty="0">
                <a:solidFill>
                  <a:srgbClr val="111111"/>
                </a:solidFill>
                <a:latin typeface="Meiryo" pitchFamily="34" charset="0"/>
                <a:ea typeface="Meiryo" pitchFamily="34" charset="-122"/>
                <a:cs typeface="Meiryo" pitchFamily="34" charset="-120"/>
              </a:rPr>
              <a:t>• 先行調査</a:t>
            </a:r>
            <a:endParaRPr lang="en-US" sz="1400" dirty="0"/>
          </a:p>
        </p:txBody>
      </p:sp>
      <p:sp>
        <p:nvSpPr>
          <p:cNvPr id="22" name="Shape 20"/>
          <p:cNvSpPr/>
          <p:nvPr/>
        </p:nvSpPr>
        <p:spPr>
          <a:xfrm>
            <a:off x="914400" y="4663440"/>
            <a:ext cx="10241280" cy="1143000"/>
          </a:xfrm>
          <a:prstGeom prst="roundRect">
            <a:avLst>
              <a:gd name="adj" fmla="val 4800"/>
            </a:avLst>
          </a:prstGeom>
          <a:solidFill>
            <a:srgbClr val="FFFFFF"/>
          </a:solidFill>
          <a:ln w="12700">
            <a:solidFill>
              <a:srgbClr val="D7E3ED"/>
            </a:solidFill>
            <a:prstDash val="solid"/>
          </a:ln>
        </p:spPr>
      </p:sp>
      <p:sp>
        <p:nvSpPr>
          <p:cNvPr id="23" name="Text 21"/>
          <p:cNvSpPr/>
          <p:nvPr/>
        </p:nvSpPr>
        <p:spPr>
          <a:xfrm>
            <a:off x="1097280" y="4828032"/>
            <a:ext cx="1005840" cy="146304"/>
          </a:xfrm>
          <a:prstGeom prst="rect">
            <a:avLst/>
          </a:prstGeom>
          <a:noFill/>
          <a:ln/>
        </p:spPr>
        <p:txBody>
          <a:bodyPr wrap="square" lIns="0" tIns="0" rIns="0" bIns="0" rtlCol="0" anchor="ctr">
            <a:normAutofit/>
          </a:bodyPr>
          <a:lstStyle/>
          <a:p>
            <a:pPr algn="l" indent="0" marL="0">
              <a:buNone/>
            </a:pPr>
            <a:r>
              <a:rPr lang="en-US" sz="1400" b="1" dirty="0">
                <a:solidFill>
                  <a:srgbClr val="0D4D7E"/>
                </a:solidFill>
                <a:latin typeface="Meiryo" pitchFamily="34" charset="0"/>
                <a:ea typeface="Meiryo" pitchFamily="34" charset="-122"/>
                <a:cs typeface="Meiryo" pitchFamily="34" charset="-120"/>
              </a:rPr>
              <a:t>本発明の一文</a:t>
            </a:r>
            <a:endParaRPr lang="en-US" sz="1400" dirty="0"/>
          </a:p>
        </p:txBody>
      </p:sp>
      <p:sp>
        <p:nvSpPr>
          <p:cNvPr id="24" name="Text 22"/>
          <p:cNvSpPr/>
          <p:nvPr/>
        </p:nvSpPr>
        <p:spPr>
          <a:xfrm>
            <a:off x="2148840" y="4773168"/>
            <a:ext cx="8138160" cy="420624"/>
          </a:xfrm>
          <a:prstGeom prst="rect">
            <a:avLst/>
          </a:prstGeom>
          <a:noFill/>
          <a:ln/>
        </p:spPr>
        <p:txBody>
          <a:bodyPr wrap="square" lIns="0" tIns="0" rIns="0" bIns="0" rtlCol="0" anchor="ctr">
            <a:normAutofit/>
          </a:bodyPr>
          <a:lstStyle/>
          <a:p>
            <a:pPr algn="l" indent="0" marL="0">
              <a:buNone/>
            </a:pPr>
            <a:r>
              <a:rPr lang="en-US" sz="1600" dirty="0">
                <a:solidFill>
                  <a:srgbClr val="111111"/>
                </a:solidFill>
                <a:latin typeface="Meiryo" pitchFamily="34" charset="0"/>
                <a:ea typeface="Meiryo" pitchFamily="34" charset="-122"/>
                <a:cs typeface="Meiryo" pitchFamily="34" charset="-120"/>
              </a:rPr>
              <a:t>低圧プラズマの可変境界条件を、役割別 SDF と境界物理マップへ変換して単一 U-Net に与えることで、</a:t>
            </a:r>
            <a:endParaRPr lang="en-US" sz="1600" dirty="0"/>
          </a:p>
          <a:p>
            <a:pPr algn="l" indent="0" marL="0">
              <a:buNone/>
            </a:pPr>
            <a:r>
              <a:rPr lang="en-US" sz="1600" dirty="0">
                <a:solidFill>
                  <a:srgbClr val="111111"/>
                </a:solidFill>
                <a:latin typeface="Meiryo" pitchFamily="34" charset="0"/>
                <a:ea typeface="Meiryo" pitchFamily="34" charset="-122"/>
                <a:cs typeface="Meiryo" pitchFamily="34" charset="-120"/>
              </a:rPr>
              <a:t>通常 U-Net よりも境界近傍・界面・port 条件に強いサロゲートを実現する。</a:t>
            </a:r>
            <a:endParaRPr lang="en-US" sz="1600" dirty="0"/>
          </a:p>
        </p:txBody>
      </p:sp>
      <p:sp>
        <p:nvSpPr>
          <p:cNvPr id="25" name="Shape 23"/>
          <p:cNvSpPr/>
          <p:nvPr/>
        </p:nvSpPr>
        <p:spPr>
          <a:xfrm>
            <a:off x="9052560" y="5285232"/>
            <a:ext cx="914400" cy="201168"/>
          </a:xfrm>
          <a:prstGeom prst="roundRect">
            <a:avLst>
              <a:gd name="adj" fmla="val 22727"/>
            </a:avLst>
          </a:prstGeom>
          <a:solidFill>
            <a:srgbClr val="39A8FF"/>
          </a:solidFill>
          <a:ln w="12700">
            <a:solidFill>
              <a:srgbClr val="39A8FF"/>
            </a:solidFill>
            <a:prstDash val="solid"/>
          </a:ln>
        </p:spPr>
      </p:sp>
      <p:sp>
        <p:nvSpPr>
          <p:cNvPr id="26" name="Text 24"/>
          <p:cNvSpPr/>
          <p:nvPr/>
        </p:nvSpPr>
        <p:spPr>
          <a:xfrm>
            <a:off x="9052560" y="5294376"/>
            <a:ext cx="914400"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Patent-ready</a:t>
            </a:r>
            <a:endParaRPr lang="en-US" sz="1100" dirty="0"/>
          </a:p>
        </p:txBody>
      </p:sp>
      <p:sp>
        <p:nvSpPr>
          <p:cNvPr id="27" name="Shape 25"/>
          <p:cNvSpPr/>
          <p:nvPr/>
        </p:nvSpPr>
        <p:spPr>
          <a:xfrm>
            <a:off x="10058400" y="5285232"/>
            <a:ext cx="841248" cy="201168"/>
          </a:xfrm>
          <a:prstGeom prst="roundRect">
            <a:avLst>
              <a:gd name="adj" fmla="val 22727"/>
            </a:avLst>
          </a:prstGeom>
          <a:solidFill>
            <a:srgbClr val="D97706"/>
          </a:solidFill>
          <a:ln w="12700">
            <a:solidFill>
              <a:srgbClr val="D97706"/>
            </a:solidFill>
            <a:prstDash val="solid"/>
          </a:ln>
        </p:spPr>
      </p:sp>
      <p:sp>
        <p:nvSpPr>
          <p:cNvPr id="28" name="Text 26"/>
          <p:cNvSpPr/>
          <p:nvPr/>
        </p:nvSpPr>
        <p:spPr>
          <a:xfrm>
            <a:off x="10058400" y="5294376"/>
            <a:ext cx="841248" cy="19202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要実証</a:t>
            </a:r>
            <a:endParaRPr lang="en-US" sz="1100" dirty="0"/>
          </a:p>
        </p:txBody>
      </p:sp>
      <p:sp>
        <p:nvSpPr>
          <p:cNvPr id="29" name="Text 27"/>
          <p:cNvSpPr/>
          <p:nvPr/>
        </p:nvSpPr>
        <p:spPr>
          <a:xfrm>
            <a:off x="10789920" y="6473952"/>
            <a:ext cx="914400" cy="164592"/>
          </a:xfrm>
          <a:prstGeom prst="rect">
            <a:avLst/>
          </a:prstGeom>
          <a:noFill/>
          <a:ln/>
        </p:spPr>
        <p:txBody>
          <a:bodyPr wrap="square" lIns="0" tIns="0" rIns="0" bIns="0" rtlCol="0" anchor="ctr"/>
          <a:lstStyle/>
          <a:p>
            <a:pPr algn="r" indent="0" marL="0">
              <a:buNone/>
            </a:pPr>
            <a:r>
              <a:rPr lang="en-US" sz="900" dirty="0">
                <a:solidFill>
                  <a:srgbClr val="7B8794"/>
                </a:solidFill>
                <a:latin typeface="Meiryo" pitchFamily="34" charset="0"/>
                <a:ea typeface="Meiryo" pitchFamily="34" charset="-122"/>
                <a:cs typeface="Meiryo" pitchFamily="34" charset="-120"/>
              </a:rPr>
              <a:t>特許開示ドラフト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低圧プラズマ用 SDF 条件付き U-Net サロゲート技術</dc:title>
  <dc:subject>低圧プラズマSDF条件付きU-Net 特許開示</dc:subject>
  <dc:creator>OpenAI</dc:creator>
  <cp:lastModifiedBy>OpenAI</cp:lastModifiedBy>
  <cp:revision>1</cp:revision>
  <dcterms:created xsi:type="dcterms:W3CDTF">2026-03-09T22:06:40Z</dcterms:created>
  <dcterms:modified xsi:type="dcterms:W3CDTF">2026-03-09T22:06:40Z</dcterms:modified>
</cp:coreProperties>
</file>